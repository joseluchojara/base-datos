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38"/>
  </p:notesMasterIdLst>
  <p:sldIdLst>
    <p:sldId id="256" r:id="rId2"/>
    <p:sldId id="354" r:id="rId3"/>
    <p:sldId id="263" r:id="rId4"/>
    <p:sldId id="258" r:id="rId5"/>
    <p:sldId id="315" r:id="rId6"/>
    <p:sldId id="316" r:id="rId7"/>
    <p:sldId id="317" r:id="rId8"/>
    <p:sldId id="318" r:id="rId9"/>
    <p:sldId id="268" r:id="rId10"/>
    <p:sldId id="279" r:id="rId11"/>
    <p:sldId id="320" r:id="rId12"/>
    <p:sldId id="337" r:id="rId13"/>
    <p:sldId id="338" r:id="rId14"/>
    <p:sldId id="339" r:id="rId15"/>
    <p:sldId id="340" r:id="rId16"/>
    <p:sldId id="341" r:id="rId17"/>
    <p:sldId id="269" r:id="rId18"/>
    <p:sldId id="304" r:id="rId19"/>
    <p:sldId id="342" r:id="rId20"/>
    <p:sldId id="343" r:id="rId21"/>
    <p:sldId id="344" r:id="rId22"/>
    <p:sldId id="324" r:id="rId23"/>
    <p:sldId id="325" r:id="rId24"/>
    <p:sldId id="345" r:id="rId25"/>
    <p:sldId id="270" r:id="rId26"/>
    <p:sldId id="281" r:id="rId27"/>
    <p:sldId id="346" r:id="rId28"/>
    <p:sldId id="347" r:id="rId29"/>
    <p:sldId id="348" r:id="rId30"/>
    <p:sldId id="271" r:id="rId31"/>
    <p:sldId id="282" r:id="rId32"/>
    <p:sldId id="349" r:id="rId33"/>
    <p:sldId id="350" r:id="rId34"/>
    <p:sldId id="351" r:id="rId35"/>
    <p:sldId id="352" r:id="rId36"/>
    <p:sldId id="314" r:id="rId37"/>
  </p:sldIdLst>
  <p:sldSz cx="9144000" cy="6858000" type="screen4x3"/>
  <p:notesSz cx="6858000" cy="9144000"/>
  <p:embeddedFontLst>
    <p:embeddedFont>
      <p:font typeface="Roboto Condensed" panose="020B0604020202020204" charset="0"/>
      <p:regular r:id="rId39"/>
      <p:bold r:id="rId40"/>
      <p:italic r:id="rId41"/>
      <p:boldItalic r:id="rId42"/>
    </p:embeddedFont>
    <p:embeddedFont>
      <p:font typeface="Calibri" panose="020F0502020204030204" pitchFamily="34" charset="0"/>
      <p:regular r:id="rId43"/>
      <p:bold r:id="rId44"/>
      <p:italic r:id="rId45"/>
      <p:boldItalic r:id="rId46"/>
    </p:embeddedFont>
    <p:embeddedFont>
      <p:font typeface="Roboto Mono" panose="020B0604020202020204" charset="0"/>
      <p:regular r:id="rId47"/>
      <p:bold r:id="rId48"/>
      <p:italic r:id="rId49"/>
      <p:boldItalic r:id="rId50"/>
    </p:embeddedFont>
    <p:embeddedFont>
      <p:font typeface="Arial Unicode MS" panose="020B0604020202020204" pitchFamily="34" charset="-128"/>
      <p:regular r:id="rId51"/>
    </p:embeddedFont>
    <p:embeddedFont>
      <p:font typeface="Bebas Neue" panose="020B0604020202020204" charset="0"/>
      <p:regular r:id="rId52"/>
    </p:embeddedFont>
    <p:embeddedFont>
      <p:font typeface="Franklin Gothic" panose="020B0604020202020204"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0334" autoAdjust="0"/>
  </p:normalViewPr>
  <p:slideViewPr>
    <p:cSldViewPr snapToGrid="0" snapToObjects="1">
      <p:cViewPr varScale="1">
        <p:scale>
          <a:sx n="60" d="100"/>
          <a:sy n="60" d="100"/>
        </p:scale>
        <p:origin x="165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7813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Restringiendo las Filas que son Seleccionadas</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¿Qué se debe hacer si quisiéramos mostrar la identificación del empleado, su apellido, identificación del trabajo e identificación del trabajo pero sólo de aquellos empleados que trabajan en el departamento 90?.</a:t>
            </a:r>
          </a:p>
          <a:p>
            <a:pPr marL="0" indent="0">
              <a:buFont typeface="Arial" panose="020B0604020202020204" pitchFamily="34" charse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Para restringir o limitar las filas que deben cumplir con una cierta condición para ser procesadas por una sentencia SQL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Select</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Update</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Delete</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se debe utilizar la cláusula WHERE.</a:t>
            </a:r>
            <a:endParaRPr lang="es-CL" sz="1200" dirty="0">
              <a:latin typeface="Calibri" panose="020F0502020204030204" pitchFamily="34" charset="0"/>
              <a:cs typeface="Calibri" panose="020F0502020204030204" pitchFamily="34" charset="0"/>
            </a:endParaRPr>
          </a:p>
          <a:p>
            <a:pPr marL="0" indent="0" algn="just" eaLnBrk="1" hangingPunct="1">
              <a:lnSpc>
                <a:spcPct val="90000"/>
              </a:lnSpc>
              <a:spcBef>
                <a:spcPct val="0"/>
              </a:spcBef>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3068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Restringiendo</a:t>
            </a:r>
            <a:r>
              <a:rPr lang="es-CL"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las Filas que son Seleccionadas</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la Sintaxis:</a:t>
            </a:r>
          </a:p>
          <a:p>
            <a:pPr marL="171450" indent="-171450">
              <a:buFont typeface="Arial" panose="020B0604020202020204" pitchFamily="34" charset="0"/>
              <a:buChar char="•"/>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WHERE: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restringe la consulta a las filas que deben cumplir con la condición.</a:t>
            </a:r>
          </a:p>
          <a:p>
            <a:pPr marL="171450" indent="-171450">
              <a:buFont typeface="Arial" panose="020B0604020202020204" pitchFamily="34" charset="0"/>
              <a:buChar char="•"/>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condición(es)_comparación:</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está compuesta de nombre de columnas, expresiones, constantes y un operador de comparación.</a:t>
            </a:r>
          </a:p>
          <a:p>
            <a:pPr marL="0" indent="0" algn="just">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502507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Restringiendo</a:t>
            </a:r>
            <a:r>
              <a:rPr lang="es-CL"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las Filas que son Seleccionadas</a:t>
            </a:r>
          </a:p>
          <a:p>
            <a:pPr marL="0" inden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 comparación consiste de tres elementos:</a:t>
            </a:r>
          </a:p>
          <a:p>
            <a:pPr marL="171450"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Nombre de columna que servirá como restricción.</a:t>
            </a:r>
          </a:p>
          <a:p>
            <a:pPr marL="171450"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Condición de comparación.</a:t>
            </a:r>
          </a:p>
          <a:p>
            <a:pPr marL="171450"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Nombre de columna, constante o lista de valores con la que se desea comparar. También</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se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puede usar cadena de caracteres y fechas literales:</a:t>
            </a:r>
          </a:p>
          <a:p>
            <a:pPr marL="628650" lvl="1" indent="-171450">
              <a:buFont typeface="Arial" panose="020B0604020202020204" pitchFamily="34" charset="0"/>
              <a:buChar char="•"/>
            </a:pP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L</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as cadenas de caracteres y fechas literales deben ir entre comillas simples.</a:t>
            </a:r>
          </a:p>
          <a:p>
            <a:pPr marL="628650" lvl="1"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Los valores caracteres son case-sensitive.</a:t>
            </a:r>
          </a:p>
          <a:p>
            <a:pPr marL="628650" lvl="1"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Los valores fechas son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format</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-sensitive.</a:t>
            </a:r>
          </a:p>
          <a:p>
            <a:pPr marL="0" marR="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y </a:t>
            </a: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basados en la pregunta que se efectuó al comienzo, la sentencia muestra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 identificación del empleado, su apellido, identificación del trabajo e identificación del trabajo</a:t>
            </a: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 de los empleados que trabajan en el departamento 90.</a:t>
            </a:r>
          </a:p>
          <a:p>
            <a:pPr marL="0" indent="0" algn="just">
              <a:buFont typeface="Arial" panose="020B0604020202020204" pitchFamily="34" charset="0"/>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169460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8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Restringiendo</a:t>
            </a:r>
            <a:r>
              <a:rPr lang="es-CL"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a:t>
            </a: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las Filas que son Seleccionadas</a:t>
            </a:r>
          </a:p>
          <a:p>
            <a:pPr marL="0" indent="0" algn="just" eaLnBrk="1" hangingPunct="1">
              <a:lnSpc>
                <a:spcPct val="80000"/>
              </a:lnSpc>
              <a:buNone/>
            </a:pP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a:t>
            </a:r>
            <a:r>
              <a:rPr lang="es-ES"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primera sentencia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muestra el apellido e identificación del departamento del o los empleados cuyo apellido sea igual a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Whalen</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Al efectuar una condición</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con un literal, éste valor debe ir entre comillas simples y es CASE-SENSITIVE. Es decir, la Base de Datos buscará en la tabla EMPLOYEES todas las filas en las que en la columna </a:t>
            </a:r>
            <a:r>
              <a:rPr lang="es-CL" sz="1200" b="0" i="0" u="none" strike="noStrike" cap="none" baseline="0" dirty="0" err="1">
                <a:solidFill>
                  <a:srgbClr val="000000"/>
                </a:solidFill>
                <a:latin typeface="Calibri" panose="020F0502020204030204" pitchFamily="34" charset="0"/>
                <a:ea typeface="Arial"/>
                <a:cs typeface="Calibri" panose="020F0502020204030204" pitchFamily="34" charset="0"/>
                <a:sym typeface="Arial"/>
              </a:rPr>
              <a:t>last_name</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existe el mismo valor que se usa para comparar (de la misma forma en que está escrito).</a:t>
            </a:r>
          </a:p>
          <a:p>
            <a:pPr marL="0" indent="0" algn="just" eaLnBrk="1" hangingPunct="1">
              <a:lnSpc>
                <a:spcPct val="80000"/>
              </a:lnSpc>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el segundo ejemplo, la sentencia muestra el apellido y fecha de contrato del o los empleados cuya fecha de contrato sea mayor al 01 de Marzo del 2008. Como se</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compara con una fecha literal debe ir entre comillas simples y se compara en ese mismo formato.</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buNone/>
            </a:pPr>
            <a:endParaRPr lang="es-MX" sz="1200" b="0" i="0" u="none" strike="noStrike" cap="none" dirty="0">
              <a:solidFill>
                <a:srgbClr val="000000"/>
              </a:solidFill>
              <a:latin typeface="Arial"/>
              <a:ea typeface="Arial"/>
              <a:cs typeface="Arial"/>
              <a:sym typeface="Arial"/>
            </a:endParaRPr>
          </a:p>
          <a:p>
            <a:pPr marL="0" indent="0" algn="just">
              <a:buFont typeface="Arial" panose="020B0604020202020204" pitchFamily="34" charset="0"/>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224922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Condiciones</a:t>
            </a:r>
            <a:r>
              <a:rPr lang="es-MX"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de Comparación</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609600" marR="0" indent="-609600" algn="just" defTabSz="914400" rtl="0" eaLnBrk="1" fontAlgn="base" latinLnBrk="0" hangingPunct="1">
              <a:lnSpc>
                <a:spcPct val="100000"/>
              </a:lnSpc>
              <a:spcBef>
                <a:spcPct val="3000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Son usada para comparar una expresión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con otro valor o expresión.</a:t>
            </a:r>
          </a:p>
        </p:txBody>
      </p:sp>
    </p:spTree>
    <p:extLst>
      <p:ext uri="{BB962C8B-B14F-4D97-AF65-F5344CB8AC3E}">
        <p14:creationId xmlns:p14="http://schemas.microsoft.com/office/powerpoint/2010/main" val="1947518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8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Condición</a:t>
            </a:r>
            <a:r>
              <a:rPr lang="es-CL"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de Comparación: Operador &lt;=</a:t>
            </a:r>
          </a:p>
          <a:p>
            <a:pPr marL="0" indent="0" algn="just" eaLnBrk="1" hangingPunct="1">
              <a:lnSpc>
                <a:spcPct val="80000"/>
              </a:lnSpc>
              <a:buNone/>
            </a:pPr>
            <a:r>
              <a:rPr lang="es-CL" sz="1200" dirty="0">
                <a:latin typeface="Calibri" panose="020F0502020204030204" pitchFamily="34" charset="0"/>
                <a:cs typeface="Calibri" panose="020F0502020204030204" pitchFamily="34" charset="0"/>
              </a:rPr>
              <a:t>En el ejemplo, la sentencia SELECT recupera el apellido paterno y el salario desde la tabla EMPLOYEES de cualquier empleado cuyo salario sea menor o igual a 2500. El valor explícito 2500 es comparado con el valor del salario de la columna SALARY de la tabla EMPLOYEES.</a:t>
            </a:r>
          </a:p>
        </p:txBody>
      </p:sp>
    </p:spTree>
    <p:extLst>
      <p:ext uri="{BB962C8B-B14F-4D97-AF65-F5344CB8AC3E}">
        <p14:creationId xmlns:p14="http://schemas.microsoft.com/office/powerpoint/2010/main" val="2152519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8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Condiciones de Comparación: Operador BETWEEN</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Muestra filas basadas en un rango de valores especificados. </a:t>
            </a:r>
          </a:p>
          <a:p>
            <a:pPr marL="171450"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El rango que se especifica contiene un limite inferior y un límite superior. </a:t>
            </a:r>
          </a:p>
          <a:p>
            <a:pPr marL="171450"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Los valores especificados con la condición BETWEEN son inclusive.</a:t>
            </a:r>
          </a:p>
          <a:p>
            <a:pPr marL="0" indent="0">
              <a:buFont typeface="Arial" panose="020B0604020202020204" pitchFamily="34" charse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se recuperan las filas de los empleados cuyo salario esté entre los valores 2500 y 3500 inclusivos.</a:t>
            </a:r>
          </a:p>
          <a:p>
            <a:pPr marL="0" indent="0" algn="just" eaLnBrk="1" hangingPunct="1">
              <a:lnSpc>
                <a:spcPct val="80000"/>
              </a:lnSpc>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0062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8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Condiciones de Operador: Operador IN</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CL" sz="1200" dirty="0">
                <a:latin typeface="Calibri" panose="020F0502020204030204" pitchFamily="34" charset="0"/>
                <a:cs typeface="Calibri" panose="020F0502020204030204" pitchFamily="34" charset="0"/>
              </a:rPr>
              <a:t>Obtiene las filas cuyo valores se encuentren en la lista</a:t>
            </a:r>
            <a:endParaRPr lang="es-CL" sz="1200" b="1" dirty="0">
              <a:latin typeface="Calibri" panose="020F0502020204030204" pitchFamily="34" charset="0"/>
              <a:cs typeface="Calibri" panose="020F050202020403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s-CL" sz="1200" dirty="0">
                <a:latin typeface="Calibri" panose="020F0502020204030204" pitchFamily="34" charset="0"/>
                <a:cs typeface="Calibri" panose="020F0502020204030204" pitchFamily="34" charset="0"/>
              </a:rPr>
              <a:t>La sentencia</a:t>
            </a:r>
            <a:r>
              <a:rPr lang="es-CL" sz="1200" baseline="0" dirty="0">
                <a:latin typeface="Calibri" panose="020F0502020204030204" pitchFamily="34" charset="0"/>
                <a:cs typeface="Calibri" panose="020F0502020204030204" pitchFamily="34" charset="0"/>
              </a:rPr>
              <a:t> SELECT del primer ejemplo</a:t>
            </a:r>
            <a:r>
              <a:rPr lang="es-CL" sz="1200" dirty="0">
                <a:latin typeface="Calibri" panose="020F0502020204030204" pitchFamily="34" charset="0"/>
                <a:cs typeface="Calibri" panose="020F0502020204030204" pitchFamily="34" charset="0"/>
              </a:rPr>
              <a:t> recupera información de aquellos empleados cuyo apellido paterno sea </a:t>
            </a:r>
            <a:r>
              <a:rPr lang="es-CL" sz="1200" dirty="0" err="1">
                <a:latin typeface="Calibri" panose="020F0502020204030204" pitchFamily="34" charset="0"/>
                <a:cs typeface="Calibri" panose="020F0502020204030204" pitchFamily="34" charset="0"/>
              </a:rPr>
              <a:t>Hartstein</a:t>
            </a:r>
            <a:r>
              <a:rPr lang="es-CL" sz="1200" dirty="0">
                <a:latin typeface="Calibri" panose="020F0502020204030204" pitchFamily="34" charset="0"/>
                <a:cs typeface="Calibri" panose="020F0502020204030204" pitchFamily="34" charset="0"/>
              </a:rPr>
              <a:t> o Vargas.</a:t>
            </a:r>
          </a:p>
          <a:p>
            <a:pPr marL="0" marR="0" indent="0" algn="l" defTabSz="914400" rtl="0" eaLnBrk="0" fontAlgn="base" latinLnBrk="0" hangingPunct="0">
              <a:lnSpc>
                <a:spcPct val="100000"/>
              </a:lnSpc>
              <a:spcBef>
                <a:spcPct val="30000"/>
              </a:spcBef>
              <a:spcAft>
                <a:spcPct val="0"/>
              </a:spcAft>
              <a:buClrTx/>
              <a:buSzTx/>
              <a:buFontTx/>
              <a:buNone/>
              <a:tabLst/>
              <a:defRPr/>
            </a:pPr>
            <a:r>
              <a:rPr lang="es-CL" sz="1200" dirty="0">
                <a:latin typeface="Calibri" panose="020F0502020204030204" pitchFamily="34" charset="0"/>
                <a:cs typeface="Calibri" panose="020F0502020204030204" pitchFamily="34" charset="0"/>
              </a:rPr>
              <a:t>En el segundo ejemplo, la sentencia SELECT recupera las filas de los empleados cuyos jefes tengan la identificación 100, 101 o 201.</a:t>
            </a:r>
          </a:p>
          <a:p>
            <a:pPr marL="0" indent="0" algn="just" eaLnBrk="1" hangingPunct="1">
              <a:lnSpc>
                <a:spcPct val="80000"/>
              </a:lnSpc>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9703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8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Condiciones de Operador: Operador LIKE</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Permite obtener filas cuyo valor en una columna cumpla una condición textual. Se utiliza especialmente con textos.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Utiliza una cadena de caracteres que pueden contener los siguientes símbolos:</a:t>
            </a:r>
          </a:p>
          <a:p>
            <a:pPr marL="628650" lvl="1"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a:t>
            </a:r>
            <a:r>
              <a:rPr lang="es-CL" sz="1200" dirty="0">
                <a:latin typeface="Calibri" panose="020F0502020204030204" pitchFamily="34" charset="0"/>
                <a:cs typeface="Calibri" panose="020F0502020204030204" pitchFamily="34" charset="0"/>
              </a:rPr>
              <a:t> indica N</a:t>
            </a:r>
            <a:r>
              <a:rPr lang="es-CL" sz="1200" baseline="0" dirty="0">
                <a:latin typeface="Calibri" panose="020F0502020204030204" pitchFamily="34" charset="0"/>
                <a:cs typeface="Calibri" panose="020F0502020204030204" pitchFamily="34" charset="0"/>
              </a:rPr>
              <a:t> caracteres</a:t>
            </a:r>
            <a:r>
              <a:rPr lang="es-CL" sz="1200" dirty="0">
                <a:latin typeface="Calibri" panose="020F0502020204030204" pitchFamily="34" charset="0"/>
                <a:cs typeface="Calibri" panose="020F0502020204030204" pitchFamily="34" charset="0"/>
              </a:rPr>
              <a:t>.</a:t>
            </a:r>
          </a:p>
          <a:p>
            <a:pPr marL="628650" lvl="1"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_:</a:t>
            </a:r>
            <a:r>
              <a:rPr lang="es-CL" sz="1200" dirty="0">
                <a:latin typeface="Calibri" panose="020F0502020204030204" pitchFamily="34" charset="0"/>
                <a:cs typeface="Calibri" panose="020F0502020204030204" pitchFamily="34" charset="0"/>
              </a:rPr>
              <a:t> indica un carácter.</a:t>
            </a:r>
          </a:p>
          <a:p>
            <a:pPr marL="0" lvl="1" indent="0">
              <a:buFont typeface="Arial" panose="020B0604020202020204" pitchFamily="34" charset="0"/>
              <a:buNone/>
            </a:pPr>
            <a:r>
              <a:rPr lang="es-CL" sz="1200" dirty="0">
                <a:latin typeface="Calibri" panose="020F0502020204030204" pitchFamily="34" charset="0"/>
                <a:cs typeface="Calibri" panose="020F0502020204030204" pitchFamily="34" charset="0"/>
              </a:rPr>
              <a:t>En el ejemplo, se muestran los empleados cuyo apellido paterno comience con la letra S y le siga una cadena de caracteres</a:t>
            </a:r>
            <a:r>
              <a:rPr lang="es-CL" sz="1200" baseline="0" dirty="0">
                <a:latin typeface="Calibri" panose="020F0502020204030204" pitchFamily="34" charset="0"/>
                <a:cs typeface="Calibri" panose="020F0502020204030204" pitchFamily="34" charset="0"/>
              </a:rPr>
              <a:t> cualquiera.</a:t>
            </a:r>
            <a:endParaRPr lang="es-CL" sz="1200" dirty="0">
              <a:latin typeface="Calibri" panose="020F0502020204030204" pitchFamily="34" charset="0"/>
              <a:cs typeface="Calibri" panose="020F0502020204030204" pitchFamily="34" charset="0"/>
            </a:endParaRPr>
          </a:p>
          <a:p>
            <a:pPr marL="0" indent="0" algn="just" eaLnBrk="1" hangingPunct="1">
              <a:lnSpc>
                <a:spcPct val="80000"/>
              </a:lnSpc>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2076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8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Condiciones de Operador: Operador LIKE</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indent="0" algn="l" defTabSz="914400" rtl="0" eaLnBrk="1" fontAlgn="base" latinLnBrk="0" hangingPunct="1">
              <a:lnSpc>
                <a:spcPct val="90000"/>
              </a:lnSpc>
              <a:spcBef>
                <a:spcPct val="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el primer ejemplo, la sentencia </a:t>
            </a:r>
            <a:r>
              <a:rPr lang="es-CL" sz="1200" dirty="0">
                <a:latin typeface="Calibri" panose="020F0502020204030204" pitchFamily="34" charset="0"/>
                <a:cs typeface="Calibri" panose="020F0502020204030204" pitchFamily="34" charset="0"/>
              </a:rPr>
              <a:t>muestra las filas de aquellos empleados cuya fecha de contratación comienza con cualquier cadena de caracteres y los dos últimos deben ser 03.</a:t>
            </a:r>
          </a:p>
          <a:p>
            <a:pPr marL="0" marR="0" indent="0" algn="l" defTabSz="914400" rtl="0" eaLnBrk="1" fontAlgn="base" latinLnBrk="0" hangingPunct="1">
              <a:lnSpc>
                <a:spcPct val="90000"/>
              </a:lnSpc>
              <a:spcBef>
                <a:spcPct val="0"/>
              </a:spcBef>
              <a:spcAft>
                <a:spcPct val="0"/>
              </a:spcAft>
              <a:buClrTx/>
              <a:buSzTx/>
              <a:buFontTx/>
              <a:buNone/>
              <a:tabLst/>
              <a:defRPr/>
            </a:pPr>
            <a:r>
              <a:rPr lang="es-CL" sz="1200" dirty="0">
                <a:latin typeface="Calibri" panose="020F0502020204030204" pitchFamily="34" charset="0"/>
                <a:cs typeface="Calibri" panose="020F0502020204030204" pitchFamily="34" charset="0"/>
              </a:rPr>
              <a:t>El segundo ejemplo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retorna las filas de los empleados cuyo apellido comience con un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caracter</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(cualquiera)  seguido de letra </a:t>
            </a: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o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minúscula) y a continuación la cadena de caracteres</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que sea.</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lnSpc>
                <a:spcPct val="80000"/>
              </a:lnSpc>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79885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8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Condiciones de Operador: Operador NULL</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Evalúa valores Nulos. Esta condición incluye las condiciones IS NULL y la condición IS NOT NULL.</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Un valor NULO es un valor no disponible, desconocido o inaplicable, por esta razón no se pueden evaluar con la condición igual a (=).</a:t>
            </a: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En el primer ejemplo, la sentencia SELECT retorna las filas de los empleados que no poseen jefe. </a:t>
            </a: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En el segundo ejemplo, las sentencia SELECT retorna las filas de los empleados que poseen porcentaje de comisión.</a:t>
            </a:r>
          </a:p>
          <a:p>
            <a:pPr marL="0" indent="0" algn="just" eaLnBrk="1" hangingPunct="1">
              <a:lnSpc>
                <a:spcPct val="80000"/>
              </a:lnSpc>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81680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16229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Usando Operadores Lógicos</a:t>
            </a:r>
            <a:endParaRPr lang="es-CL" sz="1200" b="1"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Cuando</a:t>
            </a:r>
            <a:r>
              <a:rPr lang="es-CL" sz="1200" baseline="0" dirty="0">
                <a:latin typeface="Calibri" panose="020F0502020204030204" pitchFamily="34" charset="0"/>
                <a:cs typeface="Calibri" panose="020F0502020204030204" pitchFamily="34" charset="0"/>
              </a:rPr>
              <a:t> se requiere que una sentencia SQL evalúe más de una condición para visualizar, eliminar o actualizar, se requiere usar Operadores Lógicos en la cláusula WHERE.</a:t>
            </a:r>
            <a:endParaRPr lang="es-CL" sz="120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Una condición lógica combina el resultado de dos condiciones para producir un único resultado basado en aquellas condiciones. Retorna una fila sólo si el resultado total de la condición es TRUE (verdadero).</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Los operador lógicos disponibles en SQL son: AND, OR y NOT</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AND: retorna verdadero si todos las</a:t>
            </a:r>
            <a:r>
              <a:rPr lang="es-CL" sz="1200" baseline="0" dirty="0">
                <a:latin typeface="Calibri" panose="020F0502020204030204" pitchFamily="34" charset="0"/>
                <a:cs typeface="Calibri" panose="020F0502020204030204" pitchFamily="34" charset="0"/>
              </a:rPr>
              <a:t> condiciones que se evalúan son verdaderas.</a:t>
            </a:r>
          </a:p>
          <a:p>
            <a:pPr marL="171450" indent="-171450">
              <a:buFont typeface="Arial" panose="020B0604020202020204" pitchFamily="34" charset="0"/>
              <a:buChar char="•"/>
            </a:pPr>
            <a:r>
              <a:rPr lang="es-CL" sz="1200" baseline="0" dirty="0">
                <a:latin typeface="Calibri" panose="020F0502020204030204" pitchFamily="34" charset="0"/>
                <a:cs typeface="Calibri" panose="020F0502020204030204" pitchFamily="34" charset="0"/>
              </a:rPr>
              <a:t>OR: retorna verdadero si alguna de las condiciones que se evalúan son verdaderas.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aseline="0" dirty="0">
                <a:latin typeface="Calibri" panose="020F0502020204030204" pitchFamily="34" charset="0"/>
                <a:cs typeface="Calibri" panose="020F0502020204030204" pitchFamily="34" charset="0"/>
              </a:rPr>
              <a:t>NOT: retorna verdadero si la condición es falsa. </a:t>
            </a:r>
            <a:r>
              <a:rPr kumimoji="0" lang="es-MX" sz="1200" b="0" i="0" u="none" strike="noStrike" cap="none" normalizeH="0" baseline="0" dirty="0">
                <a:ln>
                  <a:noFill/>
                </a:ln>
                <a:solidFill>
                  <a:schemeClr val="bg1"/>
                </a:solidFill>
                <a:effectLst/>
                <a:latin typeface="Calibri" panose="020F0502020204030204" pitchFamily="34" charset="0"/>
                <a:ea typeface="Arial"/>
                <a:cs typeface="Calibri" panose="020F0502020204030204" pitchFamily="34" charset="0"/>
                <a:sym typeface="Arial"/>
              </a:rPr>
              <a:t>Invierte la lógica de la expresión que está a su derecha. Si era verdadera, mediante NOT pasa a ser falso.</a:t>
            </a:r>
            <a:endParaRPr kumimoji="0" lang="es-ES" sz="1200" b="0" i="0" u="none" strike="noStrike" cap="none" normalizeH="0" baseline="0" dirty="0">
              <a:ln>
                <a:noFill/>
              </a:ln>
              <a:solidFill>
                <a:schemeClr val="bg1"/>
              </a:solidFill>
              <a:effectLst/>
              <a:latin typeface="Calibri" panose="020F0502020204030204" pitchFamily="34" charset="0"/>
              <a:ea typeface="Arial"/>
              <a:cs typeface="Calibri" panose="020F0502020204030204" pitchFamily="34" charset="0"/>
              <a:sym typeface="Arial"/>
            </a:endParaRPr>
          </a:p>
          <a:p>
            <a:pPr marL="0" indent="0">
              <a:buNone/>
            </a:pPr>
            <a:endParaRPr lang="es-CL" dirty="0"/>
          </a:p>
        </p:txBody>
      </p:sp>
    </p:spTree>
    <p:extLst>
      <p:ext uri="{BB962C8B-B14F-4D97-AF65-F5344CB8AC3E}">
        <p14:creationId xmlns:p14="http://schemas.microsoft.com/office/powerpoint/2010/main" val="1013139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Usando Operador Lógico AND</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Requiere que todos los componentes de la condición sean verdaderos para mostrar la información.</a:t>
            </a: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En el ejemplo, la sentencia SELECT retorna las filas de los empleados cuyo salario sea mayor o igual a 10000 Y su identificación de trabajo contenga el valor MAN.</a:t>
            </a:r>
          </a:p>
          <a:p>
            <a:pPr marL="0" indent="0">
              <a:buNone/>
            </a:pPr>
            <a:endParaRPr lang="es-CL" dirty="0"/>
          </a:p>
        </p:txBody>
      </p:sp>
    </p:spTree>
    <p:extLst>
      <p:ext uri="{BB962C8B-B14F-4D97-AF65-F5344CB8AC3E}">
        <p14:creationId xmlns:p14="http://schemas.microsoft.com/office/powerpoint/2010/main" val="28252720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Usando Operador Lógico OR</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Requiere que alguno de los componentes de la condición sea verdadero para mostrar la información. </a:t>
            </a: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El ejemplo de la sentencia SELECT retorna las filas de los empleados cuyo salario sea mayor o igual a 17000 o su fecha de contratación sea mayor al 1 de Enero del año 2008. </a:t>
            </a:r>
          </a:p>
          <a:p>
            <a:pPr marL="0" indent="0">
              <a:buNone/>
            </a:pPr>
            <a:endParaRPr lang="es-CL" dirty="0"/>
          </a:p>
        </p:txBody>
      </p:sp>
    </p:spTree>
    <p:extLst>
      <p:ext uri="{BB962C8B-B14F-4D97-AF65-F5344CB8AC3E}">
        <p14:creationId xmlns:p14="http://schemas.microsoft.com/office/powerpoint/2010/main" val="50687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Usando Operador Lógico OR</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Invierte la lógica de la expresión que está a su derecha. </a:t>
            </a: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En el ejemplo, la sentencia muestra información de los empleados cuyo trabajo sea diferente de IT_PROG, ST_CLERK, SH_CLERK, SA_REP o SA_MAN.</a:t>
            </a:r>
          </a:p>
          <a:p>
            <a:pPr marL="0" indent="0">
              <a:buNone/>
            </a:pPr>
            <a:endParaRPr lang="es-CL" dirty="0"/>
          </a:p>
        </p:txBody>
      </p:sp>
    </p:spTree>
    <p:extLst>
      <p:ext uri="{BB962C8B-B14F-4D97-AF65-F5344CB8AC3E}">
        <p14:creationId xmlns:p14="http://schemas.microsoft.com/office/powerpoint/2010/main" val="17584377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Reglas de precedencia para Operadores</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s-CL" sz="1200" dirty="0">
                <a:latin typeface="Calibri" panose="020F0502020204030204" pitchFamily="34" charset="0"/>
                <a:cs typeface="Calibri" panose="020F0502020204030204" pitchFamily="34" charset="0"/>
              </a:rPr>
              <a:t>Las reglas de precedencia determinan el orden en que las expresiones son evaluadas o calculadas. Si se desea modificar el orden de precedencia por defecto se debe utilizar paréntesis</a:t>
            </a:r>
          </a:p>
          <a:p>
            <a:pPr marL="0" indent="0">
              <a:buNone/>
            </a:pPr>
            <a:endParaRPr lang="es-CL" sz="1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31913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Reglas de precedencia para los Operadores</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indent="0">
              <a:buNone/>
            </a:pPr>
            <a:r>
              <a:rPr lang="es-CL" sz="1200" dirty="0">
                <a:latin typeface="Calibri" panose="020F0502020204030204" pitchFamily="34" charset="0"/>
                <a:cs typeface="Calibri" panose="020F0502020204030204" pitchFamily="34" charset="0"/>
              </a:rPr>
              <a:t>El ejemplo consta de dos condiciones: </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La primera condición</a:t>
            </a:r>
            <a:r>
              <a:rPr lang="es-CL" sz="1200" baseline="0" dirty="0">
                <a:latin typeface="Calibri" panose="020F0502020204030204" pitchFamily="34" charset="0"/>
                <a:cs typeface="Calibri" panose="020F0502020204030204" pitchFamily="34" charset="0"/>
              </a:rPr>
              <a:t> que se ejecuta es que</a:t>
            </a:r>
            <a:r>
              <a:rPr lang="es-CL" sz="1200" dirty="0">
                <a:latin typeface="Calibri" panose="020F0502020204030204" pitchFamily="34" charset="0"/>
                <a:cs typeface="Calibri" panose="020F0502020204030204" pitchFamily="34" charset="0"/>
              </a:rPr>
              <a:t> la identificación del trabajo sea AD_PRES Y el salario sea mayor a 15000. </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La segunda condición que se ejecuta es que la identificación del trabajo sea SA_REP. </a:t>
            </a: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Por lo tanto, la sentencia SELECT se ejecuta, por orden de precedencia de la siguiente manera: "Seleccione la fila si el empleado posee el trabajo con identificación AD_PRES Y su salario es mayor que 15000, O si el empleado posee el trabajo SA_REP".</a:t>
            </a:r>
          </a:p>
          <a:p>
            <a:pPr marL="0" indent="0">
              <a:buNone/>
            </a:pPr>
            <a:endParaRPr lang="es-CL" sz="1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8949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Reglas de precedencia para los Operadores</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indent="0">
              <a:buNone/>
            </a:pPr>
            <a:r>
              <a:rPr lang="es-CL" sz="1200" dirty="0">
                <a:latin typeface="Calibri" panose="020F0502020204030204" pitchFamily="34" charset="0"/>
                <a:cs typeface="Calibri" panose="020F0502020204030204" pitchFamily="34" charset="0"/>
              </a:rPr>
              <a:t>El ejemplo consta de dos condiciones: </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La primera sentencia que se ejecuta es que la identificación del trabajo sea AD_PRES o SA_REP. </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La segunda condición que se ejecuta es que el salario sea mayor a 15000.</a:t>
            </a: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La sentencia SELECT se ejecuta, por orden de precedencia es de la siguiente manera : "Seleccione la fila si el trabajo del empleado es AD_PRES O SA_REP Y si el empleado además posee un salario mayor que 15000".</a:t>
            </a:r>
          </a:p>
          <a:p>
            <a:pPr marL="0" indent="0">
              <a:buNone/>
            </a:pP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683230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9353081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Usando Sentencia </a:t>
            </a:r>
            <a:r>
              <a:rPr lang="es-CL" sz="1200" b="1" dirty="0" err="1">
                <a:latin typeface="Calibri" panose="020F0502020204030204" pitchFamily="34" charset="0"/>
                <a:cs typeface="Calibri" panose="020F0502020204030204" pitchFamily="34" charset="0"/>
              </a:rPr>
              <a:t>Select</a:t>
            </a:r>
            <a:r>
              <a:rPr lang="es-CL" sz="1200" b="1" dirty="0">
                <a:latin typeface="Calibri" panose="020F0502020204030204" pitchFamily="34" charset="0"/>
                <a:cs typeface="Calibri" panose="020F0502020204030204" pitchFamily="34" charset="0"/>
              </a:rPr>
              <a:t> para crear Tablas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La forma más simple de crear una tabla es utilizando una sentencia </a:t>
            </a:r>
            <a:r>
              <a:rPr lang="es-CL" sz="1200" dirty="0" err="1">
                <a:latin typeface="Calibri" panose="020F0502020204030204" pitchFamily="34" charset="0"/>
                <a:cs typeface="Calibri" panose="020F0502020204030204" pitchFamily="34" charset="0"/>
              </a:rPr>
              <a:t>Select</a:t>
            </a:r>
            <a:r>
              <a:rPr lang="es-CL" sz="1200" dirty="0">
                <a:latin typeface="Calibri" panose="020F0502020204030204" pitchFamily="34" charset="0"/>
                <a:cs typeface="Calibri" panose="020F0502020204030204" pitchFamily="34" charset="0"/>
              </a:rPr>
              <a:t> con la sentencia CREATE TABLE.</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Se debe utilizar la opción AS </a:t>
            </a:r>
            <a:r>
              <a:rPr lang="es-CL" sz="1200" dirty="0" err="1">
                <a:latin typeface="Calibri" panose="020F0502020204030204" pitchFamily="34" charset="0"/>
                <a:cs typeface="Calibri" panose="020F0502020204030204" pitchFamily="34" charset="0"/>
              </a:rPr>
              <a:t>Sentencia_Select</a:t>
            </a:r>
            <a:r>
              <a:rPr lang="es-CL" sz="1200" dirty="0">
                <a:latin typeface="Calibri" panose="020F0502020204030204" pitchFamily="34" charset="0"/>
                <a:cs typeface="Calibri" panose="020F0502020204030204" pitchFamily="34" charset="0"/>
              </a:rPr>
              <a:t>. Si a la tabla no se le especifican columnas, entonces se creará con los nombres de columnas, tipos de datos de las columnas seleccionadas y con las filas que retornará la Sentencia </a:t>
            </a:r>
            <a:r>
              <a:rPr lang="es-CL" sz="1200" dirty="0" err="1">
                <a:latin typeface="Calibri" panose="020F0502020204030204" pitchFamily="34" charset="0"/>
                <a:cs typeface="Calibri" panose="020F0502020204030204" pitchFamily="34" charset="0"/>
              </a:rPr>
              <a:t>Select</a:t>
            </a:r>
            <a:r>
              <a:rPr lang="es-CL" sz="1200" dirty="0">
                <a:latin typeface="Calibri" panose="020F0502020204030204" pitchFamily="34" charset="0"/>
                <a:cs typeface="Calibri" panose="020F0502020204030204" pitchFamily="34" charset="0"/>
              </a:rPr>
              <a:t>. Si en la sentencia existen expresiones es obligatorio asignarle un alias. Si al resto de las columnas seleccionadas se les asignan opcionalmente alias, éstos no pueden tener espacios en blanco ya es éstos serán los nombres de las columnas de las tablas.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Si a la tabla que se desea crear se especifican las columnas, entonces la tabla se creará con esas columnas. Además, en este caso, el numero de columnas de la tabla deben coincidir con el número de columnas seleccionadas en la Subconsulta.</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La única </a:t>
            </a:r>
            <a:r>
              <a:rPr lang="es-CL" sz="1200" dirty="0" err="1">
                <a:latin typeface="Calibri" panose="020F0502020204030204" pitchFamily="34" charset="0"/>
                <a:cs typeface="Calibri" panose="020F0502020204030204" pitchFamily="34" charset="0"/>
              </a:rPr>
              <a:t>constraints</a:t>
            </a:r>
            <a:r>
              <a:rPr lang="es-CL" sz="1200" dirty="0">
                <a:latin typeface="Calibri" panose="020F0502020204030204" pitchFamily="34" charset="0"/>
                <a:cs typeface="Calibri" panose="020F0502020204030204" pitchFamily="34" charset="0"/>
              </a:rPr>
              <a:t> que la tabla creada "hereda" de las tablas que se utilizan en la sentencia </a:t>
            </a:r>
            <a:r>
              <a:rPr lang="es-CL" sz="1200" dirty="0" err="1">
                <a:latin typeface="Calibri" panose="020F0502020204030204" pitchFamily="34" charset="0"/>
                <a:cs typeface="Calibri" panose="020F0502020204030204" pitchFamily="34" charset="0"/>
              </a:rPr>
              <a:t>Select</a:t>
            </a:r>
            <a:r>
              <a:rPr lang="es-CL" sz="1200" dirty="0">
                <a:latin typeface="Calibri" panose="020F0502020204030204" pitchFamily="34" charset="0"/>
                <a:cs typeface="Calibri" panose="020F0502020204030204" pitchFamily="34" charset="0"/>
              </a:rPr>
              <a:t> es la </a:t>
            </a:r>
            <a:r>
              <a:rPr lang="es-CL" sz="1200" dirty="0" err="1">
                <a:latin typeface="Calibri" panose="020F0502020204030204" pitchFamily="34" charset="0"/>
                <a:cs typeface="Calibri" panose="020F0502020204030204" pitchFamily="34" charset="0"/>
              </a:rPr>
              <a:t>constraint</a:t>
            </a:r>
            <a:r>
              <a:rPr lang="es-CL" sz="1200" dirty="0">
                <a:latin typeface="Calibri" panose="020F0502020204030204" pitchFamily="34" charset="0"/>
                <a:cs typeface="Calibri" panose="020F0502020204030204" pitchFamily="34" charset="0"/>
              </a:rPr>
              <a:t> NULL. El resto</a:t>
            </a:r>
            <a:r>
              <a:rPr lang="es-CL" sz="1200" baseline="0" dirty="0">
                <a:latin typeface="Calibri" panose="020F0502020204030204" pitchFamily="34" charset="0"/>
                <a:cs typeface="Calibri" panose="020F0502020204030204" pitchFamily="34" charset="0"/>
              </a:rPr>
              <a:t> de las </a:t>
            </a:r>
            <a:r>
              <a:rPr lang="es-CL" sz="1200" baseline="0" dirty="0" err="1">
                <a:latin typeface="Calibri" panose="020F0502020204030204" pitchFamily="34" charset="0"/>
                <a:cs typeface="Calibri" panose="020F0502020204030204" pitchFamily="34" charset="0"/>
              </a:rPr>
              <a:t>constraints</a:t>
            </a:r>
            <a:r>
              <a:rPr lang="es-CL" sz="1200" baseline="0" dirty="0">
                <a:latin typeface="Calibri" panose="020F0502020204030204" pitchFamily="34" charset="0"/>
                <a:cs typeface="Calibri" panose="020F0502020204030204" pitchFamily="34" charset="0"/>
              </a:rPr>
              <a:t> (</a:t>
            </a:r>
            <a:r>
              <a:rPr lang="es-CL" sz="1200" baseline="0" dirty="0" err="1">
                <a:latin typeface="Calibri" panose="020F0502020204030204" pitchFamily="34" charset="0"/>
                <a:cs typeface="Calibri" panose="020F0502020204030204" pitchFamily="34" charset="0"/>
              </a:rPr>
              <a:t>Primary</a:t>
            </a:r>
            <a:r>
              <a:rPr lang="es-CL" sz="1200" baseline="0" dirty="0">
                <a:latin typeface="Calibri" panose="020F0502020204030204" pitchFamily="34" charset="0"/>
                <a:cs typeface="Calibri" panose="020F0502020204030204" pitchFamily="34" charset="0"/>
              </a:rPr>
              <a:t> Key, </a:t>
            </a:r>
            <a:r>
              <a:rPr lang="es-CL" sz="1200" baseline="0" dirty="0" err="1">
                <a:latin typeface="Calibri" panose="020F0502020204030204" pitchFamily="34" charset="0"/>
                <a:cs typeface="Calibri" panose="020F0502020204030204" pitchFamily="34" charset="0"/>
              </a:rPr>
              <a:t>Foreing</a:t>
            </a:r>
            <a:r>
              <a:rPr lang="es-CL" sz="1200" baseline="0" dirty="0">
                <a:latin typeface="Calibri" panose="020F0502020204030204" pitchFamily="34" charset="0"/>
                <a:cs typeface="Calibri" panose="020F0502020204030204" pitchFamily="34" charset="0"/>
              </a:rPr>
              <a:t> Key, </a:t>
            </a:r>
            <a:r>
              <a:rPr lang="es-CL" sz="1200" dirty="0" err="1">
                <a:latin typeface="Calibri" panose="020F0502020204030204" pitchFamily="34" charset="0"/>
                <a:cs typeface="Calibri" panose="020F0502020204030204" pitchFamily="34" charset="0"/>
              </a:rPr>
              <a:t>Check</a:t>
            </a:r>
            <a:r>
              <a:rPr lang="es-CL" sz="1200" dirty="0">
                <a:latin typeface="Calibri" panose="020F0502020204030204" pitchFamily="34" charset="0"/>
                <a:cs typeface="Calibri" panose="020F0502020204030204" pitchFamily="34" charset="0"/>
              </a:rPr>
              <a:t>, </a:t>
            </a:r>
            <a:r>
              <a:rPr lang="es-CL" sz="1200" dirty="0" err="1">
                <a:latin typeface="Calibri" panose="020F0502020204030204" pitchFamily="34" charset="0"/>
                <a:cs typeface="Calibri" panose="020F0502020204030204" pitchFamily="34" charset="0"/>
              </a:rPr>
              <a:t>etc</a:t>
            </a:r>
            <a:r>
              <a:rPr lang="es-CL" sz="1200" baseline="0" dirty="0">
                <a:latin typeface="Calibri" panose="020F0502020204030204" pitchFamily="34" charset="0"/>
                <a:cs typeface="Calibri" panose="020F0502020204030204" pitchFamily="34" charset="0"/>
              </a:rPr>
              <a:t>) no las hereda.</a:t>
            </a:r>
            <a:endParaRPr lang="es-CL" sz="1200" dirty="0">
              <a:latin typeface="Calibri" panose="020F0502020204030204" pitchFamily="34" charset="0"/>
              <a:cs typeface="Calibri" panose="020F0502020204030204" pitchFamily="34" charset="0"/>
            </a:endParaRP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En la</a:t>
            </a:r>
            <a:r>
              <a:rPr lang="es-CL" sz="1200" baseline="0" dirty="0">
                <a:latin typeface="Calibri" panose="020F0502020204030204" pitchFamily="34" charset="0"/>
                <a:cs typeface="Calibri" panose="020F0502020204030204" pitchFamily="34" charset="0"/>
              </a:rPr>
              <a:t> sintaxis:</a:t>
            </a:r>
          </a:p>
          <a:p>
            <a:pPr marL="171450" indent="-171450">
              <a:buFont typeface="Arial" panose="020B0604020202020204" pitchFamily="34" charset="0"/>
              <a:buChar char="•"/>
            </a:pPr>
            <a:r>
              <a:rPr lang="es-CL" sz="1200" b="1" i="1" baseline="0" dirty="0" err="1">
                <a:latin typeface="Calibri" panose="020F0502020204030204" pitchFamily="34" charset="0"/>
                <a:cs typeface="Calibri" panose="020F0502020204030204" pitchFamily="34" charset="0"/>
              </a:rPr>
              <a:t>nombre_tabla</a:t>
            </a:r>
            <a:r>
              <a:rPr lang="es-CL" sz="1200" b="1" i="0" baseline="0" dirty="0">
                <a:latin typeface="Calibri" panose="020F0502020204030204" pitchFamily="34" charset="0"/>
                <a:cs typeface="Calibri" panose="020F0502020204030204" pitchFamily="34" charset="0"/>
              </a:rPr>
              <a:t>:</a:t>
            </a:r>
            <a:r>
              <a:rPr lang="es-CL" sz="1200" b="0" i="0" baseline="0" dirty="0">
                <a:latin typeface="Calibri" panose="020F0502020204030204" pitchFamily="34" charset="0"/>
                <a:cs typeface="Calibri" panose="020F0502020204030204" pitchFamily="34" charset="0"/>
              </a:rPr>
              <a:t> es el nombre de la tabla que se desea crear.</a:t>
            </a:r>
          </a:p>
          <a:p>
            <a:pPr marL="171450" indent="-171450">
              <a:buFont typeface="Arial" panose="020B0604020202020204" pitchFamily="34" charset="0"/>
              <a:buChar char="•"/>
            </a:pPr>
            <a:r>
              <a:rPr lang="es-CL" sz="1200" b="1" i="1" baseline="0" dirty="0">
                <a:latin typeface="Calibri" panose="020F0502020204030204" pitchFamily="34" charset="0"/>
                <a:cs typeface="Calibri" panose="020F0502020204030204" pitchFamily="34" charset="0"/>
              </a:rPr>
              <a:t>columna</a:t>
            </a:r>
            <a:r>
              <a:rPr lang="es-CL" sz="1200" b="1" i="0" baseline="0" dirty="0">
                <a:latin typeface="Calibri" panose="020F0502020204030204" pitchFamily="34" charset="0"/>
                <a:cs typeface="Calibri" panose="020F0502020204030204" pitchFamily="34" charset="0"/>
              </a:rPr>
              <a:t>:</a:t>
            </a:r>
            <a:r>
              <a:rPr lang="es-CL" sz="1200" b="0" i="0" baseline="0" dirty="0">
                <a:latin typeface="Calibri" panose="020F0502020204030204" pitchFamily="34" charset="0"/>
                <a:cs typeface="Calibri" panose="020F0502020204030204" pitchFamily="34" charset="0"/>
              </a:rPr>
              <a:t> opcionalmente la tabla puede ser creada con los nombres de columnas que requiera el usuario. Si no se especifican. Las nombres de columnas serán los nombres de columnas o alias de la sentencia SELECT.</a:t>
            </a:r>
          </a:p>
          <a:p>
            <a:pPr marL="171450" indent="-171450">
              <a:buFont typeface="Arial" panose="020B0604020202020204" pitchFamily="34" charset="0"/>
              <a:buChar char="•"/>
            </a:pPr>
            <a:r>
              <a:rPr lang="es-CL" sz="1200" b="1" i="1" baseline="0" dirty="0" err="1">
                <a:latin typeface="Calibri" panose="020F0502020204030204" pitchFamily="34" charset="0"/>
                <a:cs typeface="Calibri" panose="020F0502020204030204" pitchFamily="34" charset="0"/>
              </a:rPr>
              <a:t>sentencia_select</a:t>
            </a:r>
            <a:r>
              <a:rPr lang="es-CL" sz="1200" b="1" i="0" baseline="0" dirty="0">
                <a:latin typeface="Calibri" panose="020F0502020204030204" pitchFamily="34" charset="0"/>
                <a:cs typeface="Calibri" panose="020F0502020204030204" pitchFamily="34" charset="0"/>
              </a:rPr>
              <a:t>:</a:t>
            </a:r>
            <a:r>
              <a:rPr lang="es-CL" sz="1200" b="0" i="0" baseline="0" dirty="0">
                <a:latin typeface="Calibri" panose="020F0502020204030204" pitchFamily="34" charset="0"/>
                <a:cs typeface="Calibri" panose="020F0502020204030204" pitchFamily="34" charset="0"/>
              </a:rPr>
              <a:t> es la sentencia SELECT (en este caso subconsulta porque la sentencia SELECT está en otra sentencia SQL) que </a:t>
            </a:r>
            <a:r>
              <a:rPr lang="es-CL" sz="1200" b="0" i="0" baseline="0" dirty="0" err="1">
                <a:latin typeface="Calibri" panose="020F0502020204030204" pitchFamily="34" charset="0"/>
                <a:cs typeface="Calibri" panose="020F0502020204030204" pitchFamily="34" charset="0"/>
              </a:rPr>
              <a:t>obtenerá</a:t>
            </a:r>
            <a:r>
              <a:rPr lang="es-CL" sz="1200" b="0" i="0" baseline="0" dirty="0">
                <a:latin typeface="Calibri" panose="020F0502020204030204" pitchFamily="34" charset="0"/>
                <a:cs typeface="Calibri" panose="020F0502020204030204" pitchFamily="34" charset="0"/>
              </a:rPr>
              <a:t> los datos y su resultado quedará en la tabla que se está creando.</a:t>
            </a:r>
            <a:endParaRPr lang="es-CL" sz="1200" b="1" i="1" dirty="0">
              <a:latin typeface="Calibri" panose="020F0502020204030204" pitchFamily="34" charset="0"/>
              <a:cs typeface="Calibri" panose="020F0502020204030204" pitchFamily="34" charset="0"/>
            </a:endParaRPr>
          </a:p>
          <a:p>
            <a:pPr marL="0" indent="0">
              <a:buNone/>
            </a:pPr>
            <a:endParaRPr lang="es-CL" dirty="0"/>
          </a:p>
        </p:txBody>
      </p:sp>
    </p:spTree>
    <p:extLst>
      <p:ext uri="{BB962C8B-B14F-4D97-AF65-F5344CB8AC3E}">
        <p14:creationId xmlns:p14="http://schemas.microsoft.com/office/powerpoint/2010/main" val="1066576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Usando Sentencia </a:t>
            </a:r>
            <a:r>
              <a:rPr lang="es-CL" sz="1200" b="1" dirty="0" err="1">
                <a:latin typeface="Calibri" panose="020F0502020204030204" pitchFamily="34" charset="0"/>
                <a:cs typeface="Calibri" panose="020F0502020204030204" pitchFamily="34" charset="0"/>
              </a:rPr>
              <a:t>Select</a:t>
            </a:r>
            <a:r>
              <a:rPr lang="es-CL" sz="1200" b="1" dirty="0">
                <a:latin typeface="Calibri" panose="020F0502020204030204" pitchFamily="34" charset="0"/>
                <a:cs typeface="Calibri" panose="020F0502020204030204" pitchFamily="34" charset="0"/>
              </a:rPr>
              <a:t> para crear Tablas</a:t>
            </a:r>
            <a:endParaRPr lang="es-CL" sz="1200" b="0" dirty="0">
              <a:latin typeface="Calibri" panose="020F0502020204030204" pitchFamily="34" charset="0"/>
              <a:cs typeface="Calibri" panose="020F0502020204030204" pitchFamily="34" charset="0"/>
            </a:endParaRPr>
          </a:p>
          <a:p>
            <a:pPr marL="0" indent="0">
              <a:buNone/>
            </a:pPr>
            <a:r>
              <a:rPr lang="es-CL" sz="1200" dirty="0">
                <a:latin typeface="Calibri" panose="020F0502020204030204" pitchFamily="34" charset="0"/>
                <a:cs typeface="Calibri" panose="020F0502020204030204" pitchFamily="34" charset="0"/>
              </a:rPr>
              <a:t>En el ejemplo, se crea tabla </a:t>
            </a:r>
            <a:r>
              <a:rPr lang="es-CL" sz="1200" dirty="0" err="1">
                <a:latin typeface="Calibri" panose="020F0502020204030204" pitchFamily="34" charset="0"/>
                <a:cs typeface="Calibri" panose="020F0502020204030204" pitchFamily="34" charset="0"/>
              </a:rPr>
              <a:t>employees_copia</a:t>
            </a:r>
            <a:r>
              <a:rPr lang="es-CL" sz="1200" dirty="0">
                <a:latin typeface="Calibri" panose="020F0502020204030204" pitchFamily="34" charset="0"/>
                <a:cs typeface="Calibri" panose="020F0502020204030204" pitchFamily="34" charset="0"/>
              </a:rPr>
              <a:t>. Al</a:t>
            </a:r>
            <a:r>
              <a:rPr lang="es-CL" sz="1200" baseline="0" dirty="0">
                <a:latin typeface="Calibri" panose="020F0502020204030204" pitchFamily="34" charset="0"/>
                <a:cs typeface="Calibri" panose="020F0502020204030204" pitchFamily="34" charset="0"/>
              </a:rPr>
              <a:t> no definir en forma explícita sus columnas, la tabla </a:t>
            </a:r>
            <a:r>
              <a:rPr lang="es-CL" sz="1200" baseline="0" dirty="0" err="1">
                <a:latin typeface="Calibri" panose="020F0502020204030204" pitchFamily="34" charset="0"/>
                <a:cs typeface="Calibri" panose="020F0502020204030204" pitchFamily="34" charset="0"/>
              </a:rPr>
              <a:t>employee_copia</a:t>
            </a:r>
            <a:r>
              <a:rPr lang="es-CL" sz="1200" baseline="0" dirty="0">
                <a:latin typeface="Calibri" panose="020F0502020204030204" pitchFamily="34" charset="0"/>
                <a:cs typeface="Calibri" panose="020F0502020204030204" pitchFamily="34" charset="0"/>
              </a:rPr>
              <a:t> tendrá </a:t>
            </a:r>
            <a:r>
              <a:rPr lang="es-CL" sz="1200" dirty="0">
                <a:latin typeface="Calibri" panose="020F0502020204030204" pitchFamily="34" charset="0"/>
                <a:cs typeface="Calibri" panose="020F0502020204030204" pitchFamily="34" charset="0"/>
              </a:rPr>
              <a:t>las mismas columnas</a:t>
            </a:r>
            <a:r>
              <a:rPr lang="es-CL" sz="1200" baseline="0" dirty="0">
                <a:latin typeface="Calibri" panose="020F0502020204030204" pitchFamily="34" charset="0"/>
                <a:cs typeface="Calibri" panose="020F0502020204030204" pitchFamily="34" charset="0"/>
              </a:rPr>
              <a:t> y </a:t>
            </a:r>
            <a:r>
              <a:rPr lang="es-CL" sz="1200" dirty="0">
                <a:latin typeface="Calibri" panose="020F0502020204030204" pitchFamily="34" charset="0"/>
                <a:cs typeface="Calibri" panose="020F0502020204030204" pitchFamily="34" charset="0"/>
              </a:rPr>
              <a:t>tipos de datos. Además,</a:t>
            </a:r>
            <a:r>
              <a:rPr lang="es-CL" sz="1200" baseline="0" dirty="0">
                <a:latin typeface="Calibri" panose="020F0502020204030204" pitchFamily="34" charset="0"/>
                <a:cs typeface="Calibri" panose="020F0502020204030204" pitchFamily="34" charset="0"/>
              </a:rPr>
              <a:t> quedará poblada con todas las </a:t>
            </a:r>
            <a:r>
              <a:rPr lang="es-CL" sz="1200" dirty="0">
                <a:latin typeface="Calibri" panose="020F0502020204030204" pitchFamily="34" charset="0"/>
                <a:cs typeface="Calibri" panose="020F0502020204030204" pitchFamily="34" charset="0"/>
              </a:rPr>
              <a:t>filas de la tabla </a:t>
            </a:r>
            <a:r>
              <a:rPr lang="es-CL" sz="1200" dirty="0" err="1">
                <a:latin typeface="Calibri" panose="020F0502020204030204" pitchFamily="34" charset="0"/>
                <a:cs typeface="Calibri" panose="020F0502020204030204" pitchFamily="34" charset="0"/>
              </a:rPr>
              <a:t>employees</a:t>
            </a:r>
            <a:r>
              <a:rPr lang="es-CL" sz="1200" dirty="0">
                <a:latin typeface="Calibri" panose="020F0502020204030204" pitchFamily="34" charset="0"/>
                <a:cs typeface="Calibri" panose="020F0502020204030204" pitchFamily="34" charset="0"/>
              </a:rPr>
              <a:t>. </a:t>
            </a:r>
          </a:p>
          <a:p>
            <a:pPr marL="0" indent="0">
              <a:buNone/>
            </a:pPr>
            <a:r>
              <a:rPr lang="es-CL" sz="1200" dirty="0">
                <a:latin typeface="Calibri" panose="020F0502020204030204" pitchFamily="34" charset="0"/>
                <a:cs typeface="Calibri" panose="020F0502020204030204" pitchFamily="34" charset="0"/>
              </a:rPr>
              <a:t>Las </a:t>
            </a:r>
            <a:r>
              <a:rPr lang="es-CL" sz="1200" dirty="0" err="1">
                <a:latin typeface="Calibri" panose="020F0502020204030204" pitchFamily="34" charset="0"/>
                <a:cs typeface="Calibri" panose="020F0502020204030204" pitchFamily="34" charset="0"/>
              </a:rPr>
              <a:t>constraints</a:t>
            </a:r>
            <a:r>
              <a:rPr lang="es-CL" sz="1200" dirty="0">
                <a:latin typeface="Calibri" panose="020F0502020204030204" pitchFamily="34" charset="0"/>
                <a:cs typeface="Calibri" panose="020F0502020204030204" pitchFamily="34" charset="0"/>
              </a:rPr>
              <a:t> de tipos </a:t>
            </a:r>
            <a:r>
              <a:rPr lang="es-CL" sz="1200" dirty="0" err="1">
                <a:latin typeface="Calibri" panose="020F0502020204030204" pitchFamily="34" charset="0"/>
                <a:cs typeface="Calibri" panose="020F0502020204030204" pitchFamily="34" charset="0"/>
              </a:rPr>
              <a:t>Check</a:t>
            </a:r>
            <a:r>
              <a:rPr lang="es-CL" sz="1200" dirty="0">
                <a:latin typeface="Calibri" panose="020F0502020204030204" pitchFamily="34" charset="0"/>
                <a:cs typeface="Calibri" panose="020F0502020204030204" pitchFamily="34" charset="0"/>
              </a:rPr>
              <a:t>, </a:t>
            </a:r>
            <a:r>
              <a:rPr lang="es-CL" sz="1200" dirty="0" err="1">
                <a:latin typeface="Calibri" panose="020F0502020204030204" pitchFamily="34" charset="0"/>
                <a:cs typeface="Calibri" panose="020F0502020204030204" pitchFamily="34" charset="0"/>
              </a:rPr>
              <a:t>Foreign</a:t>
            </a:r>
            <a:r>
              <a:rPr lang="es-CL" sz="1200" dirty="0">
                <a:latin typeface="Calibri" panose="020F0502020204030204" pitchFamily="34" charset="0"/>
                <a:cs typeface="Calibri" panose="020F0502020204030204" pitchFamily="34" charset="0"/>
              </a:rPr>
              <a:t> Key, </a:t>
            </a:r>
            <a:r>
              <a:rPr lang="es-CL" sz="1200" dirty="0" err="1">
                <a:latin typeface="Calibri" panose="020F0502020204030204" pitchFamily="34" charset="0"/>
                <a:cs typeface="Calibri" panose="020F0502020204030204" pitchFamily="34" charset="0"/>
              </a:rPr>
              <a:t>Unique</a:t>
            </a:r>
            <a:r>
              <a:rPr lang="es-CL" sz="1200" dirty="0">
                <a:latin typeface="Calibri" panose="020F0502020204030204" pitchFamily="34" charset="0"/>
                <a:cs typeface="Calibri" panose="020F0502020204030204" pitchFamily="34" charset="0"/>
              </a:rPr>
              <a:t> y </a:t>
            </a:r>
            <a:r>
              <a:rPr lang="es-CL" sz="1200" dirty="0" err="1">
                <a:latin typeface="Calibri" panose="020F0502020204030204" pitchFamily="34" charset="0"/>
                <a:cs typeface="Calibri" panose="020F0502020204030204" pitchFamily="34" charset="0"/>
              </a:rPr>
              <a:t>Primary</a:t>
            </a:r>
            <a:r>
              <a:rPr lang="es-CL" sz="1200" dirty="0">
                <a:latin typeface="Calibri" panose="020F0502020204030204" pitchFamily="34" charset="0"/>
                <a:cs typeface="Calibri" panose="020F0502020204030204" pitchFamily="34" charset="0"/>
              </a:rPr>
              <a:t> Key  de la tabla </a:t>
            </a:r>
            <a:r>
              <a:rPr lang="es-CL" sz="1200" dirty="0" err="1">
                <a:latin typeface="Calibri" panose="020F0502020204030204" pitchFamily="34" charset="0"/>
                <a:cs typeface="Calibri" panose="020F0502020204030204" pitchFamily="34" charset="0"/>
              </a:rPr>
              <a:t>employees</a:t>
            </a:r>
            <a:r>
              <a:rPr lang="es-CL" sz="1200" dirty="0">
                <a:latin typeface="Calibri" panose="020F0502020204030204" pitchFamily="34" charset="0"/>
                <a:cs typeface="Calibri" panose="020F0502020204030204" pitchFamily="34" charset="0"/>
              </a:rPr>
              <a:t> NO son creadas en la nueva tabla</a:t>
            </a:r>
            <a:r>
              <a:rPr lang="es-CL" sz="1200" baseline="0" dirty="0">
                <a:latin typeface="Calibri" panose="020F0502020204030204" pitchFamily="34" charset="0"/>
                <a:cs typeface="Calibri" panose="020F0502020204030204" pitchFamily="34" charset="0"/>
              </a:rPr>
              <a:t> </a:t>
            </a:r>
            <a:r>
              <a:rPr lang="es-CL" sz="1200" baseline="0" dirty="0" err="1">
                <a:latin typeface="Calibri" panose="020F0502020204030204" pitchFamily="34" charset="0"/>
                <a:cs typeface="Calibri" panose="020F0502020204030204" pitchFamily="34" charset="0"/>
              </a:rPr>
              <a:t>employees_copia</a:t>
            </a:r>
            <a:r>
              <a:rPr lang="es-CL" sz="1200" baseline="0" dirty="0">
                <a:latin typeface="Calibri" panose="020F0502020204030204" pitchFamily="34" charset="0"/>
                <a:cs typeface="Calibri" panose="020F0502020204030204" pitchFamily="34" charset="0"/>
              </a:rPr>
              <a:t>.</a:t>
            </a:r>
            <a:endParaRPr lang="es-CL" sz="1200" dirty="0">
              <a:latin typeface="Calibri" panose="020F0502020204030204" pitchFamily="34" charset="0"/>
              <a:cs typeface="Calibri" panose="020F0502020204030204" pitchFamily="34" charset="0"/>
            </a:endParaRPr>
          </a:p>
          <a:p>
            <a:pPr marL="0" indent="0">
              <a:buNone/>
            </a:pPr>
            <a:endParaRPr lang="es-CL" dirty="0"/>
          </a:p>
        </p:txBody>
      </p:sp>
    </p:spTree>
    <p:extLst>
      <p:ext uri="{BB962C8B-B14F-4D97-AF65-F5344CB8AC3E}">
        <p14:creationId xmlns:p14="http://schemas.microsoft.com/office/powerpoint/2010/main" val="2264349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Usando Sentencia </a:t>
            </a:r>
            <a:r>
              <a:rPr lang="es-CL" sz="1200" b="1" dirty="0" err="1">
                <a:latin typeface="Calibri" panose="020F0502020204030204" pitchFamily="34" charset="0"/>
                <a:cs typeface="Calibri" panose="020F0502020204030204" pitchFamily="34" charset="0"/>
              </a:rPr>
              <a:t>Select</a:t>
            </a:r>
            <a:r>
              <a:rPr lang="es-CL" sz="1200" b="1" dirty="0">
                <a:latin typeface="Calibri" panose="020F0502020204030204" pitchFamily="34" charset="0"/>
                <a:cs typeface="Calibri" panose="020F0502020204030204" pitchFamily="34" charset="0"/>
              </a:rPr>
              <a:t> para crear Tablas</a:t>
            </a:r>
            <a:endParaRPr lang="es-CL" sz="1200" b="0" dirty="0">
              <a:latin typeface="Calibri" panose="020F0502020204030204" pitchFamily="34" charset="0"/>
              <a:cs typeface="Calibri" panose="020F0502020204030204" pitchFamily="34" charset="0"/>
            </a:endParaRPr>
          </a:p>
          <a:p>
            <a:pPr marL="0" indent="0">
              <a:buNone/>
            </a:pPr>
            <a:r>
              <a:rPr lang="es-CL" sz="1200" dirty="0">
                <a:latin typeface="Calibri" panose="020F0502020204030204" pitchFamily="34" charset="0"/>
                <a:cs typeface="Calibri" panose="020F0502020204030204" pitchFamily="34" charset="0"/>
              </a:rPr>
              <a:t>En el  ejemplo, se crea tabla dept80 con los nombres de columnas (incluidos los tipos de datos) y las filas que retorna la sentencia </a:t>
            </a:r>
            <a:r>
              <a:rPr lang="es-CL" sz="1200" dirty="0" err="1">
                <a:latin typeface="Calibri" panose="020F0502020204030204" pitchFamily="34" charset="0"/>
                <a:cs typeface="Calibri" panose="020F0502020204030204" pitchFamily="34" charset="0"/>
              </a:rPr>
              <a:t>Select</a:t>
            </a:r>
            <a:r>
              <a:rPr lang="es-CL" sz="1200" dirty="0">
                <a:latin typeface="Calibri" panose="020F0502020204030204" pitchFamily="34" charset="0"/>
                <a:cs typeface="Calibri" panose="020F0502020204030204" pitchFamily="34" charset="0"/>
              </a:rPr>
              <a:t>. Como el nombre de columna de una tabla no puede</a:t>
            </a:r>
            <a:r>
              <a:rPr lang="es-CL" sz="1200" baseline="0" dirty="0">
                <a:latin typeface="Calibri" panose="020F0502020204030204" pitchFamily="34" charset="0"/>
                <a:cs typeface="Calibri" panose="020F0502020204030204" pitchFamily="34" charset="0"/>
              </a:rPr>
              <a:t> contener símbolo especiales como, por ejemplo, </a:t>
            </a:r>
            <a:r>
              <a:rPr lang="es-CL" sz="1200" baseline="0" dirty="0" err="1">
                <a:latin typeface="Calibri" panose="020F0502020204030204" pitchFamily="34" charset="0"/>
                <a:cs typeface="Calibri" panose="020F0502020204030204" pitchFamily="34" charset="0"/>
              </a:rPr>
              <a:t>asterístico</a:t>
            </a:r>
            <a:r>
              <a:rPr lang="es-CL" sz="1200" baseline="0" dirty="0">
                <a:latin typeface="Calibri" panose="020F0502020204030204" pitchFamily="34" charset="0"/>
                <a:cs typeface="Calibri" panose="020F0502020204030204" pitchFamily="34" charset="0"/>
              </a:rPr>
              <a:t>, a la expresión matemática </a:t>
            </a:r>
            <a:r>
              <a:rPr lang="es-CL" sz="1200" baseline="0" dirty="0" err="1">
                <a:latin typeface="Calibri" panose="020F0502020204030204" pitchFamily="34" charset="0"/>
                <a:cs typeface="Calibri" panose="020F0502020204030204" pitchFamily="34" charset="0"/>
              </a:rPr>
              <a:t>salary</a:t>
            </a:r>
            <a:r>
              <a:rPr lang="es-CL" sz="1200" baseline="0" dirty="0">
                <a:latin typeface="Calibri" panose="020F0502020204030204" pitchFamily="34" charset="0"/>
                <a:cs typeface="Calibri" panose="020F0502020204030204" pitchFamily="34" charset="0"/>
              </a:rPr>
              <a:t>*12 obligatoriamente se le debe asignar un alias y éste será el nombre de la columna de la tabla. En este caso es </a:t>
            </a:r>
            <a:r>
              <a:rPr lang="es-CL" sz="1200" baseline="0" dirty="0" err="1">
                <a:latin typeface="Calibri" panose="020F0502020204030204" pitchFamily="34" charset="0"/>
                <a:cs typeface="Calibri" panose="020F0502020204030204" pitchFamily="34" charset="0"/>
              </a:rPr>
              <a:t>salario_anual</a:t>
            </a:r>
            <a:r>
              <a:rPr lang="es-CL" sz="1200" baseline="0" dirty="0">
                <a:latin typeface="Calibri" panose="020F0502020204030204" pitchFamily="34" charset="0"/>
                <a:cs typeface="Calibri" panose="020F0502020204030204" pitchFamily="34" charset="0"/>
              </a:rPr>
              <a:t>.</a:t>
            </a:r>
            <a:endParaRPr lang="es-CL" sz="1200" dirty="0">
              <a:latin typeface="Calibri" panose="020F0502020204030204" pitchFamily="34" charset="0"/>
              <a:cs typeface="Calibri" panose="020F0502020204030204" pitchFamily="34" charset="0"/>
            </a:endParaRPr>
          </a:p>
          <a:p>
            <a:pPr marL="0" indent="0">
              <a:buNone/>
            </a:pPr>
            <a:endParaRPr lang="es-CL" dirty="0"/>
          </a:p>
        </p:txBody>
      </p:sp>
    </p:spTree>
    <p:extLst>
      <p:ext uri="{BB962C8B-B14F-4D97-AF65-F5344CB8AC3E}">
        <p14:creationId xmlns:p14="http://schemas.microsoft.com/office/powerpoint/2010/main" val="1111901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Usando Sentencia </a:t>
            </a:r>
            <a:r>
              <a:rPr lang="es-CL" sz="1200" b="1" dirty="0" err="1">
                <a:latin typeface="Calibri" panose="020F0502020204030204" pitchFamily="34" charset="0"/>
                <a:cs typeface="Calibri" panose="020F0502020204030204" pitchFamily="34" charset="0"/>
              </a:rPr>
              <a:t>Select</a:t>
            </a:r>
            <a:r>
              <a:rPr lang="es-CL" sz="1200" b="1" dirty="0">
                <a:latin typeface="Calibri" panose="020F0502020204030204" pitchFamily="34" charset="0"/>
                <a:cs typeface="Calibri" panose="020F0502020204030204" pitchFamily="34" charset="0"/>
              </a:rPr>
              <a:t> para crear Tablas</a:t>
            </a:r>
            <a:endParaRPr lang="es-CL" sz="1200" b="0" dirty="0">
              <a:latin typeface="Calibri" panose="020F0502020204030204" pitchFamily="34" charset="0"/>
              <a:cs typeface="Calibri" panose="020F0502020204030204" pitchFamily="34" charset="0"/>
            </a:endParaRPr>
          </a:p>
          <a:p>
            <a:pPr marL="0" indent="0">
              <a:buNone/>
            </a:pPr>
            <a:r>
              <a:rPr lang="es-CL" sz="1200" dirty="0">
                <a:latin typeface="Calibri" panose="020F0502020204030204" pitchFamily="34" charset="0"/>
                <a:cs typeface="Calibri" panose="020F0502020204030204" pitchFamily="34" charset="0"/>
              </a:rPr>
              <a:t>En el ejemplo, se crea tabla dept30 pero se indicando</a:t>
            </a:r>
            <a:r>
              <a:rPr lang="es-CL" sz="1200" baseline="0" dirty="0">
                <a:latin typeface="Calibri" panose="020F0502020204030204" pitchFamily="34" charset="0"/>
                <a:cs typeface="Calibri" panose="020F0502020204030204" pitchFamily="34" charset="0"/>
              </a:rPr>
              <a:t> explícitamente </a:t>
            </a:r>
            <a:r>
              <a:rPr lang="es-CL" sz="1200" dirty="0">
                <a:latin typeface="Calibri" panose="020F0502020204030204" pitchFamily="34" charset="0"/>
                <a:cs typeface="Calibri" panose="020F0502020204030204" pitchFamily="34" charset="0"/>
              </a:rPr>
              <a:t>los nombres de columnas y clave primaria con la que se creará. Por esta razón, no es necesario asignar un alias a la expresión </a:t>
            </a:r>
            <a:r>
              <a:rPr lang="es-CL" sz="1200" baseline="0" dirty="0">
                <a:latin typeface="Calibri" panose="020F0502020204030204" pitchFamily="34" charset="0"/>
                <a:cs typeface="Calibri" panose="020F0502020204030204" pitchFamily="34" charset="0"/>
              </a:rPr>
              <a:t>matemática </a:t>
            </a:r>
            <a:r>
              <a:rPr lang="es-CL" sz="1200" baseline="0" dirty="0" err="1">
                <a:latin typeface="Calibri" panose="020F0502020204030204" pitchFamily="34" charset="0"/>
                <a:cs typeface="Calibri" panose="020F0502020204030204" pitchFamily="34" charset="0"/>
              </a:rPr>
              <a:t>salary</a:t>
            </a:r>
            <a:r>
              <a:rPr lang="es-CL" sz="1200" baseline="0" dirty="0">
                <a:latin typeface="Calibri" panose="020F0502020204030204" pitchFamily="34" charset="0"/>
                <a:cs typeface="Calibri" panose="020F0502020204030204" pitchFamily="34" charset="0"/>
              </a:rPr>
              <a:t>*12 porque el resultado de esa expresión se almacenará en la columna salario anual de la tabla depto30.</a:t>
            </a:r>
            <a:endParaRPr lang="es-CL" sz="1200" dirty="0">
              <a:latin typeface="Calibri" panose="020F0502020204030204" pitchFamily="34" charset="0"/>
              <a:cs typeface="Calibri" panose="020F0502020204030204" pitchFamily="34" charset="0"/>
            </a:endParaRPr>
          </a:p>
          <a:p>
            <a:pPr marL="0" indent="0">
              <a:buNone/>
            </a:pPr>
            <a:endParaRPr lang="es-CL" dirty="0"/>
          </a:p>
        </p:txBody>
      </p:sp>
    </p:spTree>
    <p:extLst>
      <p:ext uri="{BB962C8B-B14F-4D97-AF65-F5344CB8AC3E}">
        <p14:creationId xmlns:p14="http://schemas.microsoft.com/office/powerpoint/2010/main" val="34887601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Trabajando con Variables de Sustitución</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Las variables de sustitución almacenan temporalmente los valores con un signo </a:t>
            </a:r>
            <a:r>
              <a:rPr lang="es-CL" sz="1200" b="0" dirty="0" err="1">
                <a:latin typeface="Calibri" panose="020F0502020204030204" pitchFamily="34" charset="0"/>
                <a:cs typeface="Calibri" panose="020F0502020204030204" pitchFamily="34" charset="0"/>
              </a:rPr>
              <a:t>ampersand</a:t>
            </a:r>
            <a:r>
              <a:rPr lang="es-CL" sz="1200" b="0" dirty="0">
                <a:latin typeface="Calibri" panose="020F0502020204030204" pitchFamily="34" charset="0"/>
                <a:cs typeface="Calibri" panose="020F0502020204030204" pitchFamily="34" charset="0"/>
              </a:rPr>
              <a:t> (&amp;) y doble </a:t>
            </a:r>
            <a:r>
              <a:rPr lang="es-CL" sz="1200" b="0" dirty="0" err="1">
                <a:latin typeface="Calibri" panose="020F0502020204030204" pitchFamily="34" charset="0"/>
                <a:cs typeface="Calibri" panose="020F0502020204030204" pitchFamily="34" charset="0"/>
              </a:rPr>
              <a:t>ampersand</a:t>
            </a:r>
            <a:r>
              <a:rPr lang="es-CL" sz="1200" b="0" dirty="0">
                <a:latin typeface="Calibri" panose="020F0502020204030204" pitchFamily="34" charset="0"/>
                <a:cs typeface="Calibri" panose="020F0502020204030204" pitchFamily="34" charset="0"/>
              </a:rPr>
              <a:t> (&amp;&amp;) para sustitución.</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Esto permite que una misma sentencia</a:t>
            </a:r>
            <a:r>
              <a:rPr lang="es-CL" sz="1200" b="0" baseline="0" dirty="0">
                <a:latin typeface="Calibri" panose="020F0502020204030204" pitchFamily="34" charset="0"/>
                <a:cs typeface="Calibri" panose="020F0502020204030204" pitchFamily="34" charset="0"/>
              </a:rPr>
              <a:t> SQL se pueda ejecutar modificando las columnas que se seleccionan, condiciones, ordenamiento, etc. sin tener que modificar la sentencia.  </a:t>
            </a:r>
            <a:endParaRPr lang="es-CL" sz="1200" b="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Las variables de sustitución se pueden utilizar en:</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Condiciones WHERE.</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Cláusula ORDER BY.</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Expresiones</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Nombre de tablas</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En toda la sentencia SELECT.</a:t>
            </a:r>
          </a:p>
          <a:p>
            <a:pPr marL="0" indent="0">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60795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Trabajando con Variables de Sustitución</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Las variables de sustitución almacenan temporalmente los valores con un signo </a:t>
            </a:r>
            <a:r>
              <a:rPr lang="es-CL" sz="1200" b="0" dirty="0" err="1">
                <a:latin typeface="Calibri" panose="020F0502020204030204" pitchFamily="34" charset="0"/>
                <a:cs typeface="Calibri" panose="020F0502020204030204" pitchFamily="34" charset="0"/>
              </a:rPr>
              <a:t>ampersand</a:t>
            </a:r>
            <a:r>
              <a:rPr lang="es-CL" sz="1200" b="0" dirty="0">
                <a:latin typeface="Calibri" panose="020F0502020204030204" pitchFamily="34" charset="0"/>
                <a:cs typeface="Calibri" panose="020F0502020204030204" pitchFamily="34" charset="0"/>
              </a:rPr>
              <a:t> (&amp;) y doble </a:t>
            </a:r>
            <a:r>
              <a:rPr lang="es-CL" sz="1200" b="0" dirty="0" err="1">
                <a:latin typeface="Calibri" panose="020F0502020204030204" pitchFamily="34" charset="0"/>
                <a:cs typeface="Calibri" panose="020F0502020204030204" pitchFamily="34" charset="0"/>
              </a:rPr>
              <a:t>ampersand</a:t>
            </a:r>
            <a:r>
              <a:rPr lang="es-CL" sz="1200" b="0" dirty="0">
                <a:latin typeface="Calibri" panose="020F0502020204030204" pitchFamily="34" charset="0"/>
                <a:cs typeface="Calibri" panose="020F0502020204030204" pitchFamily="34" charset="0"/>
              </a:rPr>
              <a:t> (&amp;&amp;) para sustitución.</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Esto permite que una misma sentencia</a:t>
            </a:r>
            <a:r>
              <a:rPr lang="es-CL" sz="1200" b="0" baseline="0" dirty="0">
                <a:latin typeface="Calibri" panose="020F0502020204030204" pitchFamily="34" charset="0"/>
                <a:cs typeface="Calibri" panose="020F0502020204030204" pitchFamily="34" charset="0"/>
              </a:rPr>
              <a:t> SQL se pueda ejecutar modificando las columnas que se seleccionan, condiciones, ordenamiento, etc. sin tener que modificar la sentencia.  </a:t>
            </a:r>
            <a:endParaRPr lang="es-CL" sz="1200" b="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Las variables de sustitución se pueden utilizar en:</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Condiciones WHERE.</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Cláusula ORDER BY.</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Expresiones</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Nombre de tablas</a:t>
            </a:r>
          </a:p>
          <a:p>
            <a:pPr marL="628650" lvl="1"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En toda la sentencia SELECT.</a:t>
            </a:r>
          </a:p>
          <a:p>
            <a:pPr marL="0" indent="0">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028711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Trabajando con Variables de Sustitución (&amp;)</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Para los valores de fecha y carácter se debe usar comillas simples. Existe</a:t>
            </a:r>
            <a:r>
              <a:rPr lang="es-CL" sz="1200" b="0" baseline="0" dirty="0">
                <a:latin typeface="Calibri" panose="020F0502020204030204" pitchFamily="34" charset="0"/>
                <a:cs typeface="Calibri" panose="020F0502020204030204" pitchFamily="34" charset="0"/>
              </a:rPr>
              <a:t> la opción de que en la sentencia SELECT la variable vaya entre comillas o de lo contrario se tendrá que usar comillas al ingresar el valor.</a:t>
            </a:r>
          </a:p>
          <a:p>
            <a:pPr marL="0" indent="0">
              <a:buFont typeface="Arial" panose="020B0604020202020204" pitchFamily="34" charset="0"/>
              <a:buNone/>
            </a:pPr>
            <a:r>
              <a:rPr lang="es-CL" sz="1200" b="0" dirty="0">
                <a:latin typeface="Calibri" panose="020F0502020204030204" pitchFamily="34" charset="0"/>
                <a:cs typeface="Calibri" panose="020F0502020204030204" pitchFamily="34" charset="0"/>
              </a:rPr>
              <a:t>En el ejemplo, al ejecutar la sentencia se solicitará la identificación del trabajo para efectuar la comparación. Por lo tanto al ingresar el valor IT_PROG la sentencia retorna la información de los empleados con el trabajo IT_PROG. En la sentencia de la izquierda la variable</a:t>
            </a:r>
            <a:r>
              <a:rPr lang="es-CL" sz="1200" b="0" baseline="0" dirty="0">
                <a:latin typeface="Calibri" panose="020F0502020204030204" pitchFamily="34" charset="0"/>
                <a:cs typeface="Calibri" panose="020F0502020204030204" pitchFamily="34" charset="0"/>
              </a:rPr>
              <a:t> </a:t>
            </a:r>
            <a:r>
              <a:rPr lang="es-CL" sz="1200" b="0" baseline="0" dirty="0" err="1">
                <a:latin typeface="Calibri" panose="020F0502020204030204" pitchFamily="34" charset="0"/>
                <a:cs typeface="Calibri" panose="020F0502020204030204" pitchFamily="34" charset="0"/>
              </a:rPr>
              <a:t>job_title</a:t>
            </a:r>
            <a:r>
              <a:rPr lang="es-CL" sz="1200" b="0" baseline="0" dirty="0">
                <a:latin typeface="Calibri" panose="020F0502020204030204" pitchFamily="34" charset="0"/>
                <a:cs typeface="Calibri" panose="020F0502020204030204" pitchFamily="34" charset="0"/>
              </a:rPr>
              <a:t> está entre comillas por lo tanto no es necesario que el valor sea ingresado entre comillas. En la sentencia de la derecha como la variable </a:t>
            </a:r>
            <a:r>
              <a:rPr lang="es-CL" sz="1200" b="0" baseline="0" dirty="0" err="1">
                <a:latin typeface="Calibri" panose="020F0502020204030204" pitchFamily="34" charset="0"/>
                <a:cs typeface="Calibri" panose="020F0502020204030204" pitchFamily="34" charset="0"/>
              </a:rPr>
              <a:t>job_title</a:t>
            </a:r>
            <a:r>
              <a:rPr lang="es-CL" sz="1200" b="0" baseline="0" dirty="0">
                <a:latin typeface="Calibri" panose="020F0502020204030204" pitchFamily="34" charset="0"/>
                <a:cs typeface="Calibri" panose="020F0502020204030204" pitchFamily="34" charset="0"/>
              </a:rPr>
              <a:t> no está entre comillas, el ingresar el valor se debe usar comillas.</a:t>
            </a:r>
            <a:endParaRPr lang="es-CL" sz="1200" b="0" dirty="0">
              <a:latin typeface="Calibri" panose="020F0502020204030204" pitchFamily="34" charset="0"/>
              <a:cs typeface="Calibri" panose="020F0502020204030204" pitchFamily="34" charset="0"/>
            </a:endParaRPr>
          </a:p>
          <a:p>
            <a:pPr marL="0" indent="0">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589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Trabajando con Variables de Sustitución (&amp;)</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Las variables de sustitución no solo se pueden utilizar en la cláusula WHERE. </a:t>
            </a:r>
          </a:p>
          <a:p>
            <a:pPr marL="0" indent="0">
              <a:buFont typeface="Arial" panose="020B0604020202020204" pitchFamily="34" charset="0"/>
              <a:buNone/>
            </a:pPr>
            <a:r>
              <a:rPr lang="es-CL" sz="1200" b="0" dirty="0">
                <a:latin typeface="Calibri" panose="020F0502020204030204" pitchFamily="34" charset="0"/>
                <a:cs typeface="Calibri" panose="020F0502020204030204" pitchFamily="34" charset="0"/>
              </a:rPr>
              <a:t>En el ejemplo, se utilizan como nombre de columna, como texto para la condición de la sentencia y como expresión en la cláusula ORDER BY. Por lo tanto, la sentencia SELECT obtendrá la identificación del empleado, apellido y salario de los empleados cuyo salario sea mayor a 15000. La información se mostrará ordenada alfabéticamente por apellido</a:t>
            </a:r>
          </a:p>
          <a:p>
            <a:pPr marL="0" indent="0">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530792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Trabajando con Variables de Sustitución (&amp;&amp;)</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Al utilizar doble </a:t>
            </a:r>
            <a:r>
              <a:rPr lang="es-CL" sz="1200" b="0" dirty="0" err="1">
                <a:latin typeface="Calibri" panose="020F0502020204030204" pitchFamily="34" charset="0"/>
                <a:cs typeface="Calibri" panose="020F0502020204030204" pitchFamily="34" charset="0"/>
              </a:rPr>
              <a:t>ampersand</a:t>
            </a:r>
            <a:r>
              <a:rPr lang="es-CL" sz="1200" b="0" dirty="0">
                <a:latin typeface="Calibri" panose="020F0502020204030204" pitchFamily="34" charset="0"/>
                <a:cs typeface="Calibri" panose="020F0502020204030204" pitchFamily="34" charset="0"/>
              </a:rPr>
              <a:t> (&amp;&amp;)  se puede volver a utilizar el valor de la variable sin preguntar al usuario cada vez por el valor. Si</a:t>
            </a:r>
            <a:r>
              <a:rPr lang="es-CL" sz="1200" b="0" baseline="0" dirty="0">
                <a:latin typeface="Calibri" panose="020F0502020204030204" pitchFamily="34" charset="0"/>
                <a:cs typeface="Calibri" panose="020F0502020204030204" pitchFamily="34" charset="0"/>
              </a:rPr>
              <a:t> se desea ejecutar la misma consulta pero no otra variable entonces primero se debe </a:t>
            </a:r>
            <a:r>
              <a:rPr lang="es-CL" sz="1200" b="0" baseline="0" dirty="0" err="1">
                <a:latin typeface="Calibri" panose="020F0502020204030204" pitchFamily="34" charset="0"/>
                <a:cs typeface="Calibri" panose="020F0502020204030204" pitchFamily="34" charset="0"/>
              </a:rPr>
              <a:t>elimanar</a:t>
            </a:r>
            <a:r>
              <a:rPr lang="es-CL" sz="1200" b="0" baseline="0" dirty="0">
                <a:latin typeface="Calibri" panose="020F0502020204030204" pitchFamily="34" charset="0"/>
                <a:cs typeface="Calibri" panose="020F0502020204030204" pitchFamily="34" charset="0"/>
              </a:rPr>
              <a:t> de memoria el valor que se le asignó a la variable con el comando UNDEFINE </a:t>
            </a:r>
            <a:r>
              <a:rPr lang="es-CL" sz="1200" b="0" i="1" baseline="0" dirty="0" err="1">
                <a:latin typeface="Calibri" panose="020F0502020204030204" pitchFamily="34" charset="0"/>
                <a:cs typeface="Calibri" panose="020F0502020204030204" pitchFamily="34" charset="0"/>
              </a:rPr>
              <a:t>nombre_variable</a:t>
            </a:r>
            <a:r>
              <a:rPr lang="es-CL" sz="1200" b="0" baseline="0" dirty="0">
                <a:latin typeface="Calibri" panose="020F0502020204030204" pitchFamily="34" charset="0"/>
                <a:cs typeface="Calibri" panose="020F0502020204030204" pitchFamily="34" charset="0"/>
              </a:rPr>
              <a:t>.</a:t>
            </a:r>
            <a:endParaRPr lang="es-CL" sz="1200" b="0" dirty="0">
              <a:latin typeface="Calibri" panose="020F0502020204030204" pitchFamily="34" charset="0"/>
              <a:cs typeface="Calibri" panose="020F0502020204030204" pitchFamily="34" charset="0"/>
            </a:endParaRPr>
          </a:p>
          <a:p>
            <a:pPr marL="0" indent="0">
              <a:buFont typeface="Arial" panose="020B0604020202020204" pitchFamily="34" charset="0"/>
              <a:buNone/>
            </a:pPr>
            <a:r>
              <a:rPr lang="es-CL" sz="1200" b="0" dirty="0">
                <a:latin typeface="Calibri" panose="020F0502020204030204" pitchFamily="34" charset="0"/>
                <a:cs typeface="Calibri" panose="020F0502020204030204" pitchFamily="34" charset="0"/>
              </a:rPr>
              <a:t>En el ejemplo, la columna </a:t>
            </a:r>
            <a:r>
              <a:rPr lang="es-CL" sz="1200" b="0" dirty="0" err="1">
                <a:latin typeface="Calibri" panose="020F0502020204030204" pitchFamily="34" charset="0"/>
                <a:cs typeface="Calibri" panose="020F0502020204030204" pitchFamily="34" charset="0"/>
              </a:rPr>
              <a:t>department_id</a:t>
            </a:r>
            <a:r>
              <a:rPr lang="es-CL" sz="1200" b="0" dirty="0">
                <a:latin typeface="Calibri" panose="020F0502020204030204" pitchFamily="34" charset="0"/>
                <a:cs typeface="Calibri" panose="020F0502020204030204" pitchFamily="34" charset="0"/>
              </a:rPr>
              <a:t> será la tercera columna a seleccionar y además se utilizará para efectuar el ordenamiento de la información.</a:t>
            </a:r>
            <a:r>
              <a:rPr lang="es-CL" sz="1200" b="0" baseline="0" dirty="0">
                <a:latin typeface="Calibri" panose="020F0502020204030204" pitchFamily="34" charset="0"/>
                <a:cs typeface="Calibri" panose="020F0502020204030204" pitchFamily="34" charset="0"/>
              </a:rPr>
              <a:t> Al ejecutar el comando UNDEFINE </a:t>
            </a:r>
            <a:r>
              <a:rPr lang="es-CL" sz="1200" b="0" baseline="0" dirty="0" err="1">
                <a:latin typeface="Calibri" panose="020F0502020204030204" pitchFamily="34" charset="0"/>
                <a:cs typeface="Calibri" panose="020F0502020204030204" pitchFamily="34" charset="0"/>
              </a:rPr>
              <a:t>column_name</a:t>
            </a:r>
            <a:r>
              <a:rPr lang="es-CL" sz="1200" b="0" baseline="0" dirty="0">
                <a:latin typeface="Calibri" panose="020F0502020204030204" pitchFamily="34" charset="0"/>
                <a:cs typeface="Calibri" panose="020F0502020204030204" pitchFamily="34" charset="0"/>
              </a:rPr>
              <a:t>, la variable ya no tendrá el valor </a:t>
            </a:r>
            <a:r>
              <a:rPr lang="es-CL" sz="1200" b="0" baseline="0" dirty="0" err="1">
                <a:latin typeface="Calibri" panose="020F0502020204030204" pitchFamily="34" charset="0"/>
                <a:cs typeface="Calibri" panose="020F0502020204030204" pitchFamily="34" charset="0"/>
              </a:rPr>
              <a:t>department_id</a:t>
            </a:r>
            <a:r>
              <a:rPr lang="es-CL" sz="1200" b="0" baseline="0" dirty="0">
                <a:latin typeface="Calibri" panose="020F0502020204030204" pitchFamily="34" charset="0"/>
                <a:cs typeface="Calibri" panose="020F0502020204030204" pitchFamily="34" charset="0"/>
              </a:rPr>
              <a:t> por lo tanto en una nueva ejecución de la sentencia se volverá a pedir que se asigne un nuevo valor.</a:t>
            </a:r>
            <a:endParaRPr lang="es-CL" sz="1200" b="0" dirty="0">
              <a:latin typeface="Calibri" panose="020F0502020204030204" pitchFamily="34" charset="0"/>
              <a:cs typeface="Calibri" panose="020F0502020204030204" pitchFamily="34" charset="0"/>
            </a:endParaRPr>
          </a:p>
          <a:p>
            <a:pPr marL="0" indent="0">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8402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a16="http://schemas.microsoft.com/office/drawing/2014/main" xmlns=""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2">
  <p:cSld name="TITLE_4">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3">
  <p:cSld name="TITLE_1_1">
    <p:bg>
      <p:bgPr>
        <a:solidFill>
          <a:schemeClr val="accent2"/>
        </a:solidFill>
        <a:effectLst/>
      </p:bgPr>
    </p:bg>
    <p:spTree>
      <p:nvGrpSpPr>
        <p:cNvPr id="1" name="Shape 29"/>
        <p:cNvGrpSpPr/>
        <p:nvPr/>
      </p:nvGrpSpPr>
      <p:grpSpPr>
        <a:xfrm>
          <a:off x="0" y="0"/>
          <a:ext cx="0" cy="0"/>
          <a:chOff x="0" y="0"/>
          <a:chExt cx="0" cy="0"/>
        </a:xfrm>
      </p:grpSpPr>
      <p:sp>
        <p:nvSpPr>
          <p:cNvPr id="30" name="Google Shape;30;p5"/>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1" name="Google Shape;31;p5"/>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2" name="Google Shape;32;p5"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34" name="Google Shape;34;p5"/>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a16="http://schemas.microsoft.com/office/drawing/2014/main" xmlns=""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a16="http://schemas.microsoft.com/office/drawing/2014/main" xmlns=""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a16="http://schemas.microsoft.com/office/drawing/2014/main" xmlns=""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a16="http://schemas.microsoft.com/office/drawing/2014/main" xmlns=""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3" userDrawn="1">
  <p:cSld name="OBJECT_1">
    <p:spTree>
      <p:nvGrpSpPr>
        <p:cNvPr id="1" name="Shape 99"/>
        <p:cNvGrpSpPr/>
        <p:nvPr/>
      </p:nvGrpSpPr>
      <p:grpSpPr>
        <a:xfrm>
          <a:off x="0" y="0"/>
          <a:ext cx="0" cy="0"/>
          <a:chOff x="0" y="0"/>
          <a:chExt cx="0" cy="0"/>
        </a:xfrm>
      </p:grpSpPr>
      <p:sp>
        <p:nvSpPr>
          <p:cNvPr id="101" name="Google Shape;101;p16"/>
          <p:cNvSpPr/>
          <p:nvPr/>
        </p:nvSpPr>
        <p:spPr>
          <a:xfrm>
            <a:off x="770850" y="212725"/>
            <a:ext cx="903600" cy="813000"/>
          </a:xfrm>
          <a:prstGeom prst="parallelogram">
            <a:avLst>
              <a:gd name="adj" fmla="val 45310"/>
            </a:avLst>
          </a:prstGeom>
          <a:solidFill>
            <a:srgbClr val="702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46422" y="212725"/>
            <a:ext cx="903600" cy="813000"/>
          </a:xfrm>
          <a:prstGeom prst="parallelogram">
            <a:avLst>
              <a:gd name="adj" fmla="val 45310"/>
            </a:avLst>
          </a:prstGeom>
          <a:gradFill>
            <a:gsLst>
              <a:gs pos="0">
                <a:srgbClr val="FFFFFF"/>
              </a:gs>
              <a:gs pos="65000">
                <a:schemeClr val="accent2"/>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6"/>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06" name="Google Shape;106;p16"/>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84;p14">
            <a:extLst>
              <a:ext uri="{FF2B5EF4-FFF2-40B4-BE49-F238E27FC236}">
                <a16:creationId xmlns:a16="http://schemas.microsoft.com/office/drawing/2014/main" xmlns="" id="{BB89A5F1-01F7-AA47-B434-101A27DE7BC0}"/>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8DC17925-3C94-8F46-871B-B63E680B4A39}"/>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1" name="Google Shape;7;p1">
            <a:extLst>
              <a:ext uri="{FF2B5EF4-FFF2-40B4-BE49-F238E27FC236}">
                <a16:creationId xmlns:a16="http://schemas.microsoft.com/office/drawing/2014/main" xmlns="" id="{3C188FE6-8EF7-F044-9027-21CDC308C75A}"/>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a16="http://schemas.microsoft.com/office/drawing/2014/main" xmlns=""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a16="http://schemas.microsoft.com/office/drawing/2014/main" xmlns=""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a16="http://schemas.microsoft.com/office/drawing/2014/main" xmlns=""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a16="http://schemas.microsoft.com/office/drawing/2014/main" xmlns=""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a16="http://schemas.microsoft.com/office/drawing/2014/main" xmlns=""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a16="http://schemas.microsoft.com/office/drawing/2014/main" xmlns=""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a16="http://schemas.microsoft.com/office/drawing/2014/main" xmlns=""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Encabezado de sección 4">
  <p:cSld name="Encabezado de sección 4">
    <p:bg>
      <p:bgPr>
        <a:solidFill>
          <a:schemeClr val="accent3"/>
        </a:solidFill>
        <a:effectLst/>
      </p:bgPr>
    </p:bg>
    <p:spTree>
      <p:nvGrpSpPr>
        <p:cNvPr id="1" name="Shape 35"/>
        <p:cNvGrpSpPr/>
        <p:nvPr/>
      </p:nvGrpSpPr>
      <p:grpSpPr>
        <a:xfrm>
          <a:off x="0" y="0"/>
          <a:ext cx="0" cy="0"/>
          <a:chOff x="0" y="0"/>
          <a:chExt cx="0" cy="0"/>
        </a:xfrm>
      </p:grpSpPr>
      <p:sp>
        <p:nvSpPr>
          <p:cNvPr id="36" name="Google Shape;36;p6"/>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7" name="Google Shape;37;p6"/>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8" name="Google Shape;38;p6" descr="Imagen que contiene persona, foto, hombre, mujer&#10;&#10;Descripción generada automáticamente"/>
          <p:cNvPicPr preferRelativeResize="0"/>
          <p:nvPr/>
        </p:nvPicPr>
        <p:blipFill rotWithShape="1">
          <a:blip r:embed="rId3">
            <a:alphaModFix/>
          </a:blip>
          <a:srcRect r="1635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40" name="Google Shape;40;p6"/>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extLst>
      <p:ext uri="{BB962C8B-B14F-4D97-AF65-F5344CB8AC3E}">
        <p14:creationId xmlns:p14="http://schemas.microsoft.com/office/powerpoint/2010/main" val="1746285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objetos 4" userDrawn="1">
  <p:cSld name="Título y objetos 4">
    <p:spTree>
      <p:nvGrpSpPr>
        <p:cNvPr id="1" name="Shape 107"/>
        <p:cNvGrpSpPr/>
        <p:nvPr/>
      </p:nvGrpSpPr>
      <p:grpSpPr>
        <a:xfrm>
          <a:off x="0" y="0"/>
          <a:ext cx="0" cy="0"/>
          <a:chOff x="0" y="0"/>
          <a:chExt cx="0" cy="0"/>
        </a:xfrm>
      </p:grpSpPr>
      <p:sp>
        <p:nvSpPr>
          <p:cNvPr id="109" name="Google Shape;109;p17"/>
          <p:cNvSpPr/>
          <p:nvPr/>
        </p:nvSpPr>
        <p:spPr>
          <a:xfrm>
            <a:off x="770850" y="212725"/>
            <a:ext cx="903600" cy="813000"/>
          </a:xfrm>
          <a:prstGeom prst="parallelogram">
            <a:avLst>
              <a:gd name="adj" fmla="val 45310"/>
            </a:avLst>
          </a:prstGeom>
          <a:solidFill>
            <a:srgbClr val="BED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7"/>
          <p:cNvSpPr/>
          <p:nvPr/>
        </p:nvSpPr>
        <p:spPr>
          <a:xfrm>
            <a:off x="146422" y="212725"/>
            <a:ext cx="903600" cy="813000"/>
          </a:xfrm>
          <a:prstGeom prst="parallelogram">
            <a:avLst>
              <a:gd name="adj" fmla="val 45310"/>
            </a:avLst>
          </a:prstGeom>
          <a:gradFill>
            <a:gsLst>
              <a:gs pos="0">
                <a:srgbClr val="FFFFFF"/>
              </a:gs>
              <a:gs pos="65000">
                <a:schemeClr val="accent3"/>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 name="Google Shape;113;p17"/>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14" name="Google Shape;114;p17"/>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a:p>
        </p:txBody>
      </p:sp>
      <p:sp>
        <p:nvSpPr>
          <p:cNvPr id="9" name="Google Shape;84;p14">
            <a:extLst>
              <a:ext uri="{FF2B5EF4-FFF2-40B4-BE49-F238E27FC236}">
                <a16:creationId xmlns:a16="http://schemas.microsoft.com/office/drawing/2014/main" xmlns="" id="{66000D04-C10D-E74D-BD69-F15BCBCB23CB}"/>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CFC8E6A0-23C5-B947-94E4-E744F76CED42}"/>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
        <p:nvSpPr>
          <p:cNvPr id="11" name="Google Shape;7;p1">
            <a:extLst>
              <a:ext uri="{FF2B5EF4-FFF2-40B4-BE49-F238E27FC236}">
                <a16:creationId xmlns:a16="http://schemas.microsoft.com/office/drawing/2014/main" xmlns="" id="{7597FF83-28B2-D447-8C51-BAB390C7D7B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3517486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cabezado de sección 5">
  <p:cSld name="Encabezado de sección 5">
    <p:bg>
      <p:bgPr>
        <a:solidFill>
          <a:schemeClr val="accent4"/>
        </a:solidFill>
        <a:effectLst/>
      </p:bgPr>
    </p:bg>
    <p:spTree>
      <p:nvGrpSpPr>
        <p:cNvPr id="1" name="Shape 41"/>
        <p:cNvGrpSpPr/>
        <p:nvPr/>
      </p:nvGrpSpPr>
      <p:grpSpPr>
        <a:xfrm>
          <a:off x="0" y="0"/>
          <a:ext cx="0" cy="0"/>
          <a:chOff x="0" y="0"/>
          <a:chExt cx="0" cy="0"/>
        </a:xfrm>
      </p:grpSpPr>
      <p:sp>
        <p:nvSpPr>
          <p:cNvPr id="42" name="Google Shape;42;p7"/>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43" name="Google Shape;43;p7"/>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44" name="Google Shape;44;p7"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46" name="Google Shape;46;p7"/>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extLst>
      <p:ext uri="{BB962C8B-B14F-4D97-AF65-F5344CB8AC3E}">
        <p14:creationId xmlns:p14="http://schemas.microsoft.com/office/powerpoint/2010/main" val="3229134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5" userDrawn="1">
  <p:cSld name="Título y objetos 5">
    <p:spTree>
      <p:nvGrpSpPr>
        <p:cNvPr id="1" name="Shape 115"/>
        <p:cNvGrpSpPr/>
        <p:nvPr/>
      </p:nvGrpSpPr>
      <p:grpSpPr>
        <a:xfrm>
          <a:off x="0" y="0"/>
          <a:ext cx="0" cy="0"/>
          <a:chOff x="0" y="0"/>
          <a:chExt cx="0" cy="0"/>
        </a:xfrm>
      </p:grpSpPr>
      <p:sp>
        <p:nvSpPr>
          <p:cNvPr id="117" name="Google Shape;117;p18"/>
          <p:cNvSpPr/>
          <p:nvPr/>
        </p:nvSpPr>
        <p:spPr>
          <a:xfrm>
            <a:off x="770850" y="212725"/>
            <a:ext cx="903600" cy="813000"/>
          </a:xfrm>
          <a:prstGeom prst="parallelogram">
            <a:avLst>
              <a:gd name="adj" fmla="val 45310"/>
            </a:avLst>
          </a:prstGeom>
          <a:solidFill>
            <a:srgbClr val="00A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8"/>
          <p:cNvSpPr/>
          <p:nvPr/>
        </p:nvSpPr>
        <p:spPr>
          <a:xfrm>
            <a:off x="146422" y="212725"/>
            <a:ext cx="903600" cy="813000"/>
          </a:xfrm>
          <a:prstGeom prst="parallelogram">
            <a:avLst>
              <a:gd name="adj" fmla="val 45310"/>
            </a:avLst>
          </a:prstGeom>
          <a:gradFill>
            <a:gsLst>
              <a:gs pos="0">
                <a:srgbClr val="FFFFFF"/>
              </a:gs>
              <a:gs pos="65000">
                <a:schemeClr val="accent4"/>
              </a:gs>
              <a:gs pos="100000">
                <a:schemeClr val="accent4"/>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1" name="Google Shape;121;p18"/>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22" name="Google Shape;122;p18"/>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a:p>
        </p:txBody>
      </p:sp>
      <p:sp>
        <p:nvSpPr>
          <p:cNvPr id="9" name="Google Shape;84;p14">
            <a:extLst>
              <a:ext uri="{FF2B5EF4-FFF2-40B4-BE49-F238E27FC236}">
                <a16:creationId xmlns:a16="http://schemas.microsoft.com/office/drawing/2014/main" xmlns="" id="{68D524C4-1F0A-4E44-A95B-72D8DB45E405}"/>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042199C9-DD4D-EB45-AFC1-D179EEED3963}"/>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
        <p:nvSpPr>
          <p:cNvPr id="11" name="Google Shape;7;p1">
            <a:extLst>
              <a:ext uri="{FF2B5EF4-FFF2-40B4-BE49-F238E27FC236}">
                <a16:creationId xmlns:a16="http://schemas.microsoft.com/office/drawing/2014/main" xmlns="" id="{11BA7EF7-A1ED-2147-8386-4D991E939F0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2184847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79" r:id="rId5"/>
    <p:sldLayoutId id="2147483661" r:id="rId6"/>
    <p:sldLayoutId id="2147483662" r:id="rId7"/>
    <p:sldLayoutId id="2147483678" r:id="rId8"/>
    <p:sldLayoutId id="2147483677" r:id="rId9"/>
    <p:sldLayoutId id="2147483680" r:id="rId10"/>
    <p:sldLayoutId id="2147483681" r:id="rId11"/>
    <p:sldLayoutId id="2147483682" r:id="rId12"/>
    <p:sldLayoutId id="2147483683"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2780521" y="2173037"/>
            <a:ext cx="6318801" cy="3126754"/>
          </a:xfrm>
          <a:prstGeom prst="rect">
            <a:avLst/>
          </a:prstGeom>
        </p:spPr>
        <p:txBody>
          <a:bodyPr spcFirstLastPara="1" wrap="square" lIns="91425" tIns="45700" rIns="91425" bIns="45700" anchor="b" anchorCtr="0">
            <a:noAutofit/>
          </a:bodyPr>
          <a:lstStyle/>
          <a:p>
            <a:pPr lvl="0"/>
            <a:r>
              <a:rPr lang="es-CL" sz="6000" b="1" dirty="0"/>
              <a:t>Usando </a:t>
            </a:r>
            <a:br>
              <a:rPr lang="es-CL" sz="6000" b="1" dirty="0"/>
            </a:br>
            <a:r>
              <a:rPr lang="es-CL" sz="6000" b="1" dirty="0"/>
              <a:t>Restricciones </a:t>
            </a:r>
            <a:br>
              <a:rPr lang="es-CL" sz="6000" b="1" dirty="0"/>
            </a:br>
            <a:r>
              <a:rPr lang="es-CL" sz="6000" b="1" dirty="0"/>
              <a:t>en  Sentencias </a:t>
            </a:r>
            <a:br>
              <a:rPr lang="es-CL" sz="6000" b="1" dirty="0"/>
            </a:br>
            <a:r>
              <a:rPr lang="es-CL" sz="6000" b="1" dirty="0"/>
              <a:t>SQL</a:t>
            </a:r>
          </a:p>
        </p:txBody>
      </p:sp>
      <p:sp>
        <p:nvSpPr>
          <p:cNvPr id="3" name="Google Shape;213;p30">
            <a:extLst>
              <a:ext uri="{FF2B5EF4-FFF2-40B4-BE49-F238E27FC236}">
                <a16:creationId xmlns:a16="http://schemas.microsoft.com/office/drawing/2014/main" xmlns="" id="{CA6D9C02-8364-4528-BDEC-F7FA8D0630D5}"/>
              </a:ext>
            </a:extLst>
          </p:cNvPr>
          <p:cNvSpPr txBox="1">
            <a:spLocks noGrp="1"/>
          </p:cNvSpPr>
          <p:nvPr>
            <p:ph type="subTitle" idx="1"/>
          </p:nvPr>
        </p:nvSpPr>
        <p:spPr>
          <a:xfrm>
            <a:off x="6386512" y="5620875"/>
            <a:ext cx="2502087" cy="873900"/>
          </a:xfrm>
          <a:prstGeom prst="roundRect">
            <a:avLst/>
          </a:prstGeom>
        </p:spPr>
        <p:txBody>
          <a:bodyPr spcFirstLastPara="1" wrap="square" lIns="91425" tIns="0" rIns="182875" bIns="0" anchor="t" anchorCtr="0">
            <a:noAutofit/>
          </a:bodyPr>
          <a:lstStyle/>
          <a:p>
            <a:pPr marL="0" lvl="0" indent="0" algn="ctr"/>
            <a:r>
              <a:rPr lang="en-US" sz="3600" dirty="0"/>
              <a:t>MDY2131</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6">
            <a:extLst>
              <a:ext uri="{FF2B5EF4-FFF2-40B4-BE49-F238E27FC236}">
                <a16:creationId xmlns:a16="http://schemas.microsoft.com/office/drawing/2014/main" xmlns="" id="{FB9E9EC4-1442-454F-96A7-8DBD75B3E084}"/>
              </a:ext>
            </a:extLst>
          </p:cNvPr>
          <p:cNvGraphicFramePr>
            <a:graphicFrameLocks noGrp="1"/>
          </p:cNvGraphicFramePr>
          <p:nvPr/>
        </p:nvGraphicFramePr>
        <p:xfrm>
          <a:off x="428622" y="1668467"/>
          <a:ext cx="8315325" cy="3939090"/>
        </p:xfrm>
        <a:graphic>
          <a:graphicData uri="http://schemas.openxmlformats.org/drawingml/2006/table">
            <a:tbl>
              <a:tblPr firstRow="1" bandRow="1">
                <a:tableStyleId>{073A0DAA-6AF3-43AB-8588-CEC1D06C72B9}</a:tableStyleId>
              </a:tblPr>
              <a:tblGrid>
                <a:gridCol w="1516556">
                  <a:extLst>
                    <a:ext uri="{9D8B030D-6E8A-4147-A177-3AD203B41FA5}">
                      <a16:colId xmlns:a16="http://schemas.microsoft.com/office/drawing/2014/main" xmlns="" val="447460705"/>
                    </a:ext>
                  </a:extLst>
                </a:gridCol>
                <a:gridCol w="2869707">
                  <a:extLst>
                    <a:ext uri="{9D8B030D-6E8A-4147-A177-3AD203B41FA5}">
                      <a16:colId xmlns:a16="http://schemas.microsoft.com/office/drawing/2014/main" xmlns="" val="745656918"/>
                    </a:ext>
                  </a:extLst>
                </a:gridCol>
                <a:gridCol w="3929062">
                  <a:extLst>
                    <a:ext uri="{9D8B030D-6E8A-4147-A177-3AD203B41FA5}">
                      <a16:colId xmlns:a16="http://schemas.microsoft.com/office/drawing/2014/main" xmlns="" val="4006272735"/>
                    </a:ext>
                  </a:extLst>
                </a:gridCol>
              </a:tblGrid>
              <a:tr h="1205362">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Experiencia</a:t>
                      </a:r>
                      <a:endParaRPr lang="es-CL" dirty="0"/>
                    </a:p>
                  </a:txBody>
                  <a:tcPr anchor="ctr"/>
                </a:tc>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Nombre</a:t>
                      </a:r>
                      <a:endParaRPr lang="es-CL"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Unidad de Competencia Especialidad – Nivel de la Competencia de Empleabilidad</a:t>
                      </a:r>
                      <a:endParaRPr lang="es-CL" dirty="0"/>
                    </a:p>
                  </a:txBody>
                  <a:tcPr anchor="ctr"/>
                </a:tc>
                <a:extLst>
                  <a:ext uri="{0D108BD9-81ED-4DB2-BD59-A6C34878D82A}">
                    <a16:rowId xmlns:a16="http://schemas.microsoft.com/office/drawing/2014/main" xmlns="" val="1379131601"/>
                  </a:ext>
                </a:extLst>
              </a:tr>
              <a:tr h="722048">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_tradnl" sz="1800" b="0" i="0" u="none" strike="noStrike" kern="0" cap="none" spc="0" normalizeH="0" baseline="0" noProof="0" dirty="0" err="1">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Nº</a:t>
                      </a:r>
                      <a:r>
                        <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 1</a:t>
                      </a:r>
                    </a:p>
                    <a:p>
                      <a:endParaRPr lang="es-CL" dirty="0"/>
                    </a:p>
                  </a:txBody>
                  <a:tcPr anchor="ct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Construyendo sentencias simples de recuperación de datos</a:t>
                      </a:r>
                      <a:endPar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endParaRPr>
                    </a:p>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0" i="0" u="none" strike="noStrike" kern="0" cap="none" spc="0" normalizeH="0" baseline="0" noProof="0" dirty="0">
                          <a:ln>
                            <a:noFill/>
                          </a:ln>
                          <a:solidFill>
                            <a:srgbClr val="172740"/>
                          </a:solidFill>
                          <a:effectLst/>
                          <a:uLnTx/>
                          <a:uFillTx/>
                          <a:latin typeface="Calibri" panose="020F0502020204030204" pitchFamily="34" charset="0"/>
                          <a:ea typeface="+mn-ea"/>
                          <a:cs typeface="Calibri" panose="020F0502020204030204" pitchFamily="34" charset="0"/>
                          <a:sym typeface="Arial"/>
                        </a:rPr>
                        <a:t>Desarrolla operaciones sobre la base de datos que permitan la obtención, actualización, inserción y eliminación de información estableciendo una conexión con una base de datos para cumplir con los requerimientos de la organización.</a:t>
                      </a:r>
                      <a:endParaRPr lang="es-CL" dirty="0"/>
                    </a:p>
                  </a:txBody>
                  <a:tcPr anchor="ctr"/>
                </a:tc>
                <a:extLst>
                  <a:ext uri="{0D108BD9-81ED-4DB2-BD59-A6C34878D82A}">
                    <a16:rowId xmlns:a16="http://schemas.microsoft.com/office/drawing/2014/main" xmlns="" val="3941631869"/>
                  </a:ext>
                </a:extLst>
              </a:tr>
              <a:tr h="722048">
                <a:tc vMerge="1">
                  <a:txBody>
                    <a:bodyPr/>
                    <a:lstStyle/>
                    <a:p>
                      <a:endParaRPr lang="es-CL" dirty="0"/>
                    </a:p>
                  </a:txBody>
                  <a:tcPr anchor="ctr"/>
                </a:tc>
                <a:tc vMerge="1">
                  <a:txBody>
                    <a:bodyPr/>
                    <a:lstStyle/>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s-MX" sz="1800" dirty="0">
                          <a:effectLst/>
                          <a:latin typeface="Calibri" panose="020F0502020204030204" pitchFamily="34" charset="0"/>
                          <a:ea typeface="Calibri" panose="020F0502020204030204" pitchFamily="34" charset="0"/>
                        </a:rPr>
                        <a:t>Resolución de Problemas (N1)</a:t>
                      </a:r>
                      <a:endParaRPr lang="es-CL" sz="1800" dirty="0"/>
                    </a:p>
                  </a:txBody>
                  <a:tcPr anchor="ctr"/>
                </a:tc>
                <a:extLst>
                  <a:ext uri="{0D108BD9-81ED-4DB2-BD59-A6C34878D82A}">
                    <a16:rowId xmlns:a16="http://schemas.microsoft.com/office/drawing/2014/main" xmlns="" val="2871679439"/>
                  </a:ext>
                </a:extLst>
              </a:tr>
            </a:tbl>
          </a:graphicData>
        </a:graphic>
      </p:graphicFrame>
      <p:sp>
        <p:nvSpPr>
          <p:cNvPr id="11" name="Título 1">
            <a:extLst>
              <a:ext uri="{FF2B5EF4-FFF2-40B4-BE49-F238E27FC236}">
                <a16:creationId xmlns:a16="http://schemas.microsoft.com/office/drawing/2014/main" xmlns="" id="{7573328E-BCD9-4056-AEDD-0C97FCE1A1DC}"/>
              </a:ext>
            </a:extLst>
          </p:cNvPr>
          <p:cNvSpPr>
            <a:spLocks noGrp="1"/>
          </p:cNvSpPr>
          <p:nvPr>
            <p:ph type="title"/>
          </p:nvPr>
        </p:nvSpPr>
        <p:spPr>
          <a:xfrm>
            <a:off x="1606532" y="212725"/>
            <a:ext cx="4594244" cy="813000"/>
          </a:xfrm>
        </p:spPr>
        <p:txBody>
          <a:bodyPr/>
          <a:lstStyle/>
          <a:p>
            <a:r>
              <a:rPr lang="es-ES_tradnl" b="1" dirty="0"/>
              <a:t>Experiencia de Aprendizaje</a:t>
            </a:r>
            <a:br>
              <a:rPr lang="es-ES_tradnl" b="1" dirty="0"/>
            </a:br>
            <a:r>
              <a:rPr lang="es-ES_tradnl" b="1" dirty="0"/>
              <a:t>y Competencia Asociada</a:t>
            </a:r>
          </a:p>
        </p:txBody>
      </p:sp>
    </p:spTree>
    <p:extLst>
      <p:ext uri="{BB962C8B-B14F-4D97-AF65-F5344CB8AC3E}">
        <p14:creationId xmlns:p14="http://schemas.microsoft.com/office/powerpoint/2010/main" val="3499347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p:txBody>
          <a:bodyPr/>
          <a:lstStyle/>
          <a:p>
            <a:pPr marL="393700" indent="-342900" algn="just">
              <a:buFont typeface="Arial" panose="020B0604020202020204" pitchFamily="34" charset="0"/>
              <a:buChar char="•"/>
            </a:pPr>
            <a:r>
              <a:rPr lang="es-CL" sz="2200" dirty="0"/>
              <a:t>Cómo utilizar la cláusula WHERE para restringir las filas afectadas por una sentencias SQL.</a:t>
            </a:r>
          </a:p>
          <a:p>
            <a:pPr marL="393700" indent="-342900" algn="just">
              <a:buFont typeface="Arial" panose="020B0604020202020204" pitchFamily="34" charset="0"/>
              <a:buChar char="•"/>
            </a:pPr>
            <a:r>
              <a:rPr lang="es-CL" sz="2200" dirty="0"/>
              <a:t>Cómo utilizar los diferentes operadores en una condición de comparación.</a:t>
            </a:r>
          </a:p>
          <a:p>
            <a:pPr marL="393700" indent="-342900" algn="just">
              <a:buFont typeface="Arial" panose="020B0604020202020204" pitchFamily="34" charset="0"/>
              <a:buChar char="•"/>
            </a:pPr>
            <a:r>
              <a:rPr lang="es-CL" sz="2200" dirty="0"/>
              <a:t>Cómo utilizar los diferentes operadores lógicos en una condición.</a:t>
            </a:r>
          </a:p>
          <a:p>
            <a:pPr marL="393700" indent="-342900" algn="just">
              <a:buFont typeface="Arial" panose="020B0604020202020204" pitchFamily="34" charset="0"/>
              <a:buChar char="•"/>
            </a:pPr>
            <a:r>
              <a:rPr lang="es-CL" sz="2200" dirty="0"/>
              <a:t>Crear tablas a partir de una Sentencia SELECT.</a:t>
            </a:r>
          </a:p>
          <a:p>
            <a:pPr marL="393700" indent="-342900" algn="just">
              <a:buFont typeface="Arial" panose="020B0604020202020204" pitchFamily="34" charset="0"/>
              <a:buChar char="•"/>
            </a:pPr>
            <a:r>
              <a:rPr lang="es-CL" sz="2200" dirty="0"/>
              <a:t>Usar variable de sustitución para seleccionar, restringir y ordenar la información en tiempo de ejecución.</a:t>
            </a:r>
          </a:p>
          <a:p>
            <a:pPr algn="l"/>
            <a:endParaRPr lang="es-CL" sz="2200" dirty="0"/>
          </a:p>
        </p:txBody>
      </p:sp>
    </p:spTree>
    <p:extLst>
      <p:ext uri="{BB962C8B-B14F-4D97-AF65-F5344CB8AC3E}">
        <p14:creationId xmlns:p14="http://schemas.microsoft.com/office/powerpoint/2010/main" val="4278723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04575" y="3476150"/>
            <a:ext cx="5995800" cy="16032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r>
              <a:rPr lang="en-US" sz="5000" b="1" dirty="0" err="1"/>
              <a:t>Restringir</a:t>
            </a:r>
            <a:r>
              <a:rPr lang="en-US" sz="5000" b="1" dirty="0"/>
              <a:t> la </a:t>
            </a:r>
            <a:br>
              <a:rPr lang="en-US" sz="5000" b="1" dirty="0"/>
            </a:br>
            <a:r>
              <a:rPr lang="en-US" sz="5000" b="1" dirty="0" err="1"/>
              <a:t>Filas</a:t>
            </a:r>
            <a:r>
              <a:rPr lang="en-US" sz="5000" b="1" dirty="0"/>
              <a:t> </a:t>
            </a:r>
            <a:r>
              <a:rPr lang="en-US" sz="5000" b="1" dirty="0" err="1"/>
              <a:t>Seleccionadas</a:t>
            </a:r>
            <a:endParaRPr sz="5000" b="1" dirty="0"/>
          </a:p>
        </p:txBody>
      </p:sp>
      <p:sp>
        <p:nvSpPr>
          <p:cNvPr id="3" name="CuadroTexto 1">
            <a:extLst>
              <a:ext uri="{FF2B5EF4-FFF2-40B4-BE49-F238E27FC236}">
                <a16:creationId xmlns:a16="http://schemas.microsoft.com/office/drawing/2014/main" xmlns="" id="{08735C5A-6F67-4C48-B807-1E85C9D8E308}"/>
              </a:ext>
            </a:extLst>
          </p:cNvPr>
          <p:cNvSpPr txBox="1"/>
          <p:nvPr/>
        </p:nvSpPr>
        <p:spPr>
          <a:xfrm>
            <a:off x="1208058" y="6274836"/>
            <a:ext cx="914400"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Las sentencias de los ejemplos usan las tablas del esquema HR de la Base de Datos Oracle </a:t>
            </a:r>
            <a:endParaRPr lang="es-CL" sz="12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58445"/>
            <a:ext cx="4647630" cy="813000"/>
          </a:xfrm>
        </p:spPr>
        <p:txBody>
          <a:bodyPr/>
          <a:lstStyle/>
          <a:p>
            <a:pPr lvl="0" defTabSz="457200">
              <a:defRPr/>
            </a:pPr>
            <a:r>
              <a:rPr lang="es-CL" sz="2800" b="1" dirty="0">
                <a:solidFill>
                  <a:prstClr val="white"/>
                </a:solidFill>
                <a:latin typeface="Calibri"/>
              </a:rPr>
              <a:t>Restringiendo las Filas que son Seleccionadas</a:t>
            </a:r>
          </a:p>
        </p:txBody>
      </p:sp>
      <p:pic>
        <p:nvPicPr>
          <p:cNvPr id="6" name="Imagen 5">
            <a:extLst>
              <a:ext uri="{FF2B5EF4-FFF2-40B4-BE49-F238E27FC236}">
                <a16:creationId xmlns:a16="http://schemas.microsoft.com/office/drawing/2014/main" xmlns="" id="{2C5F84E4-3DB0-4632-A671-CCC96C1597F3}"/>
              </a:ext>
            </a:extLst>
          </p:cNvPr>
          <p:cNvPicPr>
            <a:picLocks noChangeAspect="1"/>
          </p:cNvPicPr>
          <p:nvPr/>
        </p:nvPicPr>
        <p:blipFill>
          <a:blip r:embed="rId3"/>
          <a:stretch>
            <a:fillRect/>
          </a:stretch>
        </p:blipFill>
        <p:spPr>
          <a:xfrm>
            <a:off x="236140" y="1342722"/>
            <a:ext cx="8671719" cy="4871466"/>
          </a:xfrm>
          <a:prstGeom prst="rect">
            <a:avLst/>
          </a:prstGeom>
        </p:spPr>
      </p:pic>
    </p:spTree>
    <p:extLst>
      <p:ext uri="{BB962C8B-B14F-4D97-AF65-F5344CB8AC3E}">
        <p14:creationId xmlns:p14="http://schemas.microsoft.com/office/powerpoint/2010/main" val="269731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7AC768A7-E7C8-4AED-9C6A-C49BE908F412}"/>
              </a:ext>
            </a:extLst>
          </p:cNvPr>
          <p:cNvSpPr>
            <a:spLocks noGrp="1"/>
          </p:cNvSpPr>
          <p:nvPr>
            <p:ph type="title"/>
          </p:nvPr>
        </p:nvSpPr>
        <p:spPr>
          <a:xfrm>
            <a:off x="1705943" y="258445"/>
            <a:ext cx="4647630" cy="813000"/>
          </a:xfrm>
        </p:spPr>
        <p:txBody>
          <a:bodyPr/>
          <a:lstStyle/>
          <a:p>
            <a:pPr lvl="0" defTabSz="457200">
              <a:defRPr/>
            </a:pPr>
            <a:r>
              <a:rPr lang="es-CL" sz="2800" b="1" dirty="0">
                <a:solidFill>
                  <a:prstClr val="white"/>
                </a:solidFill>
                <a:latin typeface="Calibri"/>
              </a:rPr>
              <a:t>Restringiendo las Filas que son Seleccionadas</a:t>
            </a:r>
          </a:p>
        </p:txBody>
      </p:sp>
      <p:sp>
        <p:nvSpPr>
          <p:cNvPr id="19" name="Marcador de contenido 1">
            <a:extLst>
              <a:ext uri="{FF2B5EF4-FFF2-40B4-BE49-F238E27FC236}">
                <a16:creationId xmlns:a16="http://schemas.microsoft.com/office/drawing/2014/main" xmlns="" id="{9C6E096B-11EE-4A40-A37C-020B76EA62E3}"/>
              </a:ext>
            </a:extLst>
          </p:cNvPr>
          <p:cNvSpPr txBox="1">
            <a:spLocks/>
          </p:cNvSpPr>
          <p:nvPr/>
        </p:nvSpPr>
        <p:spPr>
          <a:xfrm>
            <a:off x="518864" y="1434073"/>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r>
              <a:rPr kumimoji="0" lang="es-MX" sz="2000" b="0" i="0" u="none" strike="noStrike" kern="1200" cap="none" spc="0" normalizeH="0" baseline="0" noProof="0">
                <a:ln>
                  <a:noFill/>
                </a:ln>
                <a:solidFill>
                  <a:sysClr val="windowText" lastClr="000000"/>
                </a:solidFill>
                <a:effectLst/>
                <a:uLnTx/>
                <a:uFillTx/>
                <a:latin typeface="Calibri"/>
                <a:ea typeface="+mn-ea"/>
                <a:cs typeface="+mn-cs"/>
              </a:rPr>
              <a:t>Sintaxis:</a:t>
            </a: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CL"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0" name="Text Box 5">
            <a:extLst>
              <a:ext uri="{FF2B5EF4-FFF2-40B4-BE49-F238E27FC236}">
                <a16:creationId xmlns:a16="http://schemas.microsoft.com/office/drawing/2014/main" xmlns="" id="{6D0E5079-F02D-4A42-A23D-8C712C35A711}"/>
              </a:ext>
            </a:extLst>
          </p:cNvPr>
          <p:cNvSpPr txBox="1">
            <a:spLocks noChangeArrowheads="1"/>
          </p:cNvSpPr>
          <p:nvPr/>
        </p:nvSpPr>
        <p:spPr bwMode="auto">
          <a:xfrm>
            <a:off x="1115616" y="4503122"/>
            <a:ext cx="7056784"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SELECT  * | { [ DISTINCT ]  </a:t>
            </a:r>
            <a:r>
              <a:rPr kumimoji="0" lang="es-MX" sz="1600" b="1" i="1" u="none" strike="noStrike" kern="1200" cap="none" spc="0" normalizeH="0" baseline="0" noProof="0" dirty="0" err="1">
                <a:ln>
                  <a:noFill/>
                </a:ln>
                <a:solidFill>
                  <a:prstClr val="black"/>
                </a:solidFill>
                <a:effectLst/>
                <a:uLnTx/>
                <a:uFillTx/>
                <a:latin typeface="Calibri"/>
                <a:ea typeface="+mn-ea"/>
                <a:cs typeface="Arial" charset="0"/>
              </a:rPr>
              <a:t>columna</a:t>
            </a:r>
            <a:r>
              <a:rPr kumimoji="0" lang="es-MX" sz="1600" b="1" i="0" u="none" strike="noStrike" kern="1200" cap="none" spc="0" normalizeH="0" baseline="0" noProof="0" dirty="0" err="1">
                <a:ln>
                  <a:noFill/>
                </a:ln>
                <a:solidFill>
                  <a:prstClr val="black"/>
                </a:solidFill>
                <a:effectLst/>
                <a:uLnTx/>
                <a:uFillTx/>
                <a:latin typeface="Calibri"/>
                <a:ea typeface="+mn-ea"/>
                <a:cs typeface="Arial" charset="0"/>
              </a:rPr>
              <a:t>|</a:t>
            </a:r>
            <a:r>
              <a:rPr kumimoji="0" lang="es-MX" sz="1600" b="1" i="1" u="none" strike="noStrike" kern="1200" cap="none" spc="0" normalizeH="0" baseline="0" noProof="0" dirty="0" err="1">
                <a:ln>
                  <a:noFill/>
                </a:ln>
                <a:solidFill>
                  <a:prstClr val="black"/>
                </a:solidFill>
                <a:effectLst/>
                <a:uLnTx/>
                <a:uFillTx/>
                <a:latin typeface="Calibri"/>
                <a:ea typeface="+mn-ea"/>
                <a:cs typeface="Arial" charset="0"/>
              </a:rPr>
              <a:t>expresión</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alias</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FROM   </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tabla</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srgbClr val="C00000"/>
                </a:solidFill>
                <a:effectLst/>
                <a:uLnTx/>
                <a:uFillTx/>
                <a:latin typeface="Calibri"/>
                <a:ea typeface="+mn-ea"/>
                <a:cs typeface="Arial" charset="0"/>
              </a:rPr>
              <a:t>[WHERE  </a:t>
            </a:r>
            <a:r>
              <a:rPr kumimoji="0" lang="es-MX" sz="1600" b="1" i="1" u="none" strike="noStrike" kern="1200" cap="none" spc="0" normalizeH="0" baseline="0" noProof="0" dirty="0">
                <a:ln>
                  <a:noFill/>
                </a:ln>
                <a:solidFill>
                  <a:srgbClr val="C00000"/>
                </a:solidFill>
                <a:effectLst/>
                <a:uLnTx/>
                <a:uFillTx/>
                <a:latin typeface="Calibri"/>
                <a:ea typeface="+mn-ea"/>
                <a:cs typeface="Arial" charset="0"/>
              </a:rPr>
              <a:t>condición(es)_comparación</a:t>
            </a:r>
            <a:r>
              <a:rPr kumimoji="0" lang="es-MX" sz="1600" b="1" i="0" u="none" strike="noStrike" kern="1200" cap="none" spc="0" normalizeH="0" baseline="0" noProof="0" dirty="0">
                <a:ln>
                  <a:noFill/>
                </a:ln>
                <a:solidFill>
                  <a:srgbClr val="C00000"/>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[ORDER  BY </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columna</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 alias,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expresión</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posición_numérica</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[ASC|DESC]];</a:t>
            </a:r>
            <a:endParaRPr kumimoji="0" lang="es-MX" sz="1600" b="1"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21" name="Rectángulo redondeado 4">
            <a:extLst>
              <a:ext uri="{FF2B5EF4-FFF2-40B4-BE49-F238E27FC236}">
                <a16:creationId xmlns:a16="http://schemas.microsoft.com/office/drawing/2014/main" xmlns="" id="{8C787B0F-EE07-41A0-9653-399AA2A9DBCB}"/>
              </a:ext>
            </a:extLst>
          </p:cNvPr>
          <p:cNvSpPr/>
          <p:nvPr/>
        </p:nvSpPr>
        <p:spPr>
          <a:xfrm>
            <a:off x="3564144" y="1362065"/>
            <a:ext cx="2304000" cy="2340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En una sentencia SELECT o DELETE va a continuación de la cláusula FROM. En un sentencia UPDATE va a  continuación de la cláusula SET</a:t>
            </a:r>
          </a:p>
        </p:txBody>
      </p:sp>
      <p:sp>
        <p:nvSpPr>
          <p:cNvPr id="22" name="Rectángulo redondeado 4">
            <a:extLst>
              <a:ext uri="{FF2B5EF4-FFF2-40B4-BE49-F238E27FC236}">
                <a16:creationId xmlns:a16="http://schemas.microsoft.com/office/drawing/2014/main" xmlns="" id="{91889118-F80B-4D3B-871C-4064AC56E96F}"/>
              </a:ext>
            </a:extLst>
          </p:cNvPr>
          <p:cNvSpPr/>
          <p:nvPr/>
        </p:nvSpPr>
        <p:spPr>
          <a:xfrm>
            <a:off x="6228440" y="1362065"/>
            <a:ext cx="2304000" cy="2340000"/>
          </a:xfrm>
          <a:prstGeom prst="roundRect">
            <a:avLst/>
          </a:prstGeom>
          <a:solidFill>
            <a:srgbClr val="86A33F"/>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Se pueden comparar valores entre columnas, valores literal, expresiones aritméticas o funciones</a:t>
            </a:r>
          </a:p>
        </p:txBody>
      </p:sp>
      <p:sp>
        <p:nvSpPr>
          <p:cNvPr id="23" name="Rectángulo redondeado 4">
            <a:extLst>
              <a:ext uri="{FF2B5EF4-FFF2-40B4-BE49-F238E27FC236}">
                <a16:creationId xmlns:a16="http://schemas.microsoft.com/office/drawing/2014/main" xmlns="" id="{AAB34AE9-BCBC-40A6-8A0A-65334AE3482A}"/>
              </a:ext>
            </a:extLst>
          </p:cNvPr>
          <p:cNvSpPr/>
          <p:nvPr/>
        </p:nvSpPr>
        <p:spPr>
          <a:xfrm>
            <a:off x="899848" y="1362065"/>
            <a:ext cx="2304000" cy="2340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La cláusula WHERE </a:t>
            </a:r>
            <a:r>
              <a:rPr kumimoji="0" lang="es-CL" sz="1800" b="1" i="0" u="none" strike="noStrike" kern="1200" cap="none" spc="0" normalizeH="0" baseline="0" noProof="0" dirty="0">
                <a:ln>
                  <a:noFill/>
                </a:ln>
                <a:solidFill>
                  <a:prstClr val="white"/>
                </a:solidFill>
                <a:effectLst/>
                <a:uLnTx/>
                <a:uFillTx/>
                <a:latin typeface="Calibri"/>
                <a:ea typeface="+mn-ea"/>
                <a:cs typeface="+mn-cs"/>
              </a:rPr>
              <a:t>restringe a que las filas deben cumplir con una condición para ser visualizadas, actualizadas o eliminadas</a:t>
            </a:r>
            <a:endPar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934061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2BE644F9-D8AF-4E29-A038-9F7D271EC7B8}"/>
              </a:ext>
            </a:extLst>
          </p:cNvPr>
          <p:cNvSpPr>
            <a:spLocks noGrp="1"/>
          </p:cNvSpPr>
          <p:nvPr>
            <p:ph type="title"/>
          </p:nvPr>
        </p:nvSpPr>
        <p:spPr>
          <a:xfrm>
            <a:off x="1705943" y="258445"/>
            <a:ext cx="4647630" cy="813000"/>
          </a:xfrm>
        </p:spPr>
        <p:txBody>
          <a:bodyPr/>
          <a:lstStyle/>
          <a:p>
            <a:pPr lvl="0" defTabSz="457200">
              <a:defRPr/>
            </a:pPr>
            <a:r>
              <a:rPr lang="es-CL" sz="2800" b="1" dirty="0">
                <a:solidFill>
                  <a:prstClr val="white"/>
                </a:solidFill>
                <a:latin typeface="Calibri"/>
              </a:rPr>
              <a:t>Restringiendo las Filas que son Seleccionadas</a:t>
            </a:r>
          </a:p>
        </p:txBody>
      </p:sp>
      <p:sp>
        <p:nvSpPr>
          <p:cNvPr id="20" name="Marcador de contenido 1">
            <a:extLst>
              <a:ext uri="{FF2B5EF4-FFF2-40B4-BE49-F238E27FC236}">
                <a16:creationId xmlns:a16="http://schemas.microsoft.com/office/drawing/2014/main" xmlns="" id="{B75F31B4-56D4-495B-8F92-30939F7A70C8}"/>
              </a:ext>
            </a:extLst>
          </p:cNvPr>
          <p:cNvSpPr txBox="1">
            <a:spLocks/>
          </p:cNvSpPr>
          <p:nvPr/>
        </p:nvSpPr>
        <p:spPr>
          <a:xfrm>
            <a:off x="462881" y="1340768"/>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r>
              <a:rPr kumimoji="0" lang="es-MX" sz="2000" b="0" i="0" u="none" strike="noStrike" kern="1200" cap="none" spc="0" normalizeH="0" baseline="0" noProof="0" dirty="0">
                <a:ln>
                  <a:noFill/>
                </a:ln>
                <a:solidFill>
                  <a:sysClr val="windowText" lastClr="000000"/>
                </a:solidFill>
                <a:effectLst/>
                <a:uLnTx/>
                <a:uFillTx/>
                <a:latin typeface="Calibri"/>
                <a:ea typeface="+mn-ea"/>
                <a:cs typeface="+mn-cs"/>
              </a:rPr>
              <a:t>Elementos de una comparación:</a:t>
            </a: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16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r>
              <a:rPr kumimoji="0" lang="es-MX" sz="2000" b="0" i="0" u="none" strike="noStrike" kern="1200" cap="none" spc="0" normalizeH="0" baseline="0" noProof="0" dirty="0">
                <a:ln>
                  <a:noFill/>
                </a:ln>
                <a:solidFill>
                  <a:sysClr val="windowText" lastClr="000000"/>
                </a:solidFill>
                <a:effectLst/>
                <a:uLnTx/>
                <a:uFillTx/>
                <a:latin typeface="Calibri"/>
                <a:ea typeface="+mn-ea"/>
                <a:cs typeface="+mn-cs"/>
              </a:rPr>
              <a:t>Ejemplo:</a:t>
            </a:r>
          </a:p>
          <a:p>
            <a:pPr marL="0" marR="0" lvl="0" indent="0" algn="just" defTabSz="457200" rtl="0" eaLnBrk="1" fontAlgn="auto" latinLnBrk="0" hangingPunct="1">
              <a:lnSpc>
                <a:spcPct val="80000"/>
              </a:lnSpc>
              <a:spcBef>
                <a:spcPct val="20000"/>
              </a:spcBef>
              <a:spcAft>
                <a:spcPts val="0"/>
              </a:spcAft>
              <a:buClrTx/>
              <a:buSzTx/>
              <a:buFont typeface="Arial"/>
              <a:buNone/>
              <a:tabLst/>
              <a:defRPr/>
            </a:pPr>
            <a:endParaRPr kumimoji="0" lang="es-MX" sz="2000" b="0" i="0" u="none" strike="noStrike" kern="1200" cap="none" spc="0" normalizeH="0" baseline="0" noProof="0" dirty="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CL"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1" name="Text Box 5">
            <a:extLst>
              <a:ext uri="{FF2B5EF4-FFF2-40B4-BE49-F238E27FC236}">
                <a16:creationId xmlns:a16="http://schemas.microsoft.com/office/drawing/2014/main" xmlns="" id="{8C158115-9A37-4F68-BE5D-80C4C703DB69}"/>
              </a:ext>
            </a:extLst>
          </p:cNvPr>
          <p:cNvSpPr txBox="1">
            <a:spLocks noChangeArrowheads="1"/>
          </p:cNvSpPr>
          <p:nvPr/>
        </p:nvSpPr>
        <p:spPr bwMode="auto">
          <a:xfrm>
            <a:off x="746989" y="1637744"/>
            <a:ext cx="7657453"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WHERE  </a:t>
            </a:r>
            <a:r>
              <a:rPr kumimoji="0" lang="es-MX" sz="1600" b="1" i="1" u="none" strike="noStrike" kern="1200" cap="none" spc="0" normalizeH="0" baseline="0" noProof="0" dirty="0" err="1">
                <a:ln>
                  <a:noFill/>
                </a:ln>
                <a:solidFill>
                  <a:srgbClr val="C00000"/>
                </a:solidFill>
                <a:effectLst/>
                <a:uLnTx/>
                <a:uFillTx/>
                <a:latin typeface="Calibri"/>
                <a:ea typeface="+mn-ea"/>
                <a:cs typeface="Arial" charset="0"/>
              </a:rPr>
              <a:t>columna_a_comparar</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s-MX" sz="1600" b="1" i="1" u="none" strike="noStrike" kern="1200" cap="none" spc="0" normalizeH="0" baseline="0" noProof="0" dirty="0" err="1">
                <a:ln>
                  <a:noFill/>
                </a:ln>
                <a:solidFill>
                  <a:srgbClr val="0000CC"/>
                </a:solidFill>
                <a:effectLst/>
                <a:uLnTx/>
                <a:uFillTx/>
                <a:latin typeface="Calibri"/>
                <a:ea typeface="+mn-ea"/>
                <a:cs typeface="Arial" charset="0"/>
              </a:rPr>
              <a:t>condición_comparación</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s-MX" sz="1600" b="1" i="1" u="none" strike="noStrike" kern="1200" cap="none" spc="0" normalizeH="0" baseline="0" noProof="0" dirty="0" err="1">
                <a:ln>
                  <a:noFill/>
                </a:ln>
                <a:solidFill>
                  <a:srgbClr val="800080"/>
                </a:solidFill>
                <a:effectLst/>
                <a:uLnTx/>
                <a:uFillTx/>
                <a:latin typeface="Calibri"/>
                <a:ea typeface="+mn-ea"/>
                <a:cs typeface="Arial" charset="0"/>
              </a:rPr>
              <a:t>valor_con_el_se_compara</a:t>
            </a:r>
            <a:endParaRPr kumimoji="0" lang="es-MX" sz="1600" b="1" i="1" u="none" strike="noStrike" kern="1200" cap="none" spc="0" normalizeH="0" baseline="0" noProof="0" dirty="0">
              <a:ln>
                <a:noFill/>
              </a:ln>
              <a:solidFill>
                <a:srgbClr val="800080"/>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22" name="Line 16">
            <a:extLst>
              <a:ext uri="{FF2B5EF4-FFF2-40B4-BE49-F238E27FC236}">
                <a16:creationId xmlns:a16="http://schemas.microsoft.com/office/drawing/2014/main" xmlns="" id="{F7A9A6A8-5D41-4EA4-9982-E4C704618BD1}"/>
              </a:ext>
            </a:extLst>
          </p:cNvPr>
          <p:cNvSpPr>
            <a:spLocks noChangeShapeType="1"/>
          </p:cNvSpPr>
          <p:nvPr/>
        </p:nvSpPr>
        <p:spPr bwMode="auto">
          <a:xfrm flipV="1">
            <a:off x="4876057" y="2079002"/>
            <a:ext cx="0" cy="576000"/>
          </a:xfrm>
          <a:prstGeom prst="line">
            <a:avLst/>
          </a:prstGeom>
          <a:noFill/>
          <a:ln w="85725">
            <a:solidFill>
              <a:srgbClr val="0000FF"/>
            </a:solidFill>
            <a:round/>
            <a:headEnd type="triangle"/>
            <a:tailEnd type="none" w="med"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
        <p:nvSpPr>
          <p:cNvPr id="23" name="Line 17">
            <a:extLst>
              <a:ext uri="{FF2B5EF4-FFF2-40B4-BE49-F238E27FC236}">
                <a16:creationId xmlns:a16="http://schemas.microsoft.com/office/drawing/2014/main" xmlns="" id="{B35BC0C0-CC90-4189-AA72-E2586E11BB02}"/>
              </a:ext>
            </a:extLst>
          </p:cNvPr>
          <p:cNvSpPr>
            <a:spLocks noChangeShapeType="1"/>
          </p:cNvSpPr>
          <p:nvPr/>
        </p:nvSpPr>
        <p:spPr bwMode="auto">
          <a:xfrm flipV="1">
            <a:off x="7121224" y="2079002"/>
            <a:ext cx="0" cy="576000"/>
          </a:xfrm>
          <a:prstGeom prst="line">
            <a:avLst/>
          </a:prstGeom>
          <a:noFill/>
          <a:ln w="85725">
            <a:solidFill>
              <a:srgbClr val="7030A0"/>
            </a:solidFill>
            <a:round/>
            <a:headEnd type="triangle"/>
            <a:tailEnd type="none" w="med"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
        <p:nvSpPr>
          <p:cNvPr id="24" name="CuadroTexto 23">
            <a:extLst>
              <a:ext uri="{FF2B5EF4-FFF2-40B4-BE49-F238E27FC236}">
                <a16:creationId xmlns:a16="http://schemas.microsoft.com/office/drawing/2014/main" xmlns="" id="{1202DA15-38DA-4C6D-9003-C59D0ADF6A02}"/>
              </a:ext>
            </a:extLst>
          </p:cNvPr>
          <p:cNvSpPr txBox="1"/>
          <p:nvPr/>
        </p:nvSpPr>
        <p:spPr>
          <a:xfrm>
            <a:off x="3809384" y="2691427"/>
            <a:ext cx="2031878" cy="523220"/>
          </a:xfrm>
          <a:prstGeom prst="rect">
            <a:avLst/>
          </a:prstGeom>
          <a:solidFill>
            <a:srgbClr val="0000FF"/>
          </a:solidFill>
          <a:ln w="25400">
            <a:solidFill>
              <a:sysClr val="windowText" lastClr="000000"/>
            </a:solidFill>
          </a:ln>
        </p:spPr>
        <p:txBody>
          <a:bodyPr wrap="square" rtlCol="0">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Operador de Comparación</a:t>
            </a:r>
          </a:p>
        </p:txBody>
      </p:sp>
      <p:sp>
        <p:nvSpPr>
          <p:cNvPr id="25" name="CuadroTexto 24">
            <a:extLst>
              <a:ext uri="{FF2B5EF4-FFF2-40B4-BE49-F238E27FC236}">
                <a16:creationId xmlns:a16="http://schemas.microsoft.com/office/drawing/2014/main" xmlns="" id="{C5869709-72E4-4EEB-B7EE-916A021F0769}"/>
              </a:ext>
            </a:extLst>
          </p:cNvPr>
          <p:cNvSpPr txBox="1"/>
          <p:nvPr/>
        </p:nvSpPr>
        <p:spPr>
          <a:xfrm>
            <a:off x="5902204" y="2691426"/>
            <a:ext cx="2718077" cy="1368000"/>
          </a:xfrm>
          <a:prstGeom prst="rect">
            <a:avLst/>
          </a:prstGeom>
          <a:solidFill>
            <a:srgbClr val="7030A0"/>
          </a:solidFill>
          <a:ln w="25400">
            <a:solidFill>
              <a:sysClr val="windowText" lastClr="000000"/>
            </a:solidFill>
          </a:ln>
        </p:spPr>
        <p:txBody>
          <a:bodyPr wrap="square" rtlCol="0">
            <a:noAutofit/>
          </a:bodyPr>
          <a:lstStyle/>
          <a:p>
            <a:pPr marL="285750" marR="0" lvl="0" indent="-285750" defTabSz="914400" eaLnBrk="1" fontAlgn="base" latinLnBrk="0" hangingPunct="1">
              <a:lnSpc>
                <a:spcPct val="100000"/>
              </a:lnSpc>
              <a:spcBef>
                <a:spcPct val="0"/>
              </a:spcBef>
              <a:spcAft>
                <a:spcPct val="0"/>
              </a:spcAft>
              <a:buClrTx/>
              <a:buSzTx/>
              <a:buFontTx/>
              <a:buChar char="-"/>
              <a:tabLst/>
              <a:defRPr/>
            </a:pPr>
            <a:r>
              <a:rPr kumimoji="0" lang="es-CL"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Columna</a:t>
            </a:r>
          </a:p>
          <a:p>
            <a:pPr marL="285750" marR="0" lvl="0" indent="-285750" defTabSz="914400" eaLnBrk="1" fontAlgn="base" latinLnBrk="0" hangingPunct="1">
              <a:lnSpc>
                <a:spcPct val="100000"/>
              </a:lnSpc>
              <a:spcBef>
                <a:spcPct val="0"/>
              </a:spcBef>
              <a:spcAft>
                <a:spcPct val="0"/>
              </a:spcAft>
              <a:buClrTx/>
              <a:buSzTx/>
              <a:buFontTx/>
              <a:buChar char="-"/>
              <a:tabLst/>
              <a:defRPr/>
            </a:pPr>
            <a:r>
              <a:rPr kumimoji="0" lang="es-CL"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Constante</a:t>
            </a:r>
          </a:p>
          <a:p>
            <a:pPr marL="285750" marR="0" lvl="0" indent="-285750" defTabSz="914400" eaLnBrk="1" fontAlgn="base" latinLnBrk="0" hangingPunct="1">
              <a:lnSpc>
                <a:spcPct val="100000"/>
              </a:lnSpc>
              <a:spcBef>
                <a:spcPct val="0"/>
              </a:spcBef>
              <a:spcAft>
                <a:spcPct val="0"/>
              </a:spcAft>
              <a:buClrTx/>
              <a:buSzTx/>
              <a:buFontTx/>
              <a:buChar char="-"/>
              <a:tabLst/>
              <a:defRPr/>
            </a:pPr>
            <a:r>
              <a:rPr kumimoji="0" lang="es-CL"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Lista de valores</a:t>
            </a:r>
          </a:p>
          <a:p>
            <a:pPr marL="285750" marR="0" lvl="0" indent="-285750" defTabSz="914400" eaLnBrk="1" fontAlgn="base" latinLnBrk="0" hangingPunct="1">
              <a:lnSpc>
                <a:spcPct val="100000"/>
              </a:lnSpc>
              <a:spcBef>
                <a:spcPct val="0"/>
              </a:spcBef>
              <a:spcAft>
                <a:spcPct val="0"/>
              </a:spcAft>
              <a:buClrTx/>
              <a:buSzTx/>
              <a:buFontTx/>
              <a:buChar char="-"/>
              <a:tabLst/>
              <a:defRPr/>
            </a:pPr>
            <a:r>
              <a:rPr kumimoji="0" lang="es-CL"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Cadena de Caracteres</a:t>
            </a:r>
          </a:p>
          <a:p>
            <a:pPr marL="285750" marR="0" lvl="0" indent="-285750" defTabSz="914400" eaLnBrk="1" fontAlgn="base" latinLnBrk="0" hangingPunct="1">
              <a:lnSpc>
                <a:spcPct val="100000"/>
              </a:lnSpc>
              <a:spcBef>
                <a:spcPct val="0"/>
              </a:spcBef>
              <a:spcAft>
                <a:spcPct val="0"/>
              </a:spcAft>
              <a:buClrTx/>
              <a:buSzTx/>
              <a:buFontTx/>
              <a:buChar char="-"/>
              <a:tabLst/>
              <a:defRPr/>
            </a:pPr>
            <a:r>
              <a:rPr kumimoji="0" lang="es-CL"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Fechas literales</a:t>
            </a:r>
          </a:p>
          <a:p>
            <a:pPr marL="285750" marR="0" lvl="0" indent="-285750" defTabSz="914400" eaLnBrk="1" fontAlgn="base" latinLnBrk="0" hangingPunct="1">
              <a:lnSpc>
                <a:spcPct val="100000"/>
              </a:lnSpc>
              <a:spcBef>
                <a:spcPct val="0"/>
              </a:spcBef>
              <a:spcAft>
                <a:spcPct val="0"/>
              </a:spcAft>
              <a:buClrTx/>
              <a:buSzTx/>
              <a:buFontTx/>
              <a:buChar char="-"/>
              <a:tabLst/>
              <a:defRPr/>
            </a:pPr>
            <a:r>
              <a:rPr kumimoji="0" lang="es-CL"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Expresiones matemáticas</a:t>
            </a:r>
          </a:p>
        </p:txBody>
      </p:sp>
      <p:sp>
        <p:nvSpPr>
          <p:cNvPr id="26" name="Text Box 5">
            <a:extLst>
              <a:ext uri="{FF2B5EF4-FFF2-40B4-BE49-F238E27FC236}">
                <a16:creationId xmlns:a16="http://schemas.microsoft.com/office/drawing/2014/main" xmlns="" id="{24DBC9DA-69F6-497C-862C-466410AF5409}"/>
              </a:ext>
            </a:extLst>
          </p:cNvPr>
          <p:cNvSpPr txBox="1">
            <a:spLocks noChangeArrowheads="1"/>
          </p:cNvSpPr>
          <p:nvPr/>
        </p:nvSpPr>
        <p:spPr bwMode="auto">
          <a:xfrm>
            <a:off x="1131641" y="4330314"/>
            <a:ext cx="5544616"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employee_id, last_name, job_id, department_id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WHERE department_id = 90</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27" name="Imagen 26">
            <a:extLst>
              <a:ext uri="{FF2B5EF4-FFF2-40B4-BE49-F238E27FC236}">
                <a16:creationId xmlns:a16="http://schemas.microsoft.com/office/drawing/2014/main" xmlns="" id="{0C9D66A2-6C97-40F1-A0F4-65E966050E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7282" y="5480749"/>
            <a:ext cx="3533333" cy="828571"/>
          </a:xfrm>
          <a:prstGeom prst="rect">
            <a:avLst/>
          </a:prstGeom>
        </p:spPr>
      </p:pic>
    </p:spTree>
    <p:extLst>
      <p:ext uri="{BB962C8B-B14F-4D97-AF65-F5344CB8AC3E}">
        <p14:creationId xmlns:p14="http://schemas.microsoft.com/office/powerpoint/2010/main" val="1587763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079F1F56-5B20-47A7-9568-129D07C1D738}"/>
              </a:ext>
            </a:extLst>
          </p:cNvPr>
          <p:cNvSpPr>
            <a:spLocks noGrp="1"/>
          </p:cNvSpPr>
          <p:nvPr>
            <p:ph type="title"/>
          </p:nvPr>
        </p:nvSpPr>
        <p:spPr>
          <a:xfrm>
            <a:off x="1705943" y="258445"/>
            <a:ext cx="4647630" cy="813000"/>
          </a:xfrm>
        </p:spPr>
        <p:txBody>
          <a:bodyPr/>
          <a:lstStyle/>
          <a:p>
            <a:pPr lvl="0" defTabSz="457200">
              <a:defRPr/>
            </a:pPr>
            <a:r>
              <a:rPr lang="es-CL" sz="2800" b="1" dirty="0">
                <a:solidFill>
                  <a:prstClr val="white"/>
                </a:solidFill>
                <a:latin typeface="Calibri"/>
              </a:rPr>
              <a:t>Restringiendo las Filas que son Seleccionadas</a:t>
            </a:r>
          </a:p>
        </p:txBody>
      </p:sp>
      <p:sp>
        <p:nvSpPr>
          <p:cNvPr id="27" name="Marcador de contenido 1">
            <a:extLst>
              <a:ext uri="{FF2B5EF4-FFF2-40B4-BE49-F238E27FC236}">
                <a16:creationId xmlns:a16="http://schemas.microsoft.com/office/drawing/2014/main" xmlns="" id="{F93F8C30-EBCD-48F5-8C45-B4FADB4C14C2}"/>
              </a:ext>
            </a:extLst>
          </p:cNvPr>
          <p:cNvSpPr txBox="1">
            <a:spLocks/>
          </p:cNvSpPr>
          <p:nvPr/>
        </p:nvSpPr>
        <p:spPr>
          <a:xfrm>
            <a:off x="588236" y="1340768"/>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4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8" name="Text Box 5">
            <a:extLst>
              <a:ext uri="{FF2B5EF4-FFF2-40B4-BE49-F238E27FC236}">
                <a16:creationId xmlns:a16="http://schemas.microsoft.com/office/drawing/2014/main" xmlns="" id="{161F3D0F-16F1-43FD-9709-2D1AFF4874EA}"/>
              </a:ext>
            </a:extLst>
          </p:cNvPr>
          <p:cNvSpPr txBox="1">
            <a:spLocks noChangeArrowheads="1"/>
          </p:cNvSpPr>
          <p:nvPr/>
        </p:nvSpPr>
        <p:spPr bwMode="auto">
          <a:xfrm>
            <a:off x="1041588" y="1775718"/>
            <a:ext cx="554400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 job_id, department_id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WHERE last_name =  'Whalen' </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29" name="Imagen 28">
            <a:extLst>
              <a:ext uri="{FF2B5EF4-FFF2-40B4-BE49-F238E27FC236}">
                <a16:creationId xmlns:a16="http://schemas.microsoft.com/office/drawing/2014/main" xmlns="" id="{74566FE6-DCDA-4356-BD41-208989F96F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7156" y="2950593"/>
            <a:ext cx="2695238" cy="438095"/>
          </a:xfrm>
          <a:prstGeom prst="rect">
            <a:avLst/>
          </a:prstGeom>
        </p:spPr>
      </p:pic>
      <p:sp>
        <p:nvSpPr>
          <p:cNvPr id="30" name="Text Box 5">
            <a:extLst>
              <a:ext uri="{FF2B5EF4-FFF2-40B4-BE49-F238E27FC236}">
                <a16:creationId xmlns:a16="http://schemas.microsoft.com/office/drawing/2014/main" xmlns="" id="{DB44D09C-2E78-4225-8740-48D08D3C44C4}"/>
              </a:ext>
            </a:extLst>
          </p:cNvPr>
          <p:cNvSpPr txBox="1">
            <a:spLocks noChangeArrowheads="1"/>
          </p:cNvSpPr>
          <p:nvPr/>
        </p:nvSpPr>
        <p:spPr bwMode="auto">
          <a:xfrm>
            <a:off x="1040972" y="4153853"/>
            <a:ext cx="554400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 hire_date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WHERE hire_date &gt; '01/03/2008'</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31" name="Imagen 30">
            <a:extLst>
              <a:ext uri="{FF2B5EF4-FFF2-40B4-BE49-F238E27FC236}">
                <a16:creationId xmlns:a16="http://schemas.microsoft.com/office/drawing/2014/main" xmlns="" id="{BC599E3B-2689-4182-9BA3-E00E612EAB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7632" y="5303874"/>
            <a:ext cx="1914286" cy="1009524"/>
          </a:xfrm>
          <a:prstGeom prst="rect">
            <a:avLst/>
          </a:prstGeom>
        </p:spPr>
      </p:pic>
    </p:spTree>
    <p:extLst>
      <p:ext uri="{BB962C8B-B14F-4D97-AF65-F5344CB8AC3E}">
        <p14:creationId xmlns:p14="http://schemas.microsoft.com/office/powerpoint/2010/main" val="3573879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3004575" y="3476150"/>
            <a:ext cx="5995800" cy="1583530"/>
          </a:xfrm>
        </p:spPr>
        <p:txBody>
          <a:bodyPr/>
          <a:lstStyle/>
          <a:p>
            <a:r>
              <a:rPr lang="es-ES_tradnl" sz="5000" b="1" dirty="0"/>
              <a:t>Condiciones de Comparación</a:t>
            </a:r>
          </a:p>
        </p:txBody>
      </p:sp>
    </p:spTree>
    <p:extLst>
      <p:ext uri="{BB962C8B-B14F-4D97-AF65-F5344CB8AC3E}">
        <p14:creationId xmlns:p14="http://schemas.microsoft.com/office/powerpoint/2010/main" val="1679846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547159" y="212725"/>
            <a:ext cx="4685691" cy="813000"/>
          </a:xfrm>
        </p:spPr>
        <p:txBody>
          <a:bodyPr/>
          <a:lstStyle/>
          <a:p>
            <a:pPr lvl="0" defTabSz="457200">
              <a:defRPr/>
            </a:pPr>
            <a:r>
              <a:rPr lang="es-CL" sz="2800" b="1" dirty="0">
                <a:solidFill>
                  <a:prstClr val="white"/>
                </a:solidFill>
                <a:latin typeface="Calibri"/>
              </a:rPr>
              <a:t>Condiciones de Comparación</a:t>
            </a:r>
          </a:p>
        </p:txBody>
      </p:sp>
      <p:pic>
        <p:nvPicPr>
          <p:cNvPr id="2" name="Imagen 1">
            <a:extLst>
              <a:ext uri="{FF2B5EF4-FFF2-40B4-BE49-F238E27FC236}">
                <a16:creationId xmlns:a16="http://schemas.microsoft.com/office/drawing/2014/main" xmlns="" id="{31CA4C4C-0E18-42C4-9B79-0AAD904F52D1}"/>
              </a:ext>
            </a:extLst>
          </p:cNvPr>
          <p:cNvPicPr>
            <a:picLocks noChangeAspect="1"/>
          </p:cNvPicPr>
          <p:nvPr/>
        </p:nvPicPr>
        <p:blipFill>
          <a:blip r:embed="rId3"/>
          <a:stretch>
            <a:fillRect/>
          </a:stretch>
        </p:blipFill>
        <p:spPr>
          <a:xfrm>
            <a:off x="207555" y="1200193"/>
            <a:ext cx="8720337" cy="5200607"/>
          </a:xfrm>
          <a:prstGeom prst="rect">
            <a:avLst/>
          </a:prstGeom>
        </p:spPr>
      </p:pic>
    </p:spTree>
    <p:extLst>
      <p:ext uri="{BB962C8B-B14F-4D97-AF65-F5344CB8AC3E}">
        <p14:creationId xmlns:p14="http://schemas.microsoft.com/office/powerpoint/2010/main" val="3828127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2">
            <a:extLst>
              <a:ext uri="{FF2B5EF4-FFF2-40B4-BE49-F238E27FC236}">
                <a16:creationId xmlns:a16="http://schemas.microsoft.com/office/drawing/2014/main" xmlns="" id="{2A1E701C-0BA4-4D27-9132-CDF4F252E78D}"/>
              </a:ext>
            </a:extLst>
          </p:cNvPr>
          <p:cNvSpPr>
            <a:spLocks noGrp="1"/>
          </p:cNvSpPr>
          <p:nvPr>
            <p:ph type="title"/>
          </p:nvPr>
        </p:nvSpPr>
        <p:spPr>
          <a:xfrm>
            <a:off x="1677786" y="212725"/>
            <a:ext cx="4331127" cy="813000"/>
          </a:xfrm>
        </p:spPr>
        <p:txBody>
          <a:bodyPr/>
          <a:lstStyle/>
          <a:p>
            <a:pPr lvl="0" defTabSz="457200">
              <a:defRPr/>
            </a:pPr>
            <a:r>
              <a:rPr lang="es-CL" sz="2800" b="1" dirty="0">
                <a:solidFill>
                  <a:prstClr val="white"/>
                </a:solidFill>
                <a:latin typeface="Calibri"/>
              </a:rPr>
              <a:t>Condición de Comparación: Operador &lt;=</a:t>
            </a:r>
          </a:p>
        </p:txBody>
      </p:sp>
      <p:sp>
        <p:nvSpPr>
          <p:cNvPr id="8" name="Marcador de contenido 1">
            <a:extLst>
              <a:ext uri="{FF2B5EF4-FFF2-40B4-BE49-F238E27FC236}">
                <a16:creationId xmlns:a16="http://schemas.microsoft.com/office/drawing/2014/main" xmlns="" id="{28CF4D0F-B4A2-460D-8A8A-1041E2F7339F}"/>
              </a:ext>
            </a:extLst>
          </p:cNvPr>
          <p:cNvSpPr txBox="1">
            <a:spLocks/>
          </p:cNvSpPr>
          <p:nvPr/>
        </p:nvSpPr>
        <p:spPr>
          <a:xfrm>
            <a:off x="532253" y="1340768"/>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9" name="Text Box 5">
            <a:extLst>
              <a:ext uri="{FF2B5EF4-FFF2-40B4-BE49-F238E27FC236}">
                <a16:creationId xmlns:a16="http://schemas.microsoft.com/office/drawing/2014/main" xmlns="" id="{772885C5-842B-4FC5-8B7E-9A6A8E43FF81}"/>
              </a:ext>
            </a:extLst>
          </p:cNvPr>
          <p:cNvSpPr txBox="1">
            <a:spLocks noChangeArrowheads="1"/>
          </p:cNvSpPr>
          <p:nvPr/>
        </p:nvSpPr>
        <p:spPr bwMode="auto">
          <a:xfrm>
            <a:off x="989762" y="1708483"/>
            <a:ext cx="5832648"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salary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&lt;= 2500</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0" name="Imagen 9">
            <a:extLst>
              <a:ext uri="{FF2B5EF4-FFF2-40B4-BE49-F238E27FC236}">
                <a16:creationId xmlns:a16="http://schemas.microsoft.com/office/drawing/2014/main" xmlns="" id="{7326029B-3638-4391-9D6D-3149FEBB88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9204" y="2857709"/>
            <a:ext cx="2146649" cy="2869976"/>
          </a:xfrm>
          <a:prstGeom prst="rect">
            <a:avLst/>
          </a:prstGeom>
        </p:spPr>
      </p:pic>
    </p:spTree>
    <p:extLst>
      <p:ext uri="{BB962C8B-B14F-4D97-AF65-F5344CB8AC3E}">
        <p14:creationId xmlns:p14="http://schemas.microsoft.com/office/powerpoint/2010/main" val="3943020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2">
            <a:extLst>
              <a:ext uri="{FF2B5EF4-FFF2-40B4-BE49-F238E27FC236}">
                <a16:creationId xmlns:a16="http://schemas.microsoft.com/office/drawing/2014/main" xmlns="" id="{2A1E701C-0BA4-4D27-9132-CDF4F252E78D}"/>
              </a:ext>
            </a:extLst>
          </p:cNvPr>
          <p:cNvSpPr>
            <a:spLocks noGrp="1"/>
          </p:cNvSpPr>
          <p:nvPr>
            <p:ph type="title"/>
          </p:nvPr>
        </p:nvSpPr>
        <p:spPr>
          <a:xfrm>
            <a:off x="1677786" y="212725"/>
            <a:ext cx="4331127" cy="813000"/>
          </a:xfrm>
        </p:spPr>
        <p:txBody>
          <a:bodyPr/>
          <a:lstStyle/>
          <a:p>
            <a:pPr lvl="0" defTabSz="457200">
              <a:defRPr/>
            </a:pPr>
            <a:r>
              <a:rPr lang="es-CL" sz="2800" b="1" dirty="0">
                <a:solidFill>
                  <a:prstClr val="white"/>
                </a:solidFill>
                <a:latin typeface="Calibri"/>
              </a:rPr>
              <a:t>Condición de Comparación: Operador BETWEEN</a:t>
            </a:r>
          </a:p>
        </p:txBody>
      </p:sp>
      <p:sp>
        <p:nvSpPr>
          <p:cNvPr id="17" name="Marcador de contenido 1">
            <a:extLst>
              <a:ext uri="{FF2B5EF4-FFF2-40B4-BE49-F238E27FC236}">
                <a16:creationId xmlns:a16="http://schemas.microsoft.com/office/drawing/2014/main" xmlns="" id="{636BDBE3-E564-42A2-BE01-CCA7C4CD4F44}"/>
              </a:ext>
            </a:extLst>
          </p:cNvPr>
          <p:cNvSpPr txBox="1">
            <a:spLocks/>
          </p:cNvSpPr>
          <p:nvPr/>
        </p:nvSpPr>
        <p:spPr>
          <a:xfrm>
            <a:off x="588236" y="1340768"/>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8" name="Text Box 5">
            <a:extLst>
              <a:ext uri="{FF2B5EF4-FFF2-40B4-BE49-F238E27FC236}">
                <a16:creationId xmlns:a16="http://schemas.microsoft.com/office/drawing/2014/main" xmlns="" id="{6EF83A55-2FFC-43E6-BE51-71860203DB8D}"/>
              </a:ext>
            </a:extLst>
          </p:cNvPr>
          <p:cNvSpPr txBox="1">
            <a:spLocks noChangeArrowheads="1"/>
          </p:cNvSpPr>
          <p:nvPr/>
        </p:nvSpPr>
        <p:spPr bwMode="auto">
          <a:xfrm>
            <a:off x="1040972" y="1700808"/>
            <a:ext cx="583200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salary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BETWEEN </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2500</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AND </a:t>
            </a:r>
            <a:r>
              <a:rPr kumimoji="0" lang="en-US" sz="1600" b="1" i="0" u="none" strike="noStrike" kern="1200" cap="none" spc="0" normalizeH="0" baseline="0" noProof="0" dirty="0">
                <a:ln>
                  <a:noFill/>
                </a:ln>
                <a:solidFill>
                  <a:srgbClr val="7030A0"/>
                </a:solidFill>
                <a:effectLst/>
                <a:uLnTx/>
                <a:uFillTx/>
                <a:latin typeface="Calibri"/>
                <a:ea typeface="+mn-ea"/>
                <a:cs typeface="Arial" charset="0"/>
              </a:rPr>
              <a:t>3500</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19" name="Text Box 7">
            <a:extLst>
              <a:ext uri="{FF2B5EF4-FFF2-40B4-BE49-F238E27FC236}">
                <a16:creationId xmlns:a16="http://schemas.microsoft.com/office/drawing/2014/main" xmlns="" id="{CB3FC923-0553-462B-8EDC-F66F3AB59A91}"/>
              </a:ext>
            </a:extLst>
          </p:cNvPr>
          <p:cNvSpPr txBox="1">
            <a:spLocks noChangeArrowheads="1"/>
          </p:cNvSpPr>
          <p:nvPr/>
        </p:nvSpPr>
        <p:spPr bwMode="auto">
          <a:xfrm>
            <a:off x="2750944" y="2993051"/>
            <a:ext cx="1260000" cy="215444"/>
          </a:xfrm>
          <a:prstGeom prst="rect">
            <a:avLst/>
          </a:prstGeom>
          <a:solidFill>
            <a:srgbClr val="0000FF"/>
          </a:solidFill>
          <a:ln w="12700">
            <a:solidFill>
              <a:sysClr val="windowText" lastClr="000000"/>
            </a:solidFill>
          </a:ln>
        </p:spPr>
        <p:txBody>
          <a:bodyPr wrap="square" lIns="0" tIns="0" rIns="0" bIns="0">
            <a:spAutoFit/>
          </a:bodyPr>
          <a:lstStyle>
            <a:lvl1pPr eaLnBrk="0" hangingPunct="0">
              <a:defRPr sz="2000" b="1">
                <a:solidFill>
                  <a:schemeClr val="tx1"/>
                </a:solidFill>
                <a:latin typeface="Times New Roman" panose="02020603050405020304" pitchFamily="18" charset="0"/>
              </a:defRPr>
            </a:lvl1pPr>
            <a:lvl2pPr marL="742950" indent="-285750" eaLnBrk="0" hangingPunct="0">
              <a:defRPr sz="2000" b="1">
                <a:solidFill>
                  <a:schemeClr val="tx1"/>
                </a:solidFill>
                <a:latin typeface="Times New Roman" panose="02020603050405020304" pitchFamily="18" charset="0"/>
              </a:defRPr>
            </a:lvl2pPr>
            <a:lvl3pPr marL="1143000" indent="-228600" eaLnBrk="0" hangingPunct="0">
              <a:defRPr sz="2000" b="1">
                <a:solidFill>
                  <a:schemeClr val="tx1"/>
                </a:solidFill>
                <a:latin typeface="Times New Roman" panose="02020603050405020304" pitchFamily="18" charset="0"/>
              </a:defRPr>
            </a:lvl3pPr>
            <a:lvl4pPr marL="1600200" indent="-228600" eaLnBrk="0" hangingPunct="0">
              <a:defRPr sz="2000" b="1">
                <a:solidFill>
                  <a:schemeClr val="tx1"/>
                </a:solidFill>
                <a:latin typeface="Times New Roman" panose="02020603050405020304" pitchFamily="18" charset="0"/>
              </a:defRPr>
            </a:lvl4pPr>
            <a:lvl5pPr marL="2057400" indent="-228600" eaLnBrk="0" hangingPunct="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MX" sz="14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rPr>
              <a:t>Límite Inferior</a:t>
            </a:r>
            <a:endParaRPr kumimoji="0" lang="es-ES" sz="14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endParaRPr>
          </a:p>
        </p:txBody>
      </p:sp>
      <p:sp>
        <p:nvSpPr>
          <p:cNvPr id="20" name="Text Box 9">
            <a:extLst>
              <a:ext uri="{FF2B5EF4-FFF2-40B4-BE49-F238E27FC236}">
                <a16:creationId xmlns:a16="http://schemas.microsoft.com/office/drawing/2014/main" xmlns="" id="{30F0C19A-0C32-47EF-8AF6-8D64FD055875}"/>
              </a:ext>
            </a:extLst>
          </p:cNvPr>
          <p:cNvSpPr txBox="1">
            <a:spLocks noChangeArrowheads="1"/>
          </p:cNvSpPr>
          <p:nvPr/>
        </p:nvSpPr>
        <p:spPr bwMode="auto">
          <a:xfrm>
            <a:off x="3674473" y="3303784"/>
            <a:ext cx="1224000" cy="215444"/>
          </a:xfrm>
          <a:prstGeom prst="rect">
            <a:avLst/>
          </a:prstGeom>
          <a:solidFill>
            <a:srgbClr val="7030A0"/>
          </a:solidFill>
          <a:ln w="25400">
            <a:solidFill>
              <a:sysClr val="windowText" lastClr="000000"/>
            </a:solidFill>
          </a:ln>
        </p:spPr>
        <p:txBody>
          <a:bodyPr wrap="square" lIns="0" tIns="0" rIns="0" bIns="0">
            <a:spAutoFit/>
          </a:bodyPr>
          <a:lstStyle>
            <a:lvl1pPr eaLnBrk="0" hangingPunct="0">
              <a:defRPr sz="2000" b="1">
                <a:solidFill>
                  <a:schemeClr val="tx1"/>
                </a:solidFill>
                <a:latin typeface="Times New Roman" panose="02020603050405020304" pitchFamily="18" charset="0"/>
              </a:defRPr>
            </a:lvl1pPr>
            <a:lvl2pPr marL="742950" indent="-285750" eaLnBrk="0" hangingPunct="0">
              <a:defRPr sz="2000" b="1">
                <a:solidFill>
                  <a:schemeClr val="tx1"/>
                </a:solidFill>
                <a:latin typeface="Times New Roman" panose="02020603050405020304" pitchFamily="18" charset="0"/>
              </a:defRPr>
            </a:lvl2pPr>
            <a:lvl3pPr marL="1143000" indent="-228600" eaLnBrk="0" hangingPunct="0">
              <a:defRPr sz="2000" b="1">
                <a:solidFill>
                  <a:schemeClr val="tx1"/>
                </a:solidFill>
                <a:latin typeface="Times New Roman" panose="02020603050405020304" pitchFamily="18" charset="0"/>
              </a:defRPr>
            </a:lvl3pPr>
            <a:lvl4pPr marL="1600200" indent="-228600" eaLnBrk="0" hangingPunct="0">
              <a:defRPr sz="2000" b="1">
                <a:solidFill>
                  <a:schemeClr val="tx1"/>
                </a:solidFill>
                <a:latin typeface="Times New Roman" panose="02020603050405020304" pitchFamily="18" charset="0"/>
              </a:defRPr>
            </a:lvl4pPr>
            <a:lvl5pPr marL="2057400" indent="-228600" eaLnBrk="0" hangingPunct="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MX" sz="14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rPr>
              <a:t>Límite Superior</a:t>
            </a:r>
            <a:endParaRPr kumimoji="0" lang="es-ES" sz="1400" b="1" i="0" u="none" strike="noStrike" kern="1200" cap="none" spc="0" normalizeH="0" baseline="0" noProof="0" dirty="0">
              <a:ln>
                <a:noFill/>
              </a:ln>
              <a:solidFill>
                <a:prstClr val="white"/>
              </a:solidFill>
              <a:effectLst/>
              <a:uLnTx/>
              <a:uFillTx/>
              <a:latin typeface="Calibri"/>
              <a:ea typeface="+mn-ea"/>
              <a:cs typeface="Arial" panose="020B0604020202020204" pitchFamily="34" charset="0"/>
            </a:endParaRPr>
          </a:p>
        </p:txBody>
      </p:sp>
      <p:sp>
        <p:nvSpPr>
          <p:cNvPr id="21" name="Line 16">
            <a:extLst>
              <a:ext uri="{FF2B5EF4-FFF2-40B4-BE49-F238E27FC236}">
                <a16:creationId xmlns:a16="http://schemas.microsoft.com/office/drawing/2014/main" xmlns="" id="{AE52CB01-4474-4C26-A72F-C96E477A9F06}"/>
              </a:ext>
            </a:extLst>
          </p:cNvPr>
          <p:cNvSpPr>
            <a:spLocks noChangeShapeType="1"/>
          </p:cNvSpPr>
          <p:nvPr/>
        </p:nvSpPr>
        <p:spPr bwMode="auto">
          <a:xfrm flipV="1">
            <a:off x="3376660" y="2551457"/>
            <a:ext cx="0" cy="432000"/>
          </a:xfrm>
          <a:prstGeom prst="line">
            <a:avLst/>
          </a:prstGeom>
          <a:noFill/>
          <a:ln w="635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
        <p:nvSpPr>
          <p:cNvPr id="22" name="Line 17">
            <a:extLst>
              <a:ext uri="{FF2B5EF4-FFF2-40B4-BE49-F238E27FC236}">
                <a16:creationId xmlns:a16="http://schemas.microsoft.com/office/drawing/2014/main" xmlns="" id="{9FED0C66-F729-4622-8283-BEB2EA2A3E98}"/>
              </a:ext>
            </a:extLst>
          </p:cNvPr>
          <p:cNvSpPr>
            <a:spLocks noChangeShapeType="1"/>
          </p:cNvSpPr>
          <p:nvPr/>
        </p:nvSpPr>
        <p:spPr bwMode="auto">
          <a:xfrm flipV="1">
            <a:off x="4297079" y="2551457"/>
            <a:ext cx="0" cy="756000"/>
          </a:xfrm>
          <a:prstGeom prst="line">
            <a:avLst/>
          </a:prstGeom>
          <a:noFill/>
          <a:ln w="63500">
            <a:solidFill>
              <a:srgbClr val="7030A0"/>
            </a:solidFill>
            <a:round/>
            <a:headEnd/>
            <a:tailEnd type="triangle" w="med"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pic>
        <p:nvPicPr>
          <p:cNvPr id="23" name="Imagen 22">
            <a:extLst>
              <a:ext uri="{FF2B5EF4-FFF2-40B4-BE49-F238E27FC236}">
                <a16:creationId xmlns:a16="http://schemas.microsoft.com/office/drawing/2014/main" xmlns="" id="{4971BAAA-33C1-454F-AA08-965D04704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6404" y="2831813"/>
            <a:ext cx="1919173" cy="3937925"/>
          </a:xfrm>
          <a:prstGeom prst="rect">
            <a:avLst/>
          </a:prstGeom>
        </p:spPr>
      </p:pic>
    </p:spTree>
    <p:extLst>
      <p:ext uri="{BB962C8B-B14F-4D97-AF65-F5344CB8AC3E}">
        <p14:creationId xmlns:p14="http://schemas.microsoft.com/office/powerpoint/2010/main" val="582187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2">
            <a:extLst>
              <a:ext uri="{FF2B5EF4-FFF2-40B4-BE49-F238E27FC236}">
                <a16:creationId xmlns:a16="http://schemas.microsoft.com/office/drawing/2014/main" xmlns="" id="{2A1E701C-0BA4-4D27-9132-CDF4F252E78D}"/>
              </a:ext>
            </a:extLst>
          </p:cNvPr>
          <p:cNvSpPr>
            <a:spLocks noGrp="1"/>
          </p:cNvSpPr>
          <p:nvPr>
            <p:ph type="title"/>
          </p:nvPr>
        </p:nvSpPr>
        <p:spPr>
          <a:xfrm>
            <a:off x="1677786" y="212725"/>
            <a:ext cx="4331127" cy="813000"/>
          </a:xfrm>
        </p:spPr>
        <p:txBody>
          <a:bodyPr/>
          <a:lstStyle/>
          <a:p>
            <a:pPr lvl="0" defTabSz="457200">
              <a:defRPr/>
            </a:pPr>
            <a:r>
              <a:rPr lang="es-CL" sz="2800" b="1" dirty="0">
                <a:solidFill>
                  <a:prstClr val="white"/>
                </a:solidFill>
                <a:latin typeface="Calibri"/>
              </a:rPr>
              <a:t>Condición de Comparación: Operador IN</a:t>
            </a:r>
          </a:p>
        </p:txBody>
      </p:sp>
      <p:sp>
        <p:nvSpPr>
          <p:cNvPr id="16" name="Marcador de contenido 1">
            <a:extLst>
              <a:ext uri="{FF2B5EF4-FFF2-40B4-BE49-F238E27FC236}">
                <a16:creationId xmlns:a16="http://schemas.microsoft.com/office/drawing/2014/main" xmlns="" id="{713035A1-D5DD-485F-8A9D-E550B8F8BBD8}"/>
              </a:ext>
            </a:extLst>
          </p:cNvPr>
          <p:cNvSpPr txBox="1">
            <a:spLocks/>
          </p:cNvSpPr>
          <p:nvPr/>
        </p:nvSpPr>
        <p:spPr>
          <a:xfrm>
            <a:off x="401626"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4" name="Text Box 5">
            <a:extLst>
              <a:ext uri="{FF2B5EF4-FFF2-40B4-BE49-F238E27FC236}">
                <a16:creationId xmlns:a16="http://schemas.microsoft.com/office/drawing/2014/main" xmlns="" id="{1D9C32B9-9749-4539-B363-C576ADBD5DFE}"/>
              </a:ext>
            </a:extLst>
          </p:cNvPr>
          <p:cNvSpPr txBox="1">
            <a:spLocks noChangeArrowheads="1"/>
          </p:cNvSpPr>
          <p:nvPr/>
        </p:nvSpPr>
        <p:spPr bwMode="auto">
          <a:xfrm>
            <a:off x="426215" y="3573016"/>
            <a:ext cx="4820635"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salary,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manager_id</a:t>
            </a:r>
            <a:endParaRPr kumimoji="0" lang="en-US" sz="1600" b="1"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manager_id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IN(100, 101, 201)</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25" name="Imagen 24">
            <a:extLst>
              <a:ext uri="{FF2B5EF4-FFF2-40B4-BE49-F238E27FC236}">
                <a16:creationId xmlns:a16="http://schemas.microsoft.com/office/drawing/2014/main" xmlns="" id="{623A89C4-E048-48A8-9B54-04D9BDF404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8702" y="3521089"/>
            <a:ext cx="3286001" cy="3220279"/>
          </a:xfrm>
          <a:prstGeom prst="rect">
            <a:avLst/>
          </a:prstGeom>
        </p:spPr>
      </p:pic>
      <p:sp>
        <p:nvSpPr>
          <p:cNvPr id="26" name="Text Box 5">
            <a:extLst>
              <a:ext uri="{FF2B5EF4-FFF2-40B4-BE49-F238E27FC236}">
                <a16:creationId xmlns:a16="http://schemas.microsoft.com/office/drawing/2014/main" xmlns="" id="{F272BC16-978B-44AA-A21E-99230B03C416}"/>
              </a:ext>
            </a:extLst>
          </p:cNvPr>
          <p:cNvSpPr txBox="1">
            <a:spLocks noChangeArrowheads="1"/>
          </p:cNvSpPr>
          <p:nvPr/>
        </p:nvSpPr>
        <p:spPr bwMode="auto">
          <a:xfrm>
            <a:off x="454853" y="1556792"/>
            <a:ext cx="4791997"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employee_id, last_name,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manager_id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last_name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IN('</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Hartstein</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'Vargas')</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27" name="Imagen 26">
            <a:extLst>
              <a:ext uri="{FF2B5EF4-FFF2-40B4-BE49-F238E27FC236}">
                <a16:creationId xmlns:a16="http://schemas.microsoft.com/office/drawing/2014/main" xmlns="" id="{73286363-CAB3-435A-AA7D-117DEDFCB0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6752" y="1625233"/>
            <a:ext cx="3496794" cy="585713"/>
          </a:xfrm>
          <a:prstGeom prst="rect">
            <a:avLst/>
          </a:prstGeom>
        </p:spPr>
      </p:pic>
    </p:spTree>
    <p:extLst>
      <p:ext uri="{BB962C8B-B14F-4D97-AF65-F5344CB8AC3E}">
        <p14:creationId xmlns:p14="http://schemas.microsoft.com/office/powerpoint/2010/main" val="1386193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2">
            <a:extLst>
              <a:ext uri="{FF2B5EF4-FFF2-40B4-BE49-F238E27FC236}">
                <a16:creationId xmlns:a16="http://schemas.microsoft.com/office/drawing/2014/main" xmlns="" id="{2A1E701C-0BA4-4D27-9132-CDF4F252E78D}"/>
              </a:ext>
            </a:extLst>
          </p:cNvPr>
          <p:cNvSpPr>
            <a:spLocks noGrp="1"/>
          </p:cNvSpPr>
          <p:nvPr>
            <p:ph type="title"/>
          </p:nvPr>
        </p:nvSpPr>
        <p:spPr>
          <a:xfrm>
            <a:off x="1677786" y="212725"/>
            <a:ext cx="4331127" cy="813000"/>
          </a:xfrm>
        </p:spPr>
        <p:txBody>
          <a:bodyPr/>
          <a:lstStyle/>
          <a:p>
            <a:pPr lvl="0" defTabSz="457200">
              <a:defRPr/>
            </a:pPr>
            <a:r>
              <a:rPr lang="es-CL" sz="2800" b="1" dirty="0">
                <a:solidFill>
                  <a:prstClr val="white"/>
                </a:solidFill>
                <a:latin typeface="Calibri"/>
              </a:rPr>
              <a:t>Condición de Comparación: Operador LIKE</a:t>
            </a:r>
          </a:p>
        </p:txBody>
      </p:sp>
      <p:sp>
        <p:nvSpPr>
          <p:cNvPr id="11" name="Marcador de contenido 1">
            <a:extLst>
              <a:ext uri="{FF2B5EF4-FFF2-40B4-BE49-F238E27FC236}">
                <a16:creationId xmlns:a16="http://schemas.microsoft.com/office/drawing/2014/main" xmlns="" id="{304D54F5-759E-4860-87EB-45E38DD4503B}"/>
              </a:ext>
            </a:extLst>
          </p:cNvPr>
          <p:cNvSpPr txBox="1">
            <a:spLocks/>
          </p:cNvSpPr>
          <p:nvPr/>
        </p:nvSpPr>
        <p:spPr>
          <a:xfrm>
            <a:off x="646255"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0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3" name="Text Box 5">
            <a:extLst>
              <a:ext uri="{FF2B5EF4-FFF2-40B4-BE49-F238E27FC236}">
                <a16:creationId xmlns:a16="http://schemas.microsoft.com/office/drawing/2014/main" xmlns="" id="{22A96131-353D-447A-B33B-241574E8D080}"/>
              </a:ext>
            </a:extLst>
          </p:cNvPr>
          <p:cNvSpPr txBox="1">
            <a:spLocks noChangeArrowheads="1"/>
          </p:cNvSpPr>
          <p:nvPr/>
        </p:nvSpPr>
        <p:spPr bwMode="auto">
          <a:xfrm>
            <a:off x="1098991" y="1556792"/>
            <a:ext cx="5832648"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first_name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first_name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LIKE 'S%'</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4" name="Imagen 13">
            <a:extLst>
              <a:ext uri="{FF2B5EF4-FFF2-40B4-BE49-F238E27FC236}">
                <a16:creationId xmlns:a16="http://schemas.microsoft.com/office/drawing/2014/main" xmlns="" id="{92027814-9DDC-4515-8A0D-1614E2A3E3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1239" y="2768390"/>
            <a:ext cx="1506503" cy="3264089"/>
          </a:xfrm>
          <a:prstGeom prst="rect">
            <a:avLst/>
          </a:prstGeom>
        </p:spPr>
      </p:pic>
    </p:spTree>
    <p:extLst>
      <p:ext uri="{BB962C8B-B14F-4D97-AF65-F5344CB8AC3E}">
        <p14:creationId xmlns:p14="http://schemas.microsoft.com/office/powerpoint/2010/main" val="4285477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2">
            <a:extLst>
              <a:ext uri="{FF2B5EF4-FFF2-40B4-BE49-F238E27FC236}">
                <a16:creationId xmlns:a16="http://schemas.microsoft.com/office/drawing/2014/main" xmlns="" id="{2A1E701C-0BA4-4D27-9132-CDF4F252E78D}"/>
              </a:ext>
            </a:extLst>
          </p:cNvPr>
          <p:cNvSpPr>
            <a:spLocks noGrp="1"/>
          </p:cNvSpPr>
          <p:nvPr>
            <p:ph type="title"/>
          </p:nvPr>
        </p:nvSpPr>
        <p:spPr>
          <a:xfrm>
            <a:off x="1677786" y="212725"/>
            <a:ext cx="4331127" cy="813000"/>
          </a:xfrm>
        </p:spPr>
        <p:txBody>
          <a:bodyPr/>
          <a:lstStyle/>
          <a:p>
            <a:pPr lvl="0" defTabSz="457200">
              <a:defRPr/>
            </a:pPr>
            <a:r>
              <a:rPr lang="es-CL" sz="2800" b="1" dirty="0">
                <a:solidFill>
                  <a:prstClr val="white"/>
                </a:solidFill>
                <a:latin typeface="Calibri"/>
              </a:rPr>
              <a:t>Condición de Comparación: Operador LIKE</a:t>
            </a:r>
          </a:p>
        </p:txBody>
      </p:sp>
      <p:sp>
        <p:nvSpPr>
          <p:cNvPr id="15" name="Marcador de contenido 1">
            <a:extLst>
              <a:ext uri="{FF2B5EF4-FFF2-40B4-BE49-F238E27FC236}">
                <a16:creationId xmlns:a16="http://schemas.microsoft.com/office/drawing/2014/main" xmlns="" id="{B28DEF55-25A7-4815-AF0A-EC1631AC46DE}"/>
              </a:ext>
            </a:extLst>
          </p:cNvPr>
          <p:cNvSpPr txBox="1">
            <a:spLocks/>
          </p:cNvSpPr>
          <p:nvPr/>
        </p:nvSpPr>
        <p:spPr>
          <a:xfrm>
            <a:off x="529880"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8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0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6" name="Text Box 5">
            <a:extLst>
              <a:ext uri="{FF2B5EF4-FFF2-40B4-BE49-F238E27FC236}">
                <a16:creationId xmlns:a16="http://schemas.microsoft.com/office/drawing/2014/main" xmlns="" id="{D8D8CC63-53A0-4A7D-9FB8-9F95F17C22F5}"/>
              </a:ext>
            </a:extLst>
          </p:cNvPr>
          <p:cNvSpPr txBox="1">
            <a:spLocks noChangeArrowheads="1"/>
          </p:cNvSpPr>
          <p:nvPr/>
        </p:nvSpPr>
        <p:spPr bwMode="auto">
          <a:xfrm>
            <a:off x="977843" y="1588459"/>
            <a:ext cx="504056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 hire_date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hire_date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LIKE '%03'</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17" name="Text Box 5">
            <a:extLst>
              <a:ext uri="{FF2B5EF4-FFF2-40B4-BE49-F238E27FC236}">
                <a16:creationId xmlns:a16="http://schemas.microsoft.com/office/drawing/2014/main" xmlns="" id="{5EA78F81-2CC8-48DD-8AA2-B66C7C69FEB8}"/>
              </a:ext>
            </a:extLst>
          </p:cNvPr>
          <p:cNvSpPr txBox="1">
            <a:spLocks noChangeArrowheads="1"/>
          </p:cNvSpPr>
          <p:nvPr/>
        </p:nvSpPr>
        <p:spPr bwMode="auto">
          <a:xfrm>
            <a:off x="964396" y="3562471"/>
            <a:ext cx="504056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LIKE '_o%'</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8" name="Imagen 17">
            <a:extLst>
              <a:ext uri="{FF2B5EF4-FFF2-40B4-BE49-F238E27FC236}">
                <a16:creationId xmlns:a16="http://schemas.microsoft.com/office/drawing/2014/main" xmlns="" id="{C0C20856-3DD3-4358-87C0-5A2674F8AB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9311" y="3549024"/>
            <a:ext cx="1440160" cy="3028907"/>
          </a:xfrm>
          <a:prstGeom prst="rect">
            <a:avLst/>
          </a:prstGeom>
        </p:spPr>
      </p:pic>
      <p:pic>
        <p:nvPicPr>
          <p:cNvPr id="19" name="Imagen 18">
            <a:extLst>
              <a:ext uri="{FF2B5EF4-FFF2-40B4-BE49-F238E27FC236}">
                <a16:creationId xmlns:a16="http://schemas.microsoft.com/office/drawing/2014/main" xmlns="" id="{996804E9-A969-4D23-8049-6F12517984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9311" y="1575156"/>
            <a:ext cx="2174145" cy="1584176"/>
          </a:xfrm>
          <a:prstGeom prst="rect">
            <a:avLst/>
          </a:prstGeom>
        </p:spPr>
      </p:pic>
    </p:spTree>
    <p:extLst>
      <p:ext uri="{BB962C8B-B14F-4D97-AF65-F5344CB8AC3E}">
        <p14:creationId xmlns:p14="http://schemas.microsoft.com/office/powerpoint/2010/main" val="844910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2">
            <a:extLst>
              <a:ext uri="{FF2B5EF4-FFF2-40B4-BE49-F238E27FC236}">
                <a16:creationId xmlns:a16="http://schemas.microsoft.com/office/drawing/2014/main" xmlns="" id="{2A1E701C-0BA4-4D27-9132-CDF4F252E78D}"/>
              </a:ext>
            </a:extLst>
          </p:cNvPr>
          <p:cNvSpPr>
            <a:spLocks noGrp="1"/>
          </p:cNvSpPr>
          <p:nvPr>
            <p:ph type="title"/>
          </p:nvPr>
        </p:nvSpPr>
        <p:spPr>
          <a:xfrm>
            <a:off x="1677786" y="212725"/>
            <a:ext cx="4331127" cy="813000"/>
          </a:xfrm>
        </p:spPr>
        <p:txBody>
          <a:bodyPr/>
          <a:lstStyle/>
          <a:p>
            <a:pPr lvl="0" defTabSz="457200">
              <a:defRPr/>
            </a:pPr>
            <a:r>
              <a:rPr lang="es-CL" sz="2800" b="1" dirty="0">
                <a:solidFill>
                  <a:prstClr val="white"/>
                </a:solidFill>
                <a:latin typeface="Calibri"/>
              </a:rPr>
              <a:t>Condición de Comparación: Operador NULL</a:t>
            </a:r>
          </a:p>
        </p:txBody>
      </p:sp>
      <p:sp>
        <p:nvSpPr>
          <p:cNvPr id="14" name="Marcador de contenido 1">
            <a:extLst>
              <a:ext uri="{FF2B5EF4-FFF2-40B4-BE49-F238E27FC236}">
                <a16:creationId xmlns:a16="http://schemas.microsoft.com/office/drawing/2014/main" xmlns="" id="{14B469BD-C635-447A-A57A-9B344B42A403}"/>
              </a:ext>
            </a:extLst>
          </p:cNvPr>
          <p:cNvSpPr txBox="1">
            <a:spLocks/>
          </p:cNvSpPr>
          <p:nvPr/>
        </p:nvSpPr>
        <p:spPr>
          <a:xfrm>
            <a:off x="346997"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8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0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0" name="Text Box 5">
            <a:extLst>
              <a:ext uri="{FF2B5EF4-FFF2-40B4-BE49-F238E27FC236}">
                <a16:creationId xmlns:a16="http://schemas.microsoft.com/office/drawing/2014/main" xmlns="" id="{8E7AFE2B-E318-4611-B4B2-ACC6A2F5C3C1}"/>
              </a:ext>
            </a:extLst>
          </p:cNvPr>
          <p:cNvSpPr txBox="1">
            <a:spLocks noChangeArrowheads="1"/>
          </p:cNvSpPr>
          <p:nvPr/>
        </p:nvSpPr>
        <p:spPr bwMode="auto">
          <a:xfrm>
            <a:off x="814991" y="1556792"/>
            <a:ext cx="4881286"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 manager_id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manager_id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IS NULL</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21" name="Text Box 5">
            <a:extLst>
              <a:ext uri="{FF2B5EF4-FFF2-40B4-BE49-F238E27FC236}">
                <a16:creationId xmlns:a16="http://schemas.microsoft.com/office/drawing/2014/main" xmlns="" id="{30F55EC3-4A54-4903-B4AC-D5639D6C2508}"/>
              </a:ext>
            </a:extLst>
          </p:cNvPr>
          <p:cNvSpPr txBox="1">
            <a:spLocks noChangeArrowheads="1"/>
          </p:cNvSpPr>
          <p:nvPr/>
        </p:nvSpPr>
        <p:spPr bwMode="auto">
          <a:xfrm>
            <a:off x="814990" y="3573016"/>
            <a:ext cx="4881287"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 job_id, commission_pct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commission_pct</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IS NOT NULL</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endParaRPr kumimoji="0" lang="en-US" sz="1600" b="1" i="0" u="none" strike="noStrike" kern="1200" cap="none" spc="0" normalizeH="0" baseline="0" noProof="0" dirty="0">
              <a:ln>
                <a:noFill/>
              </a:ln>
              <a:solidFill>
                <a:srgbClr val="FF0000"/>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22" name="Imagen 21">
            <a:extLst>
              <a:ext uri="{FF2B5EF4-FFF2-40B4-BE49-F238E27FC236}">
                <a16:creationId xmlns:a16="http://schemas.microsoft.com/office/drawing/2014/main" xmlns="" id="{DC62BA6F-0C7D-48C8-BE28-35503E429C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4308" y="1809814"/>
            <a:ext cx="1872209" cy="504487"/>
          </a:xfrm>
          <a:prstGeom prst="rect">
            <a:avLst/>
          </a:prstGeom>
        </p:spPr>
      </p:pic>
      <p:pic>
        <p:nvPicPr>
          <p:cNvPr id="23" name="Imagen 22">
            <a:extLst>
              <a:ext uri="{FF2B5EF4-FFF2-40B4-BE49-F238E27FC236}">
                <a16:creationId xmlns:a16="http://schemas.microsoft.com/office/drawing/2014/main" xmlns="" id="{0E121532-717B-42DD-9C2E-AA7BDE77B5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6277" y="3501008"/>
            <a:ext cx="3049420" cy="3012679"/>
          </a:xfrm>
          <a:prstGeom prst="rect">
            <a:avLst/>
          </a:prstGeom>
        </p:spPr>
      </p:pic>
    </p:spTree>
    <p:extLst>
      <p:ext uri="{BB962C8B-B14F-4D97-AF65-F5344CB8AC3E}">
        <p14:creationId xmlns:p14="http://schemas.microsoft.com/office/powerpoint/2010/main" val="2935138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2556587" y="3055648"/>
            <a:ext cx="6499771" cy="1566228"/>
          </a:xfrm>
        </p:spPr>
        <p:txBody>
          <a:bodyPr/>
          <a:lstStyle/>
          <a:p>
            <a:r>
              <a:rPr lang="es-ES_tradnl" sz="5000" b="1" dirty="0"/>
              <a:t>Operadores </a:t>
            </a:r>
            <a:br>
              <a:rPr lang="es-ES_tradnl" sz="5000" b="1" dirty="0"/>
            </a:br>
            <a:r>
              <a:rPr lang="es-ES_tradnl" sz="5000" b="1" dirty="0"/>
              <a:t>Lógicos</a:t>
            </a:r>
          </a:p>
        </p:txBody>
      </p:sp>
    </p:spTree>
    <p:extLst>
      <p:ext uri="{BB962C8B-B14F-4D97-AF65-F5344CB8AC3E}">
        <p14:creationId xmlns:p14="http://schemas.microsoft.com/office/powerpoint/2010/main" val="3726567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Usando Operadores Lógicos</a:t>
            </a:r>
          </a:p>
        </p:txBody>
      </p:sp>
      <p:sp>
        <p:nvSpPr>
          <p:cNvPr id="9" name="Marcador de contenido 1">
            <a:extLst>
              <a:ext uri="{FF2B5EF4-FFF2-40B4-BE49-F238E27FC236}">
                <a16:creationId xmlns:a16="http://schemas.microsoft.com/office/drawing/2014/main" xmlns="" id="{65051CFA-5B31-4C0D-B9A9-3031C7D23195}"/>
              </a:ext>
            </a:extLst>
          </p:cNvPr>
          <p:cNvSpPr txBox="1">
            <a:spLocks/>
          </p:cNvSpPr>
          <p:nvPr/>
        </p:nvSpPr>
        <p:spPr>
          <a:xfrm>
            <a:off x="457200" y="1495325"/>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lnSpc>
                <a:spcPct val="80000"/>
              </a:lnSpc>
              <a:buClrTx/>
              <a:buFont typeface="Arial"/>
              <a:buNone/>
            </a:pPr>
            <a:endParaRPr lang="es-CL">
              <a:ea typeface="Arial Unicode MS" pitchFamily="34" charset="-128"/>
              <a:cs typeface="Times New Roman" pitchFamily="18" charset="0"/>
            </a:endParaRPr>
          </a:p>
          <a:p>
            <a:pPr algn="just">
              <a:lnSpc>
                <a:spcPct val="80000"/>
              </a:lnSpc>
              <a:buClrTx/>
            </a:pPr>
            <a:endParaRPr lang="es-CL">
              <a:ea typeface="Arial Unicode MS" pitchFamily="34" charset="-128"/>
              <a:cs typeface="Times New Roman" pitchFamily="18" charset="0"/>
            </a:endParaRPr>
          </a:p>
          <a:p>
            <a:pPr algn="just">
              <a:lnSpc>
                <a:spcPct val="80000"/>
              </a:lnSpc>
              <a:buClrTx/>
            </a:pPr>
            <a:endParaRPr lang="es-CL">
              <a:ea typeface="Arial Unicode MS" pitchFamily="34" charset="-128"/>
              <a:cs typeface="Times New Roman" pitchFamily="18" charset="0"/>
            </a:endParaRPr>
          </a:p>
          <a:p>
            <a:pPr algn="just">
              <a:lnSpc>
                <a:spcPct val="80000"/>
              </a:lnSpc>
              <a:buClrTx/>
            </a:pPr>
            <a:endParaRPr lang="es-CL">
              <a:ea typeface="Arial Unicode MS" pitchFamily="34" charset="-128"/>
              <a:cs typeface="Times New Roman" pitchFamily="18" charset="0"/>
            </a:endParaRPr>
          </a:p>
          <a:p>
            <a:pPr algn="just">
              <a:lnSpc>
                <a:spcPct val="80000"/>
              </a:lnSpc>
              <a:buClrTx/>
            </a:pPr>
            <a:endParaRPr lang="es-CL" sz="2000">
              <a:ea typeface="Arial Unicode MS" pitchFamily="34" charset="-128"/>
              <a:cs typeface="Times New Roman" pitchFamily="18" charset="0"/>
            </a:endParaRPr>
          </a:p>
          <a:p>
            <a:pPr algn="just">
              <a:lnSpc>
                <a:spcPct val="80000"/>
              </a:lnSpc>
              <a:buClrTx/>
            </a:pPr>
            <a:r>
              <a:rPr lang="es-CL" sz="2000">
                <a:ea typeface="Arial Unicode MS" pitchFamily="34" charset="-128"/>
                <a:cs typeface="Times New Roman" pitchFamily="18" charset="0"/>
              </a:rPr>
              <a:t>Los operadores que se pueden utilizar en una sentencia SQL son:</a:t>
            </a:r>
            <a:endParaRPr lang="es-CL" sz="2000" dirty="0">
              <a:ea typeface="Arial Unicode MS" pitchFamily="34" charset="-128"/>
              <a:cs typeface="Times New Roman" pitchFamily="18" charset="0"/>
            </a:endParaRPr>
          </a:p>
        </p:txBody>
      </p:sp>
      <p:sp>
        <p:nvSpPr>
          <p:cNvPr id="10" name="Rectángulo redondeado 4">
            <a:extLst>
              <a:ext uri="{FF2B5EF4-FFF2-40B4-BE49-F238E27FC236}">
                <a16:creationId xmlns:a16="http://schemas.microsoft.com/office/drawing/2014/main" xmlns="" id="{51138DE4-AA8D-48BF-814A-059FAF843F9D}"/>
              </a:ext>
            </a:extLst>
          </p:cNvPr>
          <p:cNvSpPr/>
          <p:nvPr/>
        </p:nvSpPr>
        <p:spPr>
          <a:xfrm>
            <a:off x="5148320" y="1268760"/>
            <a:ext cx="2268000" cy="2232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Para poder definir más de una condición en una sentencia SQL se deben usar Operadores Lógicos</a:t>
            </a:r>
          </a:p>
        </p:txBody>
      </p:sp>
      <p:sp>
        <p:nvSpPr>
          <p:cNvPr id="11" name="Rectángulo redondeado 4">
            <a:extLst>
              <a:ext uri="{FF2B5EF4-FFF2-40B4-BE49-F238E27FC236}">
                <a16:creationId xmlns:a16="http://schemas.microsoft.com/office/drawing/2014/main" xmlns="" id="{93F7C80D-8161-4161-82EA-BD9B218155DB}"/>
              </a:ext>
            </a:extLst>
          </p:cNvPr>
          <p:cNvSpPr/>
          <p:nvPr/>
        </p:nvSpPr>
        <p:spPr>
          <a:xfrm>
            <a:off x="1619928" y="1268760"/>
            <a:ext cx="2268000" cy="2232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Una sentencia SQL puede requerir más de una condición para visualizar o actualizar información de las tablas</a:t>
            </a:r>
          </a:p>
        </p:txBody>
      </p:sp>
      <p:graphicFrame>
        <p:nvGraphicFramePr>
          <p:cNvPr id="12" name="Tabla 11">
            <a:extLst>
              <a:ext uri="{FF2B5EF4-FFF2-40B4-BE49-F238E27FC236}">
                <a16:creationId xmlns:a16="http://schemas.microsoft.com/office/drawing/2014/main" xmlns="" id="{8779CDE0-C78A-476E-ABA5-BDEF6D056AF4}"/>
              </a:ext>
            </a:extLst>
          </p:cNvPr>
          <p:cNvGraphicFramePr>
            <a:graphicFrameLocks noGrp="1"/>
          </p:cNvGraphicFramePr>
          <p:nvPr>
            <p:extLst>
              <p:ext uri="{D42A27DB-BD31-4B8C-83A1-F6EECF244321}">
                <p14:modId xmlns:p14="http://schemas.microsoft.com/office/powerpoint/2010/main" val="1373038447"/>
              </p:ext>
            </p:extLst>
          </p:nvPr>
        </p:nvGraphicFramePr>
        <p:xfrm>
          <a:off x="899591" y="4023284"/>
          <a:ext cx="7416825" cy="2430051"/>
        </p:xfrm>
        <a:graphic>
          <a:graphicData uri="http://schemas.openxmlformats.org/drawingml/2006/table">
            <a:tbl>
              <a:tblPr firstRow="1" bandRow="1">
                <a:effectLst>
                  <a:outerShdw blurRad="50800" dist="38100" algn="l" rotWithShape="0">
                    <a:prstClr val="black">
                      <a:alpha val="40000"/>
                    </a:prstClr>
                  </a:outerShdw>
                </a:effectLst>
              </a:tblPr>
              <a:tblGrid>
                <a:gridCol w="2657696">
                  <a:extLst>
                    <a:ext uri="{9D8B030D-6E8A-4147-A177-3AD203B41FA5}">
                      <a16:colId xmlns:a16="http://schemas.microsoft.com/office/drawing/2014/main" xmlns="" val="20000"/>
                    </a:ext>
                  </a:extLst>
                </a:gridCol>
                <a:gridCol w="4759129">
                  <a:extLst>
                    <a:ext uri="{9D8B030D-6E8A-4147-A177-3AD203B41FA5}">
                      <a16:colId xmlns:a16="http://schemas.microsoft.com/office/drawing/2014/main" xmlns="" val="20001"/>
                    </a:ext>
                  </a:extLst>
                </a:gridCol>
              </a:tblGrid>
              <a:tr h="54647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1" i="0" u="none" strike="noStrike" cap="none" normalizeH="0" baseline="0" dirty="0">
                          <a:ln>
                            <a:noFill/>
                          </a:ln>
                          <a:solidFill>
                            <a:schemeClr val="bg1"/>
                          </a:solidFill>
                          <a:effectLst/>
                          <a:latin typeface="+mn-lt"/>
                        </a:rPr>
                        <a:t>OPERADOR</a:t>
                      </a:r>
                      <a:endParaRPr kumimoji="0" lang="es-ES" sz="1800" b="1"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AD5207"/>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1" i="0" u="none" strike="noStrike" cap="none" normalizeH="0" baseline="0" dirty="0">
                          <a:ln>
                            <a:noFill/>
                          </a:ln>
                          <a:solidFill>
                            <a:schemeClr val="bg1"/>
                          </a:solidFill>
                          <a:effectLst/>
                          <a:latin typeface="+mn-lt"/>
                        </a:rPr>
                        <a:t>DESCRIPCIÓN</a:t>
                      </a:r>
                      <a:endParaRPr kumimoji="0" lang="es-ES" sz="1800" b="1"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AD5207"/>
                    </a:solidFill>
                  </a:tcPr>
                </a:tc>
                <a:extLst>
                  <a:ext uri="{0D108BD9-81ED-4DB2-BD59-A6C34878D82A}">
                    <a16:rowId xmlns:a16="http://schemas.microsoft.com/office/drawing/2014/main" xmlns="" val="10000"/>
                  </a:ext>
                </a:extLst>
              </a:tr>
              <a:tr h="627858">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600" b="1" i="0" u="none" strike="noStrike" cap="none" normalizeH="0" baseline="0" dirty="0">
                          <a:ln>
                            <a:noFill/>
                          </a:ln>
                          <a:solidFill>
                            <a:schemeClr val="bg1"/>
                          </a:solidFill>
                          <a:effectLst/>
                          <a:latin typeface="+mn-lt"/>
                        </a:rPr>
                        <a:t>AND</a:t>
                      </a:r>
                      <a:endParaRPr kumimoji="0" lang="es-ES" sz="1600" b="1"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600" b="0" i="0" u="none" strike="noStrike" cap="none" normalizeH="0" baseline="0" dirty="0">
                          <a:ln>
                            <a:noFill/>
                          </a:ln>
                          <a:solidFill>
                            <a:schemeClr val="bg1"/>
                          </a:solidFill>
                          <a:effectLst/>
                          <a:latin typeface="+mn-lt"/>
                        </a:rPr>
                        <a:t>Retorna verdadero si todos los componentes de la condición son verdaderas.</a:t>
                      </a:r>
                      <a:endParaRPr kumimoji="0" lang="es-ES" sz="1600" b="0"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extLst>
                  <a:ext uri="{0D108BD9-81ED-4DB2-BD59-A6C34878D82A}">
                    <a16:rowId xmlns:a16="http://schemas.microsoft.com/office/drawing/2014/main" xmlns="" val="10001"/>
                  </a:ext>
                </a:extLst>
              </a:tr>
              <a:tr h="627858">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600" b="1" i="0" u="none" strike="noStrike" cap="none" normalizeH="0" baseline="0" dirty="0">
                          <a:ln>
                            <a:noFill/>
                          </a:ln>
                          <a:solidFill>
                            <a:schemeClr val="bg1"/>
                          </a:solidFill>
                          <a:effectLst/>
                          <a:latin typeface="+mn-lt"/>
                        </a:rPr>
                        <a:t>OR</a:t>
                      </a:r>
                      <a:endParaRPr kumimoji="0" lang="es-ES" sz="1600" b="1"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600" b="0" i="0" u="none" strike="noStrike" cap="none" normalizeH="0" baseline="0" dirty="0">
                          <a:ln>
                            <a:noFill/>
                          </a:ln>
                          <a:solidFill>
                            <a:schemeClr val="bg1"/>
                          </a:solidFill>
                          <a:effectLst/>
                          <a:latin typeface="+mn-lt"/>
                        </a:rPr>
                        <a:t>Retorna verdadero si alguna de las expresiones de la condición son verdaderas.</a:t>
                      </a:r>
                      <a:endParaRPr kumimoji="0" lang="es-ES" sz="1600" b="0"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extLst>
                  <a:ext uri="{0D108BD9-81ED-4DB2-BD59-A6C34878D82A}">
                    <a16:rowId xmlns:a16="http://schemas.microsoft.com/office/drawing/2014/main" xmlns="" val="10002"/>
                  </a:ext>
                </a:extLst>
              </a:tr>
              <a:tr h="627858">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600" b="1" i="0" u="none" strike="noStrike" cap="none" normalizeH="0" baseline="0" dirty="0">
                          <a:ln>
                            <a:noFill/>
                          </a:ln>
                          <a:solidFill>
                            <a:schemeClr val="bg1"/>
                          </a:solidFill>
                          <a:effectLst/>
                          <a:latin typeface="+mn-lt"/>
                        </a:rPr>
                        <a:t>NOT</a:t>
                      </a:r>
                      <a:endParaRPr kumimoji="0" lang="es-ES" sz="1600" b="1"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600" b="0" i="0" u="none" strike="noStrike" cap="none" normalizeH="0" baseline="0" dirty="0">
                          <a:ln>
                            <a:noFill/>
                          </a:ln>
                          <a:solidFill>
                            <a:schemeClr val="bg1"/>
                          </a:solidFill>
                          <a:effectLst/>
                          <a:latin typeface="+mn-lt"/>
                        </a:rPr>
                        <a:t>Retorna verdadero si la condición es falsa. </a:t>
                      </a:r>
                      <a:endParaRPr kumimoji="0" lang="es-ES" sz="1600" b="0"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3955520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37146" y="212725"/>
            <a:ext cx="4431145" cy="813000"/>
          </a:xfrm>
        </p:spPr>
        <p:txBody>
          <a:bodyPr/>
          <a:lstStyle/>
          <a:p>
            <a:pPr lvl="0" defTabSz="457200">
              <a:defRPr/>
            </a:pPr>
            <a:r>
              <a:rPr lang="es-CL" sz="2800" b="1" dirty="0">
                <a:solidFill>
                  <a:prstClr val="white"/>
                </a:solidFill>
                <a:latin typeface="Calibri"/>
              </a:rPr>
              <a:t>Usando Operador Lógico </a:t>
            </a:r>
            <a:br>
              <a:rPr lang="es-CL" sz="2800" b="1" dirty="0">
                <a:solidFill>
                  <a:prstClr val="white"/>
                </a:solidFill>
                <a:latin typeface="Calibri"/>
              </a:rPr>
            </a:br>
            <a:r>
              <a:rPr lang="es-CL" sz="2800" b="1" dirty="0">
                <a:solidFill>
                  <a:prstClr val="white"/>
                </a:solidFill>
                <a:latin typeface="Calibri"/>
              </a:rPr>
              <a:t>AND</a:t>
            </a:r>
          </a:p>
        </p:txBody>
      </p:sp>
      <p:sp>
        <p:nvSpPr>
          <p:cNvPr id="15" name="Marcador de contenido 1">
            <a:extLst>
              <a:ext uri="{FF2B5EF4-FFF2-40B4-BE49-F238E27FC236}">
                <a16:creationId xmlns:a16="http://schemas.microsoft.com/office/drawing/2014/main" xmlns="" id="{470D4582-CAF1-4C41-BD9F-0B51CB579A4C}"/>
              </a:ext>
            </a:extLst>
          </p:cNvPr>
          <p:cNvSpPr txBox="1">
            <a:spLocks/>
          </p:cNvSpPr>
          <p:nvPr/>
        </p:nvSpPr>
        <p:spPr>
          <a:xfrm>
            <a:off x="69613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16" name="Text Box 5">
            <a:extLst>
              <a:ext uri="{FF2B5EF4-FFF2-40B4-BE49-F238E27FC236}">
                <a16:creationId xmlns:a16="http://schemas.microsoft.com/office/drawing/2014/main" xmlns="" id="{B3482574-7D62-4434-8A9D-E37CC75B7B5E}"/>
              </a:ext>
            </a:extLst>
          </p:cNvPr>
          <p:cNvSpPr txBox="1">
            <a:spLocks noChangeArrowheads="1"/>
          </p:cNvSpPr>
          <p:nvPr/>
        </p:nvSpPr>
        <p:spPr bwMode="auto">
          <a:xfrm>
            <a:off x="1148866" y="1700808"/>
            <a:ext cx="5832648"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employee_id, last_name, job_id,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WHERE salary &gt;= 10000</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AND job_id LIKE '%MAN%'</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7" name="Imagen 16">
            <a:extLst>
              <a:ext uri="{FF2B5EF4-FFF2-40B4-BE49-F238E27FC236}">
                <a16:creationId xmlns:a16="http://schemas.microsoft.com/office/drawing/2014/main" xmlns="" id="{2D82433F-150B-4B4D-A4AD-23EA036E3F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8986" y="3293237"/>
            <a:ext cx="3551114" cy="1791947"/>
          </a:xfrm>
          <a:prstGeom prst="rect">
            <a:avLst/>
          </a:prstGeom>
        </p:spPr>
      </p:pic>
      <p:pic>
        <p:nvPicPr>
          <p:cNvPr id="18" name="Imagen 17">
            <a:extLst>
              <a:ext uri="{FF2B5EF4-FFF2-40B4-BE49-F238E27FC236}">
                <a16:creationId xmlns:a16="http://schemas.microsoft.com/office/drawing/2014/main" xmlns="" id="{146B48AB-6F63-4D5A-B519-018390DCF746}"/>
              </a:ext>
            </a:extLst>
          </p:cNvPr>
          <p:cNvPicPr>
            <a:picLocks noChangeAspect="1"/>
          </p:cNvPicPr>
          <p:nvPr/>
        </p:nvPicPr>
        <p:blipFill>
          <a:blip r:embed="rId4"/>
          <a:stretch>
            <a:fillRect/>
          </a:stretch>
        </p:blipFill>
        <p:spPr>
          <a:xfrm>
            <a:off x="4492901" y="3298432"/>
            <a:ext cx="1300646" cy="1800200"/>
          </a:xfrm>
          <a:prstGeom prst="rect">
            <a:avLst/>
          </a:prstGeom>
          <a:effectLst/>
        </p:spPr>
      </p:pic>
    </p:spTree>
    <p:extLst>
      <p:ext uri="{BB962C8B-B14F-4D97-AF65-F5344CB8AC3E}">
        <p14:creationId xmlns:p14="http://schemas.microsoft.com/office/powerpoint/2010/main" val="3858924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37146" y="212725"/>
            <a:ext cx="4431145" cy="813000"/>
          </a:xfrm>
        </p:spPr>
        <p:txBody>
          <a:bodyPr/>
          <a:lstStyle/>
          <a:p>
            <a:pPr lvl="0" defTabSz="457200">
              <a:defRPr/>
            </a:pPr>
            <a:r>
              <a:rPr lang="es-CL" sz="2800" b="1" dirty="0">
                <a:solidFill>
                  <a:prstClr val="white"/>
                </a:solidFill>
                <a:latin typeface="Calibri"/>
              </a:rPr>
              <a:t>Usando Operador Lógico </a:t>
            </a:r>
            <a:br>
              <a:rPr lang="es-CL" sz="2800" b="1" dirty="0">
                <a:solidFill>
                  <a:prstClr val="white"/>
                </a:solidFill>
                <a:latin typeface="Calibri"/>
              </a:rPr>
            </a:br>
            <a:r>
              <a:rPr lang="es-CL" sz="2800" b="1" dirty="0">
                <a:solidFill>
                  <a:prstClr val="white"/>
                </a:solidFill>
                <a:latin typeface="Calibri"/>
              </a:rPr>
              <a:t>OR</a:t>
            </a:r>
          </a:p>
        </p:txBody>
      </p:sp>
      <p:sp>
        <p:nvSpPr>
          <p:cNvPr id="12" name="Marcador de contenido 1">
            <a:extLst>
              <a:ext uri="{FF2B5EF4-FFF2-40B4-BE49-F238E27FC236}">
                <a16:creationId xmlns:a16="http://schemas.microsoft.com/office/drawing/2014/main" xmlns="" id="{D1F24A99-D118-430E-8D97-CF21AB749DE5}"/>
              </a:ext>
            </a:extLst>
          </p:cNvPr>
          <p:cNvSpPr txBox="1">
            <a:spLocks/>
          </p:cNvSpPr>
          <p:nvPr/>
        </p:nvSpPr>
        <p:spPr>
          <a:xfrm>
            <a:off x="662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13" name="Text Box 5">
            <a:extLst>
              <a:ext uri="{FF2B5EF4-FFF2-40B4-BE49-F238E27FC236}">
                <a16:creationId xmlns:a16="http://schemas.microsoft.com/office/drawing/2014/main" xmlns="" id="{F2B4F758-A68D-42A1-B6D9-0059351DCC33}"/>
              </a:ext>
            </a:extLst>
          </p:cNvPr>
          <p:cNvSpPr txBox="1">
            <a:spLocks noChangeArrowheads="1"/>
          </p:cNvSpPr>
          <p:nvPr/>
        </p:nvSpPr>
        <p:spPr bwMode="auto">
          <a:xfrm>
            <a:off x="1043608" y="1660066"/>
            <a:ext cx="5832000"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employee_id, salary, hire_date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WHERE salary &gt;= 17000</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OR hire_date &gt; '01/01/2008'</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4" name="Imagen 13">
            <a:extLst>
              <a:ext uri="{FF2B5EF4-FFF2-40B4-BE49-F238E27FC236}">
                <a16:creationId xmlns:a16="http://schemas.microsoft.com/office/drawing/2014/main" xmlns="" id="{45EAC533-612D-4289-846E-166F164BD0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7593" y="3048726"/>
            <a:ext cx="2878503" cy="3275908"/>
          </a:xfrm>
          <a:prstGeom prst="rect">
            <a:avLst/>
          </a:prstGeom>
        </p:spPr>
      </p:pic>
      <p:sp>
        <p:nvSpPr>
          <p:cNvPr id="19" name="Rectángulo 18">
            <a:extLst>
              <a:ext uri="{FF2B5EF4-FFF2-40B4-BE49-F238E27FC236}">
                <a16:creationId xmlns:a16="http://schemas.microsoft.com/office/drawing/2014/main" xmlns="" id="{24C338B3-5C4D-4151-9CAC-CC5B5976F39C}"/>
              </a:ext>
            </a:extLst>
          </p:cNvPr>
          <p:cNvSpPr/>
          <p:nvPr/>
        </p:nvSpPr>
        <p:spPr>
          <a:xfrm>
            <a:off x="2557593" y="3042066"/>
            <a:ext cx="2878503" cy="864096"/>
          </a:xfrm>
          <a:prstGeom prst="rect">
            <a:avLst/>
          </a:prstGeom>
          <a:noFill/>
          <a:ln w="31750" cap="flat" cmpd="sng" algn="ctr">
            <a:solidFill>
              <a:srgbClr val="C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ectángulo 19">
            <a:extLst>
              <a:ext uri="{FF2B5EF4-FFF2-40B4-BE49-F238E27FC236}">
                <a16:creationId xmlns:a16="http://schemas.microsoft.com/office/drawing/2014/main" xmlns="" id="{2ABFF51B-47F1-4AEE-83E2-F08B2D7C5F51}"/>
              </a:ext>
            </a:extLst>
          </p:cNvPr>
          <p:cNvSpPr/>
          <p:nvPr/>
        </p:nvSpPr>
        <p:spPr>
          <a:xfrm>
            <a:off x="2557593" y="3951275"/>
            <a:ext cx="2878503" cy="2359911"/>
          </a:xfrm>
          <a:prstGeom prst="rect">
            <a:avLst/>
          </a:prstGeom>
          <a:noFill/>
          <a:ln w="31750" cap="flat" cmpd="sng" algn="ctr">
            <a:solidFill>
              <a:srgbClr val="0000FF"/>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803479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37146" y="212725"/>
            <a:ext cx="4431145" cy="813000"/>
          </a:xfrm>
        </p:spPr>
        <p:txBody>
          <a:bodyPr/>
          <a:lstStyle/>
          <a:p>
            <a:pPr lvl="0" defTabSz="457200">
              <a:defRPr/>
            </a:pPr>
            <a:r>
              <a:rPr lang="es-CL" sz="2800" b="1" dirty="0">
                <a:solidFill>
                  <a:prstClr val="white"/>
                </a:solidFill>
                <a:latin typeface="Calibri"/>
              </a:rPr>
              <a:t>Usando Operador Lógico </a:t>
            </a:r>
            <a:br>
              <a:rPr lang="es-CL" sz="2800" b="1" dirty="0">
                <a:solidFill>
                  <a:prstClr val="white"/>
                </a:solidFill>
                <a:latin typeface="Calibri"/>
              </a:rPr>
            </a:br>
            <a:r>
              <a:rPr lang="es-CL" sz="2800" b="1" dirty="0">
                <a:solidFill>
                  <a:prstClr val="white"/>
                </a:solidFill>
                <a:latin typeface="Calibri"/>
              </a:rPr>
              <a:t>NOT</a:t>
            </a:r>
          </a:p>
        </p:txBody>
      </p:sp>
      <p:sp>
        <p:nvSpPr>
          <p:cNvPr id="15" name="Marcador de contenido 1">
            <a:extLst>
              <a:ext uri="{FF2B5EF4-FFF2-40B4-BE49-F238E27FC236}">
                <a16:creationId xmlns:a16="http://schemas.microsoft.com/office/drawing/2014/main" xmlns="" id="{60D99B00-3077-4B22-A3E5-36D34157049D}"/>
              </a:ext>
            </a:extLst>
          </p:cNvPr>
          <p:cNvSpPr txBox="1">
            <a:spLocks/>
          </p:cNvSpPr>
          <p:nvPr/>
        </p:nvSpPr>
        <p:spPr>
          <a:xfrm>
            <a:off x="662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16" name="Text Box 5">
            <a:extLst>
              <a:ext uri="{FF2B5EF4-FFF2-40B4-BE49-F238E27FC236}">
                <a16:creationId xmlns:a16="http://schemas.microsoft.com/office/drawing/2014/main" xmlns="" id="{E035EBC6-F441-4DE8-93C1-01F0442CD71E}"/>
              </a:ext>
            </a:extLst>
          </p:cNvPr>
          <p:cNvSpPr txBox="1">
            <a:spLocks noChangeArrowheads="1"/>
          </p:cNvSpPr>
          <p:nvPr/>
        </p:nvSpPr>
        <p:spPr bwMode="auto">
          <a:xfrm>
            <a:off x="1043608" y="1673914"/>
            <a:ext cx="7272808"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employee_id, last_name, job_id,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job_id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NOT IN ('IT_PROG','ST_CLERK','SH_CLERK','SA_REP','SA_MAN')</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endParaRPr kumimoji="0" lang="en-US" sz="1600" b="1" i="0" u="none" strike="noStrike" kern="1200" cap="none" spc="0" normalizeH="0" baseline="0" noProof="0" dirty="0">
              <a:ln>
                <a:noFill/>
              </a:ln>
              <a:solidFill>
                <a:srgbClr val="FF0000"/>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7" name="Imagen 16">
            <a:extLst>
              <a:ext uri="{FF2B5EF4-FFF2-40B4-BE49-F238E27FC236}">
                <a16:creationId xmlns:a16="http://schemas.microsoft.com/office/drawing/2014/main" xmlns="" id="{236D48E3-C76F-43AC-8BFF-39BF1740D1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4" y="2852936"/>
            <a:ext cx="3714286" cy="3733333"/>
          </a:xfrm>
          <a:prstGeom prst="rect">
            <a:avLst/>
          </a:prstGeom>
        </p:spPr>
      </p:pic>
      <p:sp>
        <p:nvSpPr>
          <p:cNvPr id="18" name="Rectángulo 17">
            <a:extLst>
              <a:ext uri="{FF2B5EF4-FFF2-40B4-BE49-F238E27FC236}">
                <a16:creationId xmlns:a16="http://schemas.microsoft.com/office/drawing/2014/main" xmlns="" id="{0131FEED-3C3E-4DF6-8784-BFE032BD091F}"/>
              </a:ext>
            </a:extLst>
          </p:cNvPr>
          <p:cNvSpPr/>
          <p:nvPr/>
        </p:nvSpPr>
        <p:spPr>
          <a:xfrm>
            <a:off x="4886926" y="2898048"/>
            <a:ext cx="828000" cy="3672000"/>
          </a:xfrm>
          <a:prstGeom prst="rect">
            <a:avLst/>
          </a:prstGeom>
          <a:noFill/>
          <a:ln w="31750" cap="flat" cmpd="sng" algn="ctr">
            <a:solidFill>
              <a:srgbClr val="C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83569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ítulo 2">
            <a:extLst>
              <a:ext uri="{FF2B5EF4-FFF2-40B4-BE49-F238E27FC236}">
                <a16:creationId xmlns:a16="http://schemas.microsoft.com/office/drawing/2014/main" xmlns="" id="{383C6884-2149-4AEE-85DF-3C72C228EE22}"/>
              </a:ext>
            </a:extLst>
          </p:cNvPr>
          <p:cNvSpPr>
            <a:spLocks noGrp="1"/>
          </p:cNvSpPr>
          <p:nvPr>
            <p:ph type="title"/>
          </p:nvPr>
        </p:nvSpPr>
        <p:spPr>
          <a:xfrm>
            <a:off x="1703644" y="229350"/>
            <a:ext cx="4288185" cy="813000"/>
          </a:xfrm>
        </p:spPr>
        <p:txBody>
          <a:bodyPr/>
          <a:lstStyle/>
          <a:p>
            <a:pPr defTabSz="457200">
              <a:defRPr/>
            </a:pPr>
            <a:r>
              <a:rPr lang="es-CL" sz="2800" b="1" dirty="0">
                <a:solidFill>
                  <a:prstClr val="white"/>
                </a:solidFill>
                <a:latin typeface="Calibri"/>
              </a:rPr>
              <a:t>Reglas de precedencia para los Operadores</a:t>
            </a:r>
          </a:p>
        </p:txBody>
      </p:sp>
      <p:pic>
        <p:nvPicPr>
          <p:cNvPr id="2" name="Imagen 1">
            <a:extLst>
              <a:ext uri="{FF2B5EF4-FFF2-40B4-BE49-F238E27FC236}">
                <a16:creationId xmlns:a16="http://schemas.microsoft.com/office/drawing/2014/main" xmlns="" id="{CE08037A-6372-4FAF-AD48-79325B0C28B3}"/>
              </a:ext>
            </a:extLst>
          </p:cNvPr>
          <p:cNvPicPr>
            <a:picLocks noChangeAspect="1"/>
          </p:cNvPicPr>
          <p:nvPr/>
        </p:nvPicPr>
        <p:blipFill>
          <a:blip r:embed="rId3"/>
          <a:stretch>
            <a:fillRect/>
          </a:stretch>
        </p:blipFill>
        <p:spPr>
          <a:xfrm>
            <a:off x="283670" y="1380566"/>
            <a:ext cx="8694072" cy="4409371"/>
          </a:xfrm>
          <a:prstGeom prst="rect">
            <a:avLst/>
          </a:prstGeom>
        </p:spPr>
      </p:pic>
    </p:spTree>
    <p:extLst>
      <p:ext uri="{BB962C8B-B14F-4D97-AF65-F5344CB8AC3E}">
        <p14:creationId xmlns:p14="http://schemas.microsoft.com/office/powerpoint/2010/main" val="2028548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514761BF-5D85-4D7F-B52C-A1737121134E}"/>
              </a:ext>
            </a:extLst>
          </p:cNvPr>
          <p:cNvSpPr>
            <a:spLocks noGrp="1"/>
          </p:cNvSpPr>
          <p:nvPr>
            <p:ph type="title"/>
          </p:nvPr>
        </p:nvSpPr>
        <p:spPr>
          <a:xfrm>
            <a:off x="1703644" y="229350"/>
            <a:ext cx="4288185" cy="813000"/>
          </a:xfrm>
        </p:spPr>
        <p:txBody>
          <a:bodyPr/>
          <a:lstStyle/>
          <a:p>
            <a:pPr defTabSz="457200">
              <a:defRPr/>
            </a:pPr>
            <a:r>
              <a:rPr lang="es-CL" sz="2800" b="1" dirty="0">
                <a:solidFill>
                  <a:prstClr val="white"/>
                </a:solidFill>
                <a:latin typeface="Calibri"/>
              </a:rPr>
              <a:t>Reglas de precedencia para los Operadores</a:t>
            </a:r>
          </a:p>
        </p:txBody>
      </p:sp>
      <p:sp>
        <p:nvSpPr>
          <p:cNvPr id="26" name="Marcador de contenido 1">
            <a:extLst>
              <a:ext uri="{FF2B5EF4-FFF2-40B4-BE49-F238E27FC236}">
                <a16:creationId xmlns:a16="http://schemas.microsoft.com/office/drawing/2014/main" xmlns="" id="{B7B64C23-8417-45B6-BE06-441E96BA6344}"/>
              </a:ext>
            </a:extLst>
          </p:cNvPr>
          <p:cNvSpPr txBox="1">
            <a:spLocks/>
          </p:cNvSpPr>
          <p:nvPr/>
        </p:nvSpPr>
        <p:spPr>
          <a:xfrm>
            <a:off x="662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27" name="Text Box 5">
            <a:extLst>
              <a:ext uri="{FF2B5EF4-FFF2-40B4-BE49-F238E27FC236}">
                <a16:creationId xmlns:a16="http://schemas.microsoft.com/office/drawing/2014/main" xmlns="" id="{4A7CCD94-4378-4F7C-9BB6-023135B357E2}"/>
              </a:ext>
            </a:extLst>
          </p:cNvPr>
          <p:cNvSpPr txBox="1">
            <a:spLocks noChangeArrowheads="1"/>
          </p:cNvSpPr>
          <p:nvPr/>
        </p:nvSpPr>
        <p:spPr bwMode="auto">
          <a:xfrm>
            <a:off x="1075275" y="1642247"/>
            <a:ext cx="6480000"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 job_id,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job_id = 'SA_REP'</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OR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job_id</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 'AD_PRES'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AND   salary &gt; 15000</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28" name="CuadroTexto 27">
            <a:extLst>
              <a:ext uri="{FF2B5EF4-FFF2-40B4-BE49-F238E27FC236}">
                <a16:creationId xmlns:a16="http://schemas.microsoft.com/office/drawing/2014/main" xmlns="" id="{55C489EA-48A1-445F-B7A5-92B84042E6F1}"/>
              </a:ext>
            </a:extLst>
          </p:cNvPr>
          <p:cNvSpPr txBox="1"/>
          <p:nvPr/>
        </p:nvSpPr>
        <p:spPr>
          <a:xfrm>
            <a:off x="3581388" y="2614049"/>
            <a:ext cx="301686" cy="369332"/>
          </a:xfrm>
          <a:prstGeom prst="rect">
            <a:avLst/>
          </a:prstGeom>
          <a:noFill/>
        </p:spPr>
        <p:txBody>
          <a:bodyPr wrap="none" rtlCol="0">
            <a:spAutoFit/>
          </a:bodyPr>
          <a:lstStyle/>
          <a:p>
            <a:pPr algn="ctr" fontAlgn="base">
              <a:spcBef>
                <a:spcPct val="0"/>
              </a:spcBef>
              <a:spcAft>
                <a:spcPct val="0"/>
              </a:spcAft>
              <a:buClrTx/>
              <a:buFontTx/>
              <a:buNone/>
            </a:pPr>
            <a:r>
              <a:rPr lang="es-CL" sz="1800" b="1" kern="1200" dirty="0">
                <a:solidFill>
                  <a:srgbClr val="C00000"/>
                </a:solidFill>
                <a:latin typeface="Calibri"/>
                <a:ea typeface="+mn-ea"/>
                <a:cs typeface="Arial" panose="020B0604020202020204" pitchFamily="34" charset="0"/>
              </a:rPr>
              <a:t>1</a:t>
            </a:r>
          </a:p>
        </p:txBody>
      </p:sp>
      <p:sp>
        <p:nvSpPr>
          <p:cNvPr id="29" name="CuadroTexto 28">
            <a:extLst>
              <a:ext uri="{FF2B5EF4-FFF2-40B4-BE49-F238E27FC236}">
                <a16:creationId xmlns:a16="http://schemas.microsoft.com/office/drawing/2014/main" xmlns="" id="{302DBE05-C897-45C6-8A44-F56079242707}"/>
              </a:ext>
            </a:extLst>
          </p:cNvPr>
          <p:cNvSpPr txBox="1"/>
          <p:nvPr/>
        </p:nvSpPr>
        <p:spPr>
          <a:xfrm>
            <a:off x="3458784" y="2214392"/>
            <a:ext cx="301686" cy="369332"/>
          </a:xfrm>
          <a:prstGeom prst="rect">
            <a:avLst/>
          </a:prstGeom>
          <a:noFill/>
        </p:spPr>
        <p:txBody>
          <a:bodyPr wrap="none" rtlCol="0">
            <a:spAutoFit/>
          </a:bodyPr>
          <a:lstStyle/>
          <a:p>
            <a:pPr algn="ctr" fontAlgn="base">
              <a:spcBef>
                <a:spcPct val="0"/>
              </a:spcBef>
              <a:spcAft>
                <a:spcPct val="0"/>
              </a:spcAft>
              <a:buClrTx/>
              <a:buFontTx/>
              <a:buNone/>
            </a:pPr>
            <a:r>
              <a:rPr lang="es-CL" sz="1800" b="1" kern="1200" dirty="0">
                <a:solidFill>
                  <a:srgbClr val="0000FF"/>
                </a:solidFill>
                <a:latin typeface="Calibri"/>
                <a:ea typeface="+mn-ea"/>
                <a:cs typeface="Arial" panose="020B0604020202020204" pitchFamily="34" charset="0"/>
              </a:rPr>
              <a:t>2</a:t>
            </a:r>
          </a:p>
        </p:txBody>
      </p:sp>
      <p:sp>
        <p:nvSpPr>
          <p:cNvPr id="30" name="Cerrar llave 29">
            <a:extLst>
              <a:ext uri="{FF2B5EF4-FFF2-40B4-BE49-F238E27FC236}">
                <a16:creationId xmlns:a16="http://schemas.microsoft.com/office/drawing/2014/main" xmlns="" id="{8AD11A5E-6292-4774-8D21-DD324797AFE0}"/>
              </a:ext>
            </a:extLst>
          </p:cNvPr>
          <p:cNvSpPr/>
          <p:nvPr/>
        </p:nvSpPr>
        <p:spPr>
          <a:xfrm>
            <a:off x="3460213" y="2564904"/>
            <a:ext cx="155448" cy="446433"/>
          </a:xfrm>
          <a:prstGeom prst="rightBrace">
            <a:avLst/>
          </a:prstGeom>
          <a:noFill/>
          <a:ln w="34925" cap="flat" cmpd="sng" algn="ctr">
            <a:solidFill>
              <a:srgbClr val="C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Cerrar llave 30">
            <a:extLst>
              <a:ext uri="{FF2B5EF4-FFF2-40B4-BE49-F238E27FC236}">
                <a16:creationId xmlns:a16="http://schemas.microsoft.com/office/drawing/2014/main" xmlns="" id="{A52205EE-4898-4B64-98F3-19E4526D2CAC}"/>
              </a:ext>
            </a:extLst>
          </p:cNvPr>
          <p:cNvSpPr/>
          <p:nvPr/>
        </p:nvSpPr>
        <p:spPr>
          <a:xfrm>
            <a:off x="3334417" y="2292670"/>
            <a:ext cx="155448" cy="227120"/>
          </a:xfrm>
          <a:prstGeom prst="rightBrace">
            <a:avLst/>
          </a:prstGeom>
          <a:noFill/>
          <a:ln w="34925" cap="flat" cmpd="sng" algn="ctr">
            <a:solidFill>
              <a:srgbClr val="0000FF"/>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Calibri"/>
              <a:ea typeface="+mn-ea"/>
              <a:cs typeface="+mn-cs"/>
            </a:endParaRPr>
          </a:p>
        </p:txBody>
      </p:sp>
      <p:pic>
        <p:nvPicPr>
          <p:cNvPr id="32" name="Imagen 31">
            <a:extLst>
              <a:ext uri="{FF2B5EF4-FFF2-40B4-BE49-F238E27FC236}">
                <a16:creationId xmlns:a16="http://schemas.microsoft.com/office/drawing/2014/main" xmlns="" id="{5E3AA3DE-C07D-45CD-95C8-A25304080B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1841" y="3234147"/>
            <a:ext cx="2443598" cy="3533679"/>
          </a:xfrm>
          <a:prstGeom prst="rect">
            <a:avLst/>
          </a:prstGeom>
        </p:spPr>
      </p:pic>
      <p:sp>
        <p:nvSpPr>
          <p:cNvPr id="33" name="Rectángulo 32">
            <a:extLst>
              <a:ext uri="{FF2B5EF4-FFF2-40B4-BE49-F238E27FC236}">
                <a16:creationId xmlns:a16="http://schemas.microsoft.com/office/drawing/2014/main" xmlns="" id="{3B64EDB2-B5E6-4D60-9580-8AF8640322CC}"/>
              </a:ext>
            </a:extLst>
          </p:cNvPr>
          <p:cNvSpPr/>
          <p:nvPr/>
        </p:nvSpPr>
        <p:spPr>
          <a:xfrm>
            <a:off x="3131838" y="3279069"/>
            <a:ext cx="2448000" cy="424800"/>
          </a:xfrm>
          <a:prstGeom prst="rect">
            <a:avLst/>
          </a:prstGeom>
          <a:noFill/>
          <a:ln w="31750" cap="flat" cmpd="sng" algn="ctr">
            <a:solidFill>
              <a:srgbClr val="C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Rectángulo 33">
            <a:extLst>
              <a:ext uri="{FF2B5EF4-FFF2-40B4-BE49-F238E27FC236}">
                <a16:creationId xmlns:a16="http://schemas.microsoft.com/office/drawing/2014/main" xmlns="" id="{7F5A9041-69DE-48A6-9245-5F815181F5D3}"/>
              </a:ext>
            </a:extLst>
          </p:cNvPr>
          <p:cNvSpPr/>
          <p:nvPr/>
        </p:nvSpPr>
        <p:spPr>
          <a:xfrm>
            <a:off x="3131840" y="3739200"/>
            <a:ext cx="2448000" cy="3028625"/>
          </a:xfrm>
          <a:prstGeom prst="rect">
            <a:avLst/>
          </a:prstGeom>
          <a:noFill/>
          <a:ln w="31750" cap="flat" cmpd="sng" algn="ctr">
            <a:solidFill>
              <a:srgbClr val="0000FF"/>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854407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514761BF-5D85-4D7F-B52C-A1737121134E}"/>
              </a:ext>
            </a:extLst>
          </p:cNvPr>
          <p:cNvSpPr>
            <a:spLocks noGrp="1"/>
          </p:cNvSpPr>
          <p:nvPr>
            <p:ph type="title"/>
          </p:nvPr>
        </p:nvSpPr>
        <p:spPr>
          <a:xfrm>
            <a:off x="1703644" y="229350"/>
            <a:ext cx="4288185" cy="813000"/>
          </a:xfrm>
        </p:spPr>
        <p:txBody>
          <a:bodyPr/>
          <a:lstStyle/>
          <a:p>
            <a:pPr defTabSz="457200">
              <a:defRPr/>
            </a:pPr>
            <a:r>
              <a:rPr lang="es-CL" sz="2800" b="1" dirty="0">
                <a:solidFill>
                  <a:prstClr val="white"/>
                </a:solidFill>
                <a:latin typeface="Calibri"/>
              </a:rPr>
              <a:t>Reglas de precedencia para los Operadores</a:t>
            </a:r>
          </a:p>
        </p:txBody>
      </p:sp>
      <p:sp>
        <p:nvSpPr>
          <p:cNvPr id="19" name="Marcador de contenido 1">
            <a:extLst>
              <a:ext uri="{FF2B5EF4-FFF2-40B4-BE49-F238E27FC236}">
                <a16:creationId xmlns:a16="http://schemas.microsoft.com/office/drawing/2014/main" xmlns="" id="{8838A24A-631E-4749-A5A4-C5BAA6ED6484}"/>
              </a:ext>
            </a:extLst>
          </p:cNvPr>
          <p:cNvSpPr txBox="1">
            <a:spLocks/>
          </p:cNvSpPr>
          <p:nvPr/>
        </p:nvSpPr>
        <p:spPr>
          <a:xfrm>
            <a:off x="662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20" name="Text Box 5">
            <a:extLst>
              <a:ext uri="{FF2B5EF4-FFF2-40B4-BE49-F238E27FC236}">
                <a16:creationId xmlns:a16="http://schemas.microsoft.com/office/drawing/2014/main" xmlns="" id="{B461812E-6A89-4E9C-AA9F-0E6291F8AB82}"/>
              </a:ext>
            </a:extLst>
          </p:cNvPr>
          <p:cNvSpPr txBox="1">
            <a:spLocks noChangeArrowheads="1"/>
          </p:cNvSpPr>
          <p:nvPr/>
        </p:nvSpPr>
        <p:spPr bwMode="auto">
          <a:xfrm>
            <a:off x="1075275" y="1642247"/>
            <a:ext cx="6480000"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last_name, job_id,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job_id</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 'SA_REP'</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OR   </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job_id</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 'AD_PRES'</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AND   salary &gt; 15000</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21" name="CuadroTexto 20">
            <a:extLst>
              <a:ext uri="{FF2B5EF4-FFF2-40B4-BE49-F238E27FC236}">
                <a16:creationId xmlns:a16="http://schemas.microsoft.com/office/drawing/2014/main" xmlns="" id="{ED086C19-04E9-47E4-ABF3-CAFEAAAB4B38}"/>
              </a:ext>
            </a:extLst>
          </p:cNvPr>
          <p:cNvSpPr txBox="1"/>
          <p:nvPr/>
        </p:nvSpPr>
        <p:spPr>
          <a:xfrm>
            <a:off x="3694250" y="2383640"/>
            <a:ext cx="301686" cy="369332"/>
          </a:xfrm>
          <a:prstGeom prst="rect">
            <a:avLst/>
          </a:prstGeom>
          <a:noFill/>
        </p:spPr>
        <p:txBody>
          <a:bodyPr wrap="none" rtlCol="0">
            <a:spAutoFit/>
          </a:bodyPr>
          <a:lstStyle/>
          <a:p>
            <a:pPr algn="ctr" fontAlgn="base">
              <a:spcBef>
                <a:spcPct val="0"/>
              </a:spcBef>
              <a:spcAft>
                <a:spcPct val="0"/>
              </a:spcAft>
              <a:buClrTx/>
              <a:buFontTx/>
              <a:buNone/>
            </a:pPr>
            <a:r>
              <a:rPr lang="es-CL" sz="1800" b="1" kern="1200" dirty="0">
                <a:solidFill>
                  <a:srgbClr val="C00000"/>
                </a:solidFill>
                <a:latin typeface="Calibri"/>
                <a:ea typeface="+mn-ea"/>
                <a:cs typeface="Arial" panose="020B0604020202020204" pitchFamily="34" charset="0"/>
              </a:rPr>
              <a:t>1</a:t>
            </a:r>
          </a:p>
        </p:txBody>
      </p:sp>
      <p:sp>
        <p:nvSpPr>
          <p:cNvPr id="22" name="CuadroTexto 21">
            <a:extLst>
              <a:ext uri="{FF2B5EF4-FFF2-40B4-BE49-F238E27FC236}">
                <a16:creationId xmlns:a16="http://schemas.microsoft.com/office/drawing/2014/main" xmlns="" id="{EF6E3492-A0CD-4483-8766-D3529285CDD2}"/>
              </a:ext>
            </a:extLst>
          </p:cNvPr>
          <p:cNvSpPr txBox="1"/>
          <p:nvPr/>
        </p:nvSpPr>
        <p:spPr>
          <a:xfrm>
            <a:off x="3242760" y="2735814"/>
            <a:ext cx="301686" cy="369332"/>
          </a:xfrm>
          <a:prstGeom prst="rect">
            <a:avLst/>
          </a:prstGeom>
          <a:noFill/>
        </p:spPr>
        <p:txBody>
          <a:bodyPr wrap="none" rtlCol="0">
            <a:spAutoFit/>
          </a:bodyPr>
          <a:lstStyle/>
          <a:p>
            <a:pPr algn="ctr" fontAlgn="base">
              <a:spcBef>
                <a:spcPct val="0"/>
              </a:spcBef>
              <a:spcAft>
                <a:spcPct val="0"/>
              </a:spcAft>
              <a:buClrTx/>
              <a:buFontTx/>
              <a:buNone/>
            </a:pPr>
            <a:r>
              <a:rPr lang="es-CL" sz="1800" b="1" kern="1200" dirty="0">
                <a:solidFill>
                  <a:srgbClr val="0000FF"/>
                </a:solidFill>
                <a:latin typeface="Calibri"/>
                <a:ea typeface="+mn-ea"/>
                <a:cs typeface="Arial" panose="020B0604020202020204" pitchFamily="34" charset="0"/>
              </a:rPr>
              <a:t>2</a:t>
            </a:r>
          </a:p>
        </p:txBody>
      </p:sp>
      <p:sp>
        <p:nvSpPr>
          <p:cNvPr id="23" name="Cerrar llave 22">
            <a:extLst>
              <a:ext uri="{FF2B5EF4-FFF2-40B4-BE49-F238E27FC236}">
                <a16:creationId xmlns:a16="http://schemas.microsoft.com/office/drawing/2014/main" xmlns="" id="{784FA72C-1EFF-4A8F-A673-9DC613AB77AF}"/>
              </a:ext>
            </a:extLst>
          </p:cNvPr>
          <p:cNvSpPr/>
          <p:nvPr/>
        </p:nvSpPr>
        <p:spPr>
          <a:xfrm>
            <a:off x="3573075" y="2334495"/>
            <a:ext cx="155448" cy="446433"/>
          </a:xfrm>
          <a:prstGeom prst="rightBrace">
            <a:avLst/>
          </a:prstGeom>
          <a:noFill/>
          <a:ln w="34925" cap="flat" cmpd="sng" algn="ctr">
            <a:solidFill>
              <a:srgbClr val="C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Cerrar llave 23">
            <a:extLst>
              <a:ext uri="{FF2B5EF4-FFF2-40B4-BE49-F238E27FC236}">
                <a16:creationId xmlns:a16="http://schemas.microsoft.com/office/drawing/2014/main" xmlns="" id="{236F2DD9-C54D-49C1-98F5-E3ABD7CA0777}"/>
              </a:ext>
            </a:extLst>
          </p:cNvPr>
          <p:cNvSpPr/>
          <p:nvPr/>
        </p:nvSpPr>
        <p:spPr>
          <a:xfrm>
            <a:off x="3118393" y="2814092"/>
            <a:ext cx="155448" cy="227120"/>
          </a:xfrm>
          <a:prstGeom prst="rightBrace">
            <a:avLst/>
          </a:prstGeom>
          <a:noFill/>
          <a:ln w="34925" cap="flat" cmpd="sng" algn="ctr">
            <a:solidFill>
              <a:srgbClr val="0000FF"/>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Calibri"/>
              <a:ea typeface="+mn-ea"/>
              <a:cs typeface="+mn-cs"/>
            </a:endParaRPr>
          </a:p>
        </p:txBody>
      </p:sp>
      <p:pic>
        <p:nvPicPr>
          <p:cNvPr id="25" name="Imagen 24">
            <a:extLst>
              <a:ext uri="{FF2B5EF4-FFF2-40B4-BE49-F238E27FC236}">
                <a16:creationId xmlns:a16="http://schemas.microsoft.com/office/drawing/2014/main" xmlns="" id="{1511D6AD-A4B1-4DB8-A718-62C5F6339B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4937" y="3360469"/>
            <a:ext cx="2559971" cy="486070"/>
          </a:xfrm>
          <a:prstGeom prst="rect">
            <a:avLst/>
          </a:prstGeom>
        </p:spPr>
      </p:pic>
    </p:spTree>
    <p:extLst>
      <p:ext uri="{BB962C8B-B14F-4D97-AF65-F5344CB8AC3E}">
        <p14:creationId xmlns:p14="http://schemas.microsoft.com/office/powerpoint/2010/main" val="3309369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3">
            <a:extLst>
              <a:ext uri="{FF2B5EF4-FFF2-40B4-BE49-F238E27FC236}">
                <a16:creationId xmlns:a16="http://schemas.microsoft.com/office/drawing/2014/main" xmlns="" id="{5E38062B-3A7A-4367-8B1B-02E8FD8FAECD}"/>
              </a:ext>
            </a:extLst>
          </p:cNvPr>
          <p:cNvSpPr>
            <a:spLocks noGrp="1"/>
          </p:cNvSpPr>
          <p:nvPr>
            <p:ph type="title"/>
          </p:nvPr>
        </p:nvSpPr>
        <p:spPr>
          <a:xfrm>
            <a:off x="3004575" y="3476150"/>
            <a:ext cx="5995800" cy="1603200"/>
          </a:xfrm>
        </p:spPr>
        <p:txBody>
          <a:bodyPr/>
          <a:lstStyle/>
          <a:p>
            <a:r>
              <a:rPr lang="es-ES_tradnl" sz="5000" b="1" dirty="0"/>
              <a:t>Sentencia SELECT para crear una Tabla</a:t>
            </a:r>
          </a:p>
        </p:txBody>
      </p:sp>
    </p:spTree>
    <p:extLst>
      <p:ext uri="{BB962C8B-B14F-4D97-AF65-F5344CB8AC3E}">
        <p14:creationId xmlns:p14="http://schemas.microsoft.com/office/powerpoint/2010/main" val="3572879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DAE73FF3-44DC-4A81-A8DE-3BD2CE159B4B}"/>
              </a:ext>
            </a:extLst>
          </p:cNvPr>
          <p:cNvSpPr>
            <a:spLocks noGrp="1"/>
          </p:cNvSpPr>
          <p:nvPr>
            <p:ph type="title"/>
          </p:nvPr>
        </p:nvSpPr>
        <p:spPr>
          <a:xfrm>
            <a:off x="1763713" y="212725"/>
            <a:ext cx="4287837" cy="812800"/>
          </a:xfrm>
        </p:spPr>
        <p:txBody>
          <a:bodyPr/>
          <a:lstStyle/>
          <a:p>
            <a:pPr defTabSz="457200">
              <a:defRPr/>
            </a:pPr>
            <a:r>
              <a:rPr lang="es-CL" sz="2800" b="1" dirty="0">
                <a:solidFill>
                  <a:prstClr val="white"/>
                </a:solidFill>
                <a:latin typeface="Calibri"/>
              </a:rPr>
              <a:t>Usando Sentencia SELECT para crear Tablas</a:t>
            </a:r>
          </a:p>
        </p:txBody>
      </p:sp>
      <p:sp>
        <p:nvSpPr>
          <p:cNvPr id="19" name="Marcador de contenido 1">
            <a:extLst>
              <a:ext uri="{FF2B5EF4-FFF2-40B4-BE49-F238E27FC236}">
                <a16:creationId xmlns:a16="http://schemas.microsoft.com/office/drawing/2014/main" xmlns="" id="{D88E658D-FA76-4E4A-B0DC-D10E4D6D5BB8}"/>
              </a:ext>
            </a:extLst>
          </p:cNvPr>
          <p:cNvSpPr txBox="1">
            <a:spLocks/>
          </p:cNvSpPr>
          <p:nvPr/>
        </p:nvSpPr>
        <p:spPr>
          <a:xfrm>
            <a:off x="662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Sintaxis</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20" name="Rectángulo redondeado 9">
            <a:extLst>
              <a:ext uri="{FF2B5EF4-FFF2-40B4-BE49-F238E27FC236}">
                <a16:creationId xmlns:a16="http://schemas.microsoft.com/office/drawing/2014/main" xmlns="" id="{6E58FDB1-3308-430F-BB7C-6DD531B10B11}"/>
              </a:ext>
            </a:extLst>
          </p:cNvPr>
          <p:cNvSpPr/>
          <p:nvPr/>
        </p:nvSpPr>
        <p:spPr>
          <a:xfrm>
            <a:off x="3472448" y="1434976"/>
            <a:ext cx="2232000" cy="2340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Debe coincidir el número de columnas de la tabla con el número de columnas  de la Subconsulta</a:t>
            </a:r>
          </a:p>
        </p:txBody>
      </p:sp>
      <p:sp>
        <p:nvSpPr>
          <p:cNvPr id="21" name="Rectángulo redondeado 4">
            <a:extLst>
              <a:ext uri="{FF2B5EF4-FFF2-40B4-BE49-F238E27FC236}">
                <a16:creationId xmlns:a16="http://schemas.microsoft.com/office/drawing/2014/main" xmlns="" id="{42D1013B-0731-4CDF-971F-E665ABC7345F}"/>
              </a:ext>
            </a:extLst>
          </p:cNvPr>
          <p:cNvSpPr/>
          <p:nvPr/>
        </p:nvSpPr>
        <p:spPr>
          <a:xfrm>
            <a:off x="5962008" y="1441562"/>
            <a:ext cx="2232000" cy="2340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La tabla se puede crear con los nombres y tipos de datos de las columnas seleccionadas </a:t>
            </a:r>
          </a:p>
        </p:txBody>
      </p:sp>
      <p:sp>
        <p:nvSpPr>
          <p:cNvPr id="22" name="Rectángulo redondeado 4">
            <a:extLst>
              <a:ext uri="{FF2B5EF4-FFF2-40B4-BE49-F238E27FC236}">
                <a16:creationId xmlns:a16="http://schemas.microsoft.com/office/drawing/2014/main" xmlns="" id="{07B41C05-0BDB-4C22-A3CA-BD270E709AEB}"/>
              </a:ext>
            </a:extLst>
          </p:cNvPr>
          <p:cNvSpPr/>
          <p:nvPr/>
        </p:nvSpPr>
        <p:spPr>
          <a:xfrm>
            <a:off x="971600" y="1412776"/>
            <a:ext cx="2232000" cy="2340000"/>
          </a:xfrm>
          <a:prstGeom prst="roundRect">
            <a:avLst/>
          </a:prstGeom>
          <a:solidFill>
            <a:srgbClr val="EC700A"/>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Crea una tabla e inserta filas mediante la combinación de la sentencia CREATE y la opción AS </a:t>
            </a:r>
            <a:r>
              <a:rPr kumimoji="0" lang="es-CL" sz="1800" b="1" i="0" u="none" strike="noStrike" kern="1200" cap="none" spc="0" normalizeH="0" baseline="0" noProof="0" dirty="0" err="1">
                <a:ln>
                  <a:noFill/>
                </a:ln>
                <a:solidFill>
                  <a:srgbClr val="FFFFFF"/>
                </a:solidFill>
                <a:effectLst/>
                <a:uLnTx/>
                <a:uFillTx/>
                <a:latin typeface="Calibri"/>
                <a:ea typeface="+mn-ea"/>
                <a:cs typeface="Arial" panose="020B0604020202020204" pitchFamily="34" charset="0"/>
              </a:rPr>
              <a:t>Subconsulta</a:t>
            </a:r>
            <a:endPar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endParaRPr>
          </a:p>
        </p:txBody>
      </p:sp>
      <p:sp>
        <p:nvSpPr>
          <p:cNvPr id="23" name="Text Box 5">
            <a:extLst>
              <a:ext uri="{FF2B5EF4-FFF2-40B4-BE49-F238E27FC236}">
                <a16:creationId xmlns:a16="http://schemas.microsoft.com/office/drawing/2014/main" xmlns="" id="{F8A24B73-D735-4156-AD30-BD3924163CA1}"/>
              </a:ext>
            </a:extLst>
          </p:cNvPr>
          <p:cNvSpPr txBox="1">
            <a:spLocks noChangeArrowheads="1"/>
          </p:cNvSpPr>
          <p:nvPr/>
        </p:nvSpPr>
        <p:spPr bwMode="auto">
          <a:xfrm>
            <a:off x="1115616" y="4581128"/>
            <a:ext cx="6120680"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CREATE TABLE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nombre_tabla</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columna</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columna</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AS </a:t>
            </a:r>
            <a:r>
              <a:rPr kumimoji="0" lang="en-US" sz="1600" b="1" i="1" u="none" strike="noStrike" kern="1200" cap="none" spc="0" normalizeH="0" baseline="0" noProof="0" dirty="0" err="1">
                <a:ln>
                  <a:noFill/>
                </a:ln>
                <a:solidFill>
                  <a:srgbClr val="C00000"/>
                </a:solidFill>
                <a:effectLst/>
                <a:uLnTx/>
                <a:uFillTx/>
                <a:latin typeface="Calibri"/>
                <a:ea typeface="+mn-ea"/>
                <a:cs typeface="Arial" charset="0"/>
              </a:rPr>
              <a:t>sentencia_select</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endParaRPr kumimoji="0" lang="en-US" sz="1600" b="1" i="0" u="none" strike="noStrike" kern="1200" cap="none" spc="0" normalizeH="0" baseline="0" noProof="0" dirty="0">
              <a:ln>
                <a:noFill/>
              </a:ln>
              <a:solidFill>
                <a:srgbClr val="FF0000"/>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Tree>
    <p:extLst>
      <p:ext uri="{BB962C8B-B14F-4D97-AF65-F5344CB8AC3E}">
        <p14:creationId xmlns:p14="http://schemas.microsoft.com/office/powerpoint/2010/main" val="183291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DAE73FF3-44DC-4A81-A8DE-3BD2CE159B4B}"/>
              </a:ext>
            </a:extLst>
          </p:cNvPr>
          <p:cNvSpPr>
            <a:spLocks noGrp="1"/>
          </p:cNvSpPr>
          <p:nvPr>
            <p:ph type="title"/>
          </p:nvPr>
        </p:nvSpPr>
        <p:spPr>
          <a:xfrm>
            <a:off x="1763713" y="212725"/>
            <a:ext cx="4287837" cy="812800"/>
          </a:xfrm>
        </p:spPr>
        <p:txBody>
          <a:bodyPr/>
          <a:lstStyle/>
          <a:p>
            <a:pPr defTabSz="457200">
              <a:defRPr/>
            </a:pPr>
            <a:r>
              <a:rPr lang="es-CL" sz="2800" b="1" dirty="0">
                <a:solidFill>
                  <a:prstClr val="white"/>
                </a:solidFill>
                <a:latin typeface="Calibri"/>
              </a:rPr>
              <a:t>Usando Sentencia SELECT para crear Tablas</a:t>
            </a:r>
          </a:p>
        </p:txBody>
      </p:sp>
      <p:sp>
        <p:nvSpPr>
          <p:cNvPr id="15" name="Marcador de contenido 1">
            <a:extLst>
              <a:ext uri="{FF2B5EF4-FFF2-40B4-BE49-F238E27FC236}">
                <a16:creationId xmlns:a16="http://schemas.microsoft.com/office/drawing/2014/main" xmlns="" id="{182065F6-0B09-42B2-95B8-8C6D11E58082}"/>
              </a:ext>
            </a:extLst>
          </p:cNvPr>
          <p:cNvSpPr txBox="1">
            <a:spLocks/>
          </p:cNvSpPr>
          <p:nvPr/>
        </p:nvSpPr>
        <p:spPr>
          <a:xfrm>
            <a:off x="662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16" name="Text Box 5">
            <a:extLst>
              <a:ext uri="{FF2B5EF4-FFF2-40B4-BE49-F238E27FC236}">
                <a16:creationId xmlns:a16="http://schemas.microsoft.com/office/drawing/2014/main" xmlns="" id="{ABCF84FC-04B9-4EA1-A6CE-6C03C8088AAF}"/>
              </a:ext>
            </a:extLst>
          </p:cNvPr>
          <p:cNvSpPr txBox="1">
            <a:spLocks noChangeArrowheads="1"/>
          </p:cNvSpPr>
          <p:nvPr/>
        </p:nvSpPr>
        <p:spPr bwMode="auto">
          <a:xfrm>
            <a:off x="1043608" y="1661899"/>
            <a:ext cx="4464496"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CREATE TABLE </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employees_copia</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AS SELECT *  FROM employees</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endParaRPr kumimoji="0" lang="en-US" sz="1600" b="1" i="0" u="none" strike="noStrike" kern="1200" cap="none" spc="0" normalizeH="0" baseline="0" noProof="0" dirty="0">
              <a:ln>
                <a:noFill/>
              </a:ln>
              <a:solidFill>
                <a:srgbClr val="FF0000"/>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7" name="Imagen 16">
            <a:extLst>
              <a:ext uri="{FF2B5EF4-FFF2-40B4-BE49-F238E27FC236}">
                <a16:creationId xmlns:a16="http://schemas.microsoft.com/office/drawing/2014/main" xmlns="" id="{E2279C3E-113C-4DC6-8782-129B7BE1AB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3327193"/>
            <a:ext cx="8872289" cy="2982127"/>
          </a:xfrm>
          <a:prstGeom prst="rect">
            <a:avLst/>
          </a:prstGeom>
        </p:spPr>
      </p:pic>
      <p:pic>
        <p:nvPicPr>
          <p:cNvPr id="18" name="Imagen 17">
            <a:extLst>
              <a:ext uri="{FF2B5EF4-FFF2-40B4-BE49-F238E27FC236}">
                <a16:creationId xmlns:a16="http://schemas.microsoft.com/office/drawing/2014/main" xmlns="" id="{1175A6FD-79BD-46CE-A685-97A0704A6F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3731" y="1297666"/>
            <a:ext cx="2678749" cy="1911154"/>
          </a:xfrm>
          <a:prstGeom prst="rect">
            <a:avLst/>
          </a:prstGeom>
        </p:spPr>
      </p:pic>
      <p:sp>
        <p:nvSpPr>
          <p:cNvPr id="24" name="Line 17">
            <a:extLst>
              <a:ext uri="{FF2B5EF4-FFF2-40B4-BE49-F238E27FC236}">
                <a16:creationId xmlns:a16="http://schemas.microsoft.com/office/drawing/2014/main" xmlns="" id="{CD16B02B-03A5-4744-AD70-08F32E6543C2}"/>
              </a:ext>
            </a:extLst>
          </p:cNvPr>
          <p:cNvSpPr>
            <a:spLocks noChangeShapeType="1"/>
          </p:cNvSpPr>
          <p:nvPr/>
        </p:nvSpPr>
        <p:spPr bwMode="auto">
          <a:xfrm flipH="1">
            <a:off x="3856693" y="1961913"/>
            <a:ext cx="2376000" cy="35"/>
          </a:xfrm>
          <a:prstGeom prst="line">
            <a:avLst/>
          </a:prstGeom>
          <a:noFill/>
          <a:ln w="85725">
            <a:solidFill>
              <a:srgbClr val="0000FF"/>
            </a:solidFill>
            <a:round/>
            <a:headEnd type="triangle"/>
            <a:tailEnd type="none" w="med"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
        <p:nvSpPr>
          <p:cNvPr id="25" name="CuadroTexto 24">
            <a:extLst>
              <a:ext uri="{FF2B5EF4-FFF2-40B4-BE49-F238E27FC236}">
                <a16:creationId xmlns:a16="http://schemas.microsoft.com/office/drawing/2014/main" xmlns="" id="{60DB14EC-B137-487D-98EF-79C9CD82DC79}"/>
              </a:ext>
            </a:extLst>
          </p:cNvPr>
          <p:cNvSpPr txBox="1"/>
          <p:nvPr/>
        </p:nvSpPr>
        <p:spPr>
          <a:xfrm>
            <a:off x="125614" y="3082407"/>
            <a:ext cx="2411942" cy="338554"/>
          </a:xfrm>
          <a:prstGeom prst="rect">
            <a:avLst/>
          </a:prstGeom>
          <a:noFill/>
        </p:spPr>
        <p:txBody>
          <a:bodyPr wrap="none" rtlCol="0">
            <a:spAutoFit/>
          </a:bodyPr>
          <a:lstStyle/>
          <a:p>
            <a:pPr algn="ctr" fontAlgn="base">
              <a:spcBef>
                <a:spcPct val="0"/>
              </a:spcBef>
              <a:spcAft>
                <a:spcPct val="0"/>
              </a:spcAft>
              <a:buClrTx/>
              <a:buFontTx/>
              <a:buNone/>
            </a:pPr>
            <a:r>
              <a:rPr lang="es-CL" sz="1600" b="1" kern="1200" dirty="0">
                <a:solidFill>
                  <a:srgbClr val="0000FF"/>
                </a:solidFill>
                <a:latin typeface="Calibri"/>
                <a:ea typeface="+mn-ea"/>
                <a:cs typeface="Arial" panose="020B0604020202020204" pitchFamily="34" charset="0"/>
              </a:rPr>
              <a:t>TABLA EMPLOYEES_COPIA</a:t>
            </a:r>
          </a:p>
        </p:txBody>
      </p:sp>
    </p:spTree>
    <p:extLst>
      <p:ext uri="{BB962C8B-B14F-4D97-AF65-F5344CB8AC3E}">
        <p14:creationId xmlns:p14="http://schemas.microsoft.com/office/powerpoint/2010/main" val="2503655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DAE73FF3-44DC-4A81-A8DE-3BD2CE159B4B}"/>
              </a:ext>
            </a:extLst>
          </p:cNvPr>
          <p:cNvSpPr>
            <a:spLocks noGrp="1"/>
          </p:cNvSpPr>
          <p:nvPr>
            <p:ph type="title"/>
          </p:nvPr>
        </p:nvSpPr>
        <p:spPr>
          <a:xfrm>
            <a:off x="1763713" y="212725"/>
            <a:ext cx="4287837" cy="812800"/>
          </a:xfrm>
        </p:spPr>
        <p:txBody>
          <a:bodyPr/>
          <a:lstStyle/>
          <a:p>
            <a:pPr defTabSz="457200">
              <a:defRPr/>
            </a:pPr>
            <a:r>
              <a:rPr lang="es-CL" sz="2800" b="1" dirty="0">
                <a:solidFill>
                  <a:prstClr val="white"/>
                </a:solidFill>
                <a:latin typeface="Calibri"/>
              </a:rPr>
              <a:t>Usando Sentencia SELECT para crear Tablas</a:t>
            </a:r>
          </a:p>
        </p:txBody>
      </p:sp>
      <p:pic>
        <p:nvPicPr>
          <p:cNvPr id="19" name="Imagen 18">
            <a:extLst>
              <a:ext uri="{FF2B5EF4-FFF2-40B4-BE49-F238E27FC236}">
                <a16:creationId xmlns:a16="http://schemas.microsoft.com/office/drawing/2014/main" xmlns="" id="{9F608119-05A4-4677-928D-A7038BDF71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5300" y="3288687"/>
            <a:ext cx="3168352" cy="3527371"/>
          </a:xfrm>
          <a:prstGeom prst="rect">
            <a:avLst/>
          </a:prstGeom>
        </p:spPr>
      </p:pic>
      <p:sp>
        <p:nvSpPr>
          <p:cNvPr id="20" name="Marcador de contenido 1">
            <a:extLst>
              <a:ext uri="{FF2B5EF4-FFF2-40B4-BE49-F238E27FC236}">
                <a16:creationId xmlns:a16="http://schemas.microsoft.com/office/drawing/2014/main" xmlns="" id="{7910664A-2BC9-4526-AF51-BAD98F73BE10}"/>
              </a:ext>
            </a:extLst>
          </p:cNvPr>
          <p:cNvSpPr txBox="1">
            <a:spLocks/>
          </p:cNvSpPr>
          <p:nvPr/>
        </p:nvSpPr>
        <p:spPr>
          <a:xfrm>
            <a:off x="5963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Tx/>
            </a:pPr>
            <a:r>
              <a:rPr lang="es-CL" sz="2000">
                <a:ea typeface="Arial Unicode MS" pitchFamily="34" charset="-128"/>
                <a:cs typeface="Times New Roman" pitchFamily="18" charset="0"/>
              </a:rPr>
              <a:t>Ejemplo</a:t>
            </a:r>
            <a:r>
              <a:rPr lang="es-CL" sz="2000"/>
              <a:t>:</a:t>
            </a:r>
          </a:p>
          <a:p>
            <a:pPr>
              <a:buClrTx/>
            </a:pPr>
            <a:endParaRPr lang="es-CL" dirty="0">
              <a:latin typeface="Times New Roman" pitchFamily="18" charset="0"/>
              <a:ea typeface="Arial Unicode MS" pitchFamily="34" charset="-128"/>
              <a:cs typeface="Times New Roman" pitchFamily="18" charset="0"/>
            </a:endParaRPr>
          </a:p>
        </p:txBody>
      </p:sp>
      <p:sp>
        <p:nvSpPr>
          <p:cNvPr id="21" name="Text Box 5">
            <a:extLst>
              <a:ext uri="{FF2B5EF4-FFF2-40B4-BE49-F238E27FC236}">
                <a16:creationId xmlns:a16="http://schemas.microsoft.com/office/drawing/2014/main" xmlns="" id="{0547457C-A156-4100-BEE0-52A833580B39}"/>
              </a:ext>
            </a:extLst>
          </p:cNvPr>
          <p:cNvSpPr txBox="1">
            <a:spLocks noChangeArrowheads="1"/>
          </p:cNvSpPr>
          <p:nvPr/>
        </p:nvSpPr>
        <p:spPr bwMode="auto">
          <a:xfrm>
            <a:off x="1019640" y="1700808"/>
            <a:ext cx="4565980"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CREATE TABLE </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dept80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AS SELECT employee_id, salary*12 </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salario_anual</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hire_date</a:t>
            </a:r>
            <a:endParaRPr kumimoji="0" lang="en-US" sz="1600" b="1" i="0" u="none" strike="noStrike" kern="1200" cap="none" spc="0" normalizeH="0" baseline="0" noProof="0" dirty="0">
              <a:ln>
                <a:noFill/>
              </a:ln>
              <a:solidFill>
                <a:srgbClr val="C00000"/>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WHERE department_id = 80</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22" name="Imagen 21">
            <a:extLst>
              <a:ext uri="{FF2B5EF4-FFF2-40B4-BE49-F238E27FC236}">
                <a16:creationId xmlns:a16="http://schemas.microsoft.com/office/drawing/2014/main" xmlns="" id="{1E43189D-03E0-4349-8F82-FCA6D33CFB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4054" y="1641377"/>
            <a:ext cx="2691926" cy="795552"/>
          </a:xfrm>
          <a:prstGeom prst="rect">
            <a:avLst/>
          </a:prstGeom>
        </p:spPr>
      </p:pic>
      <p:sp>
        <p:nvSpPr>
          <p:cNvPr id="23" name="CuadroTexto 22">
            <a:extLst>
              <a:ext uri="{FF2B5EF4-FFF2-40B4-BE49-F238E27FC236}">
                <a16:creationId xmlns:a16="http://schemas.microsoft.com/office/drawing/2014/main" xmlns="" id="{60C55009-A9A5-4862-A98A-53920B67B9BF}"/>
              </a:ext>
            </a:extLst>
          </p:cNvPr>
          <p:cNvSpPr txBox="1"/>
          <p:nvPr/>
        </p:nvSpPr>
        <p:spPr>
          <a:xfrm>
            <a:off x="1290233" y="4242574"/>
            <a:ext cx="1415067" cy="338554"/>
          </a:xfrm>
          <a:prstGeom prst="rect">
            <a:avLst/>
          </a:prstGeom>
          <a:noFill/>
        </p:spPr>
        <p:txBody>
          <a:bodyPr wrap="none" rtlCol="0">
            <a:spAutoFit/>
          </a:bodyPr>
          <a:lstStyle/>
          <a:p>
            <a:pPr algn="ctr" fontAlgn="base">
              <a:spcBef>
                <a:spcPct val="0"/>
              </a:spcBef>
              <a:spcAft>
                <a:spcPct val="0"/>
              </a:spcAft>
              <a:buClrTx/>
              <a:buFontTx/>
              <a:buNone/>
            </a:pPr>
            <a:r>
              <a:rPr lang="es-CL" sz="1600" b="1" kern="1200" dirty="0">
                <a:solidFill>
                  <a:srgbClr val="0000FF"/>
                </a:solidFill>
                <a:latin typeface="Calibri"/>
                <a:ea typeface="+mn-ea"/>
                <a:cs typeface="Arial" panose="020B0604020202020204" pitchFamily="34" charset="0"/>
              </a:rPr>
              <a:t>TABLA DEPT80</a:t>
            </a:r>
          </a:p>
        </p:txBody>
      </p:sp>
      <p:sp>
        <p:nvSpPr>
          <p:cNvPr id="26" name="Line 17">
            <a:extLst>
              <a:ext uri="{FF2B5EF4-FFF2-40B4-BE49-F238E27FC236}">
                <a16:creationId xmlns:a16="http://schemas.microsoft.com/office/drawing/2014/main" xmlns="" id="{059B2331-DF32-4B31-A324-B447E7EEDA4F}"/>
              </a:ext>
            </a:extLst>
          </p:cNvPr>
          <p:cNvSpPr>
            <a:spLocks noChangeShapeType="1"/>
          </p:cNvSpPr>
          <p:nvPr/>
        </p:nvSpPr>
        <p:spPr bwMode="auto">
          <a:xfrm flipH="1">
            <a:off x="2966702" y="1988807"/>
            <a:ext cx="3168000" cy="35"/>
          </a:xfrm>
          <a:prstGeom prst="line">
            <a:avLst/>
          </a:prstGeom>
          <a:noFill/>
          <a:ln w="85725">
            <a:solidFill>
              <a:srgbClr val="0000FF"/>
            </a:solidFill>
            <a:round/>
            <a:headEnd type="triangle"/>
            <a:tailEnd type="none" w="med" len="med"/>
          </a:ln>
          <a:extLst>
            <a:ext uri="{909E8E84-426E-40DD-AFC4-6F175D3DCCD1}">
              <a14:hiddenFill xmlns:a14="http://schemas.microsoft.com/office/drawing/2010/main">
                <a:noFill/>
              </a14:hiddenFill>
            </a:ext>
          </a:extLst>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92919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DAE73FF3-44DC-4A81-A8DE-3BD2CE159B4B}"/>
              </a:ext>
            </a:extLst>
          </p:cNvPr>
          <p:cNvSpPr>
            <a:spLocks noGrp="1"/>
          </p:cNvSpPr>
          <p:nvPr>
            <p:ph type="title"/>
          </p:nvPr>
        </p:nvSpPr>
        <p:spPr>
          <a:xfrm>
            <a:off x="1763713" y="212725"/>
            <a:ext cx="4287837" cy="812800"/>
          </a:xfrm>
        </p:spPr>
        <p:txBody>
          <a:bodyPr/>
          <a:lstStyle/>
          <a:p>
            <a:pPr defTabSz="457200">
              <a:defRPr/>
            </a:pPr>
            <a:r>
              <a:rPr lang="es-CL" sz="2800" b="1" dirty="0">
                <a:solidFill>
                  <a:prstClr val="white"/>
                </a:solidFill>
                <a:latin typeface="Calibri"/>
              </a:rPr>
              <a:t>Usando Sentencia SELECT para crear Tablas</a:t>
            </a:r>
          </a:p>
        </p:txBody>
      </p:sp>
      <p:sp>
        <p:nvSpPr>
          <p:cNvPr id="14" name="Marcador de contenido 1">
            <a:extLst>
              <a:ext uri="{FF2B5EF4-FFF2-40B4-BE49-F238E27FC236}">
                <a16:creationId xmlns:a16="http://schemas.microsoft.com/office/drawing/2014/main" xmlns="" id="{EE61E176-BB05-49B8-AD12-CF0338DB8AE0}"/>
              </a:ext>
            </a:extLst>
          </p:cNvPr>
          <p:cNvSpPr txBox="1">
            <a:spLocks/>
          </p:cNvSpPr>
          <p:nvPr/>
        </p:nvSpPr>
        <p:spPr>
          <a:xfrm>
            <a:off x="662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15" name="Text Box 5">
            <a:extLst>
              <a:ext uri="{FF2B5EF4-FFF2-40B4-BE49-F238E27FC236}">
                <a16:creationId xmlns:a16="http://schemas.microsoft.com/office/drawing/2014/main" xmlns="" id="{E5388574-EA65-4116-B783-8565F0712FEC}"/>
              </a:ext>
            </a:extLst>
          </p:cNvPr>
          <p:cNvSpPr txBox="1">
            <a:spLocks noChangeArrowheads="1"/>
          </p:cNvSpPr>
          <p:nvPr/>
        </p:nvSpPr>
        <p:spPr bwMode="auto">
          <a:xfrm>
            <a:off x="827584" y="1628800"/>
            <a:ext cx="6048672" cy="2062103"/>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CREATE TABLE DEPT30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a:t>
            </a:r>
            <a:r>
              <a:rPr kumimoji="0" lang="en-US" sz="1600" b="1" i="0" u="none" strike="noStrike" kern="1200" cap="none" spc="0" normalizeH="0" baseline="0" noProof="0" dirty="0" err="1">
                <a:ln>
                  <a:noFill/>
                </a:ln>
                <a:solidFill>
                  <a:srgbClr val="0000FF"/>
                </a:solidFill>
                <a:effectLst/>
                <a:uLnTx/>
                <a:uFillTx/>
                <a:latin typeface="Calibri"/>
                <a:ea typeface="+mn-ea"/>
                <a:cs typeface="Arial" charset="0"/>
              </a:rPr>
              <a:t>cod_empleado</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  NOT NULL CONSTRAINTS PK_DEPT30 PRIMARY KEY,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 </a:t>
            </a:r>
            <a:r>
              <a:rPr kumimoji="0" lang="en-US" sz="1600" b="1" i="0" u="none" strike="noStrike" kern="1200" cap="none" spc="0" normalizeH="0" baseline="0" noProof="0" dirty="0" err="1">
                <a:ln>
                  <a:noFill/>
                </a:ln>
                <a:solidFill>
                  <a:srgbClr val="0000FF"/>
                </a:solidFill>
                <a:effectLst/>
                <a:uLnTx/>
                <a:uFillTx/>
                <a:latin typeface="Calibri"/>
                <a:ea typeface="+mn-ea"/>
                <a:cs typeface="Arial" charset="0"/>
              </a:rPr>
              <a:t>salario_anual</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 NOT NULL,</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 </a:t>
            </a:r>
            <a:r>
              <a:rPr kumimoji="0" lang="en-US" sz="1600" b="1" i="0" u="none" strike="noStrike" kern="1200" cap="none" spc="0" normalizeH="0" baseline="0" noProof="0" dirty="0" err="1">
                <a:ln>
                  <a:noFill/>
                </a:ln>
                <a:solidFill>
                  <a:srgbClr val="0000FF"/>
                </a:solidFill>
                <a:effectLst/>
                <a:uLnTx/>
                <a:uFillTx/>
                <a:latin typeface="Calibri"/>
                <a:ea typeface="+mn-ea"/>
                <a:cs typeface="Arial" charset="0"/>
              </a:rPr>
              <a:t>fecha_contrato</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 NOT NULL)</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AS  SELECT </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employee_id</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salary*12, </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hire_date</a:t>
            </a:r>
            <a:endParaRPr kumimoji="0" lang="en-US" sz="1600" b="1" i="0" u="none" strike="noStrike" kern="1200" cap="none" spc="0" normalizeH="0" baseline="0" noProof="0" dirty="0">
              <a:ln>
                <a:noFill/>
              </a:ln>
              <a:solidFill>
                <a:srgbClr val="C00000"/>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WHERE </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department_id</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 = 30</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6" name="Imagen 15">
            <a:extLst>
              <a:ext uri="{FF2B5EF4-FFF2-40B4-BE49-F238E27FC236}">
                <a16:creationId xmlns:a16="http://schemas.microsoft.com/office/drawing/2014/main" xmlns="" id="{1A710ADC-7516-47C6-A3AE-FD9A27C701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1960" y="4226496"/>
            <a:ext cx="3914286" cy="1600000"/>
          </a:xfrm>
          <a:prstGeom prst="rect">
            <a:avLst/>
          </a:prstGeom>
        </p:spPr>
      </p:pic>
      <p:pic>
        <p:nvPicPr>
          <p:cNvPr id="17" name="Imagen 16">
            <a:extLst>
              <a:ext uri="{FF2B5EF4-FFF2-40B4-BE49-F238E27FC236}">
                <a16:creationId xmlns:a16="http://schemas.microsoft.com/office/drawing/2014/main" xmlns="" id="{CC237E8A-D7A8-485B-8450-265E28EB29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7624" y="4271610"/>
            <a:ext cx="2857143" cy="847619"/>
          </a:xfrm>
          <a:prstGeom prst="rect">
            <a:avLst/>
          </a:prstGeom>
        </p:spPr>
      </p:pic>
      <p:sp>
        <p:nvSpPr>
          <p:cNvPr id="18" name="CuadroTexto 17">
            <a:extLst>
              <a:ext uri="{FF2B5EF4-FFF2-40B4-BE49-F238E27FC236}">
                <a16:creationId xmlns:a16="http://schemas.microsoft.com/office/drawing/2014/main" xmlns="" id="{2F195C80-F060-4ECD-A097-27173EFB6DC7}"/>
              </a:ext>
            </a:extLst>
          </p:cNvPr>
          <p:cNvSpPr txBox="1"/>
          <p:nvPr/>
        </p:nvSpPr>
        <p:spPr>
          <a:xfrm>
            <a:off x="3588981" y="3933056"/>
            <a:ext cx="1415067" cy="338554"/>
          </a:xfrm>
          <a:prstGeom prst="rect">
            <a:avLst/>
          </a:prstGeom>
          <a:noFill/>
        </p:spPr>
        <p:txBody>
          <a:bodyPr wrap="none" rtlCol="0">
            <a:spAutoFit/>
          </a:bodyPr>
          <a:lstStyle/>
          <a:p>
            <a:pPr algn="ctr" fontAlgn="base">
              <a:spcBef>
                <a:spcPct val="0"/>
              </a:spcBef>
              <a:spcAft>
                <a:spcPct val="0"/>
              </a:spcAft>
              <a:buClrTx/>
              <a:buFontTx/>
              <a:buNone/>
            </a:pPr>
            <a:r>
              <a:rPr lang="es-CL" sz="1600" b="1" kern="1200" dirty="0">
                <a:solidFill>
                  <a:srgbClr val="0000FF"/>
                </a:solidFill>
                <a:latin typeface="Calibri"/>
                <a:ea typeface="+mn-ea"/>
                <a:cs typeface="Arial" panose="020B0604020202020204" pitchFamily="34" charset="0"/>
              </a:rPr>
              <a:t>TABLA DEPT80</a:t>
            </a:r>
          </a:p>
        </p:txBody>
      </p:sp>
    </p:spTree>
    <p:extLst>
      <p:ext uri="{BB962C8B-B14F-4D97-AF65-F5344CB8AC3E}">
        <p14:creationId xmlns:p14="http://schemas.microsoft.com/office/powerpoint/2010/main" val="1094320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p:txBody>
          <a:bodyPr/>
          <a:lstStyle/>
          <a:p>
            <a:r>
              <a:rPr lang="es-ES_tradnl" sz="5000" b="1" dirty="0"/>
              <a:t>Variables de Sustitución</a:t>
            </a:r>
          </a:p>
        </p:txBody>
      </p:sp>
    </p:spTree>
    <p:extLst>
      <p:ext uri="{BB962C8B-B14F-4D97-AF65-F5344CB8AC3E}">
        <p14:creationId xmlns:p14="http://schemas.microsoft.com/office/powerpoint/2010/main" val="17802062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2">
            <a:extLst>
              <a:ext uri="{FF2B5EF4-FFF2-40B4-BE49-F238E27FC236}">
                <a16:creationId xmlns:a16="http://schemas.microsoft.com/office/drawing/2014/main" xmlns="" id="{24521E72-BB4F-429D-AC0B-3B23B68908A8}"/>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Trabajando con Variables de Sustitución</a:t>
            </a:r>
          </a:p>
        </p:txBody>
      </p:sp>
      <p:pic>
        <p:nvPicPr>
          <p:cNvPr id="9" name="Imagen 8">
            <a:extLst>
              <a:ext uri="{FF2B5EF4-FFF2-40B4-BE49-F238E27FC236}">
                <a16:creationId xmlns:a16="http://schemas.microsoft.com/office/drawing/2014/main" xmlns="" id="{02AC4202-0CE1-45F3-875E-7986C30B2B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559" y="1196752"/>
            <a:ext cx="7502881" cy="5187423"/>
          </a:xfrm>
          <a:prstGeom prst="rect">
            <a:avLst/>
          </a:prstGeom>
        </p:spPr>
      </p:pic>
    </p:spTree>
    <p:extLst>
      <p:ext uri="{BB962C8B-B14F-4D97-AF65-F5344CB8AC3E}">
        <p14:creationId xmlns:p14="http://schemas.microsoft.com/office/powerpoint/2010/main" val="1581661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2">
            <a:extLst>
              <a:ext uri="{FF2B5EF4-FFF2-40B4-BE49-F238E27FC236}">
                <a16:creationId xmlns:a16="http://schemas.microsoft.com/office/drawing/2014/main" xmlns="" id="{24521E72-BB4F-429D-AC0B-3B23B68908A8}"/>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Trabajando con Variables de Sustitución (&amp;)</a:t>
            </a:r>
          </a:p>
        </p:txBody>
      </p:sp>
      <p:sp>
        <p:nvSpPr>
          <p:cNvPr id="15" name="Marcador de contenido 1">
            <a:extLst>
              <a:ext uri="{FF2B5EF4-FFF2-40B4-BE49-F238E27FC236}">
                <a16:creationId xmlns:a16="http://schemas.microsoft.com/office/drawing/2014/main" xmlns="" id="{812A9DB4-13D2-4B3F-9F2A-013181C00A26}"/>
              </a:ext>
            </a:extLst>
          </p:cNvPr>
          <p:cNvSpPr txBox="1">
            <a:spLocks/>
          </p:cNvSpPr>
          <p:nvPr/>
        </p:nvSpPr>
        <p:spPr>
          <a:xfrm>
            <a:off x="613005"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16" name="Text Box 5">
            <a:extLst>
              <a:ext uri="{FF2B5EF4-FFF2-40B4-BE49-F238E27FC236}">
                <a16:creationId xmlns:a16="http://schemas.microsoft.com/office/drawing/2014/main" xmlns="" id="{0E595F40-80CF-4F62-AEF6-EE6B157D4AAB}"/>
              </a:ext>
            </a:extLst>
          </p:cNvPr>
          <p:cNvSpPr txBox="1">
            <a:spLocks noChangeArrowheads="1"/>
          </p:cNvSpPr>
          <p:nvPr/>
        </p:nvSpPr>
        <p:spPr bwMode="auto">
          <a:xfrm>
            <a:off x="1354421" y="1700808"/>
            <a:ext cx="583200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salary,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department_id</a:t>
            </a:r>
            <a:endParaRPr kumimoji="0" lang="en-US" sz="1600" b="1"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&amp;</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employee_num</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7" name="Imagen 16">
            <a:extLst>
              <a:ext uri="{FF2B5EF4-FFF2-40B4-BE49-F238E27FC236}">
                <a16:creationId xmlns:a16="http://schemas.microsoft.com/office/drawing/2014/main" xmlns="" id="{1E853C32-5992-4EDD-B12D-F49989AB47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5941" y="5052428"/>
            <a:ext cx="3114286" cy="438095"/>
          </a:xfrm>
          <a:prstGeom prst="rect">
            <a:avLst/>
          </a:prstGeom>
        </p:spPr>
      </p:pic>
      <p:sp>
        <p:nvSpPr>
          <p:cNvPr id="18" name="CuadroTexto 17">
            <a:extLst>
              <a:ext uri="{FF2B5EF4-FFF2-40B4-BE49-F238E27FC236}">
                <a16:creationId xmlns:a16="http://schemas.microsoft.com/office/drawing/2014/main" xmlns="" id="{03E47FE1-850C-4F00-8886-EF646760A82B}"/>
              </a:ext>
            </a:extLst>
          </p:cNvPr>
          <p:cNvSpPr txBox="1"/>
          <p:nvPr/>
        </p:nvSpPr>
        <p:spPr>
          <a:xfrm>
            <a:off x="902395" y="2034139"/>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1</a:t>
            </a:r>
          </a:p>
        </p:txBody>
      </p:sp>
      <p:sp>
        <p:nvSpPr>
          <p:cNvPr id="19" name="CuadroTexto 18">
            <a:extLst>
              <a:ext uri="{FF2B5EF4-FFF2-40B4-BE49-F238E27FC236}">
                <a16:creationId xmlns:a16="http://schemas.microsoft.com/office/drawing/2014/main" xmlns="" id="{B48E2807-36BE-4CF8-BB05-FC4C3ECD278B}"/>
              </a:ext>
            </a:extLst>
          </p:cNvPr>
          <p:cNvSpPr txBox="1"/>
          <p:nvPr/>
        </p:nvSpPr>
        <p:spPr>
          <a:xfrm>
            <a:off x="986364" y="3599151"/>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2</a:t>
            </a:r>
          </a:p>
        </p:txBody>
      </p:sp>
      <p:sp>
        <p:nvSpPr>
          <p:cNvPr id="20" name="CuadroTexto 19">
            <a:extLst>
              <a:ext uri="{FF2B5EF4-FFF2-40B4-BE49-F238E27FC236}">
                <a16:creationId xmlns:a16="http://schemas.microsoft.com/office/drawing/2014/main" xmlns="" id="{08086C4B-83FB-42B5-A749-53C72D030420}"/>
              </a:ext>
            </a:extLst>
          </p:cNvPr>
          <p:cNvSpPr txBox="1"/>
          <p:nvPr/>
        </p:nvSpPr>
        <p:spPr>
          <a:xfrm>
            <a:off x="4666141" y="3599151"/>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3</a:t>
            </a:r>
          </a:p>
        </p:txBody>
      </p:sp>
      <p:sp>
        <p:nvSpPr>
          <p:cNvPr id="21" name="CuadroTexto 20">
            <a:extLst>
              <a:ext uri="{FF2B5EF4-FFF2-40B4-BE49-F238E27FC236}">
                <a16:creationId xmlns:a16="http://schemas.microsoft.com/office/drawing/2014/main" xmlns="" id="{46B431DC-800E-4365-B425-6F3ECADB88D5}"/>
              </a:ext>
            </a:extLst>
          </p:cNvPr>
          <p:cNvSpPr txBox="1"/>
          <p:nvPr/>
        </p:nvSpPr>
        <p:spPr>
          <a:xfrm>
            <a:off x="2498532" y="5039311"/>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4</a:t>
            </a:r>
          </a:p>
        </p:txBody>
      </p:sp>
      <p:pic>
        <p:nvPicPr>
          <p:cNvPr id="22" name="Imagen 21">
            <a:extLst>
              <a:ext uri="{FF2B5EF4-FFF2-40B4-BE49-F238E27FC236}">
                <a16:creationId xmlns:a16="http://schemas.microsoft.com/office/drawing/2014/main" xmlns="" id="{318D1D55-CBDE-45B1-985E-3414C1AA2B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3773" y="3215342"/>
            <a:ext cx="2666667" cy="1590476"/>
          </a:xfrm>
          <a:prstGeom prst="rect">
            <a:avLst/>
          </a:prstGeom>
        </p:spPr>
      </p:pic>
      <p:pic>
        <p:nvPicPr>
          <p:cNvPr id="23" name="Imagen 22">
            <a:extLst>
              <a:ext uri="{FF2B5EF4-FFF2-40B4-BE49-F238E27FC236}">
                <a16:creationId xmlns:a16="http://schemas.microsoft.com/office/drawing/2014/main" xmlns="" id="{CA7D8B1D-B07A-484A-9CFE-22DA30CF7D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3810" y="3199262"/>
            <a:ext cx="2666667" cy="1600000"/>
          </a:xfrm>
          <a:prstGeom prst="rect">
            <a:avLst/>
          </a:prstGeom>
        </p:spPr>
      </p:pic>
    </p:spTree>
    <p:extLst>
      <p:ext uri="{BB962C8B-B14F-4D97-AF65-F5344CB8AC3E}">
        <p14:creationId xmlns:p14="http://schemas.microsoft.com/office/powerpoint/2010/main" val="3859153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2">
            <a:extLst>
              <a:ext uri="{FF2B5EF4-FFF2-40B4-BE49-F238E27FC236}">
                <a16:creationId xmlns:a16="http://schemas.microsoft.com/office/drawing/2014/main" xmlns="" id="{24521E72-BB4F-429D-AC0B-3B23B68908A8}"/>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Trabajando con Variables de Sustitución (&amp;)</a:t>
            </a:r>
          </a:p>
        </p:txBody>
      </p:sp>
      <p:sp>
        <p:nvSpPr>
          <p:cNvPr id="30" name="Marcador de contenido 1">
            <a:extLst>
              <a:ext uri="{FF2B5EF4-FFF2-40B4-BE49-F238E27FC236}">
                <a16:creationId xmlns:a16="http://schemas.microsoft.com/office/drawing/2014/main" xmlns="" id="{439E108A-2FD3-42BC-8071-9D6DC65003D9}"/>
              </a:ext>
            </a:extLst>
          </p:cNvPr>
          <p:cNvSpPr txBox="1">
            <a:spLocks/>
          </p:cNvSpPr>
          <p:nvPr/>
        </p:nvSpPr>
        <p:spPr>
          <a:xfrm>
            <a:off x="662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31" name="Text Box 5">
            <a:extLst>
              <a:ext uri="{FF2B5EF4-FFF2-40B4-BE49-F238E27FC236}">
                <a16:creationId xmlns:a16="http://schemas.microsoft.com/office/drawing/2014/main" xmlns="" id="{F4740B66-79A1-40DE-8699-5968092FC739}"/>
              </a:ext>
            </a:extLst>
          </p:cNvPr>
          <p:cNvSpPr txBox="1">
            <a:spLocks noChangeArrowheads="1"/>
          </p:cNvSpPr>
          <p:nvPr/>
        </p:nvSpPr>
        <p:spPr bwMode="auto">
          <a:xfrm>
            <a:off x="631538" y="1628800"/>
            <a:ext cx="401247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salary*12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job_id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'&amp;</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job_title</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32" name="CuadroTexto 31">
            <a:extLst>
              <a:ext uri="{FF2B5EF4-FFF2-40B4-BE49-F238E27FC236}">
                <a16:creationId xmlns:a16="http://schemas.microsoft.com/office/drawing/2014/main" xmlns="" id="{0C73FDAB-877D-495C-A677-6D9D7D43289C}"/>
              </a:ext>
            </a:extLst>
          </p:cNvPr>
          <p:cNvSpPr txBox="1"/>
          <p:nvPr/>
        </p:nvSpPr>
        <p:spPr>
          <a:xfrm>
            <a:off x="179512" y="1962131"/>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1</a:t>
            </a:r>
          </a:p>
        </p:txBody>
      </p:sp>
      <p:sp>
        <p:nvSpPr>
          <p:cNvPr id="33" name="CuadroTexto 32">
            <a:extLst>
              <a:ext uri="{FF2B5EF4-FFF2-40B4-BE49-F238E27FC236}">
                <a16:creationId xmlns:a16="http://schemas.microsoft.com/office/drawing/2014/main" xmlns="" id="{F2D55DFC-2148-419E-A117-297112FD3EDD}"/>
              </a:ext>
            </a:extLst>
          </p:cNvPr>
          <p:cNvSpPr txBox="1"/>
          <p:nvPr/>
        </p:nvSpPr>
        <p:spPr>
          <a:xfrm>
            <a:off x="899592" y="3309054"/>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2</a:t>
            </a:r>
          </a:p>
        </p:txBody>
      </p:sp>
      <p:sp>
        <p:nvSpPr>
          <p:cNvPr id="34" name="CuadroTexto 33">
            <a:extLst>
              <a:ext uri="{FF2B5EF4-FFF2-40B4-BE49-F238E27FC236}">
                <a16:creationId xmlns:a16="http://schemas.microsoft.com/office/drawing/2014/main" xmlns="" id="{22068436-E906-435C-83B6-6FC7587F6AB1}"/>
              </a:ext>
            </a:extLst>
          </p:cNvPr>
          <p:cNvSpPr txBox="1"/>
          <p:nvPr/>
        </p:nvSpPr>
        <p:spPr>
          <a:xfrm>
            <a:off x="2848430" y="4967303"/>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3</a:t>
            </a:r>
          </a:p>
        </p:txBody>
      </p:sp>
      <p:pic>
        <p:nvPicPr>
          <p:cNvPr id="35" name="Imagen 34">
            <a:extLst>
              <a:ext uri="{FF2B5EF4-FFF2-40B4-BE49-F238E27FC236}">
                <a16:creationId xmlns:a16="http://schemas.microsoft.com/office/drawing/2014/main" xmlns="" id="{9A41CD65-0010-4590-8ED1-DDB0C85EB1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0462" y="4641925"/>
            <a:ext cx="2885714" cy="1190476"/>
          </a:xfrm>
          <a:prstGeom prst="rect">
            <a:avLst/>
          </a:prstGeom>
        </p:spPr>
      </p:pic>
      <p:sp>
        <p:nvSpPr>
          <p:cNvPr id="36" name="Text Box 5">
            <a:extLst>
              <a:ext uri="{FF2B5EF4-FFF2-40B4-BE49-F238E27FC236}">
                <a16:creationId xmlns:a16="http://schemas.microsoft.com/office/drawing/2014/main" xmlns="" id="{82EE72D6-C1B7-4C78-AF82-5D827CDFF955}"/>
              </a:ext>
            </a:extLst>
          </p:cNvPr>
          <p:cNvSpPr txBox="1">
            <a:spLocks noChangeArrowheads="1"/>
          </p:cNvSpPr>
          <p:nvPr/>
        </p:nvSpPr>
        <p:spPr bwMode="auto">
          <a:xfrm>
            <a:off x="4932040" y="1645149"/>
            <a:ext cx="399178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salary*12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job_id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&amp;</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job_title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37" name="Imagen 36">
            <a:extLst>
              <a:ext uri="{FF2B5EF4-FFF2-40B4-BE49-F238E27FC236}">
                <a16:creationId xmlns:a16="http://schemas.microsoft.com/office/drawing/2014/main" xmlns="" id="{568DEE08-5989-451E-8590-511B5932BE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0312" y="2817282"/>
            <a:ext cx="2695238" cy="1600000"/>
          </a:xfrm>
          <a:prstGeom prst="rect">
            <a:avLst/>
          </a:prstGeom>
        </p:spPr>
      </p:pic>
      <p:pic>
        <p:nvPicPr>
          <p:cNvPr id="38" name="Imagen 37">
            <a:extLst>
              <a:ext uri="{FF2B5EF4-FFF2-40B4-BE49-F238E27FC236}">
                <a16:creationId xmlns:a16="http://schemas.microsoft.com/office/drawing/2014/main" xmlns="" id="{4B832EBF-A8B4-44BD-B23D-6A20D4EA48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30846" y="2870194"/>
            <a:ext cx="2647619" cy="1542857"/>
          </a:xfrm>
          <a:prstGeom prst="rect">
            <a:avLst/>
          </a:prstGeom>
        </p:spPr>
      </p:pic>
    </p:spTree>
    <p:extLst>
      <p:ext uri="{BB962C8B-B14F-4D97-AF65-F5344CB8AC3E}">
        <p14:creationId xmlns:p14="http://schemas.microsoft.com/office/powerpoint/2010/main" val="7260891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2">
            <a:extLst>
              <a:ext uri="{FF2B5EF4-FFF2-40B4-BE49-F238E27FC236}">
                <a16:creationId xmlns:a16="http://schemas.microsoft.com/office/drawing/2014/main" xmlns="" id="{24521E72-BB4F-429D-AC0B-3B23B68908A8}"/>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Trabajando con Variables de Sustitución (&amp;)</a:t>
            </a:r>
          </a:p>
        </p:txBody>
      </p:sp>
      <p:sp>
        <p:nvSpPr>
          <p:cNvPr id="21" name="Marcador de contenido 1">
            <a:extLst>
              <a:ext uri="{FF2B5EF4-FFF2-40B4-BE49-F238E27FC236}">
                <a16:creationId xmlns:a16="http://schemas.microsoft.com/office/drawing/2014/main" xmlns="" id="{7D4235F5-B400-4C47-9041-59BF75B68C35}"/>
              </a:ext>
            </a:extLst>
          </p:cNvPr>
          <p:cNvSpPr txBox="1">
            <a:spLocks/>
          </p:cNvSpPr>
          <p:nvPr/>
        </p:nvSpPr>
        <p:spPr>
          <a:xfrm>
            <a:off x="662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22" name="Text Box 5">
            <a:extLst>
              <a:ext uri="{FF2B5EF4-FFF2-40B4-BE49-F238E27FC236}">
                <a16:creationId xmlns:a16="http://schemas.microsoft.com/office/drawing/2014/main" xmlns="" id="{2D63B895-CF91-494D-9E63-268471257625}"/>
              </a:ext>
            </a:extLst>
          </p:cNvPr>
          <p:cNvSpPr txBox="1">
            <a:spLocks noChangeArrowheads="1"/>
          </p:cNvSpPr>
          <p:nvPr/>
        </p:nvSpPr>
        <p:spPr bwMode="auto">
          <a:xfrm>
            <a:off x="1404296" y="1700808"/>
            <a:ext cx="5832000"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job_id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&amp;</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column_name</a:t>
            </a:r>
            <a:endParaRPr kumimoji="0" lang="en-US" sz="1600" b="1" i="0" u="none" strike="noStrike" kern="1200" cap="none" spc="0" normalizeH="0" baseline="0" noProof="0" dirty="0">
              <a:ln>
                <a:noFill/>
              </a:ln>
              <a:solidFill>
                <a:srgbClr val="C00000"/>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n-US" sz="1600" b="1" i="0" u="none" strike="noStrike" kern="1200" cap="none" spc="0" normalizeH="0" baseline="0" noProof="0" dirty="0">
                <a:ln>
                  <a:noFill/>
                </a:ln>
                <a:solidFill>
                  <a:srgbClr val="0000FF"/>
                </a:solidFill>
                <a:effectLst/>
                <a:uLnTx/>
                <a:uFillTx/>
                <a:latin typeface="Calibri"/>
                <a:ea typeface="+mn-ea"/>
                <a:cs typeface="Arial" charset="0"/>
              </a:rPr>
              <a:t>&amp;condition</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ORDER BY </a:t>
            </a:r>
            <a:r>
              <a:rPr kumimoji="0" lang="en-US" sz="1600" b="1" i="0" u="none" strike="noStrike" kern="1200" cap="none" spc="0" normalizeH="0" baseline="0" noProof="0" dirty="0">
                <a:ln>
                  <a:noFill/>
                </a:ln>
                <a:solidFill>
                  <a:srgbClr val="006600"/>
                </a:solidFill>
                <a:effectLst/>
                <a:uLnTx/>
                <a:uFillTx/>
                <a:latin typeface="Calibri"/>
                <a:ea typeface="+mn-ea"/>
                <a:cs typeface="Arial" charset="0"/>
              </a:rPr>
              <a:t>&amp;</a:t>
            </a:r>
            <a:r>
              <a:rPr kumimoji="0" lang="en-US" sz="1600" b="1" i="0" u="none" strike="noStrike" kern="1200" cap="none" spc="0" normalizeH="0" baseline="0" noProof="0" dirty="0" err="1">
                <a:ln>
                  <a:noFill/>
                </a:ln>
                <a:solidFill>
                  <a:srgbClr val="006600"/>
                </a:solidFill>
                <a:effectLst/>
                <a:uLnTx/>
                <a:uFillTx/>
                <a:latin typeface="Calibri"/>
                <a:ea typeface="+mn-ea"/>
                <a:cs typeface="Arial" charset="0"/>
              </a:rPr>
              <a:t>order_column</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23" name="CuadroTexto 22">
            <a:extLst>
              <a:ext uri="{FF2B5EF4-FFF2-40B4-BE49-F238E27FC236}">
                <a16:creationId xmlns:a16="http://schemas.microsoft.com/office/drawing/2014/main" xmlns="" id="{91A73A7C-ECBD-4B64-B897-B593DDDE189D}"/>
              </a:ext>
            </a:extLst>
          </p:cNvPr>
          <p:cNvSpPr txBox="1"/>
          <p:nvPr/>
        </p:nvSpPr>
        <p:spPr>
          <a:xfrm>
            <a:off x="952270" y="2034139"/>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1</a:t>
            </a:r>
          </a:p>
        </p:txBody>
      </p:sp>
      <p:sp>
        <p:nvSpPr>
          <p:cNvPr id="24" name="CuadroTexto 23">
            <a:extLst>
              <a:ext uri="{FF2B5EF4-FFF2-40B4-BE49-F238E27FC236}">
                <a16:creationId xmlns:a16="http://schemas.microsoft.com/office/drawing/2014/main" xmlns="" id="{A1D953F2-6510-4666-BE61-EA5BAE28E852}"/>
              </a:ext>
            </a:extLst>
          </p:cNvPr>
          <p:cNvSpPr txBox="1"/>
          <p:nvPr/>
        </p:nvSpPr>
        <p:spPr>
          <a:xfrm>
            <a:off x="539552" y="3815175"/>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2</a:t>
            </a:r>
          </a:p>
        </p:txBody>
      </p:sp>
      <p:sp>
        <p:nvSpPr>
          <p:cNvPr id="25" name="CuadroTexto 24">
            <a:extLst>
              <a:ext uri="{FF2B5EF4-FFF2-40B4-BE49-F238E27FC236}">
                <a16:creationId xmlns:a16="http://schemas.microsoft.com/office/drawing/2014/main" xmlns="" id="{C24B8033-C382-4F17-8DD5-F191390D8194}"/>
              </a:ext>
            </a:extLst>
          </p:cNvPr>
          <p:cNvSpPr txBox="1"/>
          <p:nvPr/>
        </p:nvSpPr>
        <p:spPr>
          <a:xfrm>
            <a:off x="2620415" y="5687383"/>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3</a:t>
            </a:r>
          </a:p>
        </p:txBody>
      </p:sp>
      <p:pic>
        <p:nvPicPr>
          <p:cNvPr id="26" name="Imagen 25">
            <a:extLst>
              <a:ext uri="{FF2B5EF4-FFF2-40B4-BE49-F238E27FC236}">
                <a16:creationId xmlns:a16="http://schemas.microsoft.com/office/drawing/2014/main" xmlns="" id="{67DAC6D1-0798-482F-8CB6-6360EE1E60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969" y="3332348"/>
            <a:ext cx="2523809" cy="1438095"/>
          </a:xfrm>
          <a:prstGeom prst="rect">
            <a:avLst/>
          </a:prstGeom>
        </p:spPr>
      </p:pic>
      <p:pic>
        <p:nvPicPr>
          <p:cNvPr id="27" name="Imagen 26">
            <a:extLst>
              <a:ext uri="{FF2B5EF4-FFF2-40B4-BE49-F238E27FC236}">
                <a16:creationId xmlns:a16="http://schemas.microsoft.com/office/drawing/2014/main" xmlns="" id="{69181F7E-1785-41C4-AE5C-8C126D6693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7864" y="3546307"/>
            <a:ext cx="2533333" cy="1438095"/>
          </a:xfrm>
          <a:prstGeom prst="rect">
            <a:avLst/>
          </a:prstGeom>
        </p:spPr>
      </p:pic>
      <p:pic>
        <p:nvPicPr>
          <p:cNvPr id="28" name="Imagen 27">
            <a:extLst>
              <a:ext uri="{FF2B5EF4-FFF2-40B4-BE49-F238E27FC236}">
                <a16:creationId xmlns:a16="http://schemas.microsoft.com/office/drawing/2014/main" xmlns="" id="{69791F09-D811-4B04-BCA6-18C76E28E4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24128" y="3834339"/>
            <a:ext cx="2533333" cy="1466667"/>
          </a:xfrm>
          <a:prstGeom prst="rect">
            <a:avLst/>
          </a:prstGeom>
        </p:spPr>
      </p:pic>
      <p:pic>
        <p:nvPicPr>
          <p:cNvPr id="29" name="Imagen 28">
            <a:extLst>
              <a:ext uri="{FF2B5EF4-FFF2-40B4-BE49-F238E27FC236}">
                <a16:creationId xmlns:a16="http://schemas.microsoft.com/office/drawing/2014/main" xmlns="" id="{050DB11B-E8B9-43F2-9F02-219614D485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9619" y="5473087"/>
            <a:ext cx="3104762" cy="809524"/>
          </a:xfrm>
          <a:prstGeom prst="rect">
            <a:avLst/>
          </a:prstGeom>
        </p:spPr>
      </p:pic>
    </p:spTree>
    <p:extLst>
      <p:ext uri="{BB962C8B-B14F-4D97-AF65-F5344CB8AC3E}">
        <p14:creationId xmlns:p14="http://schemas.microsoft.com/office/powerpoint/2010/main" val="399448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2">
            <a:extLst>
              <a:ext uri="{FF2B5EF4-FFF2-40B4-BE49-F238E27FC236}">
                <a16:creationId xmlns:a16="http://schemas.microsoft.com/office/drawing/2014/main" xmlns="" id="{24521E72-BB4F-429D-AC0B-3B23B68908A8}"/>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Trabajando con Variables de Sustitución (&amp;&amp;)</a:t>
            </a:r>
          </a:p>
        </p:txBody>
      </p:sp>
      <p:sp>
        <p:nvSpPr>
          <p:cNvPr id="32" name="Marcador de contenido 1">
            <a:extLst>
              <a:ext uri="{FF2B5EF4-FFF2-40B4-BE49-F238E27FC236}">
                <a16:creationId xmlns:a16="http://schemas.microsoft.com/office/drawing/2014/main" xmlns="" id="{238F4F3C-F448-4380-AA8F-96136FFB4AA8}"/>
              </a:ext>
            </a:extLst>
          </p:cNvPr>
          <p:cNvSpPr txBox="1">
            <a:spLocks/>
          </p:cNvSpPr>
          <p:nvPr/>
        </p:nvSpPr>
        <p:spPr>
          <a:xfrm>
            <a:off x="529880" y="127006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33" name="Text Box 5">
            <a:extLst>
              <a:ext uri="{FF2B5EF4-FFF2-40B4-BE49-F238E27FC236}">
                <a16:creationId xmlns:a16="http://schemas.microsoft.com/office/drawing/2014/main" xmlns="" id="{6CED2241-DB67-4DB2-849D-543ACEAD1189}"/>
              </a:ext>
            </a:extLst>
          </p:cNvPr>
          <p:cNvSpPr txBox="1">
            <a:spLocks noChangeArrowheads="1"/>
          </p:cNvSpPr>
          <p:nvPr/>
        </p:nvSpPr>
        <p:spPr bwMode="auto">
          <a:xfrm>
            <a:off x="1271296" y="1628800"/>
            <a:ext cx="583200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charset="0"/>
              </a:rPr>
              <a:t>job_id</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&amp;&amp;</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column_name</a:t>
            </a:r>
            <a:endParaRPr kumimoji="0" lang="en-US" sz="1600" b="1" i="0" u="none" strike="noStrike" kern="1200" cap="none" spc="0" normalizeH="0" baseline="0" noProof="0" dirty="0">
              <a:ln>
                <a:noFill/>
              </a:ln>
              <a:solidFill>
                <a:srgbClr val="C00000"/>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ORDER BY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&amp;</a:t>
            </a:r>
            <a:r>
              <a:rPr kumimoji="0" lang="en-US" sz="1600" b="1" i="0" u="none" strike="noStrike" kern="1200" cap="none" spc="0" normalizeH="0" baseline="0" noProof="0" dirty="0" err="1">
                <a:ln>
                  <a:noFill/>
                </a:ln>
                <a:solidFill>
                  <a:srgbClr val="C00000"/>
                </a:solidFill>
                <a:effectLst/>
                <a:uLnTx/>
                <a:uFillTx/>
                <a:latin typeface="Calibri"/>
                <a:ea typeface="+mn-ea"/>
                <a:cs typeface="Arial" charset="0"/>
              </a:rPr>
              <a:t>column_name</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34" name="CuadroTexto 33">
            <a:extLst>
              <a:ext uri="{FF2B5EF4-FFF2-40B4-BE49-F238E27FC236}">
                <a16:creationId xmlns:a16="http://schemas.microsoft.com/office/drawing/2014/main" xmlns="" id="{AE541F83-031E-463B-857A-C8BDBBE69DF3}"/>
              </a:ext>
            </a:extLst>
          </p:cNvPr>
          <p:cNvSpPr txBox="1"/>
          <p:nvPr/>
        </p:nvSpPr>
        <p:spPr>
          <a:xfrm>
            <a:off x="819270" y="1905621"/>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1</a:t>
            </a:r>
          </a:p>
        </p:txBody>
      </p:sp>
      <p:sp>
        <p:nvSpPr>
          <p:cNvPr id="35" name="CuadroTexto 34">
            <a:extLst>
              <a:ext uri="{FF2B5EF4-FFF2-40B4-BE49-F238E27FC236}">
                <a16:creationId xmlns:a16="http://schemas.microsoft.com/office/drawing/2014/main" xmlns="" id="{9E5E9D4D-0F74-4F33-9038-7C35D5F7AB60}"/>
              </a:ext>
            </a:extLst>
          </p:cNvPr>
          <p:cNvSpPr txBox="1"/>
          <p:nvPr/>
        </p:nvSpPr>
        <p:spPr>
          <a:xfrm>
            <a:off x="694584" y="3777829"/>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2</a:t>
            </a:r>
          </a:p>
        </p:txBody>
      </p:sp>
      <p:sp>
        <p:nvSpPr>
          <p:cNvPr id="36" name="CuadroTexto 35">
            <a:extLst>
              <a:ext uri="{FF2B5EF4-FFF2-40B4-BE49-F238E27FC236}">
                <a16:creationId xmlns:a16="http://schemas.microsoft.com/office/drawing/2014/main" xmlns="" id="{EF711636-6A05-4915-A116-56557EB279A9}"/>
              </a:ext>
            </a:extLst>
          </p:cNvPr>
          <p:cNvSpPr txBox="1"/>
          <p:nvPr/>
        </p:nvSpPr>
        <p:spPr>
          <a:xfrm>
            <a:off x="4291744" y="4137869"/>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3</a:t>
            </a:r>
          </a:p>
        </p:txBody>
      </p:sp>
      <p:sp>
        <p:nvSpPr>
          <p:cNvPr id="37" name="Text Box 11">
            <a:extLst>
              <a:ext uri="{FF2B5EF4-FFF2-40B4-BE49-F238E27FC236}">
                <a16:creationId xmlns:a16="http://schemas.microsoft.com/office/drawing/2014/main" xmlns="" id="{77F77C9C-7CFC-40E2-9DA2-F806181C68D4}"/>
              </a:ext>
            </a:extLst>
          </p:cNvPr>
          <p:cNvSpPr txBox="1">
            <a:spLocks noChangeArrowheads="1"/>
          </p:cNvSpPr>
          <p:nvPr/>
        </p:nvSpPr>
        <p:spPr bwMode="auto">
          <a:xfrm>
            <a:off x="4689655" y="4976451"/>
            <a:ext cx="40133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Times New Roman" panose="02020603050405020304" pitchFamily="18" charset="0"/>
              </a:defRPr>
            </a:lvl1pPr>
            <a:lvl2pPr marL="742950" indent="-285750" eaLnBrk="0" hangingPunct="0">
              <a:defRPr sz="2000" b="1">
                <a:solidFill>
                  <a:schemeClr val="tx1"/>
                </a:solidFill>
                <a:latin typeface="Times New Roman" panose="02020603050405020304" pitchFamily="18" charset="0"/>
              </a:defRPr>
            </a:lvl2pPr>
            <a:lvl3pPr marL="1143000" indent="-228600" eaLnBrk="0" hangingPunct="0">
              <a:defRPr sz="2000" b="1">
                <a:solidFill>
                  <a:schemeClr val="tx1"/>
                </a:solidFill>
                <a:latin typeface="Times New Roman" panose="02020603050405020304" pitchFamily="18" charset="0"/>
              </a:defRPr>
            </a:lvl3pPr>
            <a:lvl4pPr marL="1600200" indent="-228600" eaLnBrk="0" hangingPunct="0">
              <a:defRPr sz="2000" b="1">
                <a:solidFill>
                  <a:schemeClr val="tx1"/>
                </a:solidFill>
                <a:latin typeface="Times New Roman" panose="02020603050405020304" pitchFamily="18" charset="0"/>
              </a:defRPr>
            </a:lvl4pPr>
            <a:lvl5pPr marL="2057400" indent="-228600" eaLnBrk="0" hangingPunct="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pPr eaLnBrk="1" fontAlgn="base" hangingPunct="1">
              <a:spcBef>
                <a:spcPct val="0"/>
              </a:spcBef>
              <a:spcAft>
                <a:spcPct val="0"/>
              </a:spcAft>
              <a:buClrTx/>
              <a:buFontTx/>
              <a:buNone/>
            </a:pPr>
            <a:r>
              <a:rPr lang="es-CL" sz="1400" kern="1200" dirty="0">
                <a:solidFill>
                  <a:prstClr val="black"/>
                </a:solidFill>
                <a:ea typeface="+mn-ea"/>
                <a:cs typeface="Arial" panose="020B0604020202020204" pitchFamily="34" charset="0"/>
              </a:rPr>
              <a:t>……………………….………..…..…………...…..</a:t>
            </a:r>
          </a:p>
          <a:p>
            <a:pPr eaLnBrk="1" fontAlgn="base" hangingPunct="1">
              <a:spcBef>
                <a:spcPct val="0"/>
              </a:spcBef>
              <a:spcAft>
                <a:spcPct val="0"/>
              </a:spcAft>
              <a:buClrTx/>
              <a:buFontTx/>
              <a:buNone/>
            </a:pPr>
            <a:r>
              <a:rPr lang="es-CL" sz="1400" kern="1200" dirty="0">
                <a:solidFill>
                  <a:prstClr val="black"/>
                </a:solidFill>
                <a:ea typeface="+mn-ea"/>
                <a:cs typeface="Arial" panose="020B0604020202020204" pitchFamily="34" charset="0"/>
              </a:rPr>
              <a:t>……………………………………………………..</a:t>
            </a:r>
          </a:p>
        </p:txBody>
      </p:sp>
      <p:pic>
        <p:nvPicPr>
          <p:cNvPr id="38" name="Imagen 37">
            <a:extLst>
              <a:ext uri="{FF2B5EF4-FFF2-40B4-BE49-F238E27FC236}">
                <a16:creationId xmlns:a16="http://schemas.microsoft.com/office/drawing/2014/main" xmlns="" id="{7B55E1C5-E51E-4C77-B8A0-3956BC96EE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9040" y="2940640"/>
            <a:ext cx="3619048" cy="2133333"/>
          </a:xfrm>
          <a:prstGeom prst="rect">
            <a:avLst/>
          </a:prstGeom>
        </p:spPr>
      </p:pic>
      <p:pic>
        <p:nvPicPr>
          <p:cNvPr id="39" name="Imagen 38">
            <a:extLst>
              <a:ext uri="{FF2B5EF4-FFF2-40B4-BE49-F238E27FC236}">
                <a16:creationId xmlns:a16="http://schemas.microsoft.com/office/drawing/2014/main" xmlns="" id="{ECDCA7DA-367A-4390-AC3A-F0E9EF4B5C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4554" y="5506021"/>
            <a:ext cx="3619048" cy="580952"/>
          </a:xfrm>
          <a:prstGeom prst="rect">
            <a:avLst/>
          </a:prstGeom>
        </p:spPr>
      </p:pic>
      <p:pic>
        <p:nvPicPr>
          <p:cNvPr id="40" name="Imagen 39">
            <a:extLst>
              <a:ext uri="{FF2B5EF4-FFF2-40B4-BE49-F238E27FC236}">
                <a16:creationId xmlns:a16="http://schemas.microsoft.com/office/drawing/2014/main" xmlns="" id="{A0783B8E-9B1F-4289-BAF4-CCBF8C3168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6690" y="3258486"/>
            <a:ext cx="2666667" cy="1561905"/>
          </a:xfrm>
          <a:prstGeom prst="rect">
            <a:avLst/>
          </a:prstGeom>
        </p:spPr>
      </p:pic>
      <p:pic>
        <p:nvPicPr>
          <p:cNvPr id="41" name="Imagen 40">
            <a:extLst>
              <a:ext uri="{FF2B5EF4-FFF2-40B4-BE49-F238E27FC236}">
                <a16:creationId xmlns:a16="http://schemas.microsoft.com/office/drawing/2014/main" xmlns="" id="{F531971C-1BE7-4505-B5E5-C5622191A6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4483" y="5387990"/>
            <a:ext cx="2693884" cy="576421"/>
          </a:xfrm>
          <a:prstGeom prst="rect">
            <a:avLst/>
          </a:prstGeom>
        </p:spPr>
      </p:pic>
      <p:sp>
        <p:nvSpPr>
          <p:cNvPr id="42" name="CuadroTexto 41">
            <a:extLst>
              <a:ext uri="{FF2B5EF4-FFF2-40B4-BE49-F238E27FC236}">
                <a16:creationId xmlns:a16="http://schemas.microsoft.com/office/drawing/2014/main" xmlns="" id="{0E16C6C3-8014-4148-AF1E-5E5DCADDF9DB}"/>
              </a:ext>
            </a:extLst>
          </p:cNvPr>
          <p:cNvSpPr txBox="1"/>
          <p:nvPr/>
        </p:nvSpPr>
        <p:spPr>
          <a:xfrm>
            <a:off x="831231" y="5426060"/>
            <a:ext cx="367409" cy="523220"/>
          </a:xfrm>
          <a:prstGeom prst="rect">
            <a:avLst/>
          </a:prstGeom>
          <a:noFill/>
        </p:spPr>
        <p:txBody>
          <a:bodyPr wrap="none" rtlCol="0">
            <a:spAutoFit/>
          </a:bodyPr>
          <a:lstStyle/>
          <a:p>
            <a:pPr algn="ctr" fontAlgn="base">
              <a:spcBef>
                <a:spcPct val="0"/>
              </a:spcBef>
              <a:spcAft>
                <a:spcPct val="0"/>
              </a:spcAft>
              <a:buClrTx/>
              <a:buFontTx/>
              <a:buNone/>
            </a:pPr>
            <a:r>
              <a:rPr lang="es-CL" sz="2800" b="1" kern="1200" dirty="0">
                <a:solidFill>
                  <a:srgbClr val="C00000"/>
                </a:solidFill>
                <a:latin typeface="Calibri"/>
                <a:ea typeface="+mn-ea"/>
                <a:cs typeface="Arial" panose="020B0604020202020204" pitchFamily="34" charset="0"/>
              </a:rPr>
              <a:t>4</a:t>
            </a:r>
          </a:p>
        </p:txBody>
      </p:sp>
    </p:spTree>
    <p:extLst>
      <p:ext uri="{BB962C8B-B14F-4D97-AF65-F5344CB8AC3E}">
        <p14:creationId xmlns:p14="http://schemas.microsoft.com/office/powerpoint/2010/main" val="13948812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36</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Resumen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p:txBody>
          <a:bodyPr/>
          <a:lstStyle/>
          <a:p>
            <a:pPr marL="393700" indent="-342900" algn="just">
              <a:buFont typeface="Arial" panose="020B0604020202020204" pitchFamily="34" charset="0"/>
              <a:buChar char="•"/>
            </a:pPr>
            <a:r>
              <a:rPr lang="es-CL" sz="2200" dirty="0"/>
              <a:t>Se explicó cómo utilizar la cláusula WHERE para restringir las filas afectadas por una sentencias SQL.</a:t>
            </a:r>
          </a:p>
          <a:p>
            <a:pPr marL="393700" indent="-342900" algn="just">
              <a:buFont typeface="Arial" panose="020B0604020202020204" pitchFamily="34" charset="0"/>
              <a:buChar char="•"/>
            </a:pPr>
            <a:r>
              <a:rPr lang="es-CL" sz="2200" dirty="0"/>
              <a:t>Se explicó cómo utilizar los diferentes operadores en una condición de comparación.</a:t>
            </a:r>
          </a:p>
          <a:p>
            <a:pPr marL="393700" indent="-342900" algn="just">
              <a:buFont typeface="Arial" panose="020B0604020202020204" pitchFamily="34" charset="0"/>
              <a:buChar char="•"/>
            </a:pPr>
            <a:r>
              <a:rPr lang="es-CL" sz="2200" dirty="0"/>
              <a:t>Se explicó cómo utilizar los diferentes operadores lógicos en una condición.</a:t>
            </a:r>
          </a:p>
          <a:p>
            <a:pPr marL="393700" indent="-342900" algn="just">
              <a:buFont typeface="Arial" panose="020B0604020202020204" pitchFamily="34" charset="0"/>
              <a:buChar char="•"/>
            </a:pPr>
            <a:r>
              <a:rPr lang="es-CL" sz="2200" dirty="0"/>
              <a:t>Se explicó cómo crear tablas a partir de una Sentencia SELECT.</a:t>
            </a:r>
          </a:p>
          <a:p>
            <a:pPr marL="393700" indent="-342900" algn="just">
              <a:buFont typeface="Arial" panose="020B0604020202020204" pitchFamily="34" charset="0"/>
              <a:buChar char="•"/>
            </a:pPr>
            <a:r>
              <a:rPr lang="es-CL" sz="2200" dirty="0"/>
              <a:t>Se explicó cómo usar variables  de sustitución para seleccionar, restringir y ordenar la información en tiempo de ejecución</a:t>
            </a:r>
          </a:p>
          <a:p>
            <a:pPr algn="l"/>
            <a:endParaRPr lang="es-CL" sz="2200" dirty="0"/>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2145</TotalTime>
  <Words>3520</Words>
  <Application>Microsoft Office PowerPoint</Application>
  <PresentationFormat>Presentación en pantalla (4:3)</PresentationFormat>
  <Paragraphs>465</Paragraphs>
  <Slides>36</Slides>
  <Notes>31</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36</vt:i4>
      </vt:variant>
    </vt:vector>
  </HeadingPairs>
  <TitlesOfParts>
    <vt:vector size="47" baseType="lpstr">
      <vt:lpstr>Roboto Condensed</vt:lpstr>
      <vt:lpstr>Calibri</vt:lpstr>
      <vt:lpstr>Roboto</vt:lpstr>
      <vt:lpstr>Wingdings</vt:lpstr>
      <vt:lpstr>Times New Roman</vt:lpstr>
      <vt:lpstr>Roboto Mono</vt:lpstr>
      <vt:lpstr>Arial Unicode MS</vt:lpstr>
      <vt:lpstr>Bebas Neue</vt:lpstr>
      <vt:lpstr>Arial</vt:lpstr>
      <vt:lpstr>Franklin Gothic</vt:lpstr>
      <vt:lpstr>Tema de Office</vt:lpstr>
      <vt:lpstr>Usando  Restricciones  en  Sentencias  SQL</vt:lpstr>
      <vt:lpstr>Experiencia de Aprendizaje y Competencia Asociada</vt:lpstr>
      <vt:lpstr>Objetivos de la Clase</vt:lpstr>
      <vt:lpstr>Restringir la  Filas Seleccionadas</vt:lpstr>
      <vt:lpstr>Restringiendo las Filas que son Seleccionadas</vt:lpstr>
      <vt:lpstr>Restringiendo las Filas que son Seleccionadas</vt:lpstr>
      <vt:lpstr>Restringiendo las Filas que son Seleccionadas</vt:lpstr>
      <vt:lpstr>Restringiendo las Filas que son Seleccionadas</vt:lpstr>
      <vt:lpstr>Condiciones de Comparación</vt:lpstr>
      <vt:lpstr>Condiciones de Comparación</vt:lpstr>
      <vt:lpstr>Condición de Comparación: Operador &lt;=</vt:lpstr>
      <vt:lpstr>Condición de Comparación: Operador BETWEEN</vt:lpstr>
      <vt:lpstr>Condición de Comparación: Operador IN</vt:lpstr>
      <vt:lpstr>Condición de Comparación: Operador LIKE</vt:lpstr>
      <vt:lpstr>Condición de Comparación: Operador LIKE</vt:lpstr>
      <vt:lpstr>Condición de Comparación: Operador NULL</vt:lpstr>
      <vt:lpstr>Operadores  Lógicos</vt:lpstr>
      <vt:lpstr>Usando Operadores Lógicos</vt:lpstr>
      <vt:lpstr>Usando Operador Lógico  AND</vt:lpstr>
      <vt:lpstr>Usando Operador Lógico  OR</vt:lpstr>
      <vt:lpstr>Usando Operador Lógico  NOT</vt:lpstr>
      <vt:lpstr>Reglas de precedencia para los Operadores</vt:lpstr>
      <vt:lpstr>Reglas de precedencia para los Operadores</vt:lpstr>
      <vt:lpstr>Reglas de precedencia para los Operadores</vt:lpstr>
      <vt:lpstr>Sentencia SELECT para crear una Tabla</vt:lpstr>
      <vt:lpstr>Usando Sentencia SELECT para crear Tablas</vt:lpstr>
      <vt:lpstr>Usando Sentencia SELECT para crear Tablas</vt:lpstr>
      <vt:lpstr>Usando Sentencia SELECT para crear Tablas</vt:lpstr>
      <vt:lpstr>Usando Sentencia SELECT para crear Tablas</vt:lpstr>
      <vt:lpstr>Variables de Sustitución</vt:lpstr>
      <vt:lpstr>Trabajando con Variables de Sustitución</vt:lpstr>
      <vt:lpstr>Trabajando con Variables de Sustitución (&amp;)</vt:lpstr>
      <vt:lpstr>Trabajando con Variables de Sustitución (&amp;)</vt:lpstr>
      <vt:lpstr>Trabajando con Variables de Sustitución (&amp;)</vt:lpstr>
      <vt:lpstr>Trabajando con Variables de Sustitución (&amp;&amp;)</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254</cp:revision>
  <dcterms:modified xsi:type="dcterms:W3CDTF">2020-06-24T16:07:03Z</dcterms:modified>
</cp:coreProperties>
</file>