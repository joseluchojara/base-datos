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5"/>
  </p:notesMasterIdLst>
  <p:sldIdLst>
    <p:sldId id="256" r:id="rId2"/>
    <p:sldId id="257" r:id="rId3"/>
    <p:sldId id="263" r:id="rId4"/>
    <p:sldId id="258" r:id="rId5"/>
    <p:sldId id="315" r:id="rId6"/>
    <p:sldId id="316" r:id="rId7"/>
    <p:sldId id="317" r:id="rId8"/>
    <p:sldId id="318" r:id="rId9"/>
    <p:sldId id="319" r:id="rId10"/>
    <p:sldId id="268" r:id="rId11"/>
    <p:sldId id="279" r:id="rId12"/>
    <p:sldId id="320" r:id="rId13"/>
    <p:sldId id="321" r:id="rId14"/>
    <p:sldId id="322" r:id="rId15"/>
    <p:sldId id="323" r:id="rId16"/>
    <p:sldId id="269" r:id="rId17"/>
    <p:sldId id="304" r:id="rId18"/>
    <p:sldId id="324" r:id="rId19"/>
    <p:sldId id="325" r:id="rId20"/>
    <p:sldId id="326" r:id="rId21"/>
    <p:sldId id="327" r:id="rId22"/>
    <p:sldId id="328" r:id="rId23"/>
    <p:sldId id="329" r:id="rId24"/>
    <p:sldId id="330" r:id="rId25"/>
    <p:sldId id="331" r:id="rId26"/>
    <p:sldId id="270" r:id="rId27"/>
    <p:sldId id="281" r:id="rId28"/>
    <p:sldId id="332" r:id="rId29"/>
    <p:sldId id="333" r:id="rId30"/>
    <p:sldId id="334" r:id="rId31"/>
    <p:sldId id="335" r:id="rId32"/>
    <p:sldId id="336" r:id="rId33"/>
    <p:sldId id="314" r:id="rId34"/>
  </p:sldIdLst>
  <p:sldSz cx="9144000" cy="6858000" type="screen4x3"/>
  <p:notesSz cx="6858000" cy="9144000"/>
  <p:embeddedFontLst>
    <p:embeddedFont>
      <p:font typeface="Bebas Neue" panose="020B0604020202020204" charset="0"/>
      <p:regular r:id="rId36"/>
    </p:embeddedFont>
    <p:embeddedFont>
      <p:font typeface="Roboto Condensed" panose="020B0604020202020204" charset="0"/>
      <p:regular r:id="rId37"/>
      <p:bold r:id="rId38"/>
      <p:italic r:id="rId39"/>
      <p:boldItalic r:id="rId40"/>
    </p:embeddedFont>
    <p:embeddedFont>
      <p:font typeface="Roboto Mono" panose="020B0604020202020204" charset="0"/>
      <p:regular r:id="rId41"/>
      <p:bold r:id="rId42"/>
      <p:italic r:id="rId43"/>
      <p:boldItalic r:id="rId44"/>
    </p:embeddedFont>
    <p:embeddedFont>
      <p:font typeface="Calibri" panose="020F0502020204030204" pitchFamily="34" charset="0"/>
      <p:regular r:id="rId45"/>
      <p:bold r:id="rId46"/>
      <p:italic r:id="rId47"/>
      <p:boldItalic r:id="rId48"/>
    </p:embeddedFont>
    <p:embeddedFont>
      <p:font typeface="Franklin Gothic" panose="020B0604020202020204" charset="0"/>
      <p:regular r:id="rId49"/>
      <p:bold r:id="rId50"/>
      <p:italic r:id="rId51"/>
      <p:boldItalic r:id="rId52"/>
    </p:embeddedFont>
    <p:embeddedFont>
      <p:font typeface="Arial Unicode MS" panose="020B0604020202020204" pitchFamily="34" charset="-128"/>
      <p:regular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DE"/>
    <a:srgbClr val="008000"/>
    <a:srgbClr val="800080"/>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2" autoAdjust="0"/>
    <p:restoredTop sz="93506" autoAdjust="0"/>
  </p:normalViewPr>
  <p:slideViewPr>
    <p:cSldViewPr snapToGrid="0" snapToObjects="1">
      <p:cViewPr varScale="1">
        <p:scale>
          <a:sx n="109" d="100"/>
          <a:sy n="109" d="100"/>
        </p:scale>
        <p:origin x="16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font" Target="fonts/font15.fntdata"/><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3" Type="http://schemas.openxmlformats.org/officeDocument/2006/relationships/font" Target="fonts/font18.fntdata"/><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font" Target="fonts/font13.fntdata"/><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font" Target="fonts/font16.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font" Target="fonts/font14.fntdata"/><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9.fntdata"/><Relationship Id="rId52" Type="http://schemas.openxmlformats.org/officeDocument/2006/relationships/font" Target="fonts/font1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714474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63392f1e7f_0_4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63392f1e7f_0_4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9570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6339709a3a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6339709a3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63168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63392f1e7f_0_5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63392f1e7f_0_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078135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90000"/>
              </a:lnSpc>
              <a:spcBef>
                <a:spcPct val="0"/>
              </a:spcBef>
              <a:buNone/>
            </a:pPr>
            <a:r>
              <a:rPr lang="es-CL" sz="1200" b="1" dirty="0">
                <a:latin typeface="Calibri" panose="020F0502020204030204" pitchFamily="34" charset="0"/>
                <a:cs typeface="Calibri" panose="020F0502020204030204" pitchFamily="34" charset="0"/>
              </a:rPr>
              <a:t>Capacidades de la Sentencia SELECT</a:t>
            </a:r>
          </a:p>
          <a:p>
            <a:pPr marL="171450" indent="-171450" algn="just" eaLnBrk="1" hangingPunct="1">
              <a:lnSpc>
                <a:spcPct val="90000"/>
              </a:lnSpc>
              <a:spcBef>
                <a:spcPct val="0"/>
              </a:spcBef>
              <a:buFont typeface="Arial" panose="020B0604020202020204" pitchFamily="34" charset="0"/>
              <a:buChar char="•"/>
            </a:pPr>
            <a:r>
              <a:rPr lang="es-CL" sz="1200" dirty="0">
                <a:latin typeface="Calibri" panose="020F0502020204030204" pitchFamily="34" charset="0"/>
                <a:cs typeface="Calibri" panose="020F0502020204030204" pitchFamily="34" charset="0"/>
              </a:rPr>
              <a:t>Una sentencia SELECT recupera (muestra) información desde la Base de Datos. </a:t>
            </a:r>
          </a:p>
          <a:p>
            <a:pPr marL="171450" indent="-171450" algn="just" eaLnBrk="1" hangingPunct="1">
              <a:lnSpc>
                <a:spcPct val="90000"/>
              </a:lnSpc>
              <a:spcBef>
                <a:spcPct val="0"/>
              </a:spcBef>
              <a:buFont typeface="Arial" panose="020B0604020202020204" pitchFamily="34" charset="0"/>
              <a:buChar char="•"/>
            </a:pPr>
            <a:r>
              <a:rPr lang="es-CL" sz="1200" dirty="0">
                <a:latin typeface="Calibri" panose="020F0502020204030204" pitchFamily="34" charset="0"/>
                <a:cs typeface="Calibri" panose="020F0502020204030204" pitchFamily="34" charset="0"/>
              </a:rPr>
              <a:t>Con una sentencia SELECT se pueden:</a:t>
            </a:r>
          </a:p>
          <a:p>
            <a:pPr marL="628650" lvl="1" indent="-171450" algn="just" eaLnBrk="1" hangingPunct="1">
              <a:lnSpc>
                <a:spcPct val="90000"/>
              </a:lnSpc>
              <a:spcBef>
                <a:spcPct val="0"/>
              </a:spcBef>
              <a:buFont typeface="Arial" panose="020B0604020202020204" pitchFamily="34" charset="0"/>
              <a:buChar char="•"/>
            </a:pPr>
            <a:r>
              <a:rPr lang="es-CL" sz="1200" dirty="0">
                <a:latin typeface="Calibri" panose="020F0502020204030204" pitchFamily="34" charset="0"/>
                <a:cs typeface="Calibri" panose="020F0502020204030204" pitchFamily="34" charset="0"/>
              </a:rPr>
              <a:t>Elegir las columnas de la tabla que retornará la consulta o </a:t>
            </a:r>
            <a:r>
              <a:rPr lang="es-CL" sz="1200" dirty="0" err="1">
                <a:latin typeface="Calibri" panose="020F0502020204030204" pitchFamily="34" charset="0"/>
                <a:cs typeface="Calibri" panose="020F0502020204030204" pitchFamily="34" charset="0"/>
              </a:rPr>
              <a:t>query</a:t>
            </a:r>
            <a:r>
              <a:rPr lang="es-CL" sz="1200" dirty="0">
                <a:latin typeface="Calibri" panose="020F0502020204030204" pitchFamily="34" charset="0"/>
                <a:cs typeface="Calibri" panose="020F0502020204030204" pitchFamily="34" charset="0"/>
              </a:rPr>
              <a:t> (Proyección).</a:t>
            </a:r>
          </a:p>
          <a:p>
            <a:pPr marL="628650" lvl="1" indent="-171450" algn="just" eaLnBrk="1" hangingPunct="1">
              <a:lnSpc>
                <a:spcPct val="90000"/>
              </a:lnSpc>
              <a:spcBef>
                <a:spcPct val="0"/>
              </a:spcBef>
              <a:buFont typeface="Arial" panose="020B0604020202020204" pitchFamily="34" charset="0"/>
              <a:buChar char="•"/>
            </a:pPr>
            <a:r>
              <a:rPr lang="es-CL" sz="1200" dirty="0">
                <a:latin typeface="Calibri" panose="020F0502020204030204" pitchFamily="34" charset="0"/>
                <a:cs typeface="Calibri" panose="020F0502020204030204" pitchFamily="34" charset="0"/>
              </a:rPr>
              <a:t>Elegir las filas de la tabla que retornará la </a:t>
            </a:r>
            <a:r>
              <a:rPr lang="es-CL" sz="1200" dirty="0" err="1">
                <a:latin typeface="Calibri" panose="020F0502020204030204" pitchFamily="34" charset="0"/>
                <a:cs typeface="Calibri" panose="020F0502020204030204" pitchFamily="34" charset="0"/>
              </a:rPr>
              <a:t>query</a:t>
            </a:r>
            <a:r>
              <a:rPr lang="es-CL" sz="1200" dirty="0">
                <a:latin typeface="Calibri" panose="020F0502020204030204" pitchFamily="34" charset="0"/>
                <a:cs typeface="Calibri" panose="020F0502020204030204" pitchFamily="34" charset="0"/>
              </a:rPr>
              <a:t> (Selección). </a:t>
            </a:r>
          </a:p>
          <a:p>
            <a:pPr marL="628650" lvl="1" indent="-171450" algn="just" eaLnBrk="1" hangingPunct="1">
              <a:lnSpc>
                <a:spcPct val="90000"/>
              </a:lnSpc>
              <a:spcBef>
                <a:spcPct val="0"/>
              </a:spcBef>
              <a:buFont typeface="Arial" panose="020B0604020202020204" pitchFamily="34" charset="0"/>
              <a:buChar char="•"/>
            </a:pPr>
            <a:r>
              <a:rPr lang="es-CL" sz="1200" dirty="0">
                <a:latin typeface="Calibri" panose="020F0502020204030204" pitchFamily="34" charset="0"/>
                <a:cs typeface="Calibri" panose="020F0502020204030204" pitchFamily="34" charset="0"/>
              </a:rPr>
              <a:t>Elegir los datos que están almacenados en diferentes tablas especificando la unión entre ellas, generalmente será por las columnas de tipo Claves Foráneas (</a:t>
            </a:r>
            <a:r>
              <a:rPr lang="es-CL" sz="1200" dirty="0" err="1">
                <a:latin typeface="Calibri" panose="020F0502020204030204" pitchFamily="34" charset="0"/>
                <a:cs typeface="Calibri" panose="020F0502020204030204" pitchFamily="34" charset="0"/>
              </a:rPr>
              <a:t>Join</a:t>
            </a:r>
            <a:r>
              <a:rPr lang="es-CL" sz="1200" dirty="0">
                <a:latin typeface="Calibri" panose="020F0502020204030204" pitchFamily="34" charset="0"/>
                <a:cs typeface="Calibri" panose="020F0502020204030204" pitchFamily="34" charset="0"/>
              </a:rPr>
              <a:t>).</a:t>
            </a:r>
          </a:p>
          <a:p>
            <a:pPr marL="0" indent="0" algn="just" eaLnBrk="1" hangingPunct="1">
              <a:lnSpc>
                <a:spcPct val="90000"/>
              </a:lnSpc>
              <a:spcBef>
                <a:spcPct val="0"/>
              </a:spcBef>
              <a:buNone/>
            </a:pPr>
            <a:endParaRPr lang="es-CL"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33068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CL" sz="1200" b="1" dirty="0">
                <a:latin typeface="Calibri" panose="020F0502020204030204" pitchFamily="34" charset="0"/>
                <a:cs typeface="Calibri" panose="020F0502020204030204" pitchFamily="34" charset="0"/>
              </a:rPr>
              <a:t>Seleccionando las Columnas de una</a:t>
            </a:r>
            <a:r>
              <a:rPr lang="es-CL" sz="1200" b="1" baseline="0" dirty="0">
                <a:latin typeface="Calibri" panose="020F0502020204030204" pitchFamily="34" charset="0"/>
                <a:cs typeface="Calibri" panose="020F0502020204030204" pitchFamily="34" charset="0"/>
              </a:rPr>
              <a:t> Tabla</a:t>
            </a:r>
            <a:endParaRPr lang="es-CL" sz="1200" b="0" baseline="0" dirty="0">
              <a:latin typeface="Calibri" panose="020F0502020204030204" pitchFamily="34" charset="0"/>
              <a:cs typeface="Calibri" panose="020F0502020204030204" pitchFamily="34" charset="0"/>
            </a:endParaRPr>
          </a:p>
          <a:p>
            <a:pPr marL="0" indent="0" algn="just">
              <a:buNone/>
            </a:pPr>
            <a:r>
              <a:rPr lang="es-CL" sz="1200" dirty="0">
                <a:latin typeface="Calibri" panose="020F0502020204030204" pitchFamily="34" charset="0"/>
                <a:cs typeface="Calibri" panose="020F0502020204030204" pitchFamily="34" charset="0"/>
              </a:rPr>
              <a:t>En la sintaxis:</a:t>
            </a: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SELECT:</a:t>
            </a:r>
            <a:r>
              <a:rPr lang="es-CL" sz="1200" dirty="0">
                <a:latin typeface="Calibri" panose="020F0502020204030204" pitchFamily="34" charset="0"/>
                <a:cs typeface="Calibri" panose="020F0502020204030204" pitchFamily="34" charset="0"/>
              </a:rPr>
              <a:t> es la cláusula que especifica una o más columnas que se desean mostrar.</a:t>
            </a: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a:t>
            </a:r>
            <a:r>
              <a:rPr lang="es-CL" sz="1200" dirty="0">
                <a:latin typeface="Calibri" panose="020F0502020204030204" pitchFamily="34" charset="0"/>
                <a:cs typeface="Calibri" panose="020F0502020204030204" pitchFamily="34" charset="0"/>
              </a:rPr>
              <a:t> selecciona todas las columnas.</a:t>
            </a: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DISTINCT:</a:t>
            </a:r>
            <a:r>
              <a:rPr lang="es-CL" sz="1200" dirty="0">
                <a:latin typeface="Calibri" panose="020F0502020204030204" pitchFamily="34" charset="0"/>
                <a:cs typeface="Calibri" panose="020F0502020204030204" pitchFamily="34" charset="0"/>
              </a:rPr>
              <a:t> permite que los valores duplicados de las columnas se muestren una vez.</a:t>
            </a:r>
          </a:p>
          <a:p>
            <a:pPr marL="171450" indent="-171450" algn="just">
              <a:buFont typeface="Arial" panose="020B0604020202020204" pitchFamily="34" charset="0"/>
              <a:buChar char="•"/>
            </a:pPr>
            <a:r>
              <a:rPr lang="es-CL" sz="1200" b="1" dirty="0" err="1">
                <a:latin typeface="Calibri" panose="020F0502020204030204" pitchFamily="34" charset="0"/>
                <a:cs typeface="Calibri" panose="020F0502020204030204" pitchFamily="34" charset="0"/>
              </a:rPr>
              <a:t>columna|expresión</a:t>
            </a:r>
            <a:r>
              <a:rPr lang="es-CL" sz="1200" b="1" dirty="0">
                <a:latin typeface="Calibri" panose="020F0502020204030204" pitchFamily="34" charset="0"/>
                <a:cs typeface="Calibri" panose="020F0502020204030204" pitchFamily="34" charset="0"/>
              </a:rPr>
              <a:t>:</a:t>
            </a:r>
            <a:r>
              <a:rPr lang="es-CL" sz="1200" dirty="0">
                <a:latin typeface="Calibri" panose="020F0502020204030204" pitchFamily="34" charset="0"/>
                <a:cs typeface="Calibri" panose="020F0502020204030204" pitchFamily="34" charset="0"/>
              </a:rPr>
              <a:t> selecciona el nombre de la columna o expresión.</a:t>
            </a: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alias:</a:t>
            </a:r>
            <a:r>
              <a:rPr lang="es-CL" sz="1200" dirty="0">
                <a:latin typeface="Calibri" panose="020F0502020204030204" pitchFamily="34" charset="0"/>
                <a:cs typeface="Calibri" panose="020F0502020204030204" pitchFamily="34" charset="0"/>
              </a:rPr>
              <a:t>  da un nombre de salida a la columna seleccionada (nombre lógico).</a:t>
            </a: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FROM tabla:</a:t>
            </a:r>
            <a:r>
              <a:rPr lang="es-CL" sz="1200" dirty="0">
                <a:latin typeface="Calibri" panose="020F0502020204030204" pitchFamily="34" charset="0"/>
                <a:cs typeface="Calibri" panose="020F0502020204030204" pitchFamily="34" charset="0"/>
              </a:rPr>
              <a:t> especifica la tabla que contiene las columnas que se desean mostrar.</a:t>
            </a: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WHERE condición :</a:t>
            </a:r>
            <a:r>
              <a:rPr lang="es-CL" sz="1200" dirty="0">
                <a:latin typeface="Calibri" panose="020F0502020204030204" pitchFamily="34" charset="0"/>
                <a:cs typeface="Calibri" panose="020F0502020204030204" pitchFamily="34" charset="0"/>
              </a:rPr>
              <a:t> permite mostrar las filas que cumplan con la condición.</a:t>
            </a:r>
          </a:p>
          <a:p>
            <a:pPr marL="171450" indent="-171450" algn="just">
              <a:buFont typeface="Arial" panose="020B0604020202020204" pitchFamily="34" charset="0"/>
              <a:buChar char="•"/>
            </a:pPr>
            <a:r>
              <a:rPr lang="es-CL" sz="1200" b="1" dirty="0">
                <a:latin typeface="Calibri" panose="020F0502020204030204" pitchFamily="34" charset="0"/>
                <a:cs typeface="Calibri" panose="020F0502020204030204" pitchFamily="34" charset="0"/>
              </a:rPr>
              <a:t>ORDER BY columna, expresión, posición numérica :</a:t>
            </a:r>
            <a:r>
              <a:rPr lang="es-CL" sz="1200" dirty="0">
                <a:latin typeface="Calibri" panose="020F0502020204030204" pitchFamily="34" charset="0"/>
                <a:cs typeface="Calibri" panose="020F0502020204030204" pitchFamily="34" charset="0"/>
              </a:rPr>
              <a:t> permite mostrar la información ordenada por una</a:t>
            </a:r>
            <a:r>
              <a:rPr lang="es-CL" sz="1200" baseline="0" dirty="0">
                <a:latin typeface="Calibri" panose="020F0502020204030204" pitchFamily="34" charset="0"/>
                <a:cs typeface="Calibri" panose="020F0502020204030204" pitchFamily="34" charset="0"/>
              </a:rPr>
              <a:t> columna, una expresión o indicando la posición que la columna o expresión tiene en la cláusula SELECT. ASC (valor por defecto) indica que la información se muestra ordenada en forma ascendente y DESC que la información se mostrará ordenada en forma descendente.</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5025071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eaLnBrk="1" hangingPunct="1">
              <a:lnSpc>
                <a:spcPct val="8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Seleccionando Todas las Columnas de la Tabla</a:t>
            </a:r>
            <a:endPar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609600" marR="0" indent="-609600" algn="just" defTabSz="914400" rtl="0" eaLnBrk="1" fontAlgn="auto" latinLnBrk="0" hangingPunct="1">
              <a:lnSpc>
                <a:spcPct val="80000"/>
              </a:lnSpc>
              <a:spcBef>
                <a:spcPts val="0"/>
              </a:spcBef>
              <a:spcAft>
                <a:spcPts val="0"/>
              </a:spcAft>
              <a:buClrTx/>
              <a:buSzTx/>
              <a:buFontTx/>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 pueden seleccionar todas las columnas de datos de una tabla usando un asterisco </a:t>
            </a: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 a continuación de la palabra SELECT.</a:t>
            </a:r>
          </a:p>
          <a:p>
            <a:pPr marL="609600" marR="0" indent="-609600" algn="just" defTabSz="914400" rtl="0" eaLnBrk="1" fontAlgn="auto" latinLnBrk="0" hangingPunct="1">
              <a:lnSpc>
                <a:spcPct val="80000"/>
              </a:lnSpc>
              <a:spcBef>
                <a:spcPts val="0"/>
              </a:spcBef>
              <a:spcAft>
                <a:spcPts val="0"/>
              </a:spcAft>
              <a:buClrTx/>
              <a:buSzTx/>
              <a:buFontTx/>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el ejemplo, la sentencia muestra toda la información (filas y columnas) que existe en la tabla DEPARTMENTS </a:t>
            </a: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a:buFont typeface="Arial" panose="020B0604020202020204" pitchFamily="34" charse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169460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Seleccionando Columnas Específicas de la Tabla</a:t>
            </a:r>
          </a:p>
          <a:p>
            <a:pPr marL="171450" indent="-171450" algn="just" eaLnBrk="1" hangingPunct="1">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 puede usar la sentencias SELECT para mostrar ciertas columnas de una tabla especificando el nombre de las columnas separadas por coma. </a:t>
            </a:r>
          </a:p>
          <a:p>
            <a:pPr marL="171450" indent="-171450" algn="just" eaLnBrk="1" hangingPunct="1">
              <a:buFont typeface="Arial" panose="020B0604020202020204" pitchFamily="34" charset="0"/>
              <a:buChar cha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la cláusula SELECT se especifican las columnas que contienen los datos que se desean mostrar y en el orden que se desea que aparezcan en la salida.</a:t>
            </a:r>
          </a:p>
          <a:p>
            <a:pPr marL="0" indent="0" algn="just" eaLnBrk="1" hangingPunct="1">
              <a:buFont typeface="Arial" panose="020B0604020202020204"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ejemplo de la izquierda, la sentencia muestra las columnas </a:t>
            </a:r>
            <a:r>
              <a:rPr lang="es-MX" sz="1200" b="0" i="0" u="none" strike="noStrike" cap="none" baseline="0" dirty="0" err="1">
                <a:solidFill>
                  <a:srgbClr val="000000"/>
                </a:solidFill>
                <a:latin typeface="Calibri" panose="020F0502020204030204" pitchFamily="34" charset="0"/>
                <a:ea typeface="Arial"/>
                <a:cs typeface="Calibri" panose="020F0502020204030204" pitchFamily="34" charset="0"/>
                <a:sym typeface="Arial"/>
              </a:rPr>
              <a:t>department_id</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y </a:t>
            </a:r>
            <a:r>
              <a:rPr lang="es-MX" sz="1200" b="0" i="0" u="none" strike="noStrike" cap="none" baseline="0" dirty="0" err="1">
                <a:solidFill>
                  <a:srgbClr val="000000"/>
                </a:solidFill>
                <a:latin typeface="Calibri" panose="020F0502020204030204" pitchFamily="34" charset="0"/>
                <a:ea typeface="Arial"/>
                <a:cs typeface="Calibri" panose="020F0502020204030204" pitchFamily="34" charset="0"/>
                <a:sym typeface="Arial"/>
              </a:rPr>
              <a:t>location_id</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En la sentencia de la derecha se muestra la misma información pero primero se muestra la columna </a:t>
            </a:r>
            <a:r>
              <a:rPr lang="es-MX" sz="1200" b="0" i="0" u="none" strike="noStrike" cap="none" baseline="0" dirty="0" err="1">
                <a:solidFill>
                  <a:srgbClr val="000000"/>
                </a:solidFill>
                <a:latin typeface="Calibri" panose="020F0502020204030204" pitchFamily="34" charset="0"/>
                <a:ea typeface="Arial"/>
                <a:cs typeface="Calibri" panose="020F0502020204030204" pitchFamily="34" charset="0"/>
                <a:sym typeface="Arial"/>
              </a:rPr>
              <a:t>location_id</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y después la columna </a:t>
            </a:r>
            <a:r>
              <a:rPr lang="es-MX" sz="1200" b="0" i="0" u="none" strike="noStrike" cap="none" baseline="0" dirty="0" err="1">
                <a:solidFill>
                  <a:srgbClr val="000000"/>
                </a:solidFill>
                <a:latin typeface="Calibri" panose="020F0502020204030204" pitchFamily="34" charset="0"/>
                <a:ea typeface="Arial"/>
                <a:cs typeface="Calibri" panose="020F0502020204030204" pitchFamily="34" charset="0"/>
                <a:sym typeface="Arial"/>
              </a:rPr>
              <a:t>department_id</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a:t>
            </a:r>
          </a:p>
          <a:p>
            <a:pPr marL="609600" indent="-609600" algn="just" eaLnBrk="1" hangingPunct="1"/>
            <a:endParaRPr lang="es-MX" sz="1200" b="0" i="0" u="none" strike="noStrike" cap="none" baseline="0" dirty="0">
              <a:solidFill>
                <a:srgbClr val="000000"/>
              </a:solidFill>
              <a:latin typeface="Arial"/>
              <a:ea typeface="Arial"/>
              <a:cs typeface="Arial"/>
              <a:sym typeface="Arial"/>
            </a:endParaRPr>
          </a:p>
          <a:p>
            <a:pPr marL="609600" indent="-609600" algn="just" eaLnBrk="1" hangingPunct="1"/>
            <a:endParaRPr lang="es-MX" sz="1200" b="0" i="0" u="none" strike="noStrike" cap="none" dirty="0">
              <a:solidFill>
                <a:srgbClr val="000000"/>
              </a:solidFill>
              <a:latin typeface="Arial"/>
              <a:ea typeface="Arial"/>
              <a:cs typeface="Arial"/>
              <a:sym typeface="Arial"/>
            </a:endParaRPr>
          </a:p>
          <a:p>
            <a:pPr marL="0" indent="0" algn="just">
              <a:buFont typeface="Arial" panose="020B0604020202020204" pitchFamily="34" charse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224922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MX" sz="1200" b="1" i="0" u="none" strike="noStrike" cap="none" dirty="0">
                <a:solidFill>
                  <a:srgbClr val="000000"/>
                </a:solidFill>
                <a:latin typeface="Calibri" panose="020F0502020204030204" pitchFamily="34" charset="0"/>
                <a:ea typeface="Arial"/>
                <a:cs typeface="Calibri" panose="020F0502020204030204" pitchFamily="34" charset="0"/>
                <a:sym typeface="Arial"/>
              </a:rPr>
              <a:t>Seleccionando Columnas Específicas de la Tabla</a:t>
            </a:r>
          </a:p>
          <a:p>
            <a:pPr marL="0" indent="0" algn="just" eaLnBrk="1" hangingPunct="1">
              <a:buFont typeface="Arial" panose="020B0604020202020204" pitchFamily="34" charse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La sentencia del ejemplo muestra la identificación, primer nombre, apellido y salario</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de todos los empleados que existen en la tabla EMPLOYEES.</a:t>
            </a:r>
          </a:p>
          <a:p>
            <a:pPr marL="609600" indent="-609600" algn="just" eaLnBrk="1" hangingPunct="1"/>
            <a:endParaRPr lang="es-MX" sz="1200" b="0" i="0" u="none" strike="noStrike" cap="none" baseline="0" dirty="0">
              <a:solidFill>
                <a:srgbClr val="000000"/>
              </a:solidFill>
              <a:latin typeface="Arial"/>
              <a:ea typeface="Arial"/>
              <a:cs typeface="Arial"/>
              <a:sym typeface="Arial"/>
            </a:endParaRPr>
          </a:p>
          <a:p>
            <a:pPr marL="609600" indent="-609600" algn="just" eaLnBrk="1" hangingPunct="1"/>
            <a:endParaRPr lang="es-MX" sz="1200" b="0" i="0" u="none" strike="noStrike" cap="none" dirty="0">
              <a:solidFill>
                <a:srgbClr val="000000"/>
              </a:solidFill>
              <a:latin typeface="Arial"/>
              <a:ea typeface="Arial"/>
              <a:cs typeface="Arial"/>
              <a:sym typeface="Arial"/>
            </a:endParaRPr>
          </a:p>
          <a:p>
            <a:pPr marL="0" indent="0" algn="just">
              <a:buFont typeface="Arial" panose="020B0604020202020204" pitchFamily="34" charset="0"/>
              <a:buNone/>
            </a:pP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95934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3149772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Usando Operadores Aritméticos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Si se desean efectuar cálculos con los datos almacenados en las tablas se deben usar expresiones aritméticas.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Una expresión aritmética puede contener nombre de columnas, valores numéricos constantes de y operadores aritméticos.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Se puede utilizar operadores aritméticos en cualquier cláusula de una sentencia DML excepto en la cláusula FROM.</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Con las columnas que poseen tipos de datos DATE y TIMESTAMP sólo se pueden usar los operador de suma y resta.</a:t>
            </a:r>
          </a:p>
        </p:txBody>
      </p:sp>
    </p:spTree>
    <p:extLst>
      <p:ext uri="{BB962C8B-B14F-4D97-AF65-F5344CB8AC3E}">
        <p14:creationId xmlns:p14="http://schemas.microsoft.com/office/powerpoint/2010/main" val="1947518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Usando Operadores Aritméticos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Si se desean efectuar cálculos con los datos almacenados en las tablas se deben usar expresiones aritméticas.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Una expresión aritmética puede contener nombre de columnas, valores numéricos constantes de y operadores aritméticos.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Se puede utilizar operadores aritméticos en cualquier cláusula de una sentencia DML excepto en la cláusula FROM.</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Con las columnas que poseen tipos de datos DATE y TIMESTAMP sólo se pueden usar los operador de suma y resta.</a:t>
            </a:r>
          </a:p>
        </p:txBody>
      </p:sp>
    </p:spTree>
    <p:extLst>
      <p:ext uri="{BB962C8B-B14F-4D97-AF65-F5344CB8AC3E}">
        <p14:creationId xmlns:p14="http://schemas.microsoft.com/office/powerpoint/2010/main" val="2152519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Usando Operadores Aritméticos</a:t>
            </a:r>
            <a:endParaRPr lang="es-CL" sz="1200" b="0" dirty="0">
              <a:latin typeface="Calibri" panose="020F0502020204030204" pitchFamily="34" charset="0"/>
              <a:cs typeface="Calibri" panose="020F0502020204030204" pitchFamily="34" charset="0"/>
            </a:endParaRPr>
          </a:p>
          <a:p>
            <a:pPr marL="0" indent="0">
              <a:buNone/>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ejemplos, la sentencia muestra el apellido paterno, salario actual y salario aumentado en 300 de todos los empleados que existen el tabla EMPLOYEES.</a:t>
            </a:r>
            <a:endParaRPr lang="es-CL" sz="1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56260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CL" sz="1200" b="1" dirty="0">
                <a:latin typeface="Calibri" panose="020F0502020204030204" pitchFamily="34" charset="0"/>
                <a:cs typeface="Calibri" panose="020F0502020204030204" pitchFamily="34" charset="0"/>
              </a:rPr>
              <a:t>Usando Operadores Aritméticos</a:t>
            </a:r>
            <a:endParaRPr lang="es-CL" sz="1200" b="0" dirty="0">
              <a:latin typeface="Calibri" panose="020F0502020204030204" pitchFamily="34" charset="0"/>
              <a:cs typeface="Calibri" panose="020F0502020204030204" pitchFamily="34" charset="0"/>
            </a:endParaRPr>
          </a:p>
          <a:p>
            <a:pPr marL="0" marR="0" lvl="1" indent="0" algn="just" defTabSz="914400" rtl="0" eaLnBrk="1" fontAlgn="auto" latinLnBrk="0" hangingPunct="1">
              <a:lnSpc>
                <a:spcPct val="100000"/>
              </a:lnSpc>
              <a:spcBef>
                <a:spcPts val="0"/>
              </a:spcBef>
              <a:spcAft>
                <a:spcPts val="0"/>
              </a:spcAft>
              <a:buClrTx/>
              <a:buSzTx/>
              <a:buFontTx/>
              <a:buNone/>
              <a:tabLst/>
              <a:defRPr/>
            </a:pP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En el ejemplo,</a:t>
            </a:r>
            <a:r>
              <a:rPr lang="es-MX"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rPr>
              <a:t> l</a:t>
            </a:r>
            <a:r>
              <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rPr>
              <a:t>a sentencia muestra el apellido paterno, salario y el resultado de multiplicar el valor del salario por 12 y al valor obtenido de esa multiplicación sumarle 100. Por orden de prioridad de los operadores aritméticos primero se resuelve la multiplicación y posteriormente la suma.</a:t>
            </a:r>
          </a:p>
        </p:txBody>
      </p:sp>
    </p:spTree>
    <p:extLst>
      <p:ext uri="{BB962C8B-B14F-4D97-AF65-F5344CB8AC3E}">
        <p14:creationId xmlns:p14="http://schemas.microsoft.com/office/powerpoint/2010/main" val="5923421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Operaciones con valores NULOS</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Un Nulo es un valor no asignado, desconocido. Un Nulo no es lo mismo que un cero o espacio, ya que el cero es un valor y el espacio es un carácter.  Si el valor de cualquier columna en una expresión aritmética es Nulo el resultado es Nulo.</a:t>
            </a:r>
          </a:p>
          <a:p>
            <a:pPr marL="0" indent="0">
              <a:buFont typeface="Arial" panose="020B0604020202020204" pitchFamily="34" charset="0"/>
              <a:buNone/>
            </a:pPr>
            <a:r>
              <a:rPr lang="es-CL" sz="1200" dirty="0">
                <a:latin typeface="Calibri" panose="020F0502020204030204" pitchFamily="34" charset="0"/>
                <a:cs typeface="Calibri" panose="020F0502020204030204" pitchFamily="34" charset="0"/>
              </a:rPr>
              <a:t>En el ejemplo</a:t>
            </a:r>
            <a:r>
              <a:rPr lang="es-CL" sz="1200" baseline="0" dirty="0">
                <a:latin typeface="Calibri" panose="020F0502020204030204" pitchFamily="34" charset="0"/>
                <a:cs typeface="Calibri" panose="020F0502020204030204" pitchFamily="34" charset="0"/>
              </a:rPr>
              <a:t> se muestra por cada empleado su apellido, salario, el valor del porcentaje de comisión y el resultado de la expresión aritmética de multiplicar el salario por 12 y a ese resultado se le multiplica el porcentaje de comisión. Si el empleado no posee porcentaje de comisión la expresión matemática retorna NULO.</a:t>
            </a:r>
            <a:endParaRPr lang="es-CL" sz="1200" dirty="0">
              <a:latin typeface="Calibri" panose="020F0502020204030204" pitchFamily="34" charset="0"/>
              <a:cs typeface="Calibri" panose="020F0502020204030204" pitchFamily="34" charset="0"/>
            </a:endParaRPr>
          </a:p>
          <a:p>
            <a:pPr marL="0" indent="0" algn="just">
              <a:buNone/>
            </a:pPr>
            <a:endParaRPr lang="es-MX"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070822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116229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Definiendo Columnas Alias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Un Alias renombre una columna (su nombre) seleccionada cuando es mostrada. En otras palabras, ya no saldrá como cabecera, en el informe de salida, el nombre real de la columna que se está seleccionando sino que se mostrará como nombre el Alias dado a la columna real.</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Es útil cuando en una sentencia SQL se efectúan cálculos. Va inmediatamente a continuación  del nombre de columna de la tabla.</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Opcionalmente se puede usar la palabra reservada AS entre el nombre de la columna y su Alias.</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Se requiere utilizar doble comilla si el Alias contiene espacios, caracteres especiales o si debe ser case-sensitive.</a:t>
            </a:r>
          </a:p>
          <a:p>
            <a:pPr marL="0" indent="0">
              <a:buNone/>
            </a:pPr>
            <a:endParaRPr lang="es-CL" dirty="0"/>
          </a:p>
        </p:txBody>
      </p:sp>
    </p:spTree>
    <p:extLst>
      <p:ext uri="{BB962C8B-B14F-4D97-AF65-F5344CB8AC3E}">
        <p14:creationId xmlns:p14="http://schemas.microsoft.com/office/powerpoint/2010/main" val="1013139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Definiendo Columnas Alias</a:t>
            </a:r>
            <a:endParaRPr lang="es-CL" sz="1200" b="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CL" sz="1200" dirty="0">
                <a:latin typeface="Calibri" panose="020F0502020204030204" pitchFamily="34" charset="0"/>
                <a:cs typeface="Calibri" panose="020F0502020204030204" pitchFamily="34" charset="0"/>
              </a:rPr>
              <a:t>En el ejemplo, la sentencia muestra el apellido del empleado pero como cabecera en el informe ya no aparecerá el nombre de la columna que contiene ese dato en la tabla EMPLOYEES (</a:t>
            </a:r>
            <a:r>
              <a:rPr lang="es-CL" sz="1200" dirty="0" err="1">
                <a:latin typeface="Calibri" panose="020F0502020204030204" pitchFamily="34" charset="0"/>
                <a:cs typeface="Calibri" panose="020F0502020204030204" pitchFamily="34" charset="0"/>
              </a:rPr>
              <a:t>last_name</a:t>
            </a:r>
            <a:r>
              <a:rPr lang="es-CL" sz="1200" dirty="0">
                <a:latin typeface="Calibri" panose="020F0502020204030204" pitchFamily="34" charset="0"/>
                <a:cs typeface="Calibri" panose="020F0502020204030204" pitchFamily="34" charset="0"/>
              </a:rPr>
              <a:t>) sino que aparecerá APELLIDO. Además la sentencia muestra el salario que tienen los empleados pero en la</a:t>
            </a:r>
            <a:r>
              <a:rPr lang="es-CL" sz="1200" baseline="0" dirty="0">
                <a:latin typeface="Calibri" panose="020F0502020204030204" pitchFamily="34" charset="0"/>
                <a:cs typeface="Calibri" panose="020F0502020204030204" pitchFamily="34" charset="0"/>
              </a:rPr>
              <a:t> cabecera no aparece el nombre de la columna (</a:t>
            </a:r>
            <a:r>
              <a:rPr lang="es-CL" sz="1200" baseline="0" dirty="0" err="1">
                <a:latin typeface="Calibri" panose="020F0502020204030204" pitchFamily="34" charset="0"/>
                <a:cs typeface="Calibri" panose="020F0502020204030204" pitchFamily="34" charset="0"/>
              </a:rPr>
              <a:t>salary</a:t>
            </a:r>
            <a:r>
              <a:rPr lang="es-CL" sz="1200" baseline="0" dirty="0">
                <a:latin typeface="Calibri" panose="020F0502020204030204" pitchFamily="34" charset="0"/>
                <a:cs typeface="Calibri" panose="020F0502020204030204" pitchFamily="34" charset="0"/>
              </a:rPr>
              <a:t>) </a:t>
            </a:r>
            <a:r>
              <a:rPr lang="es-CL" sz="1200" dirty="0">
                <a:latin typeface="Calibri" panose="020F0502020204030204" pitchFamily="34" charset="0"/>
                <a:cs typeface="Calibri" panose="020F0502020204030204" pitchFamily="34" charset="0"/>
              </a:rPr>
              <a:t>sino que el nombre lógico que se le</a:t>
            </a:r>
            <a:r>
              <a:rPr lang="es-CL" sz="1200" baseline="0" dirty="0">
                <a:latin typeface="Calibri" panose="020F0502020204030204" pitchFamily="34" charset="0"/>
                <a:cs typeface="Calibri" panose="020F0502020204030204" pitchFamily="34" charset="0"/>
              </a:rPr>
              <a:t> asignó para visualizar que es </a:t>
            </a:r>
            <a:r>
              <a:rPr lang="es-CL" sz="1200" dirty="0">
                <a:latin typeface="Calibri" panose="020F0502020204030204" pitchFamily="34" charset="0"/>
                <a:cs typeface="Calibri" panose="020F0502020204030204" pitchFamily="34" charset="0"/>
              </a:rPr>
              <a:t>SALARIO.</a:t>
            </a:r>
          </a:p>
          <a:p>
            <a:pPr marL="0" indent="0">
              <a:buNone/>
            </a:pPr>
            <a:endParaRPr lang="es-CL" sz="1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93191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eaLnBrk="1" hangingPunct="1">
              <a:lnSpc>
                <a:spcPct val="90000"/>
              </a:lnSpc>
              <a:spcBef>
                <a:spcPct val="0"/>
              </a:spcBef>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Definiendo Alias</a:t>
            </a: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de Columnas</a:t>
            </a:r>
            <a:endPar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indent="0" algn="l" defTabSz="914400" rtl="0" eaLnBrk="1" fontAlgn="base" latinLnBrk="0" hangingPunct="1">
              <a:lnSpc>
                <a:spcPct val="90000"/>
              </a:lnSpc>
              <a:spcBef>
                <a:spcPct val="0"/>
              </a:spcBef>
              <a:spcAft>
                <a:spcPct val="0"/>
              </a:spcAft>
              <a:buClrTx/>
              <a:buSzTx/>
              <a:buFontTx/>
              <a:buNone/>
              <a:tabLst/>
              <a:defRPr/>
            </a:pPr>
            <a:r>
              <a:rPr lang="es-CL" sz="1200" dirty="0">
                <a:latin typeface="Calibri" panose="020F0502020204030204" pitchFamily="34" charset="0"/>
                <a:cs typeface="Calibri" panose="020F0502020204030204" pitchFamily="34" charset="0"/>
              </a:rPr>
              <a:t>La sentencia del ejemplo muestra el apellido, el salario y el salario aumentado en 25% para cada empleado. Como cabecera en el informe aparecerá el nombre de la columna </a:t>
            </a:r>
            <a:r>
              <a:rPr lang="es-CL" sz="1200" dirty="0" err="1">
                <a:latin typeface="Calibri" panose="020F0502020204030204" pitchFamily="34" charset="0"/>
                <a:cs typeface="Calibri" panose="020F0502020204030204" pitchFamily="34" charset="0"/>
              </a:rPr>
              <a:t>last_name</a:t>
            </a:r>
            <a:r>
              <a:rPr lang="es-CL" sz="1200" dirty="0">
                <a:latin typeface="Calibri" panose="020F0502020204030204" pitchFamily="34" charset="0"/>
                <a:cs typeface="Calibri" panose="020F0502020204030204" pitchFamily="34" charset="0"/>
              </a:rPr>
              <a:t>, para el salario aparecerá Salario y para el resultado de la expresión que calcula el salario aumentado en 25% aparecerá con el nombre Salario Aumentado en 25%. Como los</a:t>
            </a:r>
            <a:r>
              <a:rPr lang="es-CL" sz="1200" baseline="0" dirty="0">
                <a:latin typeface="Calibri" panose="020F0502020204030204" pitchFamily="34" charset="0"/>
                <a:cs typeface="Calibri" panose="020F0502020204030204" pitchFamily="34" charset="0"/>
              </a:rPr>
              <a:t> alias de columnas están escritos comillas dobles, se muestran tal como están escritos (con las mayúsculas y minúsculas) es decir, es case-sensitive.</a:t>
            </a:r>
            <a:endParaRPr lang="es-CL" sz="1200" dirty="0">
              <a:latin typeface="Calibri" panose="020F0502020204030204" pitchFamily="34" charset="0"/>
              <a:cs typeface="Calibri" panose="020F0502020204030204" pitchFamily="34" charset="0"/>
            </a:endParaRPr>
          </a:p>
          <a:p>
            <a:pPr marL="0" indent="0">
              <a:buNone/>
            </a:pPr>
            <a:endParaRPr lang="es-CL" sz="1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189495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Operador de Concatenación</a:t>
            </a:r>
          </a:p>
          <a:p>
            <a:pPr marL="171450" indent="-171450">
              <a:buFont typeface="Arial" panose="020B0604020202020204" pitchFamily="34" charset="0"/>
              <a:buChar cha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Se pueden unir columnas a otras columnas, expresiones aritméticas o valores constantes para crear una expresión de caracteres utilizando el operador de concatenación (||). </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El operador de concatenación une columnas y/o cadena de caracteres literales en otra columna</a:t>
            </a: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 para formar una sola columna de salida. </a:t>
            </a:r>
            <a:r>
              <a:rPr lang="es-CL" sz="1200" dirty="0">
                <a:latin typeface="Calibri" panose="020F0502020204030204" pitchFamily="34" charset="0"/>
                <a:cs typeface="Calibri" panose="020F0502020204030204" pitchFamily="34" charset="0"/>
              </a:rPr>
              <a:t>Esta columna resultante es una EXPRESIÓN de tipo carácter.</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cs typeface="Calibri" panose="020F0502020204030204" pitchFamily="34" charset="0"/>
              </a:rPr>
              <a:t>Las fechas y los literales de tipo caracteres que se desean concatenar deben ser escritos entre comillas simples. Un literal es un Caracter (letra, espacio en blanco o símbolo especial), un Número o Fecha que está incluida en la sentencia SELECT.</a:t>
            </a:r>
          </a:p>
          <a:p>
            <a:pPr marL="171450" indent="-171450">
              <a:buFont typeface="Arial" panose="020B0604020202020204" pitchFamily="34" charset="0"/>
              <a:buChar char="•"/>
            </a:pPr>
            <a:r>
              <a:rPr lang="es-CL" sz="1200" dirty="0">
                <a:latin typeface="Calibri" panose="020F0502020204030204" pitchFamily="34" charset="0"/>
                <a:cs typeface="Calibri" panose="020F0502020204030204" pitchFamily="34" charset="0"/>
              </a:rPr>
              <a:t>Cada expresión</a:t>
            </a:r>
            <a:r>
              <a:rPr lang="es-CL" sz="1200" baseline="0" dirty="0">
                <a:latin typeface="Calibri" panose="020F0502020204030204" pitchFamily="34" charset="0"/>
                <a:cs typeface="Calibri" panose="020F0502020204030204" pitchFamily="34" charset="0"/>
              </a:rPr>
              <a:t> que retorna el operador de concatenación </a:t>
            </a:r>
            <a:r>
              <a:rPr lang="es-CL" sz="1200" dirty="0">
                <a:latin typeface="Calibri" panose="020F0502020204030204" pitchFamily="34" charset="0"/>
                <a:cs typeface="Calibri" panose="020F0502020204030204" pitchFamily="34" charset="0"/>
              </a:rPr>
              <a:t>es una salida por cada fila recuperada de la tabla.</a:t>
            </a: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rPr>
              <a:t>Si se concatena un valor nulo con una cadena de caracteres o números, el resultado es una cadena de caracteres. </a:t>
            </a:r>
            <a:endParaRPr lang="es-CL" sz="1200" dirty="0">
              <a:latin typeface="Calibri" panose="020F0502020204030204" pitchFamily="34" charset="0"/>
              <a:cs typeface="Calibri" panose="020F0502020204030204" pitchFamily="34" charset="0"/>
            </a:endParaRPr>
          </a:p>
          <a:p>
            <a:pPr marL="171450" indent="-171450">
              <a:buFont typeface="Arial" panose="020B0604020202020204" pitchFamily="34" charset="0"/>
              <a:buChar char="•"/>
            </a:pPr>
            <a:endParaRPr lang="es-CL" sz="1200" dirty="0"/>
          </a:p>
          <a:p>
            <a:pPr marL="0" indent="0">
              <a:buNone/>
            </a:pPr>
            <a:endParaRPr lang="es-CL" sz="1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37596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Operador de Concatenación</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lvl="0" indent="0" algn="just" defTabSz="914400" rtl="0" eaLnBrk="1" fontAlgn="auto" latinLnBrk="0" hangingPunct="1">
              <a:lnSpc>
                <a:spcPct val="100000"/>
              </a:lnSpc>
              <a:spcBef>
                <a:spcPts val="0"/>
              </a:spcBef>
              <a:spcAft>
                <a:spcPts val="0"/>
              </a:spcAft>
              <a:buClr>
                <a:srgbClr val="000000"/>
              </a:buClr>
              <a:buSzPts val="1100"/>
              <a:buFont typeface="Arial"/>
              <a:buNone/>
              <a:tabLst/>
              <a:defRPr/>
            </a:pPr>
            <a:r>
              <a:rPr lang="es-CL" sz="1200" dirty="0">
                <a:latin typeface="Calibri" panose="020F0502020204030204" pitchFamily="34" charset="0"/>
                <a:cs typeface="Calibri" panose="020F0502020204030204" pitchFamily="34" charset="0"/>
              </a:rPr>
              <a:t>La sentencia del ejemplo muestra la identificación</a:t>
            </a:r>
            <a:r>
              <a:rPr lang="es-CL" sz="1200" baseline="0" dirty="0">
                <a:latin typeface="Calibri" panose="020F0502020204030204" pitchFamily="34" charset="0"/>
                <a:cs typeface="Calibri" panose="020F0502020204030204" pitchFamily="34" charset="0"/>
              </a:rPr>
              <a:t> del empleado, el nombre y apellido concatenados (con un espacio en blanco entre ellos) y su salario. A las tres columnas de se le asignan alias.</a:t>
            </a:r>
            <a:endParaRPr lang="es-CL" sz="1200" dirty="0">
              <a:latin typeface="Calibri" panose="020F0502020204030204" pitchFamily="34" charset="0"/>
              <a:cs typeface="Calibri" panose="020F0502020204030204" pitchFamily="34" charset="0"/>
            </a:endParaRPr>
          </a:p>
          <a:p>
            <a:pPr marL="0" indent="0">
              <a:buNone/>
            </a:pPr>
            <a:endPar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4970929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Operador de Concatenación</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indent="0" algn="just">
              <a:buFont typeface="Arial" panose="020B0604020202020204" pitchFamily="34" charset="0"/>
              <a:buNone/>
            </a:pPr>
            <a:r>
              <a:rPr lang="es-CL" sz="1200" dirty="0">
                <a:latin typeface="Calibri" panose="020F0502020204030204" pitchFamily="34" charset="0"/>
                <a:cs typeface="Calibri" panose="020F0502020204030204" pitchFamily="34" charset="0"/>
              </a:rPr>
              <a:t>En el ejemplo, la sentencia muestra el apellido de los empleados unido al literal ‘pertenece al departamento’ (incluidos espacios en blancos al comienzo y final) y a la identificación del departamento de cada empleado. La expresión que se obtiene de la concatenación se visualizará con el alias Detalle de Empleados.</a:t>
            </a:r>
          </a:p>
          <a:p>
            <a:pPr marL="0" indent="0">
              <a:buNone/>
            </a:pPr>
            <a:endPar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4136105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gn="just">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Usando Operador de Concatenación</a:t>
            </a:r>
            <a:endParaRPr lang="es-CL" sz="1200" b="0"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0" marR="0" indent="0" algn="just" defTabSz="914400" rtl="0" eaLnBrk="0" fontAlgn="base" latinLnBrk="0" hangingPunct="0">
              <a:lnSpc>
                <a:spcPct val="9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La sentencia del ejemplo muestra el literal ‘El salario mensual del empleado’ (incluyendo un espacio al final del literal) unido al apellido de los empleados seguido del literal ‘es de $’ (incluyendo</a:t>
            </a:r>
            <a:r>
              <a:rPr lang="es-CL" sz="1200" baseline="0" dirty="0">
                <a:latin typeface="Calibri" panose="020F0502020204030204" pitchFamily="34" charset="0"/>
                <a:cs typeface="Calibri" panose="020F0502020204030204" pitchFamily="34" charset="0"/>
              </a:rPr>
              <a:t> un espacio en blanco al principio y al final del literal) </a:t>
            </a:r>
            <a:r>
              <a:rPr lang="es-CL" sz="1200" dirty="0">
                <a:latin typeface="Calibri" panose="020F0502020204030204" pitchFamily="34" charset="0"/>
                <a:cs typeface="Calibri" panose="020F0502020204030204" pitchFamily="34" charset="0"/>
              </a:rPr>
              <a:t>unido al salario de cada empleado. La expresión que se obtiene de la concatenación será mostrada con el nombre de encabezado (alias) SALARIOS.</a:t>
            </a:r>
          </a:p>
          <a:p>
            <a:pPr marL="0" indent="0">
              <a:buNone/>
            </a:pPr>
            <a:endPar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30017224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nSpc>
                <a:spcPct val="90000"/>
              </a:lnSpc>
              <a:buNone/>
            </a:pPr>
            <a:r>
              <a:rPr lang="es-CL" sz="1100" b="1" i="0" u="none" strike="noStrike" cap="none" dirty="0">
                <a:solidFill>
                  <a:srgbClr val="000000"/>
                </a:solidFill>
                <a:latin typeface="Calibri" panose="020F0502020204030204" pitchFamily="34" charset="0"/>
                <a:ea typeface="Arial"/>
                <a:cs typeface="Calibri" panose="020F0502020204030204" pitchFamily="34" charset="0"/>
                <a:sym typeface="Arial"/>
              </a:rPr>
              <a:t>Valores</a:t>
            </a:r>
            <a:r>
              <a:rPr lang="es-CL" sz="11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Duplicados en las Columnas</a:t>
            </a:r>
            <a:endParaRPr lang="es-CL" sz="11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a:p>
            <a:pPr marL="171450" marR="0" indent="-171450" algn="l"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cs typeface="Calibri" panose="020F0502020204030204" pitchFamily="34" charset="0"/>
              </a:rPr>
              <a:t>Por defecto en una consulta SQL</a:t>
            </a:r>
            <a:r>
              <a:rPr lang="es-CL" sz="1200" baseline="0" dirty="0">
                <a:latin typeface="Calibri" panose="020F0502020204030204" pitchFamily="34" charset="0"/>
                <a:cs typeface="Calibri" panose="020F0502020204030204" pitchFamily="34" charset="0"/>
              </a:rPr>
              <a:t> </a:t>
            </a:r>
            <a:r>
              <a:rPr lang="es-CL" sz="1200" dirty="0">
                <a:latin typeface="Calibri" panose="020F0502020204030204" pitchFamily="34" charset="0"/>
                <a:cs typeface="Calibri" panose="020F0502020204030204" pitchFamily="34" charset="0"/>
              </a:rPr>
              <a:t>se obtienen los valores de las columnas que NO forman parte de la clave primaria se visualizan todas las filas incluyendo las duplicadas</a:t>
            </a:r>
            <a:r>
              <a:rPr lang="es-CL" sz="1100" b="0" i="0" u="none" strike="noStrike" cap="none" dirty="0">
                <a:solidFill>
                  <a:srgbClr val="000000"/>
                </a:solidFill>
                <a:latin typeface="Calibri" panose="020F0502020204030204" pitchFamily="34" charset="0"/>
                <a:ea typeface="Arial"/>
                <a:cs typeface="Calibri" panose="020F0502020204030204" pitchFamily="34" charset="0"/>
                <a:sym typeface="Arial"/>
              </a:rPr>
              <a:t>. </a:t>
            </a:r>
          </a:p>
          <a:p>
            <a:pPr marL="171450" marR="0" indent="-171450" algn="l"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lang="es-CL" sz="1200" dirty="0">
                <a:latin typeface="Calibri" panose="020F0502020204030204" pitchFamily="34" charset="0"/>
                <a:cs typeface="Calibri" panose="020F0502020204030204" pitchFamily="34" charset="0"/>
              </a:rPr>
              <a:t>Para eliminar las filas duplicadas en el resultado de la sentencia SELECT se debe incluir la palabra  DISTINCT inmediatamente después de la palabra SELECT.</a:t>
            </a:r>
          </a:p>
          <a:p>
            <a:pPr marL="171450" marR="0" indent="-171450" algn="l"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lang="es-CL" sz="1100" b="0" i="0" u="none" strike="noStrike" cap="none" dirty="0">
                <a:solidFill>
                  <a:srgbClr val="000000"/>
                </a:solidFill>
                <a:latin typeface="Calibri" panose="020F0502020204030204" pitchFamily="34" charset="0"/>
                <a:ea typeface="Arial"/>
                <a:cs typeface="Calibri" panose="020F0502020204030204" pitchFamily="34" charset="0"/>
                <a:sym typeface="Arial"/>
              </a:rPr>
              <a:t>Se pueden especificar varias columnas después de la palabra DISTINCT. </a:t>
            </a:r>
          </a:p>
          <a:p>
            <a:pPr marL="171450" marR="0" indent="-171450" algn="l"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lang="es-CL" sz="1100" b="0" i="0" u="none" strike="noStrike" cap="none" dirty="0">
                <a:solidFill>
                  <a:srgbClr val="000000"/>
                </a:solidFill>
                <a:latin typeface="Calibri" panose="020F0502020204030204" pitchFamily="34" charset="0"/>
                <a:ea typeface="Arial"/>
                <a:cs typeface="Calibri" panose="020F0502020204030204" pitchFamily="34" charset="0"/>
                <a:sym typeface="Arial"/>
              </a:rPr>
              <a:t>DISTINCT afecta a todas las columnas seleccionadas, y el resultado es cada una de las combinaciones distintas de las columnas.</a:t>
            </a:r>
            <a:endPar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7359505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lnSpc>
                <a:spcPct val="90000"/>
              </a:lnSpc>
              <a:buNone/>
            </a:pPr>
            <a:r>
              <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rPr>
              <a:t>Valores</a:t>
            </a:r>
            <a:r>
              <a:rPr lang="es-CL" sz="1200" b="1" i="0" u="none" strike="noStrike" cap="none" baseline="0" dirty="0">
                <a:solidFill>
                  <a:srgbClr val="000000"/>
                </a:solidFill>
                <a:latin typeface="Calibri" panose="020F0502020204030204" pitchFamily="34" charset="0"/>
                <a:ea typeface="Arial"/>
                <a:cs typeface="Calibri" panose="020F0502020204030204" pitchFamily="34" charset="0"/>
                <a:sym typeface="Arial"/>
              </a:rPr>
              <a:t> Duplicados en las Columnas</a:t>
            </a:r>
            <a:endParaRPr lang="es-CL" sz="1200" b="0" i="0" u="none" strike="noStrike" cap="none" baseline="0" dirty="0">
              <a:solidFill>
                <a:srgbClr val="000000"/>
              </a:solidFill>
              <a:latin typeface="Calibri" panose="020F0502020204030204" pitchFamily="34" charset="0"/>
              <a:ea typeface="Arial"/>
              <a:cs typeface="Calibri" panose="020F0502020204030204" pitchFamily="34" charset="0"/>
              <a:sym typeface="Arial"/>
            </a:endParaRPr>
          </a:p>
          <a:p>
            <a:pPr marL="0" indent="0">
              <a:lnSpc>
                <a:spcPct val="90000"/>
              </a:lnSpc>
              <a:buNone/>
            </a:pPr>
            <a:r>
              <a:rPr lang="es-CL" sz="1200" dirty="0">
                <a:latin typeface="Calibri" panose="020F0502020204030204" pitchFamily="34" charset="0"/>
                <a:cs typeface="Calibri" panose="020F0502020204030204" pitchFamily="34" charset="0"/>
              </a:rPr>
              <a:t>En el ejemplo, en la tabla EMPLOYEES un mismo código de departamento se puede repetir varias veces ya que en ese departamento pueden trabajar varios empleados. Por ello, en una sentencia SELECT normal si queremos mostrar solo los departamentos existentes se mostrarán todos los departamentos que existen en la tabla incluyendo los duplicados. Utilizando DISTINCT como parte de la sentencia SELECT se mostrarán una sola vez aquellos códigos de departamentos que se repiten en la tabla.</a:t>
            </a:r>
          </a:p>
          <a:p>
            <a:pPr marL="0" indent="0">
              <a:lnSpc>
                <a:spcPct val="90000"/>
              </a:lnSpc>
              <a:buNone/>
            </a:pPr>
            <a:r>
              <a:rPr lang="es-CL" sz="1200" dirty="0">
                <a:latin typeface="Calibri" panose="020F0502020204030204" pitchFamily="34" charset="0"/>
                <a:cs typeface="Calibri" panose="020F0502020204030204" pitchFamily="34" charset="0"/>
              </a:rPr>
              <a:t>En la sentencia de la izquierda se muestra TODOS los códigos de departamentos existentes en la tabla EMPLOYEES. En la sentencia de la derecha, utilizando DISTINCT se muestran los DIFERENTES códigos de departamentos existentes en la tabla EMPLOYEES, los departamentos que se repiten se muestran una sola vez.</a:t>
            </a:r>
          </a:p>
          <a:p>
            <a:pPr marL="0" indent="0">
              <a:lnSpc>
                <a:spcPct val="90000"/>
              </a:lnSpc>
              <a:buNone/>
            </a:pPr>
            <a:endParaRPr lang="es-CL" sz="1200" b="1" i="0" u="none" strike="noStrike" cap="none" dirty="0">
              <a:solidFill>
                <a:srgbClr val="000000"/>
              </a:solidFill>
              <a:latin typeface="Calibri" panose="020F0502020204030204" pitchFamily="34" charset="0"/>
              <a:ea typeface="Arial"/>
              <a:cs typeface="Calibri" panose="020F0502020204030204" pitchFamily="34" charset="0"/>
              <a:sym typeface="Arial"/>
            </a:endParaRPr>
          </a:p>
        </p:txBody>
      </p:sp>
    </p:spTree>
    <p:extLst>
      <p:ext uri="{BB962C8B-B14F-4D97-AF65-F5344CB8AC3E}">
        <p14:creationId xmlns:p14="http://schemas.microsoft.com/office/powerpoint/2010/main" val="21194663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endParaRPr lang="es-CL" dirty="0"/>
          </a:p>
        </p:txBody>
      </p:sp>
    </p:spTree>
    <p:extLst>
      <p:ext uri="{BB962C8B-B14F-4D97-AF65-F5344CB8AC3E}">
        <p14:creationId xmlns:p14="http://schemas.microsoft.com/office/powerpoint/2010/main" val="29353081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Ordenando las Filas Recuperadas</a:t>
            </a:r>
            <a:endParaRPr lang="es-CL" sz="1200" b="0" dirty="0">
              <a:latin typeface="Calibri" panose="020F0502020204030204" pitchFamily="34" charset="0"/>
              <a:cs typeface="Calibri" panose="020F0502020204030204" pitchFamily="34" charset="0"/>
            </a:endParaRPr>
          </a:p>
          <a:p>
            <a:pPr marL="171450" marR="0" indent="-171450" algn="l" defTabSz="914400" rtl="0" eaLnBrk="0" fontAlgn="base" latinLnBrk="0" hangingPunct="0">
              <a:lnSpc>
                <a:spcPct val="100000"/>
              </a:lnSpc>
              <a:spcBef>
                <a:spcPct val="30000"/>
              </a:spcBef>
              <a:spcAft>
                <a:spcPct val="0"/>
              </a:spcAft>
              <a:buClrTx/>
              <a:buSzTx/>
              <a:buFont typeface="Arial" panose="020B0604020202020204" pitchFamily="34" charset="0"/>
              <a:buChar char="•"/>
              <a:tabLst/>
              <a:defRPr/>
            </a:pPr>
            <a:r>
              <a:rPr lang="es-CL" sz="1200" dirty="0">
                <a:solidFill>
                  <a:srgbClr val="FFFFFF"/>
                </a:solidFill>
                <a:latin typeface="Calibri" panose="020F0502020204030204" pitchFamily="34" charset="0"/>
                <a:cs typeface="Calibri" panose="020F0502020204030204" pitchFamily="34" charset="0"/>
              </a:rPr>
              <a:t>Por defecto, las filas recuperadas en una </a:t>
            </a:r>
            <a:r>
              <a:rPr lang="es-CL" sz="1200" dirty="0" err="1">
                <a:solidFill>
                  <a:srgbClr val="FFFFFF"/>
                </a:solidFill>
                <a:latin typeface="Calibri" panose="020F0502020204030204" pitchFamily="34" charset="0"/>
                <a:cs typeface="Calibri" panose="020F0502020204030204" pitchFamily="34" charset="0"/>
              </a:rPr>
              <a:t>query</a:t>
            </a:r>
            <a:r>
              <a:rPr lang="es-CL" sz="1200" dirty="0">
                <a:solidFill>
                  <a:srgbClr val="FFFFFF"/>
                </a:solidFill>
                <a:latin typeface="Calibri" panose="020F0502020204030204" pitchFamily="34" charset="0"/>
                <a:cs typeface="Calibri" panose="020F0502020204030204" pitchFamily="34" charset="0"/>
              </a:rPr>
              <a:t> no tienen un orden definido. Para ordenar las filas recuperadas se debe usar la cláusula ORDER BY.</a:t>
            </a:r>
          </a:p>
          <a:p>
            <a:pPr marL="171450" indent="-1714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 opción</a:t>
            </a:r>
            <a:r>
              <a:rPr lang="es-CL" sz="1200" baseline="0" dirty="0">
                <a:solidFill>
                  <a:srgbClr val="FFFFFF"/>
                </a:solidFill>
                <a:latin typeface="Calibri" panose="020F0502020204030204" pitchFamily="34" charset="0"/>
                <a:cs typeface="Calibri" panose="020F0502020204030204" pitchFamily="34" charset="0"/>
              </a:rPr>
              <a:t> </a:t>
            </a:r>
            <a:r>
              <a:rPr lang="es-CL" sz="1200" dirty="0">
                <a:solidFill>
                  <a:srgbClr val="FFFFFF"/>
                </a:solidFill>
                <a:latin typeface="Calibri" panose="020F0502020204030204" pitchFamily="34" charset="0"/>
                <a:cs typeface="Calibri" panose="020F0502020204030204" pitchFamily="34" charset="0"/>
              </a:rPr>
              <a:t>ASC ordena en forma ascendente (defecto).</a:t>
            </a:r>
          </a:p>
          <a:p>
            <a:pPr marL="171450" indent="-171450" algn="just">
              <a:buFont typeface="Arial" panose="020B0604020202020204" pitchFamily="34" charset="0"/>
              <a:buChar char="•"/>
              <a:defRPr/>
            </a:pPr>
            <a:r>
              <a:rPr lang="es-CL" sz="1200" dirty="0">
                <a:solidFill>
                  <a:srgbClr val="FFFFFF"/>
                </a:solidFill>
                <a:latin typeface="Calibri" panose="020F0502020204030204" pitchFamily="34" charset="0"/>
                <a:cs typeface="Calibri" panose="020F0502020204030204" pitchFamily="34" charset="0"/>
              </a:rPr>
              <a:t>La opción DESC ordena en forma descendente.</a:t>
            </a:r>
          </a:p>
          <a:p>
            <a:pPr marL="171450" indent="-171450" algn="just">
              <a:buFont typeface="Arial" panose="020B0604020202020204" pitchFamily="34" charset="0"/>
              <a:buChar char="•"/>
              <a:defRPr/>
            </a:pPr>
            <a:r>
              <a:rPr lang="es-CL" sz="1200" dirty="0">
                <a:latin typeface="Calibri" panose="020F0502020204030204" pitchFamily="34" charset="0"/>
                <a:cs typeface="Calibri" panose="020F0502020204030204" pitchFamily="34" charset="0"/>
              </a:rPr>
              <a:t>La cláusula ORDER BY debe ir al final de la sentencia SELECT. </a:t>
            </a:r>
          </a:p>
          <a:p>
            <a:pPr marL="171450" indent="-171450" algn="just">
              <a:buFont typeface="Arial" panose="020B0604020202020204" pitchFamily="34" charset="0"/>
              <a:buChar char="•"/>
              <a:defRPr/>
            </a:pPr>
            <a:r>
              <a:rPr lang="es-CL" sz="1200" dirty="0">
                <a:latin typeface="Calibri" panose="020F0502020204030204" pitchFamily="34" charset="0"/>
                <a:cs typeface="Calibri" panose="020F0502020204030204" pitchFamily="34" charset="0"/>
              </a:rPr>
              <a:t>Como condición de ordenamiento se puede especificar un nombre de columna, una expresión, un alias o la posición de la columna</a:t>
            </a:r>
            <a:r>
              <a:rPr lang="es-CL" sz="1200" baseline="0" dirty="0">
                <a:latin typeface="Calibri" panose="020F0502020204030204" pitchFamily="34" charset="0"/>
                <a:cs typeface="Calibri" panose="020F0502020204030204" pitchFamily="34" charset="0"/>
              </a:rPr>
              <a:t> por la cual se desea efectuar el ordenamiento.</a:t>
            </a:r>
            <a:endParaRPr lang="es-CL" sz="1200" dirty="0">
              <a:latin typeface="Calibri" panose="020F0502020204030204" pitchFamily="34" charset="0"/>
              <a:cs typeface="Calibri" panose="020F0502020204030204" pitchFamily="34" charset="0"/>
            </a:endParaRPr>
          </a:p>
          <a:p>
            <a:pPr marL="171450" indent="-171450" algn="just">
              <a:buFont typeface="Arial" panose="020B0604020202020204" pitchFamily="34" charset="0"/>
              <a:buChar char="•"/>
              <a:defRPr/>
            </a:pPr>
            <a:r>
              <a:rPr lang="es-CL" sz="1200" dirty="0">
                <a:latin typeface="Calibri" panose="020F0502020204030204" pitchFamily="34" charset="0"/>
                <a:cs typeface="Calibri" panose="020F0502020204030204" pitchFamily="34" charset="0"/>
              </a:rPr>
              <a:t>Se puede usar NULLS FIRST o NULLS LAST para especificar si las filas retornadas que contienen valores nulos deben aparecer primero o último en la secuencia de ordenamiento.</a:t>
            </a:r>
            <a:endParaRPr lang="es-CL" sz="1200" dirty="0">
              <a:solidFill>
                <a:srgbClr val="FFFFFF"/>
              </a:solidFill>
              <a:latin typeface="Calibri" panose="020F0502020204030204" pitchFamily="34" charset="0"/>
              <a:cs typeface="Calibri" panose="020F0502020204030204" pitchFamily="34" charset="0"/>
            </a:endParaRPr>
          </a:p>
          <a:p>
            <a:pPr marL="171450" indent="-171450" algn="just">
              <a:buFont typeface="Arial" panose="020B0604020202020204" pitchFamily="34" charset="0"/>
              <a:buChar char="•"/>
              <a:defRPr/>
            </a:pPr>
            <a:endParaRPr lang="es-CL" sz="1100" dirty="0">
              <a:solidFill>
                <a:srgbClr val="FFFFFF"/>
              </a:solidFill>
              <a:cs typeface="Arial" panose="020B0604020202020204" pitchFamily="34" charset="0"/>
            </a:endParaRPr>
          </a:p>
          <a:p>
            <a:pPr marL="0" indent="0">
              <a:buNone/>
            </a:pPr>
            <a:endParaRPr lang="es-CL" dirty="0"/>
          </a:p>
        </p:txBody>
      </p:sp>
    </p:spTree>
    <p:extLst>
      <p:ext uri="{BB962C8B-B14F-4D97-AF65-F5344CB8AC3E}">
        <p14:creationId xmlns:p14="http://schemas.microsoft.com/office/powerpoint/2010/main" val="10665766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Ordenando las Filas Recuperadas</a:t>
            </a:r>
            <a:endParaRPr lang="es-CL" sz="1200" b="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s-CL" sz="1200" dirty="0">
                <a:latin typeface="Calibri" panose="020F0502020204030204" pitchFamily="34" charset="0"/>
                <a:cs typeface="Calibri" panose="020F0502020204030204" pitchFamily="34" charset="0"/>
              </a:rPr>
              <a:t>En el ejemplo, las sentencias muestran el apellido, identificación del trabajo y fecha de contrato de los empleados ordenado por fecha de contrato. La sentencia de la izquierda muestra la información ordenada en forma ascendente por fecha de contrato y la sentencia de la derecha la muestra ordenada en forma descendente por la fecha de contrato. </a:t>
            </a:r>
          </a:p>
          <a:p>
            <a:pPr marL="0" indent="0">
              <a:buNone/>
            </a:pPr>
            <a:endParaRPr lang="es-CL" dirty="0"/>
          </a:p>
        </p:txBody>
      </p:sp>
    </p:spTree>
    <p:extLst>
      <p:ext uri="{BB962C8B-B14F-4D97-AF65-F5344CB8AC3E}">
        <p14:creationId xmlns:p14="http://schemas.microsoft.com/office/powerpoint/2010/main" val="4095860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Ordenando las Filas Recuperadas</a:t>
            </a:r>
            <a:endParaRPr lang="es-CL" sz="1200" b="0" dirty="0">
              <a:latin typeface="Calibri" panose="020F0502020204030204" pitchFamily="34" charset="0"/>
              <a:cs typeface="Calibri" panose="020F0502020204030204" pitchFamily="34" charset="0"/>
            </a:endParaRPr>
          </a:p>
          <a:p>
            <a:pPr marL="0" indent="0">
              <a:buNone/>
            </a:pPr>
            <a:r>
              <a:rPr lang="es-CL" sz="1200" dirty="0">
                <a:latin typeface="Calibri" panose="020F0502020204030204" pitchFamily="34" charset="0"/>
                <a:cs typeface="Calibri" panose="020F0502020204030204" pitchFamily="34" charset="0"/>
              </a:rPr>
              <a:t>Las sentencias del ejemplo muestran la identificación, apellido y el salario multiplicado por 12 de cada empleado. Al resultado de la expresión de multiplicar el salario por 12 se le asigna el alias Salario Anual.</a:t>
            </a:r>
            <a:r>
              <a:rPr lang="es-CL" sz="1200" baseline="0" dirty="0">
                <a:latin typeface="Calibri" panose="020F0502020204030204" pitchFamily="34" charset="0"/>
                <a:cs typeface="Calibri" panose="020F0502020204030204" pitchFamily="34" charset="0"/>
              </a:rPr>
              <a:t> El resultado se muestra ordenado en forma ascendente por salario multiplicado por 12.</a:t>
            </a:r>
          </a:p>
          <a:p>
            <a:pPr marL="0" indent="0">
              <a:buNone/>
            </a:pPr>
            <a:r>
              <a:rPr lang="es-CL" sz="1200" dirty="0">
                <a:latin typeface="Calibri" panose="020F0502020204030204" pitchFamily="34" charset="0"/>
                <a:cs typeface="Calibri" panose="020F0502020204030204" pitchFamily="34" charset="0"/>
              </a:rPr>
              <a:t>La única diferencia</a:t>
            </a:r>
            <a:r>
              <a:rPr lang="es-CL" sz="1200" baseline="0" dirty="0">
                <a:latin typeface="Calibri" panose="020F0502020204030204" pitchFamily="34" charset="0"/>
                <a:cs typeface="Calibri" panose="020F0502020204030204" pitchFamily="34" charset="0"/>
              </a:rPr>
              <a:t> es que para ordenar, e</a:t>
            </a:r>
            <a:r>
              <a:rPr lang="es-CL" sz="1200" dirty="0">
                <a:latin typeface="Calibri" panose="020F0502020204030204" pitchFamily="34" charset="0"/>
                <a:cs typeface="Calibri" panose="020F0502020204030204" pitchFamily="34" charset="0"/>
              </a:rPr>
              <a:t>n la sentencia de izquierda</a:t>
            </a:r>
            <a:r>
              <a:rPr lang="es-CL" sz="1200" baseline="0" dirty="0">
                <a:latin typeface="Calibri" panose="020F0502020204030204" pitchFamily="34" charset="0"/>
                <a:cs typeface="Calibri" panose="020F0502020204030204" pitchFamily="34" charset="0"/>
              </a:rPr>
              <a:t> se usa el alias asignado a la expresión matemática </a:t>
            </a:r>
            <a:r>
              <a:rPr lang="es-CL" sz="1200" dirty="0">
                <a:latin typeface="Calibri" panose="020F0502020204030204" pitchFamily="34" charset="0"/>
                <a:cs typeface="Calibri" panose="020F0502020204030204" pitchFamily="34" charset="0"/>
              </a:rPr>
              <a:t>de multiplicar el salario por 12</a:t>
            </a:r>
            <a:r>
              <a:rPr lang="es-CL" sz="1200" baseline="0" dirty="0">
                <a:latin typeface="Calibri" panose="020F0502020204030204" pitchFamily="34" charset="0"/>
                <a:cs typeface="Calibri" panose="020F0502020204030204" pitchFamily="34" charset="0"/>
              </a:rPr>
              <a:t> y en la sentencia de la derecha se usa la expresión matemática </a:t>
            </a:r>
            <a:r>
              <a:rPr lang="es-CL" sz="1200" dirty="0">
                <a:latin typeface="Calibri" panose="020F0502020204030204" pitchFamily="34" charset="0"/>
                <a:cs typeface="Calibri" panose="020F0502020204030204" pitchFamily="34" charset="0"/>
              </a:rPr>
              <a:t>de multiplicar el salario por 12.</a:t>
            </a:r>
          </a:p>
          <a:p>
            <a:pPr marL="0" indent="0">
              <a:buNone/>
            </a:pPr>
            <a:endParaRPr lang="es-CL" dirty="0"/>
          </a:p>
        </p:txBody>
      </p:sp>
    </p:spTree>
    <p:extLst>
      <p:ext uri="{BB962C8B-B14F-4D97-AF65-F5344CB8AC3E}">
        <p14:creationId xmlns:p14="http://schemas.microsoft.com/office/powerpoint/2010/main" val="838794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Ordenando las Filas Recuperadas</a:t>
            </a:r>
            <a:endParaRPr lang="es-CL" sz="1200" b="0" dirty="0">
              <a:latin typeface="Calibri" panose="020F0502020204030204" pitchFamily="34" charset="0"/>
              <a:cs typeface="Calibri" panose="020F050202020403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En el</a:t>
            </a:r>
            <a:r>
              <a:rPr lang="es-CL" sz="1200" baseline="0" dirty="0">
                <a:latin typeface="Calibri" panose="020F0502020204030204" pitchFamily="34" charset="0"/>
                <a:cs typeface="Calibri" panose="020F0502020204030204" pitchFamily="34" charset="0"/>
              </a:rPr>
              <a:t> primer ejemplo se</a:t>
            </a:r>
            <a:r>
              <a:rPr lang="es-CL" sz="1200" dirty="0">
                <a:latin typeface="Calibri" panose="020F0502020204030204" pitchFamily="34" charset="0"/>
                <a:cs typeface="Calibri" panose="020F0502020204030204" pitchFamily="34" charset="0"/>
              </a:rPr>
              <a:t> obtiene la identificación, apellido y el salario multiplicado por 12 de cada empleado. Al resultado de la expresión de multiplicar el salario por 12 se le asigna el alias Salario Anual.</a:t>
            </a:r>
            <a:r>
              <a:rPr lang="es-CL" sz="1200" baseline="0" dirty="0">
                <a:latin typeface="Calibri" panose="020F0502020204030204" pitchFamily="34" charset="0"/>
                <a:cs typeface="Calibri" panose="020F0502020204030204" pitchFamily="34" charset="0"/>
              </a:rPr>
              <a:t> El resultado se ordena en forma ascendente por salario multiplicado por 12. Sin embargo, al ejecutarla se produce el error que indica que el identificador SALARIO ANUAL no es válido. Esto se debe a que el alias asignado a la expresión matemática está escrita en mayúscula y minúsculas y en la cláusula ORDER BY el alias está escrito todo en mayúscula, por lo tanto no son iguales. Cuando los alias se definen entre comillas dobles, se debe usar de la misma forma.</a:t>
            </a:r>
          </a:p>
          <a:p>
            <a:pPr marL="0" marR="0" indent="0" algn="l" defTabSz="914400" rtl="0" eaLnBrk="0" fontAlgn="base" latinLnBrk="0" hangingPunct="0">
              <a:lnSpc>
                <a:spcPct val="100000"/>
              </a:lnSpc>
              <a:spcBef>
                <a:spcPct val="30000"/>
              </a:spcBef>
              <a:spcAft>
                <a:spcPct val="0"/>
              </a:spcAft>
              <a:buClrTx/>
              <a:buSzTx/>
              <a:buFontTx/>
              <a:buNone/>
              <a:tabLst/>
              <a:defRPr/>
            </a:pPr>
            <a:r>
              <a:rPr lang="es-CL" sz="1200" baseline="0" dirty="0">
                <a:latin typeface="Calibri" panose="020F0502020204030204" pitchFamily="34" charset="0"/>
                <a:cs typeface="Calibri" panose="020F0502020204030204" pitchFamily="34" charset="0"/>
              </a:rPr>
              <a:t>En el segundo ejemplo, la sentencia </a:t>
            </a:r>
            <a:r>
              <a:rPr lang="es-CL" sz="1200" dirty="0">
                <a:latin typeface="Calibri" panose="020F0502020204030204" pitchFamily="34" charset="0"/>
                <a:cs typeface="Calibri" panose="020F0502020204030204" pitchFamily="34" charset="0"/>
              </a:rPr>
              <a:t>muestra el apellido, identificación del departamento y salario de cada empleado. La información se muestra ordenada en forma ascendente por departamento y por cada uno de los</a:t>
            </a:r>
            <a:r>
              <a:rPr lang="es-CL" sz="1200" baseline="0" dirty="0">
                <a:latin typeface="Calibri" panose="020F0502020204030204" pitchFamily="34" charset="0"/>
                <a:cs typeface="Calibri" panose="020F0502020204030204" pitchFamily="34" charset="0"/>
              </a:rPr>
              <a:t> </a:t>
            </a:r>
            <a:r>
              <a:rPr lang="es-CL" sz="1200" dirty="0">
                <a:latin typeface="Calibri" panose="020F0502020204030204" pitchFamily="34" charset="0"/>
                <a:cs typeface="Calibri" panose="020F0502020204030204" pitchFamily="34" charset="0"/>
              </a:rPr>
              <a:t>departamentos se volverá a ordenar en forma descendente por salario</a:t>
            </a:r>
            <a:r>
              <a:rPr lang="es-CL" sz="1200" baseline="0" dirty="0">
                <a:latin typeface="Calibri" panose="020F0502020204030204" pitchFamily="34" charset="0"/>
                <a:cs typeface="Calibri" panose="020F0502020204030204" pitchFamily="34" charset="0"/>
              </a:rPr>
              <a:t> (al usar 3 se especifica que el ordenamiento es por la columna N°3 de las cláusula SELECT)</a:t>
            </a:r>
            <a:r>
              <a:rPr lang="es-CL" sz="1200" dirty="0">
                <a:latin typeface="Calibri" panose="020F0502020204030204" pitchFamily="34" charset="0"/>
                <a:cs typeface="Calibri" panose="020F0502020204030204" pitchFamily="34" charset="0"/>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es-CL" sz="1200" baseline="0" dirty="0"/>
          </a:p>
          <a:p>
            <a:pPr marL="0" indent="0">
              <a:buNone/>
            </a:pPr>
            <a:endParaRPr lang="es-CL" dirty="0"/>
          </a:p>
        </p:txBody>
      </p:sp>
    </p:spTree>
    <p:extLst>
      <p:ext uri="{BB962C8B-B14F-4D97-AF65-F5344CB8AC3E}">
        <p14:creationId xmlns:p14="http://schemas.microsoft.com/office/powerpoint/2010/main" val="26627139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Ordenando las Filas Recuperadas</a:t>
            </a:r>
            <a:endParaRPr lang="es-CL" sz="1200" b="0" dirty="0">
              <a:latin typeface="Calibri" panose="020F0502020204030204" pitchFamily="34" charset="0"/>
              <a:cs typeface="Calibri" panose="020F050202020403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s-CL" sz="1200" dirty="0">
                <a:latin typeface="Calibri" panose="020F0502020204030204" pitchFamily="34" charset="0"/>
                <a:cs typeface="Calibri" panose="020F0502020204030204" pitchFamily="34" charset="0"/>
              </a:rPr>
              <a:t>En el ejemplo se</a:t>
            </a:r>
            <a:r>
              <a:rPr lang="es-CL" sz="1200" baseline="0" dirty="0">
                <a:latin typeface="Calibri" panose="020F0502020204030204" pitchFamily="34" charset="0"/>
                <a:cs typeface="Calibri" panose="020F0502020204030204" pitchFamily="34" charset="0"/>
              </a:rPr>
              <a:t> muestra la identificación del departamento, la identificación del trabajo, el apellido y salario de cada empleado. La información se ordena en forma ascendente primer por identificación del departamento, después por cada departamento de ordena alfabéticamente por la identificación del trabajo y finalmente por cada trabajo que se desempeña en cada departamento se ordena alfabéticamente el apellido del empleado. Los valores nulos por defecto siempre se muestran al final, por esa razón que el empleado con departamento NULO se muestra en la última fila del resultado.</a:t>
            </a:r>
            <a:endParaRPr lang="es-CL" sz="1200" dirty="0">
              <a:latin typeface="Calibri" panose="020F0502020204030204" pitchFamily="34" charset="0"/>
              <a:cs typeface="Calibri" panose="020F050202020403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s-CL" sz="1200" baseline="0" dirty="0"/>
          </a:p>
          <a:p>
            <a:pPr marL="0" indent="0">
              <a:buNone/>
            </a:pPr>
            <a:endParaRPr lang="es-CL" dirty="0"/>
          </a:p>
        </p:txBody>
      </p:sp>
    </p:spTree>
    <p:extLst>
      <p:ext uri="{BB962C8B-B14F-4D97-AF65-F5344CB8AC3E}">
        <p14:creationId xmlns:p14="http://schemas.microsoft.com/office/powerpoint/2010/main" val="10005367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1143000" y="685800"/>
            <a:ext cx="4572000" cy="3429000"/>
          </a:xfrm>
        </p:spPr>
      </p:sp>
      <p:sp>
        <p:nvSpPr>
          <p:cNvPr id="3" name="Marcador de notas 2"/>
          <p:cNvSpPr>
            <a:spLocks noGrp="1"/>
          </p:cNvSpPr>
          <p:nvPr>
            <p:ph type="body" idx="1"/>
          </p:nvPr>
        </p:nvSpPr>
        <p:spPr/>
        <p:txBody>
          <a:bodyPr/>
          <a:lstStyle/>
          <a:p>
            <a:pPr marL="0" indent="0">
              <a:buNone/>
            </a:pPr>
            <a:r>
              <a:rPr lang="es-CL" sz="1200" b="1" dirty="0">
                <a:latin typeface="Calibri" panose="020F0502020204030204" pitchFamily="34" charset="0"/>
                <a:cs typeface="Calibri" panose="020F0502020204030204" pitchFamily="34" charset="0"/>
              </a:rPr>
              <a:t>Ordenando las Filas Recuperadas</a:t>
            </a:r>
          </a:p>
          <a:p>
            <a:pPr marL="0" indent="0">
              <a:buNone/>
            </a:pPr>
            <a:r>
              <a:rPr lang="es-CL" sz="1200" dirty="0">
                <a:latin typeface="Calibri" panose="020F0502020204030204" pitchFamily="34" charset="0"/>
                <a:cs typeface="Calibri" panose="020F0502020204030204" pitchFamily="34" charset="0"/>
              </a:rPr>
              <a:t>En el ejemplo, ambas sentencias muestran la identificación del empleado,</a:t>
            </a:r>
            <a:r>
              <a:rPr lang="es-CL" sz="1200" baseline="0" dirty="0">
                <a:latin typeface="Calibri" panose="020F0502020204030204" pitchFamily="34" charset="0"/>
                <a:cs typeface="Calibri" panose="020F0502020204030204" pitchFamily="34" charset="0"/>
              </a:rPr>
              <a:t> su salario y porcentaje de comisión. La información se ordena en forma ascendente por el porcentaje de comisión y el salario de los empleados. Al ordenar en forma ascendente por una columna que puede almacenar NULOS, todas las filas que posee que no poseen valor en esa columna se muestran al final del resultado. </a:t>
            </a:r>
          </a:p>
          <a:p>
            <a:pPr marL="0" indent="0">
              <a:buNone/>
            </a:pPr>
            <a:r>
              <a:rPr lang="es-CL" sz="1200" baseline="0" dirty="0">
                <a:latin typeface="Calibri" panose="020F0502020204030204" pitchFamily="34" charset="0"/>
                <a:cs typeface="Calibri" panose="020F0502020204030204" pitchFamily="34" charset="0"/>
              </a:rPr>
              <a:t>En la primera sentencia el ordenamiento se efectúa en forma tradicional. En la segunda sentencia además se usa NULL LAST para que todas las filas que poseen valor NULO aparezcan al final del resultado.</a:t>
            </a:r>
            <a:endParaRPr lang="es-CL" sz="1200" dirty="0">
              <a:latin typeface="Calibri" panose="020F0502020204030204" pitchFamily="34" charset="0"/>
              <a:cs typeface="Calibri" panose="020F050202020403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s-CL" sz="1200" baseline="0" dirty="0"/>
          </a:p>
          <a:p>
            <a:pPr marL="0" indent="0">
              <a:buNone/>
            </a:pPr>
            <a:endParaRPr lang="es-CL" dirty="0"/>
          </a:p>
        </p:txBody>
      </p:sp>
    </p:spTree>
    <p:extLst>
      <p:ext uri="{BB962C8B-B14F-4D97-AF65-F5344CB8AC3E}">
        <p14:creationId xmlns:p14="http://schemas.microsoft.com/office/powerpoint/2010/main" val="23883062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userDrawn="1">
  <p:cSld name="TITLE">
    <p:bg>
      <p:bgPr>
        <a:solidFill>
          <a:schemeClr val="dk2"/>
        </a:solidFill>
        <a:effectLst/>
      </p:bgPr>
    </p:bg>
    <p:spTree>
      <p:nvGrpSpPr>
        <p:cNvPr id="1" name="Shape 9"/>
        <p:cNvGrpSpPr/>
        <p:nvPr/>
      </p:nvGrpSpPr>
      <p:grpSpPr>
        <a:xfrm>
          <a:off x="0" y="0"/>
          <a:ext cx="0" cy="0"/>
          <a:chOff x="0" y="0"/>
          <a:chExt cx="0" cy="0"/>
        </a:xfrm>
      </p:grpSpPr>
      <p:sp>
        <p:nvSpPr>
          <p:cNvPr id="10" name="Google Shape;10;p2"/>
          <p:cNvSpPr/>
          <p:nvPr/>
        </p:nvSpPr>
        <p:spPr>
          <a:xfrm flipH="1">
            <a:off x="-1" y="0"/>
            <a:ext cx="4629587" cy="6858000"/>
          </a:xfrm>
          <a:custGeom>
            <a:avLst/>
            <a:gdLst/>
            <a:ahLst/>
            <a:cxnLst/>
            <a:rect l="l" t="t" r="r" b="b"/>
            <a:pathLst>
              <a:path w="6172782" h="6858000" extrusionOk="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FFFFFF"/>
              </a:solidFill>
              <a:latin typeface="Calibri"/>
              <a:ea typeface="Calibri"/>
              <a:cs typeface="Calibri"/>
              <a:sym typeface="Calibri"/>
            </a:endParaRPr>
          </a:p>
        </p:txBody>
      </p:sp>
      <p:pic>
        <p:nvPicPr>
          <p:cNvPr id="11" name="Google Shape;11;p2"/>
          <p:cNvPicPr preferRelativeResize="0"/>
          <p:nvPr/>
        </p:nvPicPr>
        <p:blipFill rotWithShape="1">
          <a:blip r:embed="rId2">
            <a:alphaModFix/>
          </a:blip>
          <a:srcRect/>
          <a:stretch/>
        </p:blipFill>
        <p:spPr>
          <a:xfrm>
            <a:off x="20" y="11958"/>
            <a:ext cx="4518116" cy="6840855"/>
          </a:xfrm>
          <a:custGeom>
            <a:avLst/>
            <a:gdLst/>
            <a:ahLst/>
            <a:cxnLst/>
            <a:rect l="l" t="t" r="r" b="b"/>
            <a:pathLst>
              <a:path w="6024154" h="6858000" extrusionOk="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noFill/>
          <a:ln>
            <a:noFill/>
          </a:ln>
        </p:spPr>
      </p:pic>
      <p:pic>
        <p:nvPicPr>
          <p:cNvPr id="12" name="Google Shape;12;p2"/>
          <p:cNvPicPr preferRelativeResize="0"/>
          <p:nvPr/>
        </p:nvPicPr>
        <p:blipFill rotWithShape="1">
          <a:blip r:embed="rId3">
            <a:alphaModFix/>
          </a:blip>
          <a:srcRect/>
          <a:stretch/>
        </p:blipFill>
        <p:spPr>
          <a:xfrm>
            <a:off x="5190123" y="212270"/>
            <a:ext cx="3748263" cy="586221"/>
          </a:xfrm>
          <a:prstGeom prst="rect">
            <a:avLst/>
          </a:prstGeom>
          <a:noFill/>
          <a:ln>
            <a:noFill/>
          </a:ln>
        </p:spPr>
      </p:pic>
      <p:sp>
        <p:nvSpPr>
          <p:cNvPr id="14" name="Google Shape;14;p2"/>
          <p:cNvSpPr txBox="1">
            <a:spLocks noGrp="1"/>
          </p:cNvSpPr>
          <p:nvPr>
            <p:ph type="subTitle" idx="1"/>
          </p:nvPr>
        </p:nvSpPr>
        <p:spPr>
          <a:xfrm>
            <a:off x="5284700" y="5620875"/>
            <a:ext cx="3603900" cy="873900"/>
          </a:xfrm>
          <a:prstGeom prst="rect">
            <a:avLst/>
          </a:prstGeom>
          <a:solidFill>
            <a:srgbClr val="DE3075"/>
          </a:solidFill>
          <a:ln>
            <a:noFill/>
          </a:ln>
        </p:spPr>
        <p:txBody>
          <a:bodyPr spcFirstLastPara="1" wrap="square" lIns="91425" tIns="0" rIns="182875" bIns="0" anchor="t" anchorCtr="0">
            <a:noAutofit/>
          </a:bodyPr>
          <a:lstStyle>
            <a:lvl1pPr lvl="0" algn="r" rtl="0">
              <a:spcBef>
                <a:spcPts val="1000"/>
              </a:spcBef>
              <a:spcAft>
                <a:spcPts val="0"/>
              </a:spcAft>
              <a:buNone/>
              <a:defRPr sz="4800" b="1">
                <a:solidFill>
                  <a:srgbClr val="FFFFFF"/>
                </a:solidFill>
                <a:latin typeface="Calibri" panose="020F0502020204030204" pitchFamily="34" charset="0"/>
                <a:cs typeface="Calibri" panose="020F0502020204030204" pitchFamily="34" charset="0"/>
              </a:defRPr>
            </a:lvl1pPr>
            <a:lvl2pPr lvl="1" algn="r" rtl="0">
              <a:spcBef>
                <a:spcPts val="1000"/>
              </a:spcBef>
              <a:spcAft>
                <a:spcPts val="0"/>
              </a:spcAft>
              <a:buNone/>
              <a:defRPr sz="4800" b="1">
                <a:solidFill>
                  <a:srgbClr val="FFFFFF"/>
                </a:solidFill>
              </a:defRPr>
            </a:lvl2pPr>
            <a:lvl3pPr lvl="2" algn="r" rtl="0">
              <a:spcBef>
                <a:spcPts val="1000"/>
              </a:spcBef>
              <a:spcAft>
                <a:spcPts val="0"/>
              </a:spcAft>
              <a:buNone/>
              <a:defRPr sz="4800" b="1">
                <a:solidFill>
                  <a:srgbClr val="FFFFFF"/>
                </a:solidFill>
              </a:defRPr>
            </a:lvl3pPr>
            <a:lvl4pPr lvl="3" algn="r" rtl="0">
              <a:spcBef>
                <a:spcPts val="1000"/>
              </a:spcBef>
              <a:spcAft>
                <a:spcPts val="0"/>
              </a:spcAft>
              <a:buNone/>
              <a:defRPr sz="4800" b="1">
                <a:solidFill>
                  <a:srgbClr val="FFFFFF"/>
                </a:solidFill>
              </a:defRPr>
            </a:lvl4pPr>
            <a:lvl5pPr lvl="4" algn="r" rtl="0">
              <a:spcBef>
                <a:spcPts val="1000"/>
              </a:spcBef>
              <a:spcAft>
                <a:spcPts val="0"/>
              </a:spcAft>
              <a:buNone/>
              <a:defRPr sz="4800" b="1">
                <a:solidFill>
                  <a:srgbClr val="FFFFFF"/>
                </a:solidFill>
              </a:defRPr>
            </a:lvl5pPr>
            <a:lvl6pPr lvl="5" algn="r" rtl="0">
              <a:spcBef>
                <a:spcPts val="1000"/>
              </a:spcBef>
              <a:spcAft>
                <a:spcPts val="0"/>
              </a:spcAft>
              <a:buNone/>
              <a:defRPr sz="4800" b="1">
                <a:solidFill>
                  <a:srgbClr val="FFFFFF"/>
                </a:solidFill>
              </a:defRPr>
            </a:lvl6pPr>
            <a:lvl7pPr lvl="6" algn="r" rtl="0">
              <a:spcBef>
                <a:spcPts val="1000"/>
              </a:spcBef>
              <a:spcAft>
                <a:spcPts val="0"/>
              </a:spcAft>
              <a:buNone/>
              <a:defRPr sz="4800" b="1">
                <a:solidFill>
                  <a:srgbClr val="FFFFFF"/>
                </a:solidFill>
              </a:defRPr>
            </a:lvl7pPr>
            <a:lvl8pPr lvl="7" algn="r" rtl="0">
              <a:spcBef>
                <a:spcPts val="1000"/>
              </a:spcBef>
              <a:spcAft>
                <a:spcPts val="0"/>
              </a:spcAft>
              <a:buNone/>
              <a:defRPr sz="4800" b="1">
                <a:solidFill>
                  <a:srgbClr val="FFFFFF"/>
                </a:solidFill>
              </a:defRPr>
            </a:lvl8pPr>
            <a:lvl9pPr lvl="8" algn="r" rtl="0">
              <a:spcBef>
                <a:spcPts val="1000"/>
              </a:spcBef>
              <a:spcAft>
                <a:spcPts val="0"/>
              </a:spcAft>
              <a:buNone/>
              <a:defRPr sz="4800" b="1">
                <a:solidFill>
                  <a:srgbClr val="FFFFFF"/>
                </a:solidFill>
              </a:defRPr>
            </a:lvl9pPr>
          </a:lstStyle>
          <a:p>
            <a:endParaRPr/>
          </a:p>
        </p:txBody>
      </p:sp>
      <p:sp>
        <p:nvSpPr>
          <p:cNvPr id="7" name="Google Shape;13;p2">
            <a:extLst>
              <a:ext uri="{FF2B5EF4-FFF2-40B4-BE49-F238E27FC236}">
                <a16:creationId xmlns="" xmlns:a16="http://schemas.microsoft.com/office/drawing/2014/main" id="{64854533-8DCC-1C49-8946-547AD8D471A7}"/>
              </a:ext>
            </a:extLst>
          </p:cNvPr>
          <p:cNvSpPr txBox="1">
            <a:spLocks noGrp="1"/>
          </p:cNvSpPr>
          <p:nvPr>
            <p:ph type="title"/>
          </p:nvPr>
        </p:nvSpPr>
        <p:spPr>
          <a:xfrm>
            <a:off x="3993775" y="2487700"/>
            <a:ext cx="4894800" cy="2891100"/>
          </a:xfrm>
          <a:prstGeom prst="rect">
            <a:avLst/>
          </a:prstGeom>
        </p:spPr>
        <p:txBody>
          <a:bodyPr spcFirstLastPara="1" wrap="square" lIns="91425" tIns="45700" rIns="91425" bIns="45700" anchor="b" anchorCtr="0">
            <a:noAutofit/>
          </a:bodyPr>
          <a:lstStyle>
            <a:lvl1pPr lvl="0" algn="r" rtl="0">
              <a:spcBef>
                <a:spcPts val="0"/>
              </a:spcBef>
              <a:spcAft>
                <a:spcPts val="0"/>
              </a:spcAft>
              <a:buNone/>
              <a:defRPr sz="6600">
                <a:latin typeface="Calibri" panose="020F0502020204030204" pitchFamily="34" charset="0"/>
                <a:cs typeface="Calibri" panose="020F0502020204030204" pitchFamily="34" charset="0"/>
              </a:defRPr>
            </a:lvl1pPr>
            <a:lvl2pPr lvl="1" algn="r" rtl="0">
              <a:spcBef>
                <a:spcPts val="0"/>
              </a:spcBef>
              <a:spcAft>
                <a:spcPts val="0"/>
              </a:spcAft>
              <a:buNone/>
              <a:defRPr sz="5600"/>
            </a:lvl2pPr>
            <a:lvl3pPr lvl="2" algn="r" rtl="0">
              <a:spcBef>
                <a:spcPts val="0"/>
              </a:spcBef>
              <a:spcAft>
                <a:spcPts val="0"/>
              </a:spcAft>
              <a:buNone/>
              <a:defRPr sz="5600"/>
            </a:lvl3pPr>
            <a:lvl4pPr lvl="3" algn="r" rtl="0">
              <a:spcBef>
                <a:spcPts val="0"/>
              </a:spcBef>
              <a:spcAft>
                <a:spcPts val="0"/>
              </a:spcAft>
              <a:buNone/>
              <a:defRPr sz="5600"/>
            </a:lvl4pPr>
            <a:lvl5pPr lvl="4" algn="r" rtl="0">
              <a:spcBef>
                <a:spcPts val="0"/>
              </a:spcBef>
              <a:spcAft>
                <a:spcPts val="0"/>
              </a:spcAft>
              <a:buNone/>
              <a:defRPr sz="5600"/>
            </a:lvl5pPr>
            <a:lvl6pPr lvl="5" algn="r" rtl="0">
              <a:spcBef>
                <a:spcPts val="0"/>
              </a:spcBef>
              <a:spcAft>
                <a:spcPts val="0"/>
              </a:spcAft>
              <a:buNone/>
              <a:defRPr sz="5600"/>
            </a:lvl6pPr>
            <a:lvl7pPr lvl="6" algn="r" rtl="0">
              <a:spcBef>
                <a:spcPts val="0"/>
              </a:spcBef>
              <a:spcAft>
                <a:spcPts val="0"/>
              </a:spcAft>
              <a:buNone/>
              <a:defRPr sz="5600"/>
            </a:lvl7pPr>
            <a:lvl8pPr lvl="7" algn="r" rtl="0">
              <a:spcBef>
                <a:spcPts val="0"/>
              </a:spcBef>
              <a:spcAft>
                <a:spcPts val="0"/>
              </a:spcAft>
              <a:buNone/>
              <a:defRPr sz="5600"/>
            </a:lvl8pPr>
            <a:lvl9pPr lvl="8" algn="r" rtl="0">
              <a:spcBef>
                <a:spcPts val="0"/>
              </a:spcBef>
              <a:spcAft>
                <a:spcPts val="0"/>
              </a:spcAft>
              <a:buNone/>
              <a:defRPr sz="5600"/>
            </a:lvl9pPr>
          </a:lstStyle>
          <a:p>
            <a:endParaRPr lang="es-ES_tradnl"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Encabezado de sección 1">
  <p:cSld name="TITLE_4_1_1">
    <p:bg>
      <p:bgPr>
        <a:solidFill>
          <a:schemeClr val="dk2"/>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a:stretch/>
        </p:blipFill>
        <p:spPr>
          <a:xfrm>
            <a:off x="5177307" y="186298"/>
            <a:ext cx="3812148" cy="601304"/>
          </a:xfrm>
          <a:prstGeom prst="rect">
            <a:avLst/>
          </a:prstGeom>
          <a:noFill/>
          <a:ln>
            <a:noFill/>
          </a:ln>
        </p:spPr>
      </p:pic>
      <p:grpSp>
        <p:nvGrpSpPr>
          <p:cNvPr id="18" name="Google Shape;18;p3"/>
          <p:cNvGrpSpPr/>
          <p:nvPr/>
        </p:nvGrpSpPr>
        <p:grpSpPr>
          <a:xfrm>
            <a:off x="0" y="-124"/>
            <a:ext cx="4853665" cy="5740374"/>
            <a:chOff x="0" y="-126"/>
            <a:chExt cx="4554438" cy="5386482"/>
          </a:xfrm>
        </p:grpSpPr>
        <p:sp>
          <p:nvSpPr>
            <p:cNvPr id="19" name="Google Shape;19;p3"/>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0" name="Google Shape;20;p3" descr="Una caricatura de una ciudad&#10;&#10;Descripción generada automáticamente"/>
            <p:cNvPicPr preferRelativeResize="0"/>
            <p:nvPr/>
          </p:nvPicPr>
          <p:blipFill rotWithShape="1">
            <a:blip r:embed="rId3">
              <a:alphaModFix/>
            </a:blip>
            <a:srcRect l="9870" r="648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1" name="Google Shape;21;p3"/>
          <p:cNvSpPr txBox="1">
            <a:spLocks noGrp="1"/>
          </p:cNvSpPr>
          <p:nvPr>
            <p:ph type="title"/>
          </p:nvPr>
        </p:nvSpPr>
        <p:spPr>
          <a:xfrm>
            <a:off x="3004575" y="3476150"/>
            <a:ext cx="5995800" cy="1603200"/>
          </a:xfrm>
          <a:prstGeom prst="rect">
            <a:avLst/>
          </a:prstGeom>
          <a:solidFill>
            <a:srgbClr val="DE3075">
              <a:alpha val="6429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2">
  <p:cSld name="TITLE_4">
    <p:bg>
      <p:bgPr>
        <a:solidFill>
          <a:schemeClr val="accent1"/>
        </a:solidFill>
        <a:effectLst/>
      </p:bgPr>
    </p:bg>
    <p:spTree>
      <p:nvGrpSpPr>
        <p:cNvPr id="1" name="Shape 22"/>
        <p:cNvGrpSpPr/>
        <p:nvPr/>
      </p:nvGrpSpPr>
      <p:grpSpPr>
        <a:xfrm>
          <a:off x="0" y="0"/>
          <a:ext cx="0" cy="0"/>
          <a:chOff x="0" y="0"/>
          <a:chExt cx="0" cy="0"/>
        </a:xfrm>
      </p:grpSpPr>
      <p:grpSp>
        <p:nvGrpSpPr>
          <p:cNvPr id="23" name="Google Shape;23;p4"/>
          <p:cNvGrpSpPr/>
          <p:nvPr/>
        </p:nvGrpSpPr>
        <p:grpSpPr>
          <a:xfrm>
            <a:off x="0" y="-124"/>
            <a:ext cx="4853665" cy="5740374"/>
            <a:chOff x="0" y="-126"/>
            <a:chExt cx="4554438" cy="5386482"/>
          </a:xfrm>
        </p:grpSpPr>
        <p:sp>
          <p:nvSpPr>
            <p:cNvPr id="24" name="Google Shape;24;p4"/>
            <p:cNvSpPr/>
            <p:nvPr/>
          </p:nvSpPr>
          <p:spPr>
            <a:xfrm rot="10800000" flipH="1">
              <a:off x="0" y="-126"/>
              <a:ext cx="4554438" cy="5386482"/>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25" name="Google Shape;25;p4" descr="Imagen que contiene persona, foto, hombre, mujer&#10;&#10;Descripción generada automáticamente"/>
            <p:cNvPicPr preferRelativeResize="0"/>
            <p:nvPr/>
          </p:nvPicPr>
          <p:blipFill rotWithShape="1">
            <a:blip r:embed="rId2">
              <a:alphaModFix/>
            </a:blip>
            <a:srcRect r="16352"/>
            <a:stretch/>
          </p:blipFill>
          <p:spPr>
            <a:xfrm>
              <a:off x="1" y="-1"/>
              <a:ext cx="4423169" cy="5247982"/>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grpSp>
      <p:sp>
        <p:nvSpPr>
          <p:cNvPr id="26" name="Google Shape;26;p4"/>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lang="es-ES_tradnl" noProof="0" dirty="0"/>
          </a:p>
        </p:txBody>
      </p:sp>
      <p:pic>
        <p:nvPicPr>
          <p:cNvPr id="27" name="Google Shape;27;p4"/>
          <p:cNvPicPr preferRelativeResize="0"/>
          <p:nvPr/>
        </p:nvPicPr>
        <p:blipFill rotWithShape="1">
          <a:blip r:embed="rId3">
            <a:alphaModFix/>
          </a:blip>
          <a:srcRect/>
          <a:stretch/>
        </p:blipFill>
        <p:spPr>
          <a:xfrm>
            <a:off x="5177307" y="186298"/>
            <a:ext cx="3812148" cy="601304"/>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3">
  <p:cSld name="TITLE_1_1">
    <p:bg>
      <p:bgPr>
        <a:solidFill>
          <a:schemeClr val="accent2"/>
        </a:solidFill>
        <a:effectLst/>
      </p:bgPr>
    </p:bg>
    <p:spTree>
      <p:nvGrpSpPr>
        <p:cNvPr id="1" name="Shape 29"/>
        <p:cNvGrpSpPr/>
        <p:nvPr/>
      </p:nvGrpSpPr>
      <p:grpSpPr>
        <a:xfrm>
          <a:off x="0" y="0"/>
          <a:ext cx="0" cy="0"/>
          <a:chOff x="0" y="0"/>
          <a:chExt cx="0" cy="0"/>
        </a:xfrm>
      </p:grpSpPr>
      <p:sp>
        <p:nvSpPr>
          <p:cNvPr id="30" name="Google Shape;30;p5"/>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1" name="Google Shape;31;p5"/>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2" name="Google Shape;32;p5" descr="Una caricatura de una ciudad&#10;&#10;Descripción generada automáticamente"/>
          <p:cNvPicPr preferRelativeResize="0"/>
          <p:nvPr/>
        </p:nvPicPr>
        <p:blipFill rotWithShape="1">
          <a:blip r:embed="rId3">
            <a:alphaModFix/>
          </a:blip>
          <a:srcRect l="9870" r="648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34" name="Google Shape;34;p5"/>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1" preserve="1">
  <p:cSld name="Título y objetos 1">
    <p:spTree>
      <p:nvGrpSpPr>
        <p:cNvPr id="1" name="Shape 83"/>
        <p:cNvGrpSpPr/>
        <p:nvPr/>
      </p:nvGrpSpPr>
      <p:grpSpPr>
        <a:xfrm>
          <a:off x="0" y="0"/>
          <a:ext cx="0" cy="0"/>
          <a:chOff x="0" y="0"/>
          <a:chExt cx="0" cy="0"/>
        </a:xfrm>
      </p:grpSpPr>
      <p:sp>
        <p:nvSpPr>
          <p:cNvPr id="84" name="Google Shape;84;p14"/>
          <p:cNvSpPr/>
          <p:nvPr/>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85" name="Google Shape;85;p14"/>
          <p:cNvSpPr/>
          <p:nvPr/>
        </p:nvSpPr>
        <p:spPr>
          <a:xfrm>
            <a:off x="770850" y="212725"/>
            <a:ext cx="903600" cy="813000"/>
          </a:xfrm>
          <a:prstGeom prst="parallelogram">
            <a:avLst>
              <a:gd name="adj" fmla="val 45310"/>
            </a:avLst>
          </a:prstGeom>
          <a:solidFill>
            <a:srgbClr val="8189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4"/>
          <p:cNvSpPr/>
          <p:nvPr/>
        </p:nvSpPr>
        <p:spPr>
          <a:xfrm>
            <a:off x="146422" y="212725"/>
            <a:ext cx="903600" cy="813000"/>
          </a:xfrm>
          <a:prstGeom prst="parallelogram">
            <a:avLst>
              <a:gd name="adj" fmla="val 45310"/>
            </a:avLst>
          </a:prstGeom>
          <a:gradFill>
            <a:gsLst>
              <a:gs pos="0">
                <a:srgbClr val="FFFFFF"/>
              </a:gs>
              <a:gs pos="65000">
                <a:schemeClr val="dk2"/>
              </a:gs>
              <a:gs pos="100000">
                <a:schemeClr val="dk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4"/>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pic>
        <p:nvPicPr>
          <p:cNvPr id="89" name="Google Shape;89;p14"/>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0" name="Google Shape;90;p14"/>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7;p1">
            <a:extLst>
              <a:ext uri="{FF2B5EF4-FFF2-40B4-BE49-F238E27FC236}">
                <a16:creationId xmlns="" xmlns:a16="http://schemas.microsoft.com/office/drawing/2014/main" id="{0B5789D4-A1BB-0442-8135-68C7C82B7CE3}"/>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423579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2" userDrawn="1">
  <p:cSld name="OBJECT">
    <p:spTree>
      <p:nvGrpSpPr>
        <p:cNvPr id="1" name="Shape 91"/>
        <p:cNvGrpSpPr/>
        <p:nvPr/>
      </p:nvGrpSpPr>
      <p:grpSpPr>
        <a:xfrm>
          <a:off x="0" y="0"/>
          <a:ext cx="0" cy="0"/>
          <a:chOff x="0" y="0"/>
          <a:chExt cx="0" cy="0"/>
        </a:xfrm>
      </p:grpSpPr>
      <p:sp>
        <p:nvSpPr>
          <p:cNvPr id="93" name="Google Shape;93;p15"/>
          <p:cNvSpPr/>
          <p:nvPr/>
        </p:nvSpPr>
        <p:spPr>
          <a:xfrm>
            <a:off x="770850" y="212725"/>
            <a:ext cx="903600" cy="813000"/>
          </a:xfrm>
          <a:prstGeom prst="parallelogram">
            <a:avLst>
              <a:gd name="adj" fmla="val 4531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15"/>
          <p:cNvSpPr/>
          <p:nvPr/>
        </p:nvSpPr>
        <p:spPr>
          <a:xfrm>
            <a:off x="146422" y="212725"/>
            <a:ext cx="903600" cy="813000"/>
          </a:xfrm>
          <a:prstGeom prst="parallelogram">
            <a:avLst>
              <a:gd name="adj" fmla="val 45310"/>
            </a:avLst>
          </a:prstGeom>
          <a:gradFill>
            <a:gsLst>
              <a:gs pos="0">
                <a:srgbClr val="FFFFFF"/>
              </a:gs>
              <a:gs pos="65000">
                <a:schemeClr val="accent1"/>
              </a:gs>
              <a:gs pos="100000">
                <a:schemeClr val="accen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7" name="Google Shape;97;p15"/>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98" name="Google Shape;98;p15"/>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10" name="Google Shape;84;p14">
            <a:extLst>
              <a:ext uri="{FF2B5EF4-FFF2-40B4-BE49-F238E27FC236}">
                <a16:creationId xmlns="" xmlns:a16="http://schemas.microsoft.com/office/drawing/2014/main" id="{4F836A24-6D51-4D40-AB79-0230302D1457}"/>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1" name="Google Shape;87;p14">
            <a:extLst>
              <a:ext uri="{FF2B5EF4-FFF2-40B4-BE49-F238E27FC236}">
                <a16:creationId xmlns="" xmlns:a16="http://schemas.microsoft.com/office/drawing/2014/main" id="{3BFC4BEF-06F5-F149-88A2-FDD96288DC2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2" name="Google Shape;7;p1">
            <a:extLst>
              <a:ext uri="{FF2B5EF4-FFF2-40B4-BE49-F238E27FC236}">
                <a16:creationId xmlns="" xmlns:a16="http://schemas.microsoft.com/office/drawing/2014/main" id="{0D7DAA7F-11AA-0147-9DA0-85C0C21C9491}"/>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ítulo y objetos 3" userDrawn="1">
  <p:cSld name="OBJECT_1">
    <p:spTree>
      <p:nvGrpSpPr>
        <p:cNvPr id="1" name="Shape 99"/>
        <p:cNvGrpSpPr/>
        <p:nvPr/>
      </p:nvGrpSpPr>
      <p:grpSpPr>
        <a:xfrm>
          <a:off x="0" y="0"/>
          <a:ext cx="0" cy="0"/>
          <a:chOff x="0" y="0"/>
          <a:chExt cx="0" cy="0"/>
        </a:xfrm>
      </p:grpSpPr>
      <p:sp>
        <p:nvSpPr>
          <p:cNvPr id="101" name="Google Shape;101;p16"/>
          <p:cNvSpPr/>
          <p:nvPr/>
        </p:nvSpPr>
        <p:spPr>
          <a:xfrm>
            <a:off x="770850" y="212725"/>
            <a:ext cx="903600" cy="813000"/>
          </a:xfrm>
          <a:prstGeom prst="parallelogram">
            <a:avLst>
              <a:gd name="adj" fmla="val 45310"/>
            </a:avLst>
          </a:prstGeom>
          <a:solidFill>
            <a:srgbClr val="7027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6"/>
          <p:cNvSpPr/>
          <p:nvPr/>
        </p:nvSpPr>
        <p:spPr>
          <a:xfrm>
            <a:off x="146422" y="212725"/>
            <a:ext cx="903600" cy="813000"/>
          </a:xfrm>
          <a:prstGeom prst="parallelogram">
            <a:avLst>
              <a:gd name="adj" fmla="val 45310"/>
            </a:avLst>
          </a:prstGeom>
          <a:gradFill>
            <a:gsLst>
              <a:gs pos="0">
                <a:srgbClr val="FFFFFF"/>
              </a:gs>
              <a:gs pos="65000">
                <a:schemeClr val="accent2"/>
              </a:gs>
              <a:gs pos="100000">
                <a:schemeClr val="accent2"/>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5" name="Google Shape;105;p16"/>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06" name="Google Shape;106;p16"/>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lang="es-ES_tradnl" noProof="0" dirty="0"/>
          </a:p>
        </p:txBody>
      </p:sp>
      <p:sp>
        <p:nvSpPr>
          <p:cNvPr id="9" name="Google Shape;84;p14">
            <a:extLst>
              <a:ext uri="{FF2B5EF4-FFF2-40B4-BE49-F238E27FC236}">
                <a16:creationId xmlns="" xmlns:a16="http://schemas.microsoft.com/office/drawing/2014/main" id="{BB89A5F1-01F7-AA47-B434-101A27DE7BC0}"/>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 xmlns:a16="http://schemas.microsoft.com/office/drawing/2014/main" id="{8DC17925-3C94-8F46-871B-B63E680B4A39}"/>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ES_tradnl" noProof="0" dirty="0"/>
          </a:p>
        </p:txBody>
      </p:sp>
      <p:sp>
        <p:nvSpPr>
          <p:cNvPr id="11" name="Google Shape;7;p1">
            <a:extLst>
              <a:ext uri="{FF2B5EF4-FFF2-40B4-BE49-F238E27FC236}">
                <a16:creationId xmlns="" xmlns:a16="http://schemas.microsoft.com/office/drawing/2014/main" id="{3C188FE6-8EF7-F044-9027-21CDC308C75A}"/>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solidFill>
          <a:schemeClr val="bg2"/>
        </a:solid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 xmlns:a16="http://schemas.microsoft.com/office/drawing/2014/main" id="{EC7D9485-9D22-5647-86A2-61337F2EBDAC}"/>
              </a:ext>
            </a:extLst>
          </p:cNvPr>
          <p:cNvSpPr>
            <a:spLocks noGrp="1"/>
          </p:cNvSpPr>
          <p:nvPr>
            <p:ph type="body" sz="quarter" idx="11"/>
          </p:nvPr>
        </p:nvSpPr>
        <p:spPr>
          <a:xfrm>
            <a:off x="560387" y="2634922"/>
            <a:ext cx="8023225" cy="2275770"/>
          </a:xfrm>
          <a:prstGeom prst="rect">
            <a:avLst/>
          </a:prstGeom>
        </p:spPr>
        <p:txBody>
          <a:bodyPr anchor="ctr"/>
          <a:lstStyle>
            <a:lvl1pPr marL="50800" indent="0" algn="ctr">
              <a:buNone/>
              <a:defRPr sz="4000">
                <a:solidFill>
                  <a:schemeClr val="bg1"/>
                </a:solidFill>
                <a:latin typeface="Calibri" panose="020F0502020204030204" pitchFamily="34" charset="0"/>
                <a:cs typeface="Calibri" panose="020F0502020204030204" pitchFamily="34" charset="0"/>
              </a:defRPr>
            </a:lvl1pPr>
          </a:lstStyle>
          <a:p>
            <a:pPr lvl="0"/>
            <a:endParaRPr lang="es-ES_tradnl" dirty="0"/>
          </a:p>
        </p:txBody>
      </p:sp>
      <p:pic>
        <p:nvPicPr>
          <p:cNvPr id="6" name="Google Shape;12;p2">
            <a:extLst>
              <a:ext uri="{FF2B5EF4-FFF2-40B4-BE49-F238E27FC236}">
                <a16:creationId xmlns="" xmlns:a16="http://schemas.microsoft.com/office/drawing/2014/main" id="{0D343A73-BC54-BF4C-A259-A0C913A07BC0}"/>
              </a:ext>
            </a:extLst>
          </p:cNvPr>
          <p:cNvPicPr preferRelativeResize="0"/>
          <p:nvPr userDrawn="1"/>
        </p:nvPicPr>
        <p:blipFill rotWithShape="1">
          <a:blip r:embed="rId2">
            <a:alphaModFix/>
          </a:blip>
          <a:srcRect/>
          <a:stretch/>
        </p:blipFill>
        <p:spPr>
          <a:xfrm>
            <a:off x="6179349" y="392750"/>
            <a:ext cx="2759037" cy="459625"/>
          </a:xfrm>
          <a:prstGeom prst="rect">
            <a:avLst/>
          </a:prstGeom>
          <a:noFill/>
          <a:ln>
            <a:noFill/>
          </a:ln>
        </p:spPr>
      </p:pic>
      <p:sp>
        <p:nvSpPr>
          <p:cNvPr id="10" name="Marcador de texto 4">
            <a:extLst>
              <a:ext uri="{FF2B5EF4-FFF2-40B4-BE49-F238E27FC236}">
                <a16:creationId xmlns="" xmlns:a16="http://schemas.microsoft.com/office/drawing/2014/main" id="{A2F63D34-FBAE-5442-A997-D0933D828667}"/>
              </a:ext>
            </a:extLst>
          </p:cNvPr>
          <p:cNvSpPr>
            <a:spLocks noGrp="1"/>
          </p:cNvSpPr>
          <p:nvPr>
            <p:ph type="body" sz="quarter" idx="12"/>
          </p:nvPr>
        </p:nvSpPr>
        <p:spPr>
          <a:xfrm>
            <a:off x="560387" y="1632286"/>
            <a:ext cx="8023225" cy="665749"/>
          </a:xfrm>
          <a:prstGeom prst="rect">
            <a:avLst/>
          </a:prstGeom>
          <a:solidFill>
            <a:schemeClr val="accent1"/>
          </a:solidFill>
        </p:spPr>
        <p:txBody>
          <a:bodyPr/>
          <a:lstStyle>
            <a:lvl1pPr marL="50800" indent="0" algn="ctr">
              <a:buNone/>
              <a:defRPr sz="2800">
                <a:solidFill>
                  <a:schemeClr val="bg1"/>
                </a:solidFill>
                <a:latin typeface="Calibri" panose="020F0502020204030204" pitchFamily="34" charset="0"/>
                <a:cs typeface="Calibri" panose="020F0502020204030204" pitchFamily="34" charset="0"/>
              </a:defRPr>
            </a:lvl1pPr>
          </a:lstStyle>
          <a:p>
            <a:pPr lvl="0"/>
            <a:endParaRPr lang="es-ES_tradnl" dirty="0"/>
          </a:p>
        </p:txBody>
      </p:sp>
      <p:sp>
        <p:nvSpPr>
          <p:cNvPr id="11" name="Google Shape;165;p24">
            <a:extLst>
              <a:ext uri="{FF2B5EF4-FFF2-40B4-BE49-F238E27FC236}">
                <a16:creationId xmlns="" xmlns:a16="http://schemas.microsoft.com/office/drawing/2014/main" id="{ED241A5B-D2F8-1D45-8F9D-D1D4B48E7814}"/>
              </a:ext>
            </a:extLst>
          </p:cNvPr>
          <p:cNvSpPr/>
          <p:nvPr userDrawn="1"/>
        </p:nvSpPr>
        <p:spPr>
          <a:xfrm>
            <a:off x="770850" y="212725"/>
            <a:ext cx="903600"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6;p24">
            <a:extLst>
              <a:ext uri="{FF2B5EF4-FFF2-40B4-BE49-F238E27FC236}">
                <a16:creationId xmlns="" xmlns:a16="http://schemas.microsoft.com/office/drawing/2014/main" id="{990F690A-789C-6740-B34D-11153A9BBDDB}"/>
              </a:ext>
            </a:extLst>
          </p:cNvPr>
          <p:cNvSpPr/>
          <p:nvPr userDrawn="1"/>
        </p:nvSpPr>
        <p:spPr>
          <a:xfrm>
            <a:off x="146422" y="212725"/>
            <a:ext cx="903600" cy="813000"/>
          </a:xfrm>
          <a:prstGeom prst="parallelogram">
            <a:avLst>
              <a:gd name="adj" fmla="val 45310"/>
            </a:avLst>
          </a:prstGeom>
          <a:gradFill>
            <a:gsLst>
              <a:gs pos="0">
                <a:schemeClr val="bg2"/>
              </a:gs>
              <a:gs pos="65000">
                <a:schemeClr val="bg1"/>
              </a:gs>
              <a:gs pos="100000">
                <a:schemeClr val="bg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p14">
            <a:extLst>
              <a:ext uri="{FF2B5EF4-FFF2-40B4-BE49-F238E27FC236}">
                <a16:creationId xmlns="" xmlns:a16="http://schemas.microsoft.com/office/drawing/2014/main" id="{7FF938C0-C0B1-8543-A7DC-F3B0AA5BE94F}"/>
              </a:ext>
            </a:extLst>
          </p:cNvPr>
          <p:cNvSpPr/>
          <p:nvPr userDrawn="1"/>
        </p:nvSpPr>
        <p:spPr>
          <a:xfrm>
            <a:off x="1372975" y="212725"/>
            <a:ext cx="4806374" cy="813000"/>
          </a:xfrm>
          <a:prstGeom prst="parallelogram">
            <a:avLst>
              <a:gd name="adj" fmla="val 45310"/>
            </a:avLst>
          </a:prstGeom>
          <a:solidFill>
            <a:schemeClr val="bg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lang="es-CL" dirty="0">
              <a:latin typeface="Bebas Neue" panose="020B0606020202050201" pitchFamily="34" charset="77"/>
            </a:endParaRPr>
          </a:p>
        </p:txBody>
      </p:sp>
      <p:sp>
        <p:nvSpPr>
          <p:cNvPr id="15" name="Google Shape;87;p14">
            <a:extLst>
              <a:ext uri="{FF2B5EF4-FFF2-40B4-BE49-F238E27FC236}">
                <a16:creationId xmlns="" xmlns:a16="http://schemas.microsoft.com/office/drawing/2014/main" id="{D9228F07-B61E-0645-862B-247F10F5B15E}"/>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solidFill>
                  <a:schemeClr val="accent1"/>
                </a:solidFill>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Tree>
    <p:extLst>
      <p:ext uri="{BB962C8B-B14F-4D97-AF65-F5344CB8AC3E}">
        <p14:creationId xmlns:p14="http://schemas.microsoft.com/office/powerpoint/2010/main" val="359457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En blanco" type="blank" preserve="1">
  <p:cSld name="1_En blanco">
    <p:spTree>
      <p:nvGrpSpPr>
        <p:cNvPr id="1" name="Shape 205"/>
        <p:cNvGrpSpPr/>
        <p:nvPr/>
      </p:nvGrpSpPr>
      <p:grpSpPr>
        <a:xfrm>
          <a:off x="0" y="0"/>
          <a:ext cx="0" cy="0"/>
          <a:chOff x="0" y="0"/>
          <a:chExt cx="0" cy="0"/>
        </a:xfrm>
      </p:grpSpPr>
      <p:sp>
        <p:nvSpPr>
          <p:cNvPr id="4" name="Google Shape;7;p1">
            <a:extLst>
              <a:ext uri="{FF2B5EF4-FFF2-40B4-BE49-F238E27FC236}">
                <a16:creationId xmlns="" xmlns:a16="http://schemas.microsoft.com/office/drawing/2014/main" id="{FCAE1A83-104E-8B4E-949F-BE3A9ADE6BA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97781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Encabezado de sección 4">
  <p:cSld name="Encabezado de sección 4">
    <p:bg>
      <p:bgPr>
        <a:solidFill>
          <a:schemeClr val="accent3"/>
        </a:solidFill>
        <a:effectLst/>
      </p:bgPr>
    </p:bg>
    <p:spTree>
      <p:nvGrpSpPr>
        <p:cNvPr id="1" name="Shape 35"/>
        <p:cNvGrpSpPr/>
        <p:nvPr/>
      </p:nvGrpSpPr>
      <p:grpSpPr>
        <a:xfrm>
          <a:off x="0" y="0"/>
          <a:ext cx="0" cy="0"/>
          <a:chOff x="0" y="0"/>
          <a:chExt cx="0" cy="0"/>
        </a:xfrm>
      </p:grpSpPr>
      <p:sp>
        <p:nvSpPr>
          <p:cNvPr id="36" name="Google Shape;36;p6"/>
          <p:cNvSpPr/>
          <p:nvPr/>
        </p:nvSpPr>
        <p:spPr>
          <a:xfrm rot="10800000" flipH="1">
            <a:off x="0" y="3085"/>
            <a:ext cx="4850881" cy="5737081"/>
          </a:xfrm>
          <a:custGeom>
            <a:avLst/>
            <a:gdLst/>
            <a:ahLst/>
            <a:cxnLst/>
            <a:rect l="l" t="t" r="r" b="b"/>
            <a:pathLst>
              <a:path w="5389868" h="6374535" extrusionOk="0">
                <a:moveTo>
                  <a:pt x="620377" y="6374535"/>
                </a:moveTo>
                <a:lnTo>
                  <a:pt x="3459520" y="6374535"/>
                </a:lnTo>
                <a:lnTo>
                  <a:pt x="3638761" y="6288190"/>
                </a:lnTo>
                <a:cubicBezTo>
                  <a:pt x="4681799" y="5721578"/>
                  <a:pt x="5389868" y="4616487"/>
                  <a:pt x="5389868" y="3346018"/>
                </a:cubicBezTo>
                <a:cubicBezTo>
                  <a:pt x="5389868" y="1498063"/>
                  <a:pt x="3891805" y="0"/>
                  <a:pt x="2043850" y="0"/>
                </a:cubicBezTo>
                <a:cubicBezTo>
                  <a:pt x="1336430" y="0"/>
                  <a:pt x="680285" y="219535"/>
                  <a:pt x="139826" y="594192"/>
                </a:cubicBezTo>
                <a:lnTo>
                  <a:pt x="0" y="700065"/>
                </a:lnTo>
                <a:lnTo>
                  <a:pt x="0" y="5991971"/>
                </a:lnTo>
                <a:lnTo>
                  <a:pt x="139827" y="6097845"/>
                </a:lnTo>
                <a:cubicBezTo>
                  <a:pt x="217035" y="6151367"/>
                  <a:pt x="296605" y="6201724"/>
                  <a:pt x="378347" y="6248727"/>
                </a:cubicBezTo>
                <a:close/>
              </a:path>
            </a:pathLst>
          </a:custGeom>
          <a:solidFill>
            <a:srgbClr val="FFFFFF">
              <a:alpha val="8000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b="0" i="0" u="none" strike="noStrike" cap="none">
              <a:solidFill>
                <a:srgbClr val="FFFFFF"/>
              </a:solidFill>
              <a:latin typeface="Calibri"/>
              <a:ea typeface="Calibri"/>
              <a:cs typeface="Calibri"/>
              <a:sym typeface="Calibri"/>
            </a:endParaRPr>
          </a:p>
        </p:txBody>
      </p:sp>
      <p:pic>
        <p:nvPicPr>
          <p:cNvPr id="37" name="Google Shape;37;p6"/>
          <p:cNvPicPr preferRelativeResize="0"/>
          <p:nvPr/>
        </p:nvPicPr>
        <p:blipFill rotWithShape="1">
          <a:blip r:embed="rId2">
            <a:alphaModFix/>
          </a:blip>
          <a:srcRect/>
          <a:stretch/>
        </p:blipFill>
        <p:spPr>
          <a:xfrm>
            <a:off x="5177307" y="186298"/>
            <a:ext cx="3812148" cy="601304"/>
          </a:xfrm>
          <a:prstGeom prst="rect">
            <a:avLst/>
          </a:prstGeom>
          <a:noFill/>
          <a:ln>
            <a:noFill/>
          </a:ln>
        </p:spPr>
      </p:pic>
      <p:pic>
        <p:nvPicPr>
          <p:cNvPr id="38" name="Google Shape;38;p6" descr="Imagen que contiene persona, foto, hombre, mujer&#10;&#10;Descripción generada automáticamente"/>
          <p:cNvPicPr preferRelativeResize="0"/>
          <p:nvPr/>
        </p:nvPicPr>
        <p:blipFill rotWithShape="1">
          <a:blip r:embed="rId3">
            <a:alphaModFix/>
          </a:blip>
          <a:srcRect r="16352"/>
          <a:stretch/>
        </p:blipFill>
        <p:spPr>
          <a:xfrm>
            <a:off x="1" y="10"/>
            <a:ext cx="4711067" cy="5589566"/>
          </a:xfrm>
          <a:custGeom>
            <a:avLst/>
            <a:gdLst/>
            <a:ahLst/>
            <a:cxnLst/>
            <a:rect l="l" t="t" r="r" b="b"/>
            <a:pathLst>
              <a:path w="5234519" h="6210629" extrusionOk="0">
                <a:moveTo>
                  <a:pt x="1082595" y="0"/>
                </a:moveTo>
                <a:lnTo>
                  <a:pt x="3027450" y="0"/>
                </a:lnTo>
                <a:lnTo>
                  <a:pt x="3291029" y="96471"/>
                </a:lnTo>
                <a:cubicBezTo>
                  <a:pt x="4433137" y="579542"/>
                  <a:pt x="5234519" y="1710443"/>
                  <a:pt x="5234519" y="3028517"/>
                </a:cubicBezTo>
                <a:cubicBezTo>
                  <a:pt x="5234519" y="4785949"/>
                  <a:pt x="3809839" y="6210629"/>
                  <a:pt x="2052407" y="6210629"/>
                </a:cubicBezTo>
                <a:cubicBezTo>
                  <a:pt x="1283531" y="6210629"/>
                  <a:pt x="578345" y="5937936"/>
                  <a:pt x="28288" y="5483989"/>
                </a:cubicBezTo>
                <a:lnTo>
                  <a:pt x="0" y="5458279"/>
                </a:lnTo>
                <a:lnTo>
                  <a:pt x="0" y="598754"/>
                </a:lnTo>
                <a:lnTo>
                  <a:pt x="28288" y="573044"/>
                </a:lnTo>
                <a:cubicBezTo>
                  <a:pt x="303317" y="346070"/>
                  <a:pt x="617127" y="164410"/>
                  <a:pt x="958290" y="39494"/>
                </a:cubicBezTo>
                <a:close/>
              </a:path>
            </a:pathLst>
          </a:custGeom>
          <a:noFill/>
          <a:ln>
            <a:noFill/>
          </a:ln>
        </p:spPr>
      </p:pic>
      <p:sp>
        <p:nvSpPr>
          <p:cNvPr id="40" name="Google Shape;40;p6"/>
          <p:cNvSpPr txBox="1">
            <a:spLocks noGrp="1"/>
          </p:cNvSpPr>
          <p:nvPr>
            <p:ph type="title"/>
          </p:nvPr>
        </p:nvSpPr>
        <p:spPr>
          <a:xfrm>
            <a:off x="3004575" y="3476150"/>
            <a:ext cx="5995800" cy="1603200"/>
          </a:xfrm>
          <a:prstGeom prst="rect">
            <a:avLst/>
          </a:prstGeom>
          <a:solidFill>
            <a:srgbClr val="898B90">
              <a:alpha val="68300"/>
            </a:srgbClr>
          </a:solidFill>
          <a:ln>
            <a:noFill/>
          </a:ln>
        </p:spPr>
        <p:txBody>
          <a:bodyPr spcFirstLastPara="1" wrap="square" lIns="91425" tIns="45700" rIns="91425" bIns="45700" anchor="t" anchorCtr="0">
            <a:noAutofit/>
          </a:bodyPr>
          <a:lstStyle>
            <a:lvl1pPr lvl="0" algn="r" rtl="0">
              <a:spcBef>
                <a:spcPts val="0"/>
              </a:spcBef>
              <a:spcAft>
                <a:spcPts val="0"/>
              </a:spcAft>
              <a:buNone/>
              <a:defRPr sz="5400">
                <a:latin typeface="Calibri" panose="020F0502020204030204" pitchFamily="34" charset="0"/>
                <a:cs typeface="Calibri" panose="020F0502020204030204" pitchFamily="34" charset="0"/>
              </a:defRPr>
            </a:lvl1pPr>
            <a:lvl2pPr lvl="1" algn="r" rtl="0">
              <a:spcBef>
                <a:spcPts val="0"/>
              </a:spcBef>
              <a:spcAft>
                <a:spcPts val="0"/>
              </a:spcAft>
              <a:buNone/>
              <a:defRPr sz="5400"/>
            </a:lvl2pPr>
            <a:lvl3pPr lvl="2" algn="r" rtl="0">
              <a:spcBef>
                <a:spcPts val="0"/>
              </a:spcBef>
              <a:spcAft>
                <a:spcPts val="0"/>
              </a:spcAft>
              <a:buNone/>
              <a:defRPr sz="5400"/>
            </a:lvl3pPr>
            <a:lvl4pPr lvl="3" algn="r" rtl="0">
              <a:spcBef>
                <a:spcPts val="0"/>
              </a:spcBef>
              <a:spcAft>
                <a:spcPts val="0"/>
              </a:spcAft>
              <a:buNone/>
              <a:defRPr sz="5400"/>
            </a:lvl4pPr>
            <a:lvl5pPr lvl="4" algn="r" rtl="0">
              <a:spcBef>
                <a:spcPts val="0"/>
              </a:spcBef>
              <a:spcAft>
                <a:spcPts val="0"/>
              </a:spcAft>
              <a:buNone/>
              <a:defRPr sz="5400"/>
            </a:lvl5pPr>
            <a:lvl6pPr lvl="5" algn="r" rtl="0">
              <a:spcBef>
                <a:spcPts val="0"/>
              </a:spcBef>
              <a:spcAft>
                <a:spcPts val="0"/>
              </a:spcAft>
              <a:buNone/>
              <a:defRPr sz="5400"/>
            </a:lvl6pPr>
            <a:lvl7pPr lvl="6" algn="r" rtl="0">
              <a:spcBef>
                <a:spcPts val="0"/>
              </a:spcBef>
              <a:spcAft>
                <a:spcPts val="0"/>
              </a:spcAft>
              <a:buNone/>
              <a:defRPr sz="5400"/>
            </a:lvl7pPr>
            <a:lvl8pPr lvl="7" algn="r" rtl="0">
              <a:spcBef>
                <a:spcPts val="0"/>
              </a:spcBef>
              <a:spcAft>
                <a:spcPts val="0"/>
              </a:spcAft>
              <a:buNone/>
              <a:defRPr sz="5400"/>
            </a:lvl8pPr>
            <a:lvl9pPr lvl="8" algn="r" rtl="0">
              <a:spcBef>
                <a:spcPts val="0"/>
              </a:spcBef>
              <a:spcAft>
                <a:spcPts val="0"/>
              </a:spcAft>
              <a:buNone/>
              <a:defRPr sz="5400"/>
            </a:lvl9pPr>
          </a:lstStyle>
          <a:p>
            <a:endParaRPr/>
          </a:p>
        </p:txBody>
      </p:sp>
    </p:spTree>
    <p:extLst>
      <p:ext uri="{BB962C8B-B14F-4D97-AF65-F5344CB8AC3E}">
        <p14:creationId xmlns:p14="http://schemas.microsoft.com/office/powerpoint/2010/main" val="1746285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y objetos 4" userDrawn="1">
  <p:cSld name="Título y objetos 4">
    <p:spTree>
      <p:nvGrpSpPr>
        <p:cNvPr id="1" name="Shape 107"/>
        <p:cNvGrpSpPr/>
        <p:nvPr/>
      </p:nvGrpSpPr>
      <p:grpSpPr>
        <a:xfrm>
          <a:off x="0" y="0"/>
          <a:ext cx="0" cy="0"/>
          <a:chOff x="0" y="0"/>
          <a:chExt cx="0" cy="0"/>
        </a:xfrm>
      </p:grpSpPr>
      <p:sp>
        <p:nvSpPr>
          <p:cNvPr id="109" name="Google Shape;109;p17"/>
          <p:cNvSpPr/>
          <p:nvPr/>
        </p:nvSpPr>
        <p:spPr>
          <a:xfrm>
            <a:off x="770850" y="212725"/>
            <a:ext cx="903600" cy="813000"/>
          </a:xfrm>
          <a:prstGeom prst="parallelogram">
            <a:avLst>
              <a:gd name="adj" fmla="val 45310"/>
            </a:avLst>
          </a:prstGeom>
          <a:solidFill>
            <a:srgbClr val="BED6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7"/>
          <p:cNvSpPr/>
          <p:nvPr/>
        </p:nvSpPr>
        <p:spPr>
          <a:xfrm>
            <a:off x="146422" y="212725"/>
            <a:ext cx="903600" cy="813000"/>
          </a:xfrm>
          <a:prstGeom prst="parallelogram">
            <a:avLst>
              <a:gd name="adj" fmla="val 45310"/>
            </a:avLst>
          </a:prstGeom>
          <a:gradFill>
            <a:gsLst>
              <a:gs pos="0">
                <a:srgbClr val="FFFFFF"/>
              </a:gs>
              <a:gs pos="65000">
                <a:schemeClr val="accent3"/>
              </a:gs>
              <a:gs pos="100000">
                <a:schemeClr val="accent3"/>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3" name="Google Shape;113;p17"/>
          <p:cNvPicPr preferRelativeResize="0"/>
          <p:nvPr/>
        </p:nvPicPr>
        <p:blipFill>
          <a:blip r:embed="rId2">
            <a:alphaModFix/>
          </a:blip>
          <a:stretch>
            <a:fillRect/>
          </a:stretch>
        </p:blipFill>
        <p:spPr>
          <a:xfrm>
            <a:off x="6179349" y="389413"/>
            <a:ext cx="2746703" cy="459625"/>
          </a:xfrm>
          <a:prstGeom prst="rect">
            <a:avLst/>
          </a:prstGeom>
          <a:noFill/>
          <a:ln>
            <a:noFill/>
          </a:ln>
        </p:spPr>
      </p:pic>
      <p:sp>
        <p:nvSpPr>
          <p:cNvPr id="114" name="Google Shape;114;p17"/>
          <p:cNvSpPr txBox="1">
            <a:spLocks noGrp="1"/>
          </p:cNvSpPr>
          <p:nvPr>
            <p:ph type="body" idx="1"/>
          </p:nvPr>
        </p:nvSpPr>
        <p:spPr>
          <a:xfrm>
            <a:off x="294150" y="1218600"/>
            <a:ext cx="8555700" cy="51378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Calibri" panose="020F0502020204030204" pitchFamily="34" charset="0"/>
                <a:ea typeface="Calibri" panose="020F0502020204030204" pitchFamily="34" charset="0"/>
                <a:cs typeface="Calibri" panose="020F0502020204030204" pitchFamily="34" charset="0"/>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a:p>
        </p:txBody>
      </p:sp>
      <p:sp>
        <p:nvSpPr>
          <p:cNvPr id="9" name="Google Shape;84;p14">
            <a:extLst>
              <a:ext uri="{FF2B5EF4-FFF2-40B4-BE49-F238E27FC236}">
                <a16:creationId xmlns="" xmlns:a16="http://schemas.microsoft.com/office/drawing/2014/main" id="{66000D04-C10D-E74D-BD69-F15BCBCB23CB}"/>
              </a:ext>
            </a:extLst>
          </p:cNvPr>
          <p:cNvSpPr/>
          <p:nvPr userDrawn="1"/>
        </p:nvSpPr>
        <p:spPr>
          <a:xfrm>
            <a:off x="1372975" y="212725"/>
            <a:ext cx="4806374" cy="813000"/>
          </a:xfrm>
          <a:prstGeom prst="parallelogram">
            <a:avLst>
              <a:gd name="adj" fmla="val 45310"/>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latin typeface="Bebas Neue" panose="020B0606020202050201" pitchFamily="34" charset="77"/>
            </a:endParaRPr>
          </a:p>
        </p:txBody>
      </p:sp>
      <p:sp>
        <p:nvSpPr>
          <p:cNvPr id="10" name="Google Shape;87;p14">
            <a:extLst>
              <a:ext uri="{FF2B5EF4-FFF2-40B4-BE49-F238E27FC236}">
                <a16:creationId xmlns="" xmlns:a16="http://schemas.microsoft.com/office/drawing/2014/main" id="{CFC8E6A0-23C5-B947-94E4-E744F76CED42}"/>
              </a:ext>
            </a:extLst>
          </p:cNvPr>
          <p:cNvSpPr txBox="1">
            <a:spLocks noGrp="1"/>
          </p:cNvSpPr>
          <p:nvPr>
            <p:ph type="title"/>
          </p:nvPr>
        </p:nvSpPr>
        <p:spPr>
          <a:xfrm>
            <a:off x="1763699" y="212725"/>
            <a:ext cx="4288185" cy="8130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818990"/>
              </a:buClr>
              <a:buSzPts val="1800"/>
              <a:buNone/>
              <a:defRPr>
                <a:latin typeface="Calibri" panose="020F0502020204030204" pitchFamily="34" charset="0"/>
                <a:cs typeface="Calibri" panose="020F0502020204030204" pitchFamily="34" charset="0"/>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lang="es-CL" dirty="0"/>
          </a:p>
        </p:txBody>
      </p:sp>
      <p:sp>
        <p:nvSpPr>
          <p:cNvPr id="11" name="Google Shape;7;p1">
            <a:extLst>
              <a:ext uri="{FF2B5EF4-FFF2-40B4-BE49-F238E27FC236}">
                <a16:creationId xmlns="" xmlns:a16="http://schemas.microsoft.com/office/drawing/2014/main" id="{7597FF83-28B2-D447-8C51-BAB390C7D7B0}"/>
              </a:ext>
            </a:extLst>
          </p:cNvPr>
          <p:cNvSpPr txBox="1">
            <a:spLocks/>
          </p:cNvSpPr>
          <p:nvPr userDrawn="1"/>
        </p:nvSpPr>
        <p:spPr>
          <a:xfrm>
            <a:off x="6915150" y="6356351"/>
            <a:ext cx="2057400" cy="3651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1pPr>
            <a:lvl2pPr marL="0" marR="0" lvl="1"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2pPr>
            <a:lvl3pPr marL="0" marR="0" lvl="2"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3pPr>
            <a:lvl4pPr marL="0" marR="0" lvl="3"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4pPr>
            <a:lvl5pPr marL="0" marR="0" lvl="4"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5pPr>
            <a:lvl6pPr marL="0" marR="0" lvl="5"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6pPr>
            <a:lvl7pPr marL="0" marR="0" lvl="6"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7pPr>
            <a:lvl8pPr marL="0" marR="0" lvl="7"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8pPr>
            <a:lvl9pPr marL="0" marR="0" lvl="8" indent="0" algn="r" rtl="0">
              <a:lnSpc>
                <a:spcPct val="100000"/>
              </a:lnSpc>
              <a:spcBef>
                <a:spcPts val="0"/>
              </a:spcBef>
              <a:spcAft>
                <a:spcPts val="0"/>
              </a:spcAft>
              <a:buClr>
                <a:srgbClr val="000000"/>
              </a:buClr>
              <a:buFont typeface="Arial"/>
              <a:buNone/>
              <a:defRPr sz="1200" b="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a:p>
        </p:txBody>
      </p:sp>
    </p:spTree>
    <p:extLst>
      <p:ext uri="{BB962C8B-B14F-4D97-AF65-F5344CB8AC3E}">
        <p14:creationId xmlns:p14="http://schemas.microsoft.com/office/powerpoint/2010/main" val="3517486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94150" y="1218600"/>
            <a:ext cx="8555700" cy="5137800"/>
          </a:xfrm>
          <a:prstGeom prst="rect">
            <a:avLst/>
          </a:prstGeom>
          <a:noFill/>
          <a:ln>
            <a:noFill/>
          </a:ln>
        </p:spPr>
        <p:txBody>
          <a:bodyPr spcFirstLastPara="1" wrap="square" lIns="90000" tIns="45700" rIns="91425" bIns="45700" anchor="t" anchorCtr="0">
            <a:noAutofit/>
          </a:bodyPr>
          <a:lstStyle>
            <a:lvl1pPr marL="457200" marR="0" lvl="0" indent="-406400" algn="l" rtl="0">
              <a:lnSpc>
                <a:spcPct val="90000"/>
              </a:lnSpc>
              <a:spcBef>
                <a:spcPts val="1000"/>
              </a:spcBef>
              <a:spcAft>
                <a:spcPts val="0"/>
              </a:spcAft>
              <a:buClr>
                <a:srgbClr val="DE3075"/>
              </a:buClr>
              <a:buSzPts val="2800"/>
              <a:buFont typeface="Franklin Gothic"/>
              <a:buChar char="»"/>
              <a:defRPr sz="2400" i="0" u="none" strike="noStrike" cap="none">
                <a:solidFill>
                  <a:srgbClr val="818990"/>
                </a:solidFill>
                <a:latin typeface="Franklin Gothic"/>
                <a:ea typeface="Franklin Gothic"/>
                <a:cs typeface="Franklin Gothic"/>
                <a:sym typeface="Franklin Gothic"/>
              </a:defRPr>
            </a:lvl1pPr>
            <a:lvl2pPr marL="914400" marR="0" lvl="1" indent="-381000" algn="l" rtl="0">
              <a:lnSpc>
                <a:spcPct val="90000"/>
              </a:lnSpc>
              <a:spcBef>
                <a:spcPts val="500"/>
              </a:spcBef>
              <a:spcAft>
                <a:spcPts val="0"/>
              </a:spcAft>
              <a:buClr>
                <a:schemeClr val="accent2"/>
              </a:buClr>
              <a:buSzPts val="2400"/>
              <a:buFont typeface="Franklin Gothic"/>
              <a:buChar char="•"/>
              <a:defRPr sz="2000" i="0" u="none" strike="noStrike" cap="none">
                <a:solidFill>
                  <a:srgbClr val="818990"/>
                </a:solidFill>
                <a:latin typeface="Franklin Gothic"/>
                <a:ea typeface="Franklin Gothic"/>
                <a:cs typeface="Franklin Gothic"/>
                <a:sym typeface="Franklin Gothic"/>
              </a:defRPr>
            </a:lvl2pPr>
            <a:lvl3pPr marL="1371600" marR="0" lvl="2" indent="-342900" algn="l" rtl="0">
              <a:lnSpc>
                <a:spcPct val="90000"/>
              </a:lnSpc>
              <a:spcBef>
                <a:spcPts val="500"/>
              </a:spcBef>
              <a:spcAft>
                <a:spcPts val="0"/>
              </a:spcAft>
              <a:buClr>
                <a:schemeClr val="dk2"/>
              </a:buClr>
              <a:buSzPts val="1800"/>
              <a:buFont typeface="Franklin Gothic"/>
              <a:buChar char="○"/>
              <a:defRPr sz="1800" i="0" u="none" strike="noStrike" cap="none">
                <a:solidFill>
                  <a:schemeClr val="dk2"/>
                </a:solidFill>
                <a:latin typeface="Franklin Gothic"/>
                <a:ea typeface="Franklin Gothic"/>
                <a:cs typeface="Franklin Gothic"/>
                <a:sym typeface="Franklin Gothic"/>
              </a:defRPr>
            </a:lvl3pPr>
            <a:lvl4pPr marL="1828800" marR="0" lvl="3" indent="-330200" algn="l" rtl="0">
              <a:lnSpc>
                <a:spcPct val="90000"/>
              </a:lnSpc>
              <a:spcBef>
                <a:spcPts val="500"/>
              </a:spcBef>
              <a:spcAft>
                <a:spcPts val="0"/>
              </a:spcAft>
              <a:buClr>
                <a:schemeClr val="dk2"/>
              </a:buClr>
              <a:buSzPts val="1600"/>
              <a:buFont typeface="Franklin Gothic"/>
              <a:buChar char="•"/>
              <a:defRPr sz="1600" i="0" u="none" strike="noStrike" cap="none">
                <a:solidFill>
                  <a:schemeClr val="dk2"/>
                </a:solidFill>
                <a:latin typeface="Franklin Gothic"/>
                <a:ea typeface="Franklin Gothic"/>
                <a:cs typeface="Franklin Gothic"/>
                <a:sym typeface="Franklin Gothic"/>
              </a:defRPr>
            </a:lvl4pPr>
            <a:lvl5pPr marL="2286000" marR="0" lvl="4" indent="-317500" algn="l" rtl="0">
              <a:lnSpc>
                <a:spcPct val="90000"/>
              </a:lnSpc>
              <a:spcBef>
                <a:spcPts val="500"/>
              </a:spcBef>
              <a:spcAft>
                <a:spcPts val="0"/>
              </a:spcAft>
              <a:buClr>
                <a:schemeClr val="dk2"/>
              </a:buClr>
              <a:buSzPts val="1400"/>
              <a:buFont typeface="Franklin Gothic"/>
              <a:buChar char="•"/>
              <a:defRPr i="0" u="none" strike="noStrike" cap="none">
                <a:solidFill>
                  <a:schemeClr val="dk2"/>
                </a:solidFill>
                <a:latin typeface="Franklin Gothic"/>
                <a:ea typeface="Franklin Gothic"/>
                <a:cs typeface="Franklin Gothic"/>
                <a:sym typeface="Franklin Gothic"/>
              </a:defRPr>
            </a:lvl5pPr>
            <a:lvl6pPr marL="2743200" marR="0" lvl="5" indent="-304800" algn="l" rtl="0">
              <a:lnSpc>
                <a:spcPct val="90000"/>
              </a:lnSpc>
              <a:spcBef>
                <a:spcPts val="500"/>
              </a:spcBef>
              <a:spcAft>
                <a:spcPts val="0"/>
              </a:spcAft>
              <a:buClr>
                <a:schemeClr val="dk2"/>
              </a:buClr>
              <a:buSzPts val="1200"/>
              <a:buFont typeface="Franklin Gothic"/>
              <a:buChar char="•"/>
              <a:defRPr sz="1200" i="0" u="none" strike="noStrike" cap="none">
                <a:solidFill>
                  <a:schemeClr val="dk2"/>
                </a:solidFill>
                <a:latin typeface="Franklin Gothic"/>
                <a:ea typeface="Franklin Gothic"/>
                <a:cs typeface="Franklin Gothic"/>
                <a:sym typeface="Franklin Gothic"/>
              </a:defRPr>
            </a:lvl6pPr>
            <a:lvl7pPr marL="3200400" marR="0" lvl="6" indent="-292100" algn="l" rtl="0">
              <a:lnSpc>
                <a:spcPct val="90000"/>
              </a:lnSpc>
              <a:spcBef>
                <a:spcPts val="500"/>
              </a:spcBef>
              <a:spcAft>
                <a:spcPts val="0"/>
              </a:spcAft>
              <a:buClr>
                <a:schemeClr val="dk2"/>
              </a:buClr>
              <a:buSzPts val="1000"/>
              <a:buFont typeface="Franklin Gothic"/>
              <a:buChar char="•"/>
              <a:defRPr sz="1000" i="0" u="none" strike="noStrike" cap="none">
                <a:solidFill>
                  <a:schemeClr val="dk2"/>
                </a:solidFill>
                <a:latin typeface="Franklin Gothic"/>
                <a:ea typeface="Franklin Gothic"/>
                <a:cs typeface="Franklin Gothic"/>
                <a:sym typeface="Franklin Gothic"/>
              </a:defRPr>
            </a:lvl7pPr>
            <a:lvl8pPr marL="3657600" marR="0" lvl="7" indent="-279400" algn="l" rtl="0">
              <a:lnSpc>
                <a:spcPct val="90000"/>
              </a:lnSpc>
              <a:spcBef>
                <a:spcPts val="500"/>
              </a:spcBef>
              <a:spcAft>
                <a:spcPts val="0"/>
              </a:spcAft>
              <a:buClr>
                <a:schemeClr val="dk2"/>
              </a:buClr>
              <a:buSzPts val="800"/>
              <a:buFont typeface="Franklin Gothic"/>
              <a:buChar char="•"/>
              <a:defRPr sz="800" i="0" u="none" strike="noStrike" cap="none">
                <a:solidFill>
                  <a:schemeClr val="dk2"/>
                </a:solidFill>
                <a:latin typeface="Franklin Gothic"/>
                <a:ea typeface="Franklin Gothic"/>
                <a:cs typeface="Franklin Gothic"/>
                <a:sym typeface="Franklin Gothic"/>
              </a:defRPr>
            </a:lvl8pPr>
            <a:lvl9pPr marL="4114800" marR="0" lvl="8" indent="-266700" algn="l" rtl="0">
              <a:lnSpc>
                <a:spcPct val="90000"/>
              </a:lnSpc>
              <a:spcBef>
                <a:spcPts val="500"/>
              </a:spcBef>
              <a:spcAft>
                <a:spcPts val="0"/>
              </a:spcAft>
              <a:buClr>
                <a:schemeClr val="dk2"/>
              </a:buClr>
              <a:buSzPts val="600"/>
              <a:buFont typeface="Franklin Gothic"/>
              <a:buChar char="•"/>
              <a:defRPr sz="600" i="0" u="none" strike="noStrike" cap="none">
                <a:solidFill>
                  <a:schemeClr val="dk2"/>
                </a:solidFill>
                <a:latin typeface="Franklin Gothic"/>
                <a:ea typeface="Franklin Gothic"/>
                <a:cs typeface="Franklin Gothic"/>
                <a:sym typeface="Franklin Gothic"/>
              </a:defRPr>
            </a:lvl9pPr>
          </a:lstStyle>
          <a:p>
            <a:endParaRPr dirty="0"/>
          </a:p>
        </p:txBody>
      </p:sp>
      <p:sp>
        <p:nvSpPr>
          <p:cNvPr id="7" name="Google Shape;7;p1"/>
          <p:cNvSpPr txBox="1">
            <a:spLocks noGrp="1"/>
          </p:cNvSpPr>
          <p:nvPr>
            <p:ph type="sldNum" idx="12"/>
          </p:nvPr>
        </p:nvSpPr>
        <p:spPr>
          <a:xfrm>
            <a:off x="6915150" y="6356351"/>
            <a:ext cx="20574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i="0" u="none" strike="noStrike" cap="none">
                <a:solidFill>
                  <a:srgbClr val="6C7A8A"/>
                </a:solidFill>
                <a:latin typeface="Calibri" panose="020F0502020204030204" pitchFamily="34" charset="0"/>
                <a:ea typeface="Roboto Mono"/>
                <a:cs typeface="Calibri" panose="020F0502020204030204" pitchFamily="34" charset="0"/>
                <a:sym typeface="Roboto Mono"/>
              </a:defRPr>
            </a:lvl1pPr>
            <a:lvl2pPr marL="0" marR="0" lvl="1" indent="0" algn="r" rtl="0">
              <a:spcBef>
                <a:spcPts val="0"/>
              </a:spcBef>
              <a:buNone/>
              <a:defRPr sz="1200" i="0" u="none" strike="noStrike" cap="none">
                <a:solidFill>
                  <a:srgbClr val="6C7A8A"/>
                </a:solidFill>
                <a:latin typeface="Roboto Mono"/>
                <a:ea typeface="Roboto Mono"/>
                <a:cs typeface="Roboto Mono"/>
                <a:sym typeface="Roboto Mono"/>
              </a:defRPr>
            </a:lvl2pPr>
            <a:lvl3pPr marL="0" marR="0" lvl="2" indent="0" algn="r" rtl="0">
              <a:spcBef>
                <a:spcPts val="0"/>
              </a:spcBef>
              <a:buNone/>
              <a:defRPr sz="1200" i="0" u="none" strike="noStrike" cap="none">
                <a:solidFill>
                  <a:srgbClr val="6C7A8A"/>
                </a:solidFill>
                <a:latin typeface="Roboto Mono"/>
                <a:ea typeface="Roboto Mono"/>
                <a:cs typeface="Roboto Mono"/>
                <a:sym typeface="Roboto Mono"/>
              </a:defRPr>
            </a:lvl3pPr>
            <a:lvl4pPr marL="0" marR="0" lvl="3" indent="0" algn="r" rtl="0">
              <a:spcBef>
                <a:spcPts val="0"/>
              </a:spcBef>
              <a:buNone/>
              <a:defRPr sz="1200" i="0" u="none" strike="noStrike" cap="none">
                <a:solidFill>
                  <a:srgbClr val="6C7A8A"/>
                </a:solidFill>
                <a:latin typeface="Roboto Mono"/>
                <a:ea typeface="Roboto Mono"/>
                <a:cs typeface="Roboto Mono"/>
                <a:sym typeface="Roboto Mono"/>
              </a:defRPr>
            </a:lvl4pPr>
            <a:lvl5pPr marL="0" marR="0" lvl="4" indent="0" algn="r" rtl="0">
              <a:spcBef>
                <a:spcPts val="0"/>
              </a:spcBef>
              <a:buNone/>
              <a:defRPr sz="1200" i="0" u="none" strike="noStrike" cap="none">
                <a:solidFill>
                  <a:srgbClr val="6C7A8A"/>
                </a:solidFill>
                <a:latin typeface="Roboto Mono"/>
                <a:ea typeface="Roboto Mono"/>
                <a:cs typeface="Roboto Mono"/>
                <a:sym typeface="Roboto Mono"/>
              </a:defRPr>
            </a:lvl5pPr>
            <a:lvl6pPr marL="0" marR="0" lvl="5" indent="0" algn="r" rtl="0">
              <a:spcBef>
                <a:spcPts val="0"/>
              </a:spcBef>
              <a:buNone/>
              <a:defRPr sz="1200" i="0" u="none" strike="noStrike" cap="none">
                <a:solidFill>
                  <a:srgbClr val="6C7A8A"/>
                </a:solidFill>
                <a:latin typeface="Roboto Mono"/>
                <a:ea typeface="Roboto Mono"/>
                <a:cs typeface="Roboto Mono"/>
                <a:sym typeface="Roboto Mono"/>
              </a:defRPr>
            </a:lvl6pPr>
            <a:lvl7pPr marL="0" marR="0" lvl="6" indent="0" algn="r" rtl="0">
              <a:spcBef>
                <a:spcPts val="0"/>
              </a:spcBef>
              <a:buNone/>
              <a:defRPr sz="1200" i="0" u="none" strike="noStrike" cap="none">
                <a:solidFill>
                  <a:srgbClr val="6C7A8A"/>
                </a:solidFill>
                <a:latin typeface="Roboto Mono"/>
                <a:ea typeface="Roboto Mono"/>
                <a:cs typeface="Roboto Mono"/>
                <a:sym typeface="Roboto Mono"/>
              </a:defRPr>
            </a:lvl7pPr>
            <a:lvl8pPr marL="0" marR="0" lvl="7" indent="0" algn="r" rtl="0">
              <a:spcBef>
                <a:spcPts val="0"/>
              </a:spcBef>
              <a:buNone/>
              <a:defRPr sz="1200" i="0" u="none" strike="noStrike" cap="none">
                <a:solidFill>
                  <a:srgbClr val="6C7A8A"/>
                </a:solidFill>
                <a:latin typeface="Roboto Mono"/>
                <a:ea typeface="Roboto Mono"/>
                <a:cs typeface="Roboto Mono"/>
                <a:sym typeface="Roboto Mono"/>
              </a:defRPr>
            </a:lvl8pPr>
            <a:lvl9pPr marL="0" marR="0" lvl="8" indent="0" algn="r" rtl="0">
              <a:spcBef>
                <a:spcPts val="0"/>
              </a:spcBef>
              <a:buNone/>
              <a:defRPr sz="1200" i="0" u="none" strike="noStrike" cap="none">
                <a:solidFill>
                  <a:srgbClr val="6C7A8A"/>
                </a:solidFill>
                <a:latin typeface="Roboto Mono"/>
                <a:ea typeface="Roboto Mono"/>
                <a:cs typeface="Roboto Mono"/>
                <a:sym typeface="Roboto Mono"/>
              </a:defRPr>
            </a:lvl9pPr>
          </a:lstStyle>
          <a:p>
            <a:fld id="{00000000-1234-1234-1234-123412341234}" type="slidenum">
              <a:rPr lang="en-US" smtClean="0"/>
              <a:pPr/>
              <a:t>‹Nº›</a:t>
            </a:fld>
            <a:endParaRPr lang="en-US" dirty="0"/>
          </a:p>
        </p:txBody>
      </p:sp>
      <p:sp>
        <p:nvSpPr>
          <p:cNvPr id="8" name="Google Shape;8;p1"/>
          <p:cNvSpPr txBox="1">
            <a:spLocks noGrp="1"/>
          </p:cNvSpPr>
          <p:nvPr>
            <p:ph type="title"/>
          </p:nvPr>
        </p:nvSpPr>
        <p:spPr>
          <a:xfrm>
            <a:off x="1763700" y="212725"/>
            <a:ext cx="6751800" cy="8130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rgbClr val="FFFFFF"/>
              </a:buClr>
              <a:buSzPts val="3000"/>
              <a:buFont typeface="Roboto Condensed"/>
              <a:buNone/>
              <a:defRPr sz="3000" i="0" u="none" strike="noStrike" cap="none">
                <a:solidFill>
                  <a:srgbClr val="FFFFFF"/>
                </a:solidFill>
                <a:latin typeface="Roboto Condensed"/>
                <a:ea typeface="Roboto Condensed"/>
                <a:cs typeface="Roboto Condensed"/>
                <a:sym typeface="Roboto Condensed"/>
              </a:defRPr>
            </a:lvl1pPr>
            <a:lvl2pPr lvl="1"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2pPr>
            <a:lvl3pPr lvl="2"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3pPr>
            <a:lvl4pPr lvl="3"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4pPr>
            <a:lvl5pPr lvl="4"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5pPr>
            <a:lvl6pPr lvl="5"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6pPr>
            <a:lvl7pPr lvl="6"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7pPr>
            <a:lvl8pPr lvl="7"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8pPr>
            <a:lvl9pPr lvl="8" rtl="0">
              <a:spcBef>
                <a:spcPts val="0"/>
              </a:spcBef>
              <a:spcAft>
                <a:spcPts val="0"/>
              </a:spcAft>
              <a:buClr>
                <a:srgbClr val="FFFFFF"/>
              </a:buClr>
              <a:buSzPts val="3000"/>
              <a:buFont typeface="Roboto Condensed"/>
              <a:buNone/>
              <a:defRPr sz="3000">
                <a:solidFill>
                  <a:srgbClr val="FFFFFF"/>
                </a:solidFill>
                <a:latin typeface="Roboto Condensed"/>
                <a:ea typeface="Roboto Condensed"/>
                <a:cs typeface="Roboto Condensed"/>
                <a:sym typeface="Roboto Condensed"/>
              </a:defRPr>
            </a:lvl9pPr>
          </a:lstStyle>
          <a:p>
            <a:endParaRPr lang="es-CL"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79" r:id="rId5"/>
    <p:sldLayoutId id="2147483661" r:id="rId6"/>
    <p:sldLayoutId id="2147483662" r:id="rId7"/>
    <p:sldLayoutId id="2147483678" r:id="rId8"/>
    <p:sldLayoutId id="2147483677" r:id="rId9"/>
    <p:sldLayoutId id="2147483680" r:id="rId10"/>
    <p:sldLayoutId id="2147483681"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Calibri" panose="020F0502020204030204" pitchFamily="34"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Calibri" panose="020F0502020204030204" pitchFamily="34" charset="0"/>
          <a:ea typeface="Roboto" panose="02000000000000000000" pitchFamily="2" charset="0"/>
          <a:cs typeface="Calibri" panose="020F050202020403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11.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0"/>
          <p:cNvSpPr txBox="1">
            <a:spLocks noGrp="1"/>
          </p:cNvSpPr>
          <p:nvPr>
            <p:ph type="title"/>
          </p:nvPr>
        </p:nvSpPr>
        <p:spPr>
          <a:xfrm>
            <a:off x="3303037" y="2396964"/>
            <a:ext cx="5758963" cy="2891100"/>
          </a:xfrm>
          <a:prstGeom prst="rect">
            <a:avLst/>
          </a:prstGeom>
        </p:spPr>
        <p:txBody>
          <a:bodyPr spcFirstLastPara="1" wrap="square" lIns="91425" tIns="45700" rIns="91425" bIns="45700" anchor="b" anchorCtr="0">
            <a:noAutofit/>
          </a:bodyPr>
          <a:lstStyle/>
          <a:p>
            <a:pPr lvl="0"/>
            <a:r>
              <a:rPr lang="es-CL" sz="5800" b="1" dirty="0"/>
              <a:t>Usando </a:t>
            </a:r>
            <a:br>
              <a:rPr lang="es-CL" sz="5800" b="1" dirty="0"/>
            </a:br>
            <a:r>
              <a:rPr lang="es-CL" sz="5800" b="1" dirty="0"/>
              <a:t>Sentencia  </a:t>
            </a:r>
            <a:br>
              <a:rPr lang="es-CL" sz="5800" b="1" dirty="0"/>
            </a:br>
            <a:r>
              <a:rPr lang="es-CL" sz="5800" b="1" dirty="0"/>
              <a:t>SELECT para Recuperar Datos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217"/>
        <p:cNvGrpSpPr/>
        <p:nvPr/>
      </p:nvGrpSpPr>
      <p:grpSpPr>
        <a:xfrm>
          <a:off x="0" y="0"/>
          <a:ext cx="0" cy="0"/>
          <a:chOff x="0" y="0"/>
          <a:chExt cx="0" cy="0"/>
        </a:xfrm>
      </p:grpSpPr>
      <p:pic>
        <p:nvPicPr>
          <p:cNvPr id="3" name="Imagen 2" descr="Imagen que contiene libro, estante, cuarto, biblioteca&#10;&#10;Descripción generada automáticamente">
            <a:extLst>
              <a:ext uri="{FF2B5EF4-FFF2-40B4-BE49-F238E27FC236}">
                <a16:creationId xmlns="" xmlns:a16="http://schemas.microsoft.com/office/drawing/2014/main" id="{5A1B416D-DB06-1044-A7D7-9CB67D117EC4}"/>
              </a:ext>
            </a:extLst>
          </p:cNvPr>
          <p:cNvPicPr>
            <a:picLocks noChangeAspect="1"/>
          </p:cNvPicPr>
          <p:nvPr/>
        </p:nvPicPr>
        <p:blipFill rotWithShape="1">
          <a:blip r:embed="rId3">
            <a:alphaModFix amt="29000"/>
          </a:blip>
          <a:srcRect l="5510" r="5510"/>
          <a:stretch/>
        </p:blipFill>
        <p:spPr>
          <a:xfrm>
            <a:off x="-1" y="0"/>
            <a:ext cx="9144001" cy="6858000"/>
          </a:xfrm>
          <a:prstGeom prst="rect">
            <a:avLst/>
          </a:prstGeom>
        </p:spPr>
      </p:pic>
      <p:sp>
        <p:nvSpPr>
          <p:cNvPr id="4" name="Marcador de número de diapositiva 3">
            <a:extLst>
              <a:ext uri="{FF2B5EF4-FFF2-40B4-BE49-F238E27FC236}">
                <a16:creationId xmlns="" xmlns:a16="http://schemas.microsoft.com/office/drawing/2014/main" id="{33043ABA-A441-AF49-86F2-AD630E090C18}"/>
              </a:ext>
            </a:extLst>
          </p:cNvPr>
          <p:cNvSpPr>
            <a:spLocks noGrp="1"/>
          </p:cNvSpPr>
          <p:nvPr>
            <p:ph type="sldNum" idx="4294967295"/>
          </p:nvPr>
        </p:nvSpPr>
        <p:spPr>
          <a:xfrm>
            <a:off x="6457950" y="6356351"/>
            <a:ext cx="2057400" cy="365100"/>
          </a:xfrm>
          <a:prstGeom prst="rect">
            <a:avLst/>
          </a:prstGeom>
        </p:spPr>
        <p:txBody>
          <a:bodyPr/>
          <a:lstStyle/>
          <a:p>
            <a:pPr marL="0" lvl="0" indent="0" algn="r" rtl="0">
              <a:spcBef>
                <a:spcPts val="0"/>
              </a:spcBef>
              <a:spcAft>
                <a:spcPts val="0"/>
              </a:spcAft>
              <a:buNone/>
            </a:pPr>
            <a:fld id="{00000000-1234-1234-1234-123412341234}" type="slidenum">
              <a:rPr lang="en-US" smtClean="0">
                <a:solidFill>
                  <a:schemeClr val="bg1"/>
                </a:solidFill>
              </a:rPr>
              <a:t>2</a:t>
            </a:fld>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 xmlns:a16="http://schemas.microsoft.com/office/drawing/2014/main"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a:t>
            </a:fld>
            <a:endParaRPr lang="en-US"/>
          </a:p>
        </p:txBody>
      </p:sp>
      <p:sp>
        <p:nvSpPr>
          <p:cNvPr id="2" name="Título 1">
            <a:extLst>
              <a:ext uri="{FF2B5EF4-FFF2-40B4-BE49-F238E27FC236}">
                <a16:creationId xmlns="" xmlns:a16="http://schemas.microsoft.com/office/drawing/2014/main" id="{9750BC02-FE4E-1148-8346-BA2C94ECC781}"/>
              </a:ext>
            </a:extLst>
          </p:cNvPr>
          <p:cNvSpPr>
            <a:spLocks noGrp="1"/>
          </p:cNvSpPr>
          <p:nvPr>
            <p:ph type="title"/>
          </p:nvPr>
        </p:nvSpPr>
        <p:spPr/>
        <p:txBody>
          <a:bodyPr/>
          <a:lstStyle/>
          <a:p>
            <a:r>
              <a:rPr lang="es-ES_tradnl" b="1" dirty="0"/>
              <a:t>Objetivos de la Clase</a:t>
            </a:r>
          </a:p>
        </p:txBody>
      </p:sp>
      <p:sp>
        <p:nvSpPr>
          <p:cNvPr id="9" name="Marcador de texto 8">
            <a:extLst>
              <a:ext uri="{FF2B5EF4-FFF2-40B4-BE49-F238E27FC236}">
                <a16:creationId xmlns="" xmlns:a16="http://schemas.microsoft.com/office/drawing/2014/main" id="{C0A58EEC-AE91-4A1D-A092-4DC34F040D5C}"/>
              </a:ext>
            </a:extLst>
          </p:cNvPr>
          <p:cNvSpPr>
            <a:spLocks noGrp="1"/>
          </p:cNvSpPr>
          <p:nvPr>
            <p:ph type="body" sz="quarter" idx="11"/>
          </p:nvPr>
        </p:nvSpPr>
        <p:spPr/>
        <p:txBody>
          <a:bodyPr/>
          <a:lstStyle/>
          <a:p>
            <a:pPr marL="393700" indent="-342900" algn="just">
              <a:buFont typeface="Arial" panose="020B0604020202020204" pitchFamily="34" charset="0"/>
              <a:buChar char="•"/>
            </a:pPr>
            <a:r>
              <a:rPr lang="es-CL" sz="2200" dirty="0"/>
              <a:t>Cómo utilizar sentencia SELECT básica para mostrar datos desde las Tablas de la Base de Datos.</a:t>
            </a:r>
          </a:p>
          <a:p>
            <a:pPr marL="393700" indent="-342900" algn="just">
              <a:buFont typeface="Arial" panose="020B0604020202020204" pitchFamily="34" charset="0"/>
              <a:buChar char="•"/>
            </a:pPr>
            <a:r>
              <a:rPr lang="es-CL" sz="2200" dirty="0"/>
              <a:t>Cómo utilizar operadores matemáticos en una sentencia SELECT.</a:t>
            </a:r>
          </a:p>
          <a:p>
            <a:pPr marL="393700" indent="-342900" algn="just">
              <a:buFont typeface="Arial" panose="020B0604020202020204" pitchFamily="34" charset="0"/>
              <a:buChar char="•"/>
            </a:pPr>
            <a:r>
              <a:rPr lang="es-CL" sz="2200" dirty="0"/>
              <a:t>Cómo unir valores/columnas/expresiones en una sentencia SELECT.</a:t>
            </a:r>
          </a:p>
          <a:p>
            <a:pPr marL="393700" indent="-342900" algn="just">
              <a:buFont typeface="Arial" panose="020B0604020202020204" pitchFamily="34" charset="0"/>
              <a:buChar char="•"/>
            </a:pPr>
            <a:r>
              <a:rPr lang="es-CL" sz="2200" dirty="0"/>
              <a:t>Cómo utilizar Alias para asignar nombres lógicos a las columnas y expresiones obtenidas en una sentencia SELECT.</a:t>
            </a:r>
          </a:p>
          <a:p>
            <a:pPr marL="393700" indent="-342900" algn="just">
              <a:buFont typeface="Arial" panose="020B0604020202020204" pitchFamily="34" charset="0"/>
              <a:buChar char="•"/>
            </a:pPr>
            <a:r>
              <a:rPr lang="es-CL" sz="2200" dirty="0"/>
              <a:t>Cómo mostrar la información en un orden específico.</a:t>
            </a:r>
          </a:p>
          <a:p>
            <a:pPr algn="l"/>
            <a:endParaRPr lang="es-CL" sz="2200" dirty="0"/>
          </a:p>
        </p:txBody>
      </p:sp>
    </p:spTree>
    <p:extLst>
      <p:ext uri="{BB962C8B-B14F-4D97-AF65-F5344CB8AC3E}">
        <p14:creationId xmlns:p14="http://schemas.microsoft.com/office/powerpoint/2010/main" val="42787233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2"/>
          <p:cNvSpPr txBox="1">
            <a:spLocks noGrp="1"/>
          </p:cNvSpPr>
          <p:nvPr>
            <p:ph type="title"/>
          </p:nvPr>
        </p:nvSpPr>
        <p:spPr>
          <a:xfrm>
            <a:off x="3004575" y="3476150"/>
            <a:ext cx="5995800" cy="16032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r>
              <a:rPr lang="en-US" sz="4800" b="1" dirty="0"/>
              <a:t>SENTENCIA </a:t>
            </a:r>
            <a:br>
              <a:rPr lang="en-US" sz="4800" b="1" dirty="0"/>
            </a:br>
            <a:r>
              <a:rPr lang="en-US" sz="4800" b="1" dirty="0"/>
              <a:t>SELECT</a:t>
            </a:r>
            <a:endParaRPr sz="48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68621" y="258445"/>
            <a:ext cx="4647630" cy="813000"/>
          </a:xfrm>
        </p:spPr>
        <p:txBody>
          <a:bodyPr/>
          <a:lstStyle/>
          <a:p>
            <a:pPr lvl="0" defTabSz="457200">
              <a:defRPr/>
            </a:pPr>
            <a:r>
              <a:rPr lang="es-CL" sz="2800" b="1" dirty="0">
                <a:solidFill>
                  <a:prstClr val="white"/>
                </a:solidFill>
                <a:latin typeface="Calibri"/>
              </a:rPr>
              <a:t>Capacidades de la Sentencia SELECT</a:t>
            </a:r>
          </a:p>
        </p:txBody>
      </p:sp>
      <p:pic>
        <p:nvPicPr>
          <p:cNvPr id="5" name="Imagen 4">
            <a:extLst>
              <a:ext uri="{FF2B5EF4-FFF2-40B4-BE49-F238E27FC236}">
                <a16:creationId xmlns="" xmlns:a16="http://schemas.microsoft.com/office/drawing/2014/main" id="{D64A7C26-B4C6-44BE-A924-DBC39CE3FC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5165" y="1268759"/>
            <a:ext cx="6793669" cy="5463289"/>
          </a:xfrm>
          <a:prstGeom prst="rect">
            <a:avLst/>
          </a:prstGeom>
        </p:spPr>
      </p:pic>
    </p:spTree>
    <p:extLst>
      <p:ext uri="{BB962C8B-B14F-4D97-AF65-F5344CB8AC3E}">
        <p14:creationId xmlns:p14="http://schemas.microsoft.com/office/powerpoint/2010/main" val="2697317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Seleccionando las Columnas de una Tabla</a:t>
            </a:r>
          </a:p>
        </p:txBody>
      </p:sp>
      <p:sp>
        <p:nvSpPr>
          <p:cNvPr id="9" name="Marcador de contenido 1">
            <a:extLst>
              <a:ext uri="{FF2B5EF4-FFF2-40B4-BE49-F238E27FC236}">
                <a16:creationId xmlns="" xmlns:a16="http://schemas.microsoft.com/office/drawing/2014/main" id="{D75915F0-4B90-467D-988C-9FF20640C128}"/>
              </a:ext>
            </a:extLst>
          </p:cNvPr>
          <p:cNvSpPr txBox="1">
            <a:spLocks/>
          </p:cNvSpPr>
          <p:nvPr/>
        </p:nvSpPr>
        <p:spPr>
          <a:xfrm>
            <a:off x="457200" y="1955189"/>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32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32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32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32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dirty="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r>
              <a:rPr kumimoji="0" lang="es-MX" sz="2000" b="0" i="0" u="none" strike="noStrike" kern="1200" cap="none" spc="0" normalizeH="0" baseline="0" noProof="0" dirty="0">
                <a:ln>
                  <a:noFill/>
                </a:ln>
                <a:solidFill>
                  <a:sysClr val="windowText" lastClr="000000"/>
                </a:solidFill>
                <a:effectLst/>
                <a:uLnTx/>
                <a:uFillTx/>
                <a:latin typeface="Calibri"/>
                <a:ea typeface="+mn-ea"/>
                <a:cs typeface="+mn-cs"/>
              </a:rPr>
              <a:t>Sintaxis:</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0" name="Text Box 5">
            <a:extLst>
              <a:ext uri="{FF2B5EF4-FFF2-40B4-BE49-F238E27FC236}">
                <a16:creationId xmlns="" xmlns:a16="http://schemas.microsoft.com/office/drawing/2014/main" id="{CBC3D095-74B7-493D-BC12-576683BB5FFB}"/>
              </a:ext>
            </a:extLst>
          </p:cNvPr>
          <p:cNvSpPr txBox="1">
            <a:spLocks noChangeArrowheads="1"/>
          </p:cNvSpPr>
          <p:nvPr/>
        </p:nvSpPr>
        <p:spPr bwMode="auto">
          <a:xfrm>
            <a:off x="1115616" y="4452104"/>
            <a:ext cx="7056784"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SELECT  * | { [ DISTINCT ]  </a:t>
            </a:r>
            <a:r>
              <a:rPr kumimoji="0" lang="es-MX" sz="1600" b="1" i="1" u="none" strike="noStrike" kern="1200" cap="none" spc="0" normalizeH="0" baseline="0" noProof="0" dirty="0" err="1">
                <a:ln>
                  <a:noFill/>
                </a:ln>
                <a:solidFill>
                  <a:prstClr val="black"/>
                </a:solidFill>
                <a:effectLst/>
                <a:uLnTx/>
                <a:uFillTx/>
                <a:latin typeface="Calibri"/>
                <a:ea typeface="+mn-ea"/>
                <a:cs typeface="Arial" charset="0"/>
              </a:rPr>
              <a:t>columna</a:t>
            </a:r>
            <a:r>
              <a:rPr kumimoji="0" lang="es-MX" sz="1600" b="1" i="0" u="none" strike="noStrike" kern="1200" cap="none" spc="0" normalizeH="0" baseline="0" noProof="0" dirty="0" err="1">
                <a:ln>
                  <a:noFill/>
                </a:ln>
                <a:solidFill>
                  <a:prstClr val="black"/>
                </a:solidFill>
                <a:effectLst/>
                <a:uLnTx/>
                <a:uFillTx/>
                <a:latin typeface="Calibri"/>
                <a:ea typeface="+mn-ea"/>
                <a:cs typeface="Arial" charset="0"/>
              </a:rPr>
              <a:t>|</a:t>
            </a:r>
            <a:r>
              <a:rPr kumimoji="0" lang="es-MX" sz="1600" b="1" i="1" u="none" strike="noStrike" kern="1200" cap="none" spc="0" normalizeH="0" baseline="0" noProof="0" dirty="0" err="1">
                <a:ln>
                  <a:noFill/>
                </a:ln>
                <a:solidFill>
                  <a:prstClr val="black"/>
                </a:solidFill>
                <a:effectLst/>
                <a:uLnTx/>
                <a:uFillTx/>
                <a:latin typeface="Calibri"/>
                <a:ea typeface="+mn-ea"/>
                <a:cs typeface="Arial" charset="0"/>
              </a:rPr>
              <a:t>expresión</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alias</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FROM   </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tabla</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condición</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[ORDER  BY </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columna</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 alias,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expresión</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1" u="none" strike="noStrike" kern="1200" cap="none" spc="0" normalizeH="0" baseline="0" noProof="0" dirty="0" err="1">
                <a:ln>
                  <a:noFill/>
                </a:ln>
                <a:solidFill>
                  <a:prstClr val="black"/>
                </a:solidFill>
                <a:effectLst/>
                <a:uLnTx/>
                <a:uFillTx/>
                <a:latin typeface="Calibri"/>
                <a:ea typeface="+mn-ea"/>
                <a:cs typeface="Arial" charset="0"/>
              </a:rPr>
              <a:t>posición_numérica</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r>
              <a:rPr kumimoji="0" lang="en-US" sz="1600" b="1" i="1" u="none" strike="noStrike" kern="1200" cap="none" spc="0" normalizeH="0" baseline="0" noProof="0" dirty="0">
                <a:ln>
                  <a:noFill/>
                </a:ln>
                <a:solidFill>
                  <a:prstClr val="black"/>
                </a:solidFill>
                <a:effectLst/>
                <a:uLnTx/>
                <a:uFillTx/>
                <a:latin typeface="Calibri"/>
                <a:ea typeface="+mn-ea"/>
                <a:cs typeface="Arial"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[ASC|DESC]];</a:t>
            </a:r>
            <a:endParaRPr kumimoji="0" lang="es-MX" sz="16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1" name="Rectángulo redondeado 4">
            <a:extLst>
              <a:ext uri="{FF2B5EF4-FFF2-40B4-BE49-F238E27FC236}">
                <a16:creationId xmlns="" xmlns:a16="http://schemas.microsoft.com/office/drawing/2014/main" id="{FEA6BAF3-EFC8-4B6F-8BBF-A64978BD9FFF}"/>
              </a:ext>
            </a:extLst>
          </p:cNvPr>
          <p:cNvSpPr/>
          <p:nvPr/>
        </p:nvSpPr>
        <p:spPr>
          <a:xfrm>
            <a:off x="1835696" y="1584608"/>
            <a:ext cx="2268000" cy="2088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SELECT permite mostrar una o más columnas de las tablas, además de expresiones</a:t>
            </a:r>
          </a:p>
        </p:txBody>
      </p:sp>
      <p:sp>
        <p:nvSpPr>
          <p:cNvPr id="12" name="Rectángulo redondeado 4">
            <a:extLst>
              <a:ext uri="{FF2B5EF4-FFF2-40B4-BE49-F238E27FC236}">
                <a16:creationId xmlns="" xmlns:a16="http://schemas.microsoft.com/office/drawing/2014/main" id="{BBD94996-959E-4988-8227-73EB0AC0E90E}"/>
              </a:ext>
            </a:extLst>
          </p:cNvPr>
          <p:cNvSpPr/>
          <p:nvPr/>
        </p:nvSpPr>
        <p:spPr>
          <a:xfrm>
            <a:off x="5076312" y="1584608"/>
            <a:ext cx="2268000" cy="2088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Si se desea mostrar más de una columna o expresión, éstas se deben separar con comas</a:t>
            </a:r>
          </a:p>
        </p:txBody>
      </p:sp>
    </p:spTree>
    <p:extLst>
      <p:ext uri="{BB962C8B-B14F-4D97-AF65-F5344CB8AC3E}">
        <p14:creationId xmlns:p14="http://schemas.microsoft.com/office/powerpoint/2010/main" val="2934061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Seleccionando Todas las Columnas de la Tabla</a:t>
            </a:r>
          </a:p>
        </p:txBody>
      </p:sp>
      <p:sp>
        <p:nvSpPr>
          <p:cNvPr id="17" name="Marcador de contenido 1">
            <a:extLst>
              <a:ext uri="{FF2B5EF4-FFF2-40B4-BE49-F238E27FC236}">
                <a16:creationId xmlns="" xmlns:a16="http://schemas.microsoft.com/office/drawing/2014/main" id="{86F6D681-314B-4142-B2B6-B625C591E865}"/>
              </a:ext>
            </a:extLst>
          </p:cNvPr>
          <p:cNvSpPr txBox="1">
            <a:spLocks/>
          </p:cNvSpPr>
          <p:nvPr/>
        </p:nvSpPr>
        <p:spPr>
          <a:xfrm>
            <a:off x="520640" y="1381408"/>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8" name="Text Box 5">
            <a:extLst>
              <a:ext uri="{FF2B5EF4-FFF2-40B4-BE49-F238E27FC236}">
                <a16:creationId xmlns="" xmlns:a16="http://schemas.microsoft.com/office/drawing/2014/main" id="{72AED1DE-28FB-4134-9290-4A81039283B9}"/>
              </a:ext>
            </a:extLst>
          </p:cNvPr>
          <p:cNvSpPr txBox="1">
            <a:spLocks noChangeArrowheads="1"/>
          </p:cNvSpPr>
          <p:nvPr/>
        </p:nvSpPr>
        <p:spPr bwMode="auto">
          <a:xfrm>
            <a:off x="976703" y="1796868"/>
            <a:ext cx="6192688" cy="892552"/>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s-MX" sz="2000" b="1" i="0" u="none" strike="noStrike" kern="1200" cap="none" spc="0" normalizeH="0" baseline="0" noProof="0" dirty="0">
                <a:ln>
                  <a:noFill/>
                </a:ln>
                <a:solidFill>
                  <a:srgbClr val="C0504D"/>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FROM  departments</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9" name="Imagen 18">
            <a:extLst>
              <a:ext uri="{FF2B5EF4-FFF2-40B4-BE49-F238E27FC236}">
                <a16:creationId xmlns="" xmlns:a16="http://schemas.microsoft.com/office/drawing/2014/main" id="{13DF02BE-0BC3-434E-A984-D5867008AD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7821" y="2749560"/>
            <a:ext cx="4222754" cy="3586064"/>
          </a:xfrm>
          <a:prstGeom prst="rect">
            <a:avLst/>
          </a:prstGeom>
        </p:spPr>
      </p:pic>
    </p:spTree>
    <p:extLst>
      <p:ext uri="{BB962C8B-B14F-4D97-AF65-F5344CB8AC3E}">
        <p14:creationId xmlns:p14="http://schemas.microsoft.com/office/powerpoint/2010/main" val="1587763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Seleccionando Columnas Específicas de la Tabla</a:t>
            </a:r>
          </a:p>
        </p:txBody>
      </p:sp>
      <p:pic>
        <p:nvPicPr>
          <p:cNvPr id="14" name="Imagen 13">
            <a:extLst>
              <a:ext uri="{FF2B5EF4-FFF2-40B4-BE49-F238E27FC236}">
                <a16:creationId xmlns="" xmlns:a16="http://schemas.microsoft.com/office/drawing/2014/main" id="{848FF347-DBC4-42C7-8C15-60744840A4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232" y="2624939"/>
            <a:ext cx="6353377" cy="3578533"/>
          </a:xfrm>
          <a:prstGeom prst="rect">
            <a:avLst/>
          </a:prstGeom>
        </p:spPr>
      </p:pic>
      <p:sp>
        <p:nvSpPr>
          <p:cNvPr id="15" name="Marcador de contenido 1">
            <a:extLst>
              <a:ext uri="{FF2B5EF4-FFF2-40B4-BE49-F238E27FC236}">
                <a16:creationId xmlns="" xmlns:a16="http://schemas.microsoft.com/office/drawing/2014/main" id="{5095F03F-1C53-4DE0-9F05-D0099EC61650}"/>
              </a:ext>
            </a:extLst>
          </p:cNvPr>
          <p:cNvSpPr txBox="1">
            <a:spLocks/>
          </p:cNvSpPr>
          <p:nvPr/>
        </p:nvSpPr>
        <p:spPr>
          <a:xfrm>
            <a:off x="327784" y="12983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endParaRPr kumimoji="0" lang="es-CL" sz="2000" b="0" i="0" u="none" strike="noStrike" kern="1200" cap="none" spc="0" normalizeH="0" baseline="0" noProof="0" dirty="0">
              <a:ln>
                <a:noFill/>
              </a:ln>
              <a:solidFill>
                <a:sysClr val="windowText" lastClr="000000"/>
              </a:solidFill>
              <a:effectLst/>
              <a:uLnTx/>
              <a:uFillTx/>
              <a:latin typeface="Calibri"/>
              <a:ea typeface="Arial Unicode MS" pitchFamily="34" charset="-128"/>
              <a:cs typeface="Times New Roman" pitchFamily="18" charset="0"/>
            </a:endParaRPr>
          </a:p>
        </p:txBody>
      </p:sp>
      <p:sp>
        <p:nvSpPr>
          <p:cNvPr id="16" name="Text Box 5">
            <a:extLst>
              <a:ext uri="{FF2B5EF4-FFF2-40B4-BE49-F238E27FC236}">
                <a16:creationId xmlns="" xmlns:a16="http://schemas.microsoft.com/office/drawing/2014/main" id="{5289494C-FA36-4B11-8806-D8CA836ACBE8}"/>
              </a:ext>
            </a:extLst>
          </p:cNvPr>
          <p:cNvSpPr txBox="1">
            <a:spLocks noChangeArrowheads="1"/>
          </p:cNvSpPr>
          <p:nvPr/>
        </p:nvSpPr>
        <p:spPr bwMode="auto">
          <a:xfrm>
            <a:off x="590535" y="1719074"/>
            <a:ext cx="3960440"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s-MX" sz="1600" b="1" i="0" u="none" strike="noStrike" kern="1200" cap="none" spc="0" normalizeH="0" baseline="0" noProof="0" dirty="0">
                <a:ln>
                  <a:noFill/>
                </a:ln>
                <a:solidFill>
                  <a:srgbClr val="C00000"/>
                </a:solidFill>
                <a:effectLst/>
                <a:uLnTx/>
                <a:uFillTx/>
                <a:latin typeface="Calibri"/>
                <a:ea typeface="+mn-ea"/>
                <a:cs typeface="Arial" charset="0"/>
              </a:rPr>
              <a:t>department_id</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s-MX" sz="1600" b="1" i="0" u="none" strike="noStrike" kern="1200" cap="none" spc="0" normalizeH="0" baseline="0" noProof="0" dirty="0">
                <a:ln>
                  <a:noFill/>
                </a:ln>
                <a:solidFill>
                  <a:srgbClr val="0000FF"/>
                </a:solidFill>
                <a:effectLst/>
                <a:uLnTx/>
                <a:uFillTx/>
                <a:latin typeface="Calibri"/>
                <a:ea typeface="+mn-ea"/>
                <a:cs typeface="Arial" charset="0"/>
              </a:rPr>
              <a:t>location_id</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FROM  departments</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a:t>
            </a:r>
            <a:endParaRPr kumimoji="0" lang="es-ES" sz="16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20" name="Text Box 5">
            <a:extLst>
              <a:ext uri="{FF2B5EF4-FFF2-40B4-BE49-F238E27FC236}">
                <a16:creationId xmlns="" xmlns:a16="http://schemas.microsoft.com/office/drawing/2014/main" id="{3AB143BC-6D3A-4581-9920-9EB403FED93D}"/>
              </a:ext>
            </a:extLst>
          </p:cNvPr>
          <p:cNvSpPr txBox="1">
            <a:spLocks noChangeArrowheads="1"/>
          </p:cNvSpPr>
          <p:nvPr/>
        </p:nvSpPr>
        <p:spPr bwMode="auto">
          <a:xfrm>
            <a:off x="4730616" y="1731707"/>
            <a:ext cx="3960440"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SELECT  </a:t>
            </a:r>
            <a:r>
              <a:rPr kumimoji="0" lang="es-MX" sz="1600" b="1" i="0" u="none" strike="noStrike" kern="1200" cap="none" spc="0" normalizeH="0" baseline="0" noProof="0" dirty="0">
                <a:ln>
                  <a:noFill/>
                </a:ln>
                <a:solidFill>
                  <a:srgbClr val="C00000"/>
                </a:solidFill>
                <a:effectLst/>
                <a:uLnTx/>
                <a:uFillTx/>
                <a:latin typeface="Calibri"/>
                <a:ea typeface="+mn-ea"/>
                <a:cs typeface="Arial" charset="0"/>
              </a:rPr>
              <a:t>location_id</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s-MX" sz="1600" b="1" i="0" u="none" strike="noStrike" kern="1200" cap="none" spc="0" normalizeH="0" baseline="0" noProof="0" dirty="0">
                <a:ln>
                  <a:noFill/>
                </a:ln>
                <a:solidFill>
                  <a:srgbClr val="0000FF"/>
                </a:solidFill>
                <a:effectLst/>
                <a:uLnTx/>
                <a:uFillTx/>
                <a:latin typeface="Calibri"/>
                <a:ea typeface="+mn-ea"/>
                <a:cs typeface="Arial" charset="0"/>
              </a:rPr>
              <a:t>department_id </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FROM  departments</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a:t>
            </a:r>
            <a:endParaRPr kumimoji="0" lang="es-ES" sz="1600" b="1" i="1"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21" name="Rectangle 82">
            <a:extLst>
              <a:ext uri="{FF2B5EF4-FFF2-40B4-BE49-F238E27FC236}">
                <a16:creationId xmlns="" xmlns:a16="http://schemas.microsoft.com/office/drawing/2014/main" id="{E08422F5-0190-45DD-B13E-C563D6261271}"/>
              </a:ext>
            </a:extLst>
          </p:cNvPr>
          <p:cNvSpPr>
            <a:spLocks noChangeArrowheads="1"/>
          </p:cNvSpPr>
          <p:nvPr/>
        </p:nvSpPr>
        <p:spPr bwMode="auto">
          <a:xfrm>
            <a:off x="2764591" y="2666504"/>
            <a:ext cx="811510" cy="3536968"/>
          </a:xfrm>
          <a:prstGeom prst="rect">
            <a:avLst/>
          </a:prstGeom>
          <a:noFill/>
          <a:ln w="31750">
            <a:solidFill>
              <a:srgbClr val="0000DE"/>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2" name="Rectangle 83">
            <a:extLst>
              <a:ext uri="{FF2B5EF4-FFF2-40B4-BE49-F238E27FC236}">
                <a16:creationId xmlns="" xmlns:a16="http://schemas.microsoft.com/office/drawing/2014/main" id="{0BAFC790-4751-4359-8C9F-6ED1273FB871}"/>
              </a:ext>
            </a:extLst>
          </p:cNvPr>
          <p:cNvSpPr>
            <a:spLocks noChangeArrowheads="1"/>
          </p:cNvSpPr>
          <p:nvPr/>
        </p:nvSpPr>
        <p:spPr bwMode="auto">
          <a:xfrm>
            <a:off x="1785557" y="2666504"/>
            <a:ext cx="936000" cy="3536968"/>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3" name="Rectangle 82">
            <a:extLst>
              <a:ext uri="{FF2B5EF4-FFF2-40B4-BE49-F238E27FC236}">
                <a16:creationId xmlns="" xmlns:a16="http://schemas.microsoft.com/office/drawing/2014/main" id="{988E4568-A3E7-43A5-9681-425AAEC08A0E}"/>
              </a:ext>
            </a:extLst>
          </p:cNvPr>
          <p:cNvSpPr>
            <a:spLocks noChangeArrowheads="1"/>
          </p:cNvSpPr>
          <p:nvPr/>
        </p:nvSpPr>
        <p:spPr bwMode="auto">
          <a:xfrm>
            <a:off x="6714246" y="2666504"/>
            <a:ext cx="900000" cy="3536968"/>
          </a:xfrm>
          <a:prstGeom prst="rect">
            <a:avLst/>
          </a:prstGeom>
          <a:noFill/>
          <a:ln w="31750">
            <a:solidFill>
              <a:srgbClr val="0000DE"/>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4" name="Rectangle 83">
            <a:extLst>
              <a:ext uri="{FF2B5EF4-FFF2-40B4-BE49-F238E27FC236}">
                <a16:creationId xmlns="" xmlns:a16="http://schemas.microsoft.com/office/drawing/2014/main" id="{BC18D46A-7439-47C6-BEDF-8CF7AEB901F7}"/>
              </a:ext>
            </a:extLst>
          </p:cNvPr>
          <p:cNvSpPr>
            <a:spLocks noChangeArrowheads="1"/>
          </p:cNvSpPr>
          <p:nvPr/>
        </p:nvSpPr>
        <p:spPr bwMode="auto">
          <a:xfrm>
            <a:off x="5821887" y="2666504"/>
            <a:ext cx="833150" cy="3536968"/>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573879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Marcador de contenido 1">
            <a:extLst>
              <a:ext uri="{FF2B5EF4-FFF2-40B4-BE49-F238E27FC236}">
                <a16:creationId xmlns="" xmlns:a16="http://schemas.microsoft.com/office/drawing/2014/main" id="{5095F03F-1C53-4DE0-9F05-D0099EC61650}"/>
              </a:ext>
            </a:extLst>
          </p:cNvPr>
          <p:cNvSpPr txBox="1">
            <a:spLocks/>
          </p:cNvSpPr>
          <p:nvPr/>
        </p:nvSpPr>
        <p:spPr>
          <a:xfrm>
            <a:off x="327784" y="12983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endParaRPr kumimoji="0" lang="es-CL" sz="2000" b="0" i="0" u="none" strike="noStrike" kern="1200" cap="none" spc="0" normalizeH="0" baseline="0" noProof="0" dirty="0">
              <a:ln>
                <a:noFill/>
              </a:ln>
              <a:solidFill>
                <a:sysClr val="windowText" lastClr="000000"/>
              </a:solidFill>
              <a:effectLst/>
              <a:uLnTx/>
              <a:uFillTx/>
              <a:latin typeface="Calibri"/>
              <a:ea typeface="Arial Unicode MS" pitchFamily="34" charset="-128"/>
              <a:cs typeface="Times New Roman" pitchFamily="18" charset="0"/>
            </a:endParaRPr>
          </a:p>
        </p:txBody>
      </p:sp>
      <p:sp>
        <p:nvSpPr>
          <p:cNvPr id="16" name="Text Box 5">
            <a:extLst>
              <a:ext uri="{FF2B5EF4-FFF2-40B4-BE49-F238E27FC236}">
                <a16:creationId xmlns="" xmlns:a16="http://schemas.microsoft.com/office/drawing/2014/main" id="{5289494C-FA36-4B11-8806-D8CA836ACBE8}"/>
              </a:ext>
            </a:extLst>
          </p:cNvPr>
          <p:cNvSpPr txBox="1">
            <a:spLocks noChangeArrowheads="1"/>
          </p:cNvSpPr>
          <p:nvPr/>
        </p:nvSpPr>
        <p:spPr bwMode="auto">
          <a:xfrm>
            <a:off x="721165" y="1706011"/>
            <a:ext cx="6258134"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lvl="0" eaLnBrk="1" fontAlgn="base" hangingPunct="1">
              <a:spcBef>
                <a:spcPct val="0"/>
              </a:spcBef>
              <a:spcAft>
                <a:spcPct val="0"/>
              </a:spcAft>
              <a:buClrTx/>
              <a:defRPr/>
            </a:pPr>
            <a:r>
              <a:rPr lang="en-US" sz="1600" b="1" kern="1200" dirty="0">
                <a:solidFill>
                  <a:prstClr val="black"/>
                </a:solidFill>
                <a:latin typeface="Calibri"/>
                <a:ea typeface="+mn-ea"/>
                <a:cs typeface="Arial" charset="0"/>
              </a:rPr>
              <a:t>SELECT </a:t>
            </a:r>
            <a:r>
              <a:rPr lang="en-US" sz="1600" b="1" kern="1200" dirty="0" err="1">
                <a:solidFill>
                  <a:srgbClr val="C00000"/>
                </a:solidFill>
                <a:latin typeface="Calibri"/>
                <a:ea typeface="+mn-ea"/>
                <a:cs typeface="Arial" charset="0"/>
              </a:rPr>
              <a:t>employee_id</a:t>
            </a:r>
            <a:r>
              <a:rPr lang="en-US" sz="1600" b="1" kern="1200" dirty="0">
                <a:solidFill>
                  <a:prstClr val="black"/>
                </a:solidFill>
                <a:latin typeface="Calibri"/>
                <a:ea typeface="+mn-ea"/>
                <a:cs typeface="Arial" charset="0"/>
              </a:rPr>
              <a:t>, </a:t>
            </a:r>
            <a:r>
              <a:rPr lang="en-US" sz="1600" b="1" kern="1200" dirty="0" err="1">
                <a:solidFill>
                  <a:srgbClr val="0000DE"/>
                </a:solidFill>
                <a:latin typeface="Calibri"/>
                <a:ea typeface="+mn-ea"/>
                <a:cs typeface="Arial" charset="0"/>
              </a:rPr>
              <a:t>first_name</a:t>
            </a:r>
            <a:r>
              <a:rPr lang="en-US" sz="1600" b="1" kern="1200" dirty="0">
                <a:solidFill>
                  <a:prstClr val="black"/>
                </a:solidFill>
                <a:latin typeface="Calibri"/>
                <a:ea typeface="+mn-ea"/>
                <a:cs typeface="Arial" charset="0"/>
              </a:rPr>
              <a:t>, </a:t>
            </a:r>
            <a:r>
              <a:rPr lang="en-US" sz="1600" b="1" kern="1200" dirty="0" err="1">
                <a:solidFill>
                  <a:srgbClr val="800080"/>
                </a:solidFill>
                <a:latin typeface="Calibri"/>
                <a:ea typeface="+mn-ea"/>
                <a:cs typeface="Arial" charset="0"/>
              </a:rPr>
              <a:t>last_name</a:t>
            </a:r>
            <a:r>
              <a:rPr lang="en-US" sz="1600" b="1" kern="1200" dirty="0">
                <a:solidFill>
                  <a:prstClr val="black"/>
                </a:solidFill>
                <a:latin typeface="Calibri"/>
                <a:ea typeface="+mn-ea"/>
                <a:cs typeface="Arial" charset="0"/>
              </a:rPr>
              <a:t>, </a:t>
            </a:r>
            <a:r>
              <a:rPr lang="en-US" sz="1600" b="1" kern="1200" dirty="0">
                <a:solidFill>
                  <a:srgbClr val="008000"/>
                </a:solidFill>
                <a:latin typeface="Calibri"/>
                <a:ea typeface="+mn-ea"/>
                <a:cs typeface="Arial" charset="0"/>
              </a:rPr>
              <a:t>salary</a:t>
            </a:r>
          </a:p>
          <a:p>
            <a:pPr lvl="0" eaLnBrk="1" fontAlgn="base" hangingPunct="1">
              <a:spcBef>
                <a:spcPct val="0"/>
              </a:spcBef>
              <a:spcAft>
                <a:spcPct val="0"/>
              </a:spcAft>
              <a:buClrTx/>
              <a:defRPr/>
            </a:pPr>
            <a:r>
              <a:rPr lang="en-US" sz="1600" b="1" kern="1200" dirty="0">
                <a:solidFill>
                  <a:prstClr val="black"/>
                </a:solidFill>
                <a:latin typeface="Calibri"/>
                <a:ea typeface="+mn-ea"/>
                <a:cs typeface="Arial" charset="0"/>
              </a:rPr>
              <a:t>FROM employees;</a:t>
            </a:r>
          </a:p>
          <a:p>
            <a:pPr lvl="0" eaLnBrk="1" fontAlgn="base" hangingPunct="1">
              <a:spcBef>
                <a:spcPct val="0"/>
              </a:spcBef>
              <a:spcAft>
                <a:spcPct val="0"/>
              </a:spcAft>
              <a:buClrTx/>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23" name="Rectangle 82">
            <a:extLst>
              <a:ext uri="{FF2B5EF4-FFF2-40B4-BE49-F238E27FC236}">
                <a16:creationId xmlns="" xmlns:a16="http://schemas.microsoft.com/office/drawing/2014/main" id="{988E4568-A3E7-43A5-9681-425AAEC08A0E}"/>
              </a:ext>
            </a:extLst>
          </p:cNvPr>
          <p:cNvSpPr>
            <a:spLocks noChangeArrowheads="1"/>
          </p:cNvSpPr>
          <p:nvPr/>
        </p:nvSpPr>
        <p:spPr bwMode="auto">
          <a:xfrm>
            <a:off x="4728689" y="2666504"/>
            <a:ext cx="900000" cy="3536968"/>
          </a:xfrm>
          <a:prstGeom prst="rect">
            <a:avLst/>
          </a:prstGeom>
          <a:noFill/>
          <a:ln w="31750">
            <a:solidFill>
              <a:srgbClr val="0000DE"/>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13" name="Título 2">
            <a:extLst>
              <a:ext uri="{FF2B5EF4-FFF2-40B4-BE49-F238E27FC236}">
                <a16:creationId xmlns="" xmlns:a16="http://schemas.microsoft.com/office/drawing/2014/main" id="{AD229EF1-0893-419B-ABAA-820429066B0B}"/>
              </a:ext>
            </a:extLst>
          </p:cNvPr>
          <p:cNvSpPr>
            <a:spLocks noGrp="1"/>
          </p:cNvSpPr>
          <p:nvPr>
            <p:ph type="title"/>
          </p:nvPr>
        </p:nvSpPr>
        <p:spPr>
          <a:xfrm>
            <a:off x="1689055" y="212725"/>
            <a:ext cx="4288185" cy="813000"/>
          </a:xfrm>
        </p:spPr>
        <p:txBody>
          <a:bodyPr/>
          <a:lstStyle/>
          <a:p>
            <a:pPr lvl="0" defTabSz="457200">
              <a:defRPr/>
            </a:pPr>
            <a:r>
              <a:rPr lang="es-CL" sz="2800" b="1" dirty="0">
                <a:solidFill>
                  <a:prstClr val="white"/>
                </a:solidFill>
                <a:latin typeface="Calibri"/>
              </a:rPr>
              <a:t>Seleccionando Columnas Específicas de la Tabla</a:t>
            </a:r>
          </a:p>
        </p:txBody>
      </p:sp>
      <p:pic>
        <p:nvPicPr>
          <p:cNvPr id="3" name="Imagen 2">
            <a:extLst>
              <a:ext uri="{FF2B5EF4-FFF2-40B4-BE49-F238E27FC236}">
                <a16:creationId xmlns="" xmlns:a16="http://schemas.microsoft.com/office/drawing/2014/main" id="{FA9B1A7F-067D-4944-A292-2131C568AA26}"/>
              </a:ext>
            </a:extLst>
          </p:cNvPr>
          <p:cNvPicPr>
            <a:picLocks noChangeAspect="1"/>
          </p:cNvPicPr>
          <p:nvPr/>
        </p:nvPicPr>
        <p:blipFill>
          <a:blip r:embed="rId3"/>
          <a:stretch>
            <a:fillRect/>
          </a:stretch>
        </p:blipFill>
        <p:spPr>
          <a:xfrm>
            <a:off x="1844064" y="2640378"/>
            <a:ext cx="4113504" cy="4049063"/>
          </a:xfrm>
          <a:prstGeom prst="rect">
            <a:avLst/>
          </a:prstGeom>
        </p:spPr>
      </p:pic>
      <p:sp>
        <p:nvSpPr>
          <p:cNvPr id="19" name="Rectangle 42">
            <a:extLst>
              <a:ext uri="{FF2B5EF4-FFF2-40B4-BE49-F238E27FC236}">
                <a16:creationId xmlns="" xmlns:a16="http://schemas.microsoft.com/office/drawing/2014/main" id="{CB6C4827-9AA6-4D2E-BC7E-4B28580B4D05}"/>
              </a:ext>
            </a:extLst>
          </p:cNvPr>
          <p:cNvSpPr>
            <a:spLocks noChangeArrowheads="1"/>
          </p:cNvSpPr>
          <p:nvPr/>
        </p:nvSpPr>
        <p:spPr bwMode="auto">
          <a:xfrm>
            <a:off x="2502816" y="2682537"/>
            <a:ext cx="920249" cy="3924000"/>
          </a:xfrm>
          <a:prstGeom prst="rect">
            <a:avLst/>
          </a:prstGeom>
          <a:noFill/>
          <a:ln w="31750">
            <a:solidFill>
              <a:srgbClr val="C00000"/>
            </a:solidFill>
            <a:miter lim="800000"/>
            <a:headEnd/>
            <a:tailEnd/>
          </a:ln>
        </p:spPr>
        <p:txBody>
          <a:bodyPr wrap="none" anchor="ctr"/>
          <a:lstStyle/>
          <a:p>
            <a:endParaRPr lang="es-ES" sz="2000" b="1" i="1">
              <a:latin typeface="Times New Roman" pitchFamily="18" charset="0"/>
            </a:endParaRPr>
          </a:p>
        </p:txBody>
      </p:sp>
      <p:sp>
        <p:nvSpPr>
          <p:cNvPr id="25" name="Rectangle 42">
            <a:extLst>
              <a:ext uri="{FF2B5EF4-FFF2-40B4-BE49-F238E27FC236}">
                <a16:creationId xmlns="" xmlns:a16="http://schemas.microsoft.com/office/drawing/2014/main" id="{52192951-C9A9-46CE-8EF7-9D76F0208D50}"/>
              </a:ext>
            </a:extLst>
          </p:cNvPr>
          <p:cNvSpPr>
            <a:spLocks noChangeArrowheads="1"/>
          </p:cNvSpPr>
          <p:nvPr/>
        </p:nvSpPr>
        <p:spPr bwMode="auto">
          <a:xfrm>
            <a:off x="5291355" y="2682537"/>
            <a:ext cx="640087" cy="3924000"/>
          </a:xfrm>
          <a:prstGeom prst="rect">
            <a:avLst/>
          </a:prstGeom>
          <a:noFill/>
          <a:ln w="31750">
            <a:solidFill>
              <a:srgbClr val="008000"/>
            </a:solidFill>
            <a:miter lim="800000"/>
            <a:headEnd/>
            <a:tailEnd/>
          </a:ln>
        </p:spPr>
        <p:txBody>
          <a:bodyPr wrap="none" anchor="ctr"/>
          <a:lstStyle/>
          <a:p>
            <a:endParaRPr lang="es-ES" sz="2000" b="1" i="1">
              <a:latin typeface="Times New Roman" pitchFamily="18" charset="0"/>
            </a:endParaRPr>
          </a:p>
        </p:txBody>
      </p:sp>
      <p:sp>
        <p:nvSpPr>
          <p:cNvPr id="26" name="Rectangle 42">
            <a:extLst>
              <a:ext uri="{FF2B5EF4-FFF2-40B4-BE49-F238E27FC236}">
                <a16:creationId xmlns="" xmlns:a16="http://schemas.microsoft.com/office/drawing/2014/main" id="{7206F4A5-2928-48F6-B916-9496ADF96596}"/>
              </a:ext>
            </a:extLst>
          </p:cNvPr>
          <p:cNvSpPr>
            <a:spLocks noChangeArrowheads="1"/>
          </p:cNvSpPr>
          <p:nvPr/>
        </p:nvSpPr>
        <p:spPr bwMode="auto">
          <a:xfrm>
            <a:off x="4341936" y="2682537"/>
            <a:ext cx="920248" cy="3924000"/>
          </a:xfrm>
          <a:prstGeom prst="rect">
            <a:avLst/>
          </a:prstGeom>
          <a:noFill/>
          <a:ln w="31750">
            <a:solidFill>
              <a:srgbClr val="800080"/>
            </a:solidFill>
            <a:miter lim="800000"/>
            <a:headEnd/>
            <a:tailEnd/>
          </a:ln>
        </p:spPr>
        <p:txBody>
          <a:bodyPr wrap="none" anchor="ct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ES" sz="2000" b="1" i="1" u="none" strike="noStrike" kern="1200" cap="none" spc="0" normalizeH="0" baseline="0" noProof="0">
              <a:ln>
                <a:noFill/>
              </a:ln>
              <a:solidFill>
                <a:prstClr val="black"/>
              </a:solidFill>
              <a:effectLst/>
              <a:uLnTx/>
              <a:uFillTx/>
              <a:latin typeface="Times New Roman" pitchFamily="18" charset="0"/>
              <a:ea typeface="+mn-ea"/>
              <a:cs typeface="Arial" panose="020B0604020202020204" pitchFamily="34" charset="0"/>
            </a:endParaRPr>
          </a:p>
        </p:txBody>
      </p:sp>
      <p:sp>
        <p:nvSpPr>
          <p:cNvPr id="27" name="Rectangle 42">
            <a:extLst>
              <a:ext uri="{FF2B5EF4-FFF2-40B4-BE49-F238E27FC236}">
                <a16:creationId xmlns="" xmlns:a16="http://schemas.microsoft.com/office/drawing/2014/main" id="{4E514845-9753-45D0-923E-8202C89DEDC5}"/>
              </a:ext>
            </a:extLst>
          </p:cNvPr>
          <p:cNvSpPr>
            <a:spLocks noChangeArrowheads="1"/>
          </p:cNvSpPr>
          <p:nvPr/>
        </p:nvSpPr>
        <p:spPr bwMode="auto">
          <a:xfrm>
            <a:off x="3438987" y="2682537"/>
            <a:ext cx="878400" cy="3924000"/>
          </a:xfrm>
          <a:prstGeom prst="rect">
            <a:avLst/>
          </a:prstGeom>
          <a:noFill/>
          <a:ln w="31750">
            <a:solidFill>
              <a:srgbClr val="0000DE"/>
            </a:solidFill>
            <a:miter lim="800000"/>
            <a:headEnd/>
            <a:tailEnd/>
          </a:ln>
        </p:spPr>
        <p:txBody>
          <a:bodyPr wrap="none" anchor="ctr"/>
          <a:lstStyle/>
          <a:p>
            <a:endParaRPr lang="es-ES" sz="2000" b="1" i="1">
              <a:latin typeface="Times New Roman" pitchFamily="18" charset="0"/>
            </a:endParaRPr>
          </a:p>
        </p:txBody>
      </p:sp>
    </p:spTree>
    <p:extLst>
      <p:ext uri="{BB962C8B-B14F-4D97-AF65-F5344CB8AC3E}">
        <p14:creationId xmlns:p14="http://schemas.microsoft.com/office/powerpoint/2010/main" val="4215275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 xmlns:a16="http://schemas.microsoft.com/office/drawing/2014/main" id="{548035E2-9379-2346-A89D-675F58CEB28A}"/>
              </a:ext>
            </a:extLst>
          </p:cNvPr>
          <p:cNvSpPr>
            <a:spLocks noGrp="1"/>
          </p:cNvSpPr>
          <p:nvPr>
            <p:ph type="title"/>
          </p:nvPr>
        </p:nvSpPr>
        <p:spPr>
          <a:xfrm>
            <a:off x="3004575" y="3476150"/>
            <a:ext cx="5995800" cy="1583530"/>
          </a:xfrm>
        </p:spPr>
        <p:txBody>
          <a:bodyPr anchor="ctr" anchorCtr="0"/>
          <a:lstStyle/>
          <a:p>
            <a:r>
              <a:rPr lang="es-ES_tradnl" sz="4800" b="1" dirty="0"/>
              <a:t>Operadores Matemáticos</a:t>
            </a:r>
          </a:p>
        </p:txBody>
      </p:sp>
    </p:spTree>
    <p:extLst>
      <p:ext uri="{BB962C8B-B14F-4D97-AF65-F5344CB8AC3E}">
        <p14:creationId xmlns:p14="http://schemas.microsoft.com/office/powerpoint/2010/main" val="167984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77787" y="212725"/>
            <a:ext cx="4046302" cy="813000"/>
          </a:xfrm>
        </p:spPr>
        <p:txBody>
          <a:bodyPr/>
          <a:lstStyle/>
          <a:p>
            <a:pPr lvl="0" defTabSz="457200">
              <a:defRPr/>
            </a:pPr>
            <a:r>
              <a:rPr lang="es-CL" sz="2800" b="1" dirty="0">
                <a:solidFill>
                  <a:prstClr val="white"/>
                </a:solidFill>
                <a:latin typeface="Calibri"/>
              </a:rPr>
              <a:t>Usando Operadores </a:t>
            </a:r>
            <a:br>
              <a:rPr lang="es-CL" sz="2800" b="1" dirty="0">
                <a:solidFill>
                  <a:prstClr val="white"/>
                </a:solidFill>
                <a:latin typeface="Calibri"/>
              </a:rPr>
            </a:br>
            <a:r>
              <a:rPr lang="es-CL" sz="2800" b="1" dirty="0">
                <a:solidFill>
                  <a:prstClr val="white"/>
                </a:solidFill>
                <a:latin typeface="Calibri"/>
              </a:rPr>
              <a:t>Aritméticos</a:t>
            </a:r>
          </a:p>
        </p:txBody>
      </p:sp>
      <p:sp>
        <p:nvSpPr>
          <p:cNvPr id="4" name="Marcador de contenido 1">
            <a:extLst>
              <a:ext uri="{FF2B5EF4-FFF2-40B4-BE49-F238E27FC236}">
                <a16:creationId xmlns="" xmlns:a16="http://schemas.microsoft.com/office/drawing/2014/main" id="{7C7BDA3C-2B7D-4F27-84FC-8A075DCBF2F0}"/>
              </a:ext>
            </a:extLst>
          </p:cNvPr>
          <p:cNvSpPr txBox="1">
            <a:spLocks/>
          </p:cNvSpPr>
          <p:nvPr/>
        </p:nvSpPr>
        <p:spPr>
          <a:xfrm>
            <a:off x="457200" y="650280"/>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just">
              <a:lnSpc>
                <a:spcPct val="80000"/>
              </a:lnSpc>
              <a:buClrTx/>
              <a:buFont typeface="Arial"/>
              <a:buNone/>
            </a:pPr>
            <a:endParaRPr lang="es-CL" dirty="0">
              <a:ea typeface="Arial Unicode MS" pitchFamily="34" charset="-128"/>
              <a:cs typeface="Times New Roman" pitchFamily="18" charset="0"/>
            </a:endParaRPr>
          </a:p>
          <a:p>
            <a:pPr algn="just">
              <a:lnSpc>
                <a:spcPct val="80000"/>
              </a:lnSpc>
              <a:buClrTx/>
            </a:pPr>
            <a:endParaRPr lang="es-CL" dirty="0">
              <a:ea typeface="Arial Unicode MS" pitchFamily="34" charset="-128"/>
              <a:cs typeface="Times New Roman" pitchFamily="18" charset="0"/>
            </a:endParaRPr>
          </a:p>
          <a:p>
            <a:pPr algn="just">
              <a:lnSpc>
                <a:spcPct val="80000"/>
              </a:lnSpc>
              <a:buClrTx/>
            </a:pPr>
            <a:endParaRPr lang="es-CL" dirty="0">
              <a:ea typeface="Arial Unicode MS" pitchFamily="34" charset="-128"/>
              <a:cs typeface="Times New Roman" pitchFamily="18" charset="0"/>
            </a:endParaRPr>
          </a:p>
          <a:p>
            <a:pPr algn="just">
              <a:lnSpc>
                <a:spcPct val="80000"/>
              </a:lnSpc>
              <a:buClrTx/>
            </a:pPr>
            <a:endParaRPr lang="es-CL" dirty="0">
              <a:ea typeface="Arial Unicode MS" pitchFamily="34" charset="-128"/>
              <a:cs typeface="Times New Roman" pitchFamily="18" charset="0"/>
            </a:endParaRPr>
          </a:p>
          <a:p>
            <a:pPr algn="just">
              <a:lnSpc>
                <a:spcPct val="80000"/>
              </a:lnSpc>
              <a:buClrTx/>
            </a:pPr>
            <a:endParaRPr lang="es-CL" dirty="0">
              <a:ea typeface="Arial Unicode MS" pitchFamily="34" charset="-128"/>
              <a:cs typeface="Times New Roman" pitchFamily="18" charset="0"/>
            </a:endParaRPr>
          </a:p>
          <a:p>
            <a:pPr algn="just">
              <a:lnSpc>
                <a:spcPct val="80000"/>
              </a:lnSpc>
              <a:buClrTx/>
            </a:pPr>
            <a:endParaRPr lang="es-CL" dirty="0">
              <a:ea typeface="Arial Unicode MS" pitchFamily="34" charset="-128"/>
              <a:cs typeface="Times New Roman" pitchFamily="18" charset="0"/>
            </a:endParaRPr>
          </a:p>
          <a:p>
            <a:pPr algn="just">
              <a:lnSpc>
                <a:spcPct val="80000"/>
              </a:lnSpc>
              <a:buClrTx/>
            </a:pPr>
            <a:endParaRPr lang="es-CL" dirty="0">
              <a:ea typeface="Arial Unicode MS" pitchFamily="34" charset="-128"/>
              <a:cs typeface="Times New Roman" pitchFamily="18" charset="0"/>
            </a:endParaRPr>
          </a:p>
          <a:p>
            <a:pPr algn="just">
              <a:lnSpc>
                <a:spcPct val="80000"/>
              </a:lnSpc>
              <a:buClrTx/>
            </a:pPr>
            <a:r>
              <a:rPr lang="es-CL" sz="2000" dirty="0">
                <a:ea typeface="Arial Unicode MS" pitchFamily="34" charset="-128"/>
                <a:cs typeface="Times New Roman" pitchFamily="18" charset="0"/>
              </a:rPr>
              <a:t>Los operadores que se pueden utilizar en una sentencia SQL son:</a:t>
            </a:r>
          </a:p>
        </p:txBody>
      </p:sp>
      <p:sp>
        <p:nvSpPr>
          <p:cNvPr id="5" name="Rectángulo redondeado 4">
            <a:extLst>
              <a:ext uri="{FF2B5EF4-FFF2-40B4-BE49-F238E27FC236}">
                <a16:creationId xmlns="" xmlns:a16="http://schemas.microsoft.com/office/drawing/2014/main" id="{532121E0-5573-42D4-A8E3-C74E99C0362E}"/>
              </a:ext>
            </a:extLst>
          </p:cNvPr>
          <p:cNvSpPr/>
          <p:nvPr/>
        </p:nvSpPr>
        <p:spPr>
          <a:xfrm>
            <a:off x="3420088" y="1370360"/>
            <a:ext cx="2304000" cy="2340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Una expresión aritmética puede contener nombre de columnas, constantes de valores numéricos y operadores aritméticos</a:t>
            </a:r>
          </a:p>
        </p:txBody>
      </p:sp>
      <p:sp>
        <p:nvSpPr>
          <p:cNvPr id="7" name="Rectángulo redondeado 4">
            <a:extLst>
              <a:ext uri="{FF2B5EF4-FFF2-40B4-BE49-F238E27FC236}">
                <a16:creationId xmlns="" xmlns:a16="http://schemas.microsoft.com/office/drawing/2014/main" id="{422F2E32-79C7-4254-8FA6-42F40A2D3201}"/>
              </a:ext>
            </a:extLst>
          </p:cNvPr>
          <p:cNvSpPr/>
          <p:nvPr/>
        </p:nvSpPr>
        <p:spPr>
          <a:xfrm>
            <a:off x="5868144" y="1370360"/>
            <a:ext cx="2304000" cy="2340000"/>
          </a:xfrm>
          <a:prstGeom prst="roundRect">
            <a:avLst/>
          </a:prstGeom>
          <a:solidFill>
            <a:srgbClr val="86A33F"/>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Los operadores aritméticos se pueden usar en cualquier cláusula de una sentencia DML excepto en la cláusula FROM</a:t>
            </a:r>
          </a:p>
        </p:txBody>
      </p:sp>
      <p:graphicFrame>
        <p:nvGraphicFramePr>
          <p:cNvPr id="8" name="Tabla 7">
            <a:extLst>
              <a:ext uri="{FF2B5EF4-FFF2-40B4-BE49-F238E27FC236}">
                <a16:creationId xmlns="" xmlns:a16="http://schemas.microsoft.com/office/drawing/2014/main" id="{E079E0B2-F2A2-4530-943F-FCB10CDB6738}"/>
              </a:ext>
            </a:extLst>
          </p:cNvPr>
          <p:cNvGraphicFramePr>
            <a:graphicFrameLocks noGrp="1"/>
          </p:cNvGraphicFramePr>
          <p:nvPr>
            <p:extLst>
              <p:ext uri="{D42A27DB-BD31-4B8C-83A1-F6EECF244321}">
                <p14:modId xmlns:p14="http://schemas.microsoft.com/office/powerpoint/2010/main" val="1077007974"/>
              </p:ext>
            </p:extLst>
          </p:nvPr>
        </p:nvGraphicFramePr>
        <p:xfrm>
          <a:off x="1386448" y="4324577"/>
          <a:ext cx="6048672" cy="2037914"/>
        </p:xfrm>
        <a:graphic>
          <a:graphicData uri="http://schemas.openxmlformats.org/drawingml/2006/table">
            <a:tbl>
              <a:tblPr firstRow="1" bandRow="1">
                <a:effectLst>
                  <a:outerShdw blurRad="50800" dist="38100" algn="l" rotWithShape="0">
                    <a:prstClr val="black">
                      <a:alpha val="40000"/>
                    </a:prstClr>
                  </a:outerShdw>
                </a:effectLst>
              </a:tblPr>
              <a:tblGrid>
                <a:gridCol w="2448272">
                  <a:extLst>
                    <a:ext uri="{9D8B030D-6E8A-4147-A177-3AD203B41FA5}">
                      <a16:colId xmlns="" xmlns:a16="http://schemas.microsoft.com/office/drawing/2014/main" val="20000"/>
                    </a:ext>
                  </a:extLst>
                </a:gridCol>
                <a:gridCol w="3600400">
                  <a:extLst>
                    <a:ext uri="{9D8B030D-6E8A-4147-A177-3AD203B41FA5}">
                      <a16:colId xmlns="" xmlns:a16="http://schemas.microsoft.com/office/drawing/2014/main" val="20001"/>
                    </a:ext>
                  </a:extLst>
                </a:gridCol>
              </a:tblGrid>
              <a:tr h="504056">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1" i="0" u="none" strike="noStrike" cap="none" normalizeH="0" baseline="0" dirty="0">
                          <a:ln>
                            <a:noFill/>
                          </a:ln>
                          <a:solidFill>
                            <a:schemeClr val="bg1"/>
                          </a:solidFill>
                          <a:effectLst/>
                          <a:latin typeface="+mn-lt"/>
                        </a:rPr>
                        <a:t>OPERADOR</a:t>
                      </a:r>
                      <a:endParaRPr kumimoji="0" lang="es-ES" sz="1800" b="1"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B85808"/>
                    </a:solidFill>
                  </a:tcPr>
                </a:tc>
                <a:tc>
                  <a:txBody>
                    <a:bodyPr/>
                    <a:lstStyle>
                      <a:lvl1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1pPr>
                      <a:lvl2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2pPr>
                      <a:lvl3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3pPr>
                      <a:lvl4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4pPr>
                      <a:lvl5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5pPr>
                      <a:lvl6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6pPr>
                      <a:lvl7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7pPr>
                      <a:lvl8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8pPr>
                      <a:lvl9pPr marR="0" algn="l" rtl="0">
                        <a:lnSpc>
                          <a:spcPct val="100000"/>
                        </a:lnSpc>
                        <a:spcBef>
                          <a:spcPts val="0"/>
                        </a:spcBef>
                        <a:spcAft>
                          <a:spcPts val="0"/>
                        </a:spcAft>
                        <a:buClr>
                          <a:srgbClr val="000000"/>
                        </a:buClr>
                        <a:buFont typeface="Arial"/>
                        <a:defRPr sz="1400" b="1" i="0" u="none" strike="noStrike" cap="none">
                          <a:solidFill>
                            <a:schemeClr val="lt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1" i="0" u="none" strike="noStrike" cap="none" normalizeH="0" baseline="0" dirty="0">
                          <a:ln>
                            <a:noFill/>
                          </a:ln>
                          <a:solidFill>
                            <a:schemeClr val="bg1"/>
                          </a:solidFill>
                          <a:effectLst/>
                          <a:latin typeface="+mn-lt"/>
                        </a:rPr>
                        <a:t>DESCRIPCIÓN</a:t>
                      </a:r>
                      <a:endParaRPr kumimoji="0" lang="es-ES" sz="1800" b="1" i="0" u="none" strike="noStrike" cap="none" normalizeH="0" baseline="0" dirty="0">
                        <a:ln>
                          <a:noFill/>
                        </a:ln>
                        <a:solidFill>
                          <a:schemeClr val="bg1"/>
                        </a:solidFill>
                        <a:effectLst/>
                        <a:latin typeface="+mn-lt"/>
                      </a:endParaRPr>
                    </a:p>
                  </a:txBody>
                  <a:tcPr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B85808"/>
                    </a:solidFill>
                  </a:tcPr>
                </a:tc>
                <a:extLst>
                  <a:ext uri="{0D108BD9-81ED-4DB2-BD59-A6C34878D82A}">
                    <a16:rowId xmlns="" xmlns:a16="http://schemas.microsoft.com/office/drawing/2014/main" val="10000"/>
                  </a:ext>
                </a:extLst>
              </a:tr>
              <a:tr h="216024">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1" i="0" u="none" strike="noStrike" cap="none" normalizeH="0" baseline="0" dirty="0">
                          <a:ln>
                            <a:noFill/>
                          </a:ln>
                          <a:solidFill>
                            <a:schemeClr val="bg1"/>
                          </a:solidFill>
                          <a:effectLst/>
                          <a:latin typeface="+mn-lt"/>
                        </a:rPr>
                        <a:t>+</a:t>
                      </a:r>
                      <a:endParaRPr kumimoji="0" lang="es-ES" sz="1800" b="1" i="0" u="none" strike="noStrike" cap="none" normalizeH="0" baseline="0" dirty="0">
                        <a:ln>
                          <a:noFill/>
                        </a:ln>
                        <a:solidFill>
                          <a:schemeClr val="bg1"/>
                        </a:solidFill>
                        <a:effectLst/>
                        <a:latin typeface="+mn-lt"/>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0" i="0" u="none" strike="noStrike" cap="none" normalizeH="0" baseline="0" dirty="0">
                          <a:ln>
                            <a:noFill/>
                          </a:ln>
                          <a:solidFill>
                            <a:schemeClr val="bg1"/>
                          </a:solidFill>
                          <a:effectLst/>
                          <a:latin typeface="+mn-lt"/>
                        </a:rPr>
                        <a:t>Suma</a:t>
                      </a:r>
                      <a:endParaRPr kumimoji="0" lang="es-ES" sz="1800" b="0" i="0" u="none" strike="noStrike" cap="none" normalizeH="0" baseline="0" dirty="0">
                        <a:ln>
                          <a:noFill/>
                        </a:ln>
                        <a:solidFill>
                          <a:schemeClr val="bg1"/>
                        </a:solidFill>
                        <a:effectLst/>
                        <a:latin typeface="+mn-lt"/>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extLst>
                  <a:ext uri="{0D108BD9-81ED-4DB2-BD59-A6C34878D82A}">
                    <a16:rowId xmlns="" xmlns:a16="http://schemas.microsoft.com/office/drawing/2014/main" val="10001"/>
                  </a:ext>
                </a:extLst>
              </a:tr>
              <a:tr h="389366">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1" i="0" u="none" strike="noStrike" cap="none" normalizeH="0" baseline="0" dirty="0">
                          <a:ln>
                            <a:noFill/>
                          </a:ln>
                          <a:solidFill>
                            <a:schemeClr val="bg1"/>
                          </a:solidFill>
                          <a:effectLst/>
                          <a:latin typeface="+mn-lt"/>
                        </a:rPr>
                        <a:t>-</a:t>
                      </a:r>
                      <a:endParaRPr kumimoji="0" lang="es-ES" sz="1800" b="1" i="0" u="none" strike="noStrike" cap="none" normalizeH="0" baseline="0" dirty="0">
                        <a:ln>
                          <a:noFill/>
                        </a:ln>
                        <a:solidFill>
                          <a:schemeClr val="bg1"/>
                        </a:solidFill>
                        <a:effectLst/>
                        <a:latin typeface="+mn-lt"/>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0" i="0" u="none" strike="noStrike" cap="none" normalizeH="0" baseline="0" dirty="0">
                          <a:ln>
                            <a:noFill/>
                          </a:ln>
                          <a:solidFill>
                            <a:schemeClr val="bg1"/>
                          </a:solidFill>
                          <a:effectLst/>
                          <a:latin typeface="+mn-lt"/>
                        </a:rPr>
                        <a:t>Resta</a:t>
                      </a:r>
                      <a:endParaRPr kumimoji="0" lang="es-ES" sz="1800" b="0" i="0" u="none" strike="noStrike" cap="none" normalizeH="0" baseline="0" dirty="0">
                        <a:ln>
                          <a:noFill/>
                        </a:ln>
                        <a:solidFill>
                          <a:schemeClr val="bg1"/>
                        </a:solidFill>
                        <a:effectLst/>
                        <a:latin typeface="+mn-lt"/>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extLst>
                  <a:ext uri="{0D108BD9-81ED-4DB2-BD59-A6C34878D82A}">
                    <a16:rowId xmlns="" xmlns:a16="http://schemas.microsoft.com/office/drawing/2014/main" val="10002"/>
                  </a:ext>
                </a:extLst>
              </a:tr>
              <a:tr h="389366">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1" i="0" u="none" strike="noStrike" cap="none" normalizeH="0" baseline="0" dirty="0">
                          <a:ln>
                            <a:noFill/>
                          </a:ln>
                          <a:solidFill>
                            <a:schemeClr val="bg1"/>
                          </a:solidFill>
                          <a:effectLst/>
                          <a:latin typeface="+mn-lt"/>
                        </a:rPr>
                        <a:t>*</a:t>
                      </a:r>
                      <a:endParaRPr kumimoji="0" lang="es-ES" sz="1800" b="1" i="0" u="none" strike="noStrike" cap="none" normalizeH="0" baseline="0" dirty="0">
                        <a:ln>
                          <a:noFill/>
                        </a:ln>
                        <a:solidFill>
                          <a:schemeClr val="bg1"/>
                        </a:solidFill>
                        <a:effectLst/>
                        <a:latin typeface="+mn-lt"/>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0" i="0" u="none" strike="noStrike" cap="none" normalizeH="0" baseline="0" dirty="0">
                          <a:ln>
                            <a:noFill/>
                          </a:ln>
                          <a:solidFill>
                            <a:schemeClr val="bg1"/>
                          </a:solidFill>
                          <a:effectLst/>
                          <a:latin typeface="+mn-lt"/>
                        </a:rPr>
                        <a:t>Multiplicación</a:t>
                      </a:r>
                      <a:endParaRPr kumimoji="0" lang="es-ES" sz="1800" b="0" i="0" u="none" strike="noStrike" cap="none" normalizeH="0" baseline="0" dirty="0">
                        <a:ln>
                          <a:noFill/>
                        </a:ln>
                        <a:solidFill>
                          <a:schemeClr val="bg1"/>
                        </a:solidFill>
                        <a:effectLst/>
                        <a:latin typeface="+mn-lt"/>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extLst>
                  <a:ext uri="{0D108BD9-81ED-4DB2-BD59-A6C34878D82A}">
                    <a16:rowId xmlns="" xmlns:a16="http://schemas.microsoft.com/office/drawing/2014/main" val="10003"/>
                  </a:ext>
                </a:extLst>
              </a:tr>
              <a:tr h="389366">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1" i="0" u="none" strike="noStrike" cap="none" normalizeH="0" baseline="0" dirty="0">
                          <a:ln>
                            <a:noFill/>
                          </a:ln>
                          <a:solidFill>
                            <a:schemeClr val="bg1"/>
                          </a:solidFill>
                          <a:effectLst/>
                          <a:latin typeface="+mn-lt"/>
                        </a:rPr>
                        <a:t>/</a:t>
                      </a:r>
                      <a:endParaRPr kumimoji="0" lang="es-ES" sz="1800" b="1" i="0" u="none" strike="noStrike" cap="none" normalizeH="0" baseline="0" dirty="0">
                        <a:ln>
                          <a:noFill/>
                        </a:ln>
                        <a:solidFill>
                          <a:schemeClr val="bg1"/>
                        </a:solidFill>
                        <a:effectLst/>
                        <a:latin typeface="+mn-lt"/>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tc>
                  <a:txBody>
                    <a:bodyPr/>
                    <a:lstStyle>
                      <a:lvl1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1pPr>
                      <a:lvl2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2pPr>
                      <a:lvl3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3pPr>
                      <a:lvl4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4pPr>
                      <a:lvl5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5pPr>
                      <a:lvl6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6pPr>
                      <a:lvl7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7pPr>
                      <a:lvl8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8pPr>
                      <a:lvl9pPr marR="0" algn="l" rtl="0">
                        <a:lnSpc>
                          <a:spcPct val="100000"/>
                        </a:lnSpc>
                        <a:spcBef>
                          <a:spcPts val="0"/>
                        </a:spcBef>
                        <a:spcAft>
                          <a:spcPts val="0"/>
                        </a:spcAft>
                        <a:buClr>
                          <a:srgbClr val="000000"/>
                        </a:buClr>
                        <a:buFont typeface="Arial"/>
                        <a:defRPr sz="1400" b="0" i="0" u="none" strike="noStrike" cap="none">
                          <a:solidFill>
                            <a:schemeClr val="dk1"/>
                          </a:solidFill>
                          <a:latin typeface="Calibri"/>
                          <a:sym typeface="Arial"/>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s-MX" sz="1800" b="0" i="0" u="none" strike="noStrike" cap="none" normalizeH="0" baseline="0" dirty="0">
                          <a:ln>
                            <a:noFill/>
                          </a:ln>
                          <a:solidFill>
                            <a:schemeClr val="bg1"/>
                          </a:solidFill>
                          <a:effectLst/>
                          <a:latin typeface="+mn-lt"/>
                        </a:rPr>
                        <a:t>División</a:t>
                      </a:r>
                      <a:endParaRPr kumimoji="0" lang="es-ES" sz="1800" b="0" i="0" u="none" strike="noStrike" cap="none" normalizeH="0" baseline="0" dirty="0">
                        <a:ln>
                          <a:noFill/>
                        </a:ln>
                        <a:solidFill>
                          <a:schemeClr val="bg1"/>
                        </a:solidFill>
                        <a:effectLst/>
                        <a:latin typeface="+mn-lt"/>
                      </a:endParaRPr>
                    </a:p>
                  </a:txBody>
                  <a:tcP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cell3D prstMaterial="dkEdge">
                      <a:bevel prst="cross"/>
                      <a:lightRig rig="flood" dir="t"/>
                    </a:cell3D>
                    <a:solidFill>
                      <a:srgbClr val="D96709"/>
                    </a:solidFill>
                  </a:tcPr>
                </a:tc>
                <a:extLst>
                  <a:ext uri="{0D108BD9-81ED-4DB2-BD59-A6C34878D82A}">
                    <a16:rowId xmlns="" xmlns:a16="http://schemas.microsoft.com/office/drawing/2014/main" val="10004"/>
                  </a:ext>
                </a:extLst>
              </a:tr>
            </a:tbl>
          </a:graphicData>
        </a:graphic>
      </p:graphicFrame>
      <p:sp>
        <p:nvSpPr>
          <p:cNvPr id="9" name="Rectángulo redondeado 4">
            <a:extLst>
              <a:ext uri="{FF2B5EF4-FFF2-40B4-BE49-F238E27FC236}">
                <a16:creationId xmlns="" xmlns:a16="http://schemas.microsoft.com/office/drawing/2014/main" id="{E31C2E04-36CB-4FF4-A587-E5D1D1DE2EE4}"/>
              </a:ext>
            </a:extLst>
          </p:cNvPr>
          <p:cNvSpPr/>
          <p:nvPr/>
        </p:nvSpPr>
        <p:spPr>
          <a:xfrm>
            <a:off x="971600" y="1370360"/>
            <a:ext cx="2304000" cy="2340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Para efectuar cálculos con los datos de las tablas se deben usar expresiones aritméticas</a:t>
            </a:r>
          </a:p>
        </p:txBody>
      </p:sp>
    </p:spTree>
    <p:extLst>
      <p:ext uri="{BB962C8B-B14F-4D97-AF65-F5344CB8AC3E}">
        <p14:creationId xmlns:p14="http://schemas.microsoft.com/office/powerpoint/2010/main" val="3828127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Imagen que contiene firmar, parada, tabla, hecho de madera&#10;&#10;Descripción generada automáticamente">
            <a:extLst>
              <a:ext uri="{FF2B5EF4-FFF2-40B4-BE49-F238E27FC236}">
                <a16:creationId xmlns="" xmlns:a16="http://schemas.microsoft.com/office/drawing/2014/main" id="{F048DFC0-AFF3-4DBD-B65D-BD5FE3A0AB45}"/>
              </a:ext>
            </a:extLst>
          </p:cNvPr>
          <p:cNvPicPr>
            <a:picLocks noChangeAspect="1"/>
          </p:cNvPicPr>
          <p:nvPr/>
        </p:nvPicPr>
        <p:blipFill>
          <a:blip r:embed="rId3"/>
          <a:stretch>
            <a:fillRect/>
          </a:stretch>
        </p:blipFill>
        <p:spPr>
          <a:xfrm>
            <a:off x="740228" y="1086685"/>
            <a:ext cx="7701614" cy="5619550"/>
          </a:xfrm>
          <a:prstGeom prst="rect">
            <a:avLst/>
          </a:prstGeom>
        </p:spPr>
      </p:pic>
      <p:sp>
        <p:nvSpPr>
          <p:cNvPr id="12" name="Título 2">
            <a:extLst>
              <a:ext uri="{FF2B5EF4-FFF2-40B4-BE49-F238E27FC236}">
                <a16:creationId xmlns="" xmlns:a16="http://schemas.microsoft.com/office/drawing/2014/main" id="{2A1E701C-0BA4-4D27-9132-CDF4F252E78D}"/>
              </a:ext>
            </a:extLst>
          </p:cNvPr>
          <p:cNvSpPr>
            <a:spLocks noGrp="1"/>
          </p:cNvSpPr>
          <p:nvPr>
            <p:ph type="title"/>
          </p:nvPr>
        </p:nvSpPr>
        <p:spPr>
          <a:xfrm>
            <a:off x="1677787" y="212725"/>
            <a:ext cx="4046302" cy="813000"/>
          </a:xfrm>
        </p:spPr>
        <p:txBody>
          <a:bodyPr/>
          <a:lstStyle/>
          <a:p>
            <a:pPr lvl="0" defTabSz="457200">
              <a:defRPr/>
            </a:pPr>
            <a:r>
              <a:rPr lang="es-CL" sz="2800" b="1" dirty="0">
                <a:solidFill>
                  <a:prstClr val="white"/>
                </a:solidFill>
                <a:latin typeface="Calibri"/>
              </a:rPr>
              <a:t>Usando Operadores </a:t>
            </a:r>
            <a:br>
              <a:rPr lang="es-CL" sz="2800" b="1" dirty="0">
                <a:solidFill>
                  <a:prstClr val="white"/>
                </a:solidFill>
                <a:latin typeface="Calibri"/>
              </a:rPr>
            </a:br>
            <a:r>
              <a:rPr lang="es-CL" sz="2800" b="1" dirty="0">
                <a:solidFill>
                  <a:prstClr val="white"/>
                </a:solidFill>
                <a:latin typeface="Calibri"/>
              </a:rPr>
              <a:t>Aritméticos</a:t>
            </a:r>
          </a:p>
        </p:txBody>
      </p:sp>
    </p:spTree>
    <p:extLst>
      <p:ext uri="{BB962C8B-B14F-4D97-AF65-F5344CB8AC3E}">
        <p14:creationId xmlns:p14="http://schemas.microsoft.com/office/powerpoint/2010/main" val="39430206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contenido 1">
            <a:extLst>
              <a:ext uri="{FF2B5EF4-FFF2-40B4-BE49-F238E27FC236}">
                <a16:creationId xmlns="" xmlns:a16="http://schemas.microsoft.com/office/drawing/2014/main" id="{3820E394-011C-48E8-8D8C-BCFF8E7DDE5E}"/>
              </a:ext>
            </a:extLst>
          </p:cNvPr>
          <p:cNvSpPr txBox="1">
            <a:spLocks/>
          </p:cNvSpPr>
          <p:nvPr/>
        </p:nvSpPr>
        <p:spPr>
          <a:xfrm>
            <a:off x="662880" y="1391981"/>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Arial Unicode MS" pitchFamily="34" charset="-128"/>
                <a:cs typeface="Times New Roman" pitchFamily="18" charset="0"/>
              </a:rPr>
              <a:t>Ejemplo</a:t>
            </a: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Times New Roman" pitchFamily="18" charset="0"/>
              <a:ea typeface="Arial Unicode MS" pitchFamily="34" charset="-128"/>
              <a:cs typeface="Times New Roman" pitchFamily="18" charset="0"/>
            </a:endParaRPr>
          </a:p>
        </p:txBody>
      </p:sp>
      <p:sp>
        <p:nvSpPr>
          <p:cNvPr id="10" name="Text Box 5">
            <a:extLst>
              <a:ext uri="{FF2B5EF4-FFF2-40B4-BE49-F238E27FC236}">
                <a16:creationId xmlns="" xmlns:a16="http://schemas.microsoft.com/office/drawing/2014/main" id="{03F189B2-35A2-4A3D-912F-BB77A813DBF3}"/>
              </a:ext>
            </a:extLst>
          </p:cNvPr>
          <p:cNvSpPr txBox="1">
            <a:spLocks noChangeArrowheads="1"/>
          </p:cNvSpPr>
          <p:nvPr/>
        </p:nvSpPr>
        <p:spPr bwMode="auto">
          <a:xfrm>
            <a:off x="1115616" y="1780619"/>
            <a:ext cx="6192688"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salary,  </a:t>
            </a:r>
            <a:r>
              <a:rPr kumimoji="0" lang="es-MX"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salary + 300</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r>
              <a:rPr kumimoji="0" lang="es-MX"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endParaRPr kumimoji="0" lang="es-E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1" name="Imagen 10">
            <a:extLst>
              <a:ext uri="{FF2B5EF4-FFF2-40B4-BE49-F238E27FC236}">
                <a16:creationId xmlns="" xmlns:a16="http://schemas.microsoft.com/office/drawing/2014/main" id="{14929611-E0E5-4BE6-9D6B-A4F2A3076D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2716954"/>
            <a:ext cx="2914286" cy="3714286"/>
          </a:xfrm>
          <a:prstGeom prst="rect">
            <a:avLst/>
          </a:prstGeom>
        </p:spPr>
      </p:pic>
      <p:pic>
        <p:nvPicPr>
          <p:cNvPr id="12" name="Imagen 11">
            <a:extLst>
              <a:ext uri="{FF2B5EF4-FFF2-40B4-BE49-F238E27FC236}">
                <a16:creationId xmlns="" xmlns:a16="http://schemas.microsoft.com/office/drawing/2014/main" id="{287C3F1D-ED0A-4613-BEF2-40AD197DA893}"/>
              </a:ext>
            </a:extLst>
          </p:cNvPr>
          <p:cNvPicPr>
            <a:picLocks noChangeAspect="1"/>
          </p:cNvPicPr>
          <p:nvPr/>
        </p:nvPicPr>
        <p:blipFill>
          <a:blip r:embed="rId4"/>
          <a:stretch>
            <a:fillRect/>
          </a:stretch>
        </p:blipFill>
        <p:spPr>
          <a:xfrm>
            <a:off x="4826788" y="2726679"/>
            <a:ext cx="888687" cy="3704438"/>
          </a:xfrm>
          <a:prstGeom prst="rect">
            <a:avLst/>
          </a:prstGeom>
        </p:spPr>
      </p:pic>
      <p:sp>
        <p:nvSpPr>
          <p:cNvPr id="14" name="Título 2">
            <a:extLst>
              <a:ext uri="{FF2B5EF4-FFF2-40B4-BE49-F238E27FC236}">
                <a16:creationId xmlns="" xmlns:a16="http://schemas.microsoft.com/office/drawing/2014/main" id="{64C7B562-8396-48C9-B581-A318318E68E8}"/>
              </a:ext>
            </a:extLst>
          </p:cNvPr>
          <p:cNvSpPr>
            <a:spLocks noGrp="1"/>
          </p:cNvSpPr>
          <p:nvPr>
            <p:ph type="title"/>
          </p:nvPr>
        </p:nvSpPr>
        <p:spPr>
          <a:xfrm>
            <a:off x="1677787" y="212725"/>
            <a:ext cx="4046302" cy="813000"/>
          </a:xfrm>
        </p:spPr>
        <p:txBody>
          <a:bodyPr/>
          <a:lstStyle/>
          <a:p>
            <a:pPr lvl="0" defTabSz="457200">
              <a:defRPr/>
            </a:pPr>
            <a:r>
              <a:rPr lang="es-CL" sz="2800" b="1" dirty="0">
                <a:solidFill>
                  <a:prstClr val="white"/>
                </a:solidFill>
                <a:latin typeface="Calibri"/>
              </a:rPr>
              <a:t>Usando Operadores </a:t>
            </a:r>
            <a:br>
              <a:rPr lang="es-CL" sz="2800" b="1" dirty="0">
                <a:solidFill>
                  <a:prstClr val="white"/>
                </a:solidFill>
                <a:latin typeface="Calibri"/>
              </a:rPr>
            </a:br>
            <a:r>
              <a:rPr lang="es-CL" sz="2800" b="1" dirty="0">
                <a:solidFill>
                  <a:prstClr val="white"/>
                </a:solidFill>
                <a:latin typeface="Calibri"/>
              </a:rPr>
              <a:t>Aritméticos</a:t>
            </a:r>
          </a:p>
        </p:txBody>
      </p:sp>
    </p:spTree>
    <p:extLst>
      <p:ext uri="{BB962C8B-B14F-4D97-AF65-F5344CB8AC3E}">
        <p14:creationId xmlns:p14="http://schemas.microsoft.com/office/powerpoint/2010/main" val="4026822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Marcador de contenido 1">
            <a:extLst>
              <a:ext uri="{FF2B5EF4-FFF2-40B4-BE49-F238E27FC236}">
                <a16:creationId xmlns="" xmlns:a16="http://schemas.microsoft.com/office/drawing/2014/main" id="{820828F4-8B1B-4700-AA7F-92A2D2BFAD39}"/>
              </a:ext>
            </a:extLst>
          </p:cNvPr>
          <p:cNvSpPr txBox="1">
            <a:spLocks/>
          </p:cNvSpPr>
          <p:nvPr/>
        </p:nvSpPr>
        <p:spPr>
          <a:xfrm>
            <a:off x="500320" y="1390680"/>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6" name="Text Box 5">
            <a:extLst>
              <a:ext uri="{FF2B5EF4-FFF2-40B4-BE49-F238E27FC236}">
                <a16:creationId xmlns="" xmlns:a16="http://schemas.microsoft.com/office/drawing/2014/main" id="{A9978B6C-F7D3-455F-B27B-B9B189256493}"/>
              </a:ext>
            </a:extLst>
          </p:cNvPr>
          <p:cNvSpPr txBox="1">
            <a:spLocks noChangeArrowheads="1"/>
          </p:cNvSpPr>
          <p:nvPr/>
        </p:nvSpPr>
        <p:spPr bwMode="auto">
          <a:xfrm>
            <a:off x="953056" y="1761871"/>
            <a:ext cx="6192688"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salary, </a:t>
            </a:r>
            <a:r>
              <a:rPr kumimoji="0" lang="es-MX"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12*salary+100</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r>
              <a:rPr kumimoji="0" lang="es-MX" sz="1600" b="1" i="1"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endParaRPr kumimoji="0" lang="es-E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7" name="Imagen 16">
            <a:extLst>
              <a:ext uri="{FF2B5EF4-FFF2-40B4-BE49-F238E27FC236}">
                <a16:creationId xmlns="" xmlns:a16="http://schemas.microsoft.com/office/drawing/2014/main" id="{D41BA1E3-6100-4D04-9674-9217CE5B2C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17306" y="2661199"/>
            <a:ext cx="3095238" cy="3714286"/>
          </a:xfrm>
          <a:prstGeom prst="rect">
            <a:avLst/>
          </a:prstGeom>
        </p:spPr>
      </p:pic>
      <p:pic>
        <p:nvPicPr>
          <p:cNvPr id="18" name="Imagen 17">
            <a:extLst>
              <a:ext uri="{FF2B5EF4-FFF2-40B4-BE49-F238E27FC236}">
                <a16:creationId xmlns="" xmlns:a16="http://schemas.microsoft.com/office/drawing/2014/main" id="{4147C680-A029-4F57-BDDC-F9D447E64413}"/>
              </a:ext>
            </a:extLst>
          </p:cNvPr>
          <p:cNvPicPr>
            <a:picLocks noChangeAspect="1"/>
          </p:cNvPicPr>
          <p:nvPr/>
        </p:nvPicPr>
        <p:blipFill>
          <a:blip r:embed="rId4"/>
          <a:stretch>
            <a:fillRect/>
          </a:stretch>
        </p:blipFill>
        <p:spPr>
          <a:xfrm>
            <a:off x="4679325" y="2662499"/>
            <a:ext cx="1033219" cy="3704438"/>
          </a:xfrm>
          <a:prstGeom prst="rect">
            <a:avLst/>
          </a:prstGeom>
        </p:spPr>
      </p:pic>
      <p:sp>
        <p:nvSpPr>
          <p:cNvPr id="19" name="Título 2">
            <a:extLst>
              <a:ext uri="{FF2B5EF4-FFF2-40B4-BE49-F238E27FC236}">
                <a16:creationId xmlns="" xmlns:a16="http://schemas.microsoft.com/office/drawing/2014/main" id="{E1356446-3195-476C-B441-3A4AD214AFCB}"/>
              </a:ext>
            </a:extLst>
          </p:cNvPr>
          <p:cNvSpPr>
            <a:spLocks noGrp="1"/>
          </p:cNvSpPr>
          <p:nvPr>
            <p:ph type="title"/>
          </p:nvPr>
        </p:nvSpPr>
        <p:spPr>
          <a:xfrm>
            <a:off x="1677787" y="212725"/>
            <a:ext cx="4046302" cy="813000"/>
          </a:xfrm>
        </p:spPr>
        <p:txBody>
          <a:bodyPr/>
          <a:lstStyle/>
          <a:p>
            <a:pPr lvl="0" defTabSz="457200">
              <a:defRPr/>
            </a:pPr>
            <a:r>
              <a:rPr lang="es-CL" sz="2800" b="1" dirty="0">
                <a:solidFill>
                  <a:prstClr val="white"/>
                </a:solidFill>
                <a:latin typeface="Calibri"/>
              </a:rPr>
              <a:t>Usando Operadores </a:t>
            </a:r>
            <a:br>
              <a:rPr lang="es-CL" sz="2800" b="1" dirty="0">
                <a:solidFill>
                  <a:prstClr val="white"/>
                </a:solidFill>
                <a:latin typeface="Calibri"/>
              </a:rPr>
            </a:br>
            <a:r>
              <a:rPr lang="es-CL" sz="2800" b="1" dirty="0">
                <a:solidFill>
                  <a:prstClr val="white"/>
                </a:solidFill>
                <a:latin typeface="Calibri"/>
              </a:rPr>
              <a:t>Aritméticos</a:t>
            </a:r>
          </a:p>
        </p:txBody>
      </p:sp>
    </p:spTree>
    <p:extLst>
      <p:ext uri="{BB962C8B-B14F-4D97-AF65-F5344CB8AC3E}">
        <p14:creationId xmlns:p14="http://schemas.microsoft.com/office/powerpoint/2010/main" val="354673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contenido 1">
            <a:extLst>
              <a:ext uri="{FF2B5EF4-FFF2-40B4-BE49-F238E27FC236}">
                <a16:creationId xmlns="" xmlns:a16="http://schemas.microsoft.com/office/drawing/2014/main" id="{AEB12697-D5BA-44B4-B910-764B8DFEC836}"/>
              </a:ext>
            </a:extLst>
          </p:cNvPr>
          <p:cNvSpPr txBox="1">
            <a:spLocks/>
          </p:cNvSpPr>
          <p:nvPr/>
        </p:nvSpPr>
        <p:spPr>
          <a:xfrm>
            <a:off x="457200" y="1192390"/>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3" name="Text Box 5">
            <a:extLst>
              <a:ext uri="{FF2B5EF4-FFF2-40B4-BE49-F238E27FC236}">
                <a16:creationId xmlns="" xmlns:a16="http://schemas.microsoft.com/office/drawing/2014/main" id="{F3FFEC09-46BA-48FA-95A5-6B0CD459B69B}"/>
              </a:ext>
            </a:extLst>
          </p:cNvPr>
          <p:cNvSpPr txBox="1">
            <a:spLocks noChangeArrowheads="1"/>
          </p:cNvSpPr>
          <p:nvPr/>
        </p:nvSpPr>
        <p:spPr bwMode="auto">
          <a:xfrm>
            <a:off x="899592" y="1591632"/>
            <a:ext cx="7272808"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salary,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12*salary*commission_pct</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4" name="Imagen 13">
            <a:extLst>
              <a:ext uri="{FF2B5EF4-FFF2-40B4-BE49-F238E27FC236}">
                <a16:creationId xmlns="" xmlns:a16="http://schemas.microsoft.com/office/drawing/2014/main" id="{30D2E82A-F364-4E36-B206-05FCA91A27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3515" y="2444931"/>
            <a:ext cx="4376970" cy="4168939"/>
          </a:xfrm>
          <a:prstGeom prst="rect">
            <a:avLst/>
          </a:prstGeom>
        </p:spPr>
      </p:pic>
      <p:sp>
        <p:nvSpPr>
          <p:cNvPr id="19" name="Rectangle 82">
            <a:extLst>
              <a:ext uri="{FF2B5EF4-FFF2-40B4-BE49-F238E27FC236}">
                <a16:creationId xmlns="" xmlns:a16="http://schemas.microsoft.com/office/drawing/2014/main" id="{FECA83CD-96FC-45B5-A11A-3A760EF1E7EC}"/>
              </a:ext>
            </a:extLst>
          </p:cNvPr>
          <p:cNvSpPr>
            <a:spLocks noChangeArrowheads="1"/>
          </p:cNvSpPr>
          <p:nvPr/>
        </p:nvSpPr>
        <p:spPr bwMode="auto">
          <a:xfrm>
            <a:off x="5184167" y="2484320"/>
            <a:ext cx="1576317" cy="4129550"/>
          </a:xfrm>
          <a:prstGeom prst="rect">
            <a:avLst/>
          </a:prstGeom>
          <a:noFill/>
          <a:ln w="31750">
            <a:solidFill>
              <a:srgbClr val="0000DE"/>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0" name="Rectangle 83">
            <a:extLst>
              <a:ext uri="{FF2B5EF4-FFF2-40B4-BE49-F238E27FC236}">
                <a16:creationId xmlns="" xmlns:a16="http://schemas.microsoft.com/office/drawing/2014/main" id="{77EE2A6B-B3DE-4C71-9C58-5CBD11DBDC56}"/>
              </a:ext>
            </a:extLst>
          </p:cNvPr>
          <p:cNvSpPr>
            <a:spLocks noChangeArrowheads="1"/>
          </p:cNvSpPr>
          <p:nvPr/>
        </p:nvSpPr>
        <p:spPr bwMode="auto">
          <a:xfrm>
            <a:off x="4303763" y="2484320"/>
            <a:ext cx="833150" cy="412955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1" name="Título 2">
            <a:extLst>
              <a:ext uri="{FF2B5EF4-FFF2-40B4-BE49-F238E27FC236}">
                <a16:creationId xmlns="" xmlns:a16="http://schemas.microsoft.com/office/drawing/2014/main" id="{BC85FFBC-4CB1-4917-AE3B-8C0522A825B6}"/>
              </a:ext>
            </a:extLst>
          </p:cNvPr>
          <p:cNvSpPr>
            <a:spLocks noGrp="1"/>
          </p:cNvSpPr>
          <p:nvPr>
            <p:ph type="title"/>
          </p:nvPr>
        </p:nvSpPr>
        <p:spPr>
          <a:xfrm>
            <a:off x="1677787" y="212725"/>
            <a:ext cx="4046302" cy="813000"/>
          </a:xfrm>
        </p:spPr>
        <p:txBody>
          <a:bodyPr/>
          <a:lstStyle/>
          <a:p>
            <a:pPr lvl="0" defTabSz="457200">
              <a:defRPr/>
            </a:pPr>
            <a:r>
              <a:rPr lang="es-CL" sz="2800" b="1" dirty="0">
                <a:solidFill>
                  <a:prstClr val="white"/>
                </a:solidFill>
                <a:latin typeface="Calibri"/>
              </a:rPr>
              <a:t>Usando Operadores </a:t>
            </a:r>
            <a:br>
              <a:rPr lang="es-CL" sz="2800" b="1" dirty="0">
                <a:solidFill>
                  <a:prstClr val="white"/>
                </a:solidFill>
                <a:latin typeface="Calibri"/>
              </a:rPr>
            </a:br>
            <a:r>
              <a:rPr lang="es-CL" sz="2800" b="1" dirty="0">
                <a:solidFill>
                  <a:prstClr val="white"/>
                </a:solidFill>
                <a:latin typeface="Calibri"/>
              </a:rPr>
              <a:t>Aritméticos</a:t>
            </a:r>
          </a:p>
        </p:txBody>
      </p:sp>
    </p:spTree>
    <p:extLst>
      <p:ext uri="{BB962C8B-B14F-4D97-AF65-F5344CB8AC3E}">
        <p14:creationId xmlns:p14="http://schemas.microsoft.com/office/powerpoint/2010/main" val="2147952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 xmlns:a16="http://schemas.microsoft.com/office/drawing/2014/main" id="{548035E2-9379-2346-A89D-675F58CEB28A}"/>
              </a:ext>
            </a:extLst>
          </p:cNvPr>
          <p:cNvSpPr>
            <a:spLocks noGrp="1"/>
          </p:cNvSpPr>
          <p:nvPr>
            <p:ph type="title"/>
          </p:nvPr>
        </p:nvSpPr>
        <p:spPr>
          <a:xfrm>
            <a:off x="2556587" y="2794394"/>
            <a:ext cx="6499771" cy="3158542"/>
          </a:xfrm>
        </p:spPr>
        <p:txBody>
          <a:bodyPr anchor="ctr" anchorCtr="0"/>
          <a:lstStyle/>
          <a:p>
            <a:r>
              <a:rPr lang="es-ES_tradnl" sz="4800" b="1" dirty="0"/>
              <a:t>Alias de</a:t>
            </a:r>
            <a:br>
              <a:rPr lang="es-ES_tradnl" sz="4800" b="1" dirty="0"/>
            </a:br>
            <a:r>
              <a:rPr lang="es-ES_tradnl" sz="4800" b="1" dirty="0"/>
              <a:t>Columnas, Concatenación </a:t>
            </a:r>
            <a:br>
              <a:rPr lang="es-ES_tradnl" sz="4800" b="1" dirty="0"/>
            </a:br>
            <a:r>
              <a:rPr lang="es-ES_tradnl" sz="4800" b="1" dirty="0"/>
              <a:t>y Valores Duplicados</a:t>
            </a:r>
          </a:p>
        </p:txBody>
      </p:sp>
    </p:spTree>
    <p:extLst>
      <p:ext uri="{BB962C8B-B14F-4D97-AF65-F5344CB8AC3E}">
        <p14:creationId xmlns:p14="http://schemas.microsoft.com/office/powerpoint/2010/main" val="37265670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Definiendo Alias de Columnas</a:t>
            </a:r>
          </a:p>
        </p:txBody>
      </p:sp>
      <p:pic>
        <p:nvPicPr>
          <p:cNvPr id="5" name="Imagen 4" descr="Captura de pantalla de un celular&#10;&#10;Descripción generada automáticamente">
            <a:extLst>
              <a:ext uri="{FF2B5EF4-FFF2-40B4-BE49-F238E27FC236}">
                <a16:creationId xmlns="" xmlns:a16="http://schemas.microsoft.com/office/drawing/2014/main" id="{D05334A0-3249-40B1-957A-A0EAD9607241}"/>
              </a:ext>
            </a:extLst>
          </p:cNvPr>
          <p:cNvPicPr>
            <a:picLocks noChangeAspect="1"/>
          </p:cNvPicPr>
          <p:nvPr/>
        </p:nvPicPr>
        <p:blipFill>
          <a:blip r:embed="rId3"/>
          <a:stretch>
            <a:fillRect/>
          </a:stretch>
        </p:blipFill>
        <p:spPr>
          <a:xfrm>
            <a:off x="729040" y="1323948"/>
            <a:ext cx="7685920" cy="5113490"/>
          </a:xfrm>
          <a:prstGeom prst="rect">
            <a:avLst/>
          </a:prstGeom>
        </p:spPr>
      </p:pic>
    </p:spTree>
    <p:extLst>
      <p:ext uri="{BB962C8B-B14F-4D97-AF65-F5344CB8AC3E}">
        <p14:creationId xmlns:p14="http://schemas.microsoft.com/office/powerpoint/2010/main" val="3955520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 xmlns:a16="http://schemas.microsoft.com/office/drawing/2014/main" id="{6CF4D6D5-73A9-443D-8A14-7996125EC048}"/>
              </a:ext>
            </a:extLst>
          </p:cNvPr>
          <p:cNvSpPr txBox="1">
            <a:spLocks noChangeArrowheads="1"/>
          </p:cNvSpPr>
          <p:nvPr/>
        </p:nvSpPr>
        <p:spPr bwMode="auto">
          <a:xfrm>
            <a:off x="611188" y="1365330"/>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p:txBody>
      </p:sp>
      <p:sp>
        <p:nvSpPr>
          <p:cNvPr id="11" name="Text Box 5">
            <a:extLst>
              <a:ext uri="{FF2B5EF4-FFF2-40B4-BE49-F238E27FC236}">
                <a16:creationId xmlns="" xmlns:a16="http://schemas.microsoft.com/office/drawing/2014/main" id="{A5DE3521-187A-4438-AEC1-BD6F76AEC153}"/>
              </a:ext>
            </a:extLst>
          </p:cNvPr>
          <p:cNvSpPr txBox="1">
            <a:spLocks noChangeArrowheads="1"/>
          </p:cNvSpPr>
          <p:nvPr/>
        </p:nvSpPr>
        <p:spPr bwMode="auto">
          <a:xfrm>
            <a:off x="1211374" y="1700808"/>
            <a:ext cx="7272808"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AS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apellido</a:t>
            </a:r>
            <a:r>
              <a:rPr kumimoji="0" lang="en-US" sz="1600" b="1" i="0" u="none" strike="noStrike" kern="1200" cap="none" spc="0" normalizeH="0" baseline="0" noProof="0" dirty="0">
                <a:ln>
                  <a:noFill/>
                </a:ln>
                <a:solidFill>
                  <a:srgbClr val="FF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salary  </a:t>
            </a:r>
            <a:r>
              <a:rPr kumimoji="0" lang="en-US" sz="1600" b="1" i="0" u="none" strike="noStrike" kern="1200" cap="none" spc="0" normalizeH="0" baseline="0" noProof="0" dirty="0" err="1">
                <a:ln>
                  <a:noFill/>
                </a:ln>
                <a:solidFill>
                  <a:srgbClr val="0000FF"/>
                </a:solidFill>
                <a:effectLst/>
                <a:uLnTx/>
                <a:uFillTx/>
                <a:latin typeface="Calibri"/>
                <a:ea typeface="+mn-ea"/>
                <a:cs typeface="Arial" panose="020B0604020202020204" pitchFamily="34" charset="0"/>
              </a:rPr>
              <a:t>salario</a:t>
            </a:r>
            <a:endPar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2" name="Imagen 11">
            <a:extLst>
              <a:ext uri="{FF2B5EF4-FFF2-40B4-BE49-F238E27FC236}">
                <a16:creationId xmlns="" xmlns:a16="http://schemas.microsoft.com/office/drawing/2014/main" id="{1C9EF94C-66F0-4C28-911A-4439D3B8DEB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7597" y="2636912"/>
            <a:ext cx="2104762" cy="3752381"/>
          </a:xfrm>
          <a:prstGeom prst="rect">
            <a:avLst/>
          </a:prstGeom>
        </p:spPr>
      </p:pic>
      <p:sp>
        <p:nvSpPr>
          <p:cNvPr id="13" name="Rectangle 82">
            <a:extLst>
              <a:ext uri="{FF2B5EF4-FFF2-40B4-BE49-F238E27FC236}">
                <a16:creationId xmlns="" xmlns:a16="http://schemas.microsoft.com/office/drawing/2014/main" id="{B0939AC4-15D6-4E92-8A86-345A1FF6542C}"/>
              </a:ext>
            </a:extLst>
          </p:cNvPr>
          <p:cNvSpPr>
            <a:spLocks noChangeArrowheads="1"/>
          </p:cNvSpPr>
          <p:nvPr/>
        </p:nvSpPr>
        <p:spPr bwMode="auto">
          <a:xfrm>
            <a:off x="4815428" y="2649483"/>
            <a:ext cx="622327" cy="252000"/>
          </a:xfrm>
          <a:prstGeom prst="rect">
            <a:avLst/>
          </a:prstGeom>
          <a:noFill/>
          <a:ln w="31750">
            <a:solidFill>
              <a:srgbClr val="0000DE"/>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14" name="Rectangle 83">
            <a:extLst>
              <a:ext uri="{FF2B5EF4-FFF2-40B4-BE49-F238E27FC236}">
                <a16:creationId xmlns="" xmlns:a16="http://schemas.microsoft.com/office/drawing/2014/main" id="{3D4AEC82-821A-4CCE-B68A-5CFC21E17588}"/>
              </a:ext>
            </a:extLst>
          </p:cNvPr>
          <p:cNvSpPr>
            <a:spLocks noChangeArrowheads="1"/>
          </p:cNvSpPr>
          <p:nvPr/>
        </p:nvSpPr>
        <p:spPr bwMode="auto">
          <a:xfrm>
            <a:off x="3894195" y="2659214"/>
            <a:ext cx="864000" cy="252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19" name="Título 2">
            <a:extLst>
              <a:ext uri="{FF2B5EF4-FFF2-40B4-BE49-F238E27FC236}">
                <a16:creationId xmlns="" xmlns:a16="http://schemas.microsoft.com/office/drawing/2014/main" id="{383C6884-2149-4AEE-85DF-3C72C228EE22}"/>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Definiendo Alias de Columnas</a:t>
            </a:r>
          </a:p>
        </p:txBody>
      </p:sp>
    </p:spTree>
    <p:extLst>
      <p:ext uri="{BB962C8B-B14F-4D97-AF65-F5344CB8AC3E}">
        <p14:creationId xmlns:p14="http://schemas.microsoft.com/office/powerpoint/2010/main" val="2028548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Marcador de contenido 1">
            <a:extLst>
              <a:ext uri="{FF2B5EF4-FFF2-40B4-BE49-F238E27FC236}">
                <a16:creationId xmlns="" xmlns:a16="http://schemas.microsoft.com/office/drawing/2014/main" id="{44F8036D-9C62-41DE-BEEA-1B55A40A35AD}"/>
              </a:ext>
            </a:extLst>
          </p:cNvPr>
          <p:cNvSpPr txBox="1">
            <a:spLocks/>
          </p:cNvSpPr>
          <p:nvPr/>
        </p:nvSpPr>
        <p:spPr>
          <a:xfrm>
            <a:off x="518864" y="1268760"/>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9" name="Text Box 5">
            <a:extLst>
              <a:ext uri="{FF2B5EF4-FFF2-40B4-BE49-F238E27FC236}">
                <a16:creationId xmlns="" xmlns:a16="http://schemas.microsoft.com/office/drawing/2014/main" id="{BF51DB8E-C3FF-4851-8079-55A5F77BE442}"/>
              </a:ext>
            </a:extLst>
          </p:cNvPr>
          <p:cNvSpPr txBox="1">
            <a:spLocks noChangeArrowheads="1"/>
          </p:cNvSpPr>
          <p:nvPr/>
        </p:nvSpPr>
        <p:spPr bwMode="auto">
          <a:xfrm>
            <a:off x="938147" y="1645053"/>
            <a:ext cx="7344816"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salary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Salario</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salary* 1.25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"Salario </a:t>
            </a:r>
            <a:r>
              <a:rPr kumimoji="0" lang="en-US" sz="1600" b="1" i="0" u="none" strike="noStrike" kern="1200" cap="none" spc="0" normalizeH="0" baseline="0" noProof="0" dirty="0" err="1">
                <a:ln>
                  <a:noFill/>
                </a:ln>
                <a:solidFill>
                  <a:srgbClr val="0000FF"/>
                </a:solidFill>
                <a:effectLst/>
                <a:uLnTx/>
                <a:uFillTx/>
                <a:latin typeface="Calibri"/>
                <a:ea typeface="+mn-ea"/>
                <a:cs typeface="Arial" panose="020B0604020202020204" pitchFamily="34" charset="0"/>
              </a:rPr>
              <a:t>Aumentado</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 en 25%"</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20" name="Imagen 19">
            <a:extLst>
              <a:ext uri="{FF2B5EF4-FFF2-40B4-BE49-F238E27FC236}">
                <a16:creationId xmlns="" xmlns:a16="http://schemas.microsoft.com/office/drawing/2014/main" id="{BD19DAEC-7D67-4B3F-8E4B-335A47788E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2564904"/>
            <a:ext cx="3790476" cy="3980952"/>
          </a:xfrm>
          <a:prstGeom prst="rect">
            <a:avLst/>
          </a:prstGeom>
        </p:spPr>
      </p:pic>
      <p:sp>
        <p:nvSpPr>
          <p:cNvPr id="21" name="Rectangle 82">
            <a:extLst>
              <a:ext uri="{FF2B5EF4-FFF2-40B4-BE49-F238E27FC236}">
                <a16:creationId xmlns="" xmlns:a16="http://schemas.microsoft.com/office/drawing/2014/main" id="{472970FD-78DE-4263-958E-B0FDD631E2C8}"/>
              </a:ext>
            </a:extLst>
          </p:cNvPr>
          <p:cNvSpPr>
            <a:spLocks noChangeArrowheads="1"/>
          </p:cNvSpPr>
          <p:nvPr/>
        </p:nvSpPr>
        <p:spPr bwMode="auto">
          <a:xfrm>
            <a:off x="4837730" y="2627181"/>
            <a:ext cx="1620000" cy="252000"/>
          </a:xfrm>
          <a:prstGeom prst="rect">
            <a:avLst/>
          </a:prstGeom>
          <a:noFill/>
          <a:ln w="31750">
            <a:solidFill>
              <a:srgbClr val="0000DE"/>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2" name="Rectangle 83">
            <a:extLst>
              <a:ext uri="{FF2B5EF4-FFF2-40B4-BE49-F238E27FC236}">
                <a16:creationId xmlns="" xmlns:a16="http://schemas.microsoft.com/office/drawing/2014/main" id="{04AACB18-9470-4679-B1EF-AF0651C5919C}"/>
              </a:ext>
            </a:extLst>
          </p:cNvPr>
          <p:cNvSpPr>
            <a:spLocks noChangeArrowheads="1"/>
          </p:cNvSpPr>
          <p:nvPr/>
        </p:nvSpPr>
        <p:spPr bwMode="auto">
          <a:xfrm>
            <a:off x="4176024" y="2625761"/>
            <a:ext cx="612000" cy="252000"/>
          </a:xfrm>
          <a:prstGeom prst="rect">
            <a:avLst/>
          </a:prstGeom>
          <a:noFill/>
          <a:ln w="31750">
            <a:solidFill>
              <a:srgbClr val="C00000"/>
            </a:solidFill>
            <a:miter lim="800000"/>
            <a:headEnd/>
            <a:tailEnd/>
          </a:ln>
        </p:spPr>
        <p:txBody>
          <a:bodyPr wrap="none" anchor="ctr"/>
          <a:lstStyle/>
          <a:p>
            <a:pPr algn="ctr" fontAlgn="base">
              <a:spcBef>
                <a:spcPct val="0"/>
              </a:spcBef>
              <a:spcAft>
                <a:spcPct val="0"/>
              </a:spcAft>
              <a:buClrTx/>
              <a:buFontTx/>
              <a:buNone/>
            </a:pPr>
            <a:endParaRPr lang="es-ES" sz="2000" kern="1200">
              <a:solidFill>
                <a:prstClr val="black"/>
              </a:solidFill>
              <a:latin typeface="Arial" panose="020B0604020202020204" pitchFamily="34" charset="0"/>
              <a:ea typeface="+mn-ea"/>
              <a:cs typeface="Arial" panose="020B0604020202020204" pitchFamily="34" charset="0"/>
            </a:endParaRPr>
          </a:p>
        </p:txBody>
      </p:sp>
      <p:sp>
        <p:nvSpPr>
          <p:cNvPr id="23" name="Título 2">
            <a:extLst>
              <a:ext uri="{FF2B5EF4-FFF2-40B4-BE49-F238E27FC236}">
                <a16:creationId xmlns="" xmlns:a16="http://schemas.microsoft.com/office/drawing/2014/main" id="{383EE06D-7940-49E9-830E-BDDBB0FCE04F}"/>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Definiendo Alias de Columnas</a:t>
            </a:r>
          </a:p>
        </p:txBody>
      </p:sp>
    </p:spTree>
    <p:extLst>
      <p:ext uri="{BB962C8B-B14F-4D97-AF65-F5344CB8AC3E}">
        <p14:creationId xmlns:p14="http://schemas.microsoft.com/office/powerpoint/2010/main" val="28544077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Usando Operador de Concatenación</a:t>
            </a:r>
          </a:p>
        </p:txBody>
      </p:sp>
      <p:pic>
        <p:nvPicPr>
          <p:cNvPr id="4" name="Imagen 3" descr="Captura de pantalla de un celular&#10;&#10;Descripción generada automáticamente">
            <a:extLst>
              <a:ext uri="{FF2B5EF4-FFF2-40B4-BE49-F238E27FC236}">
                <a16:creationId xmlns="" xmlns:a16="http://schemas.microsoft.com/office/drawing/2014/main" id="{640D8C25-5ED8-4C6C-8801-C480A7ABB392}"/>
              </a:ext>
            </a:extLst>
          </p:cNvPr>
          <p:cNvPicPr>
            <a:picLocks noChangeAspect="1"/>
          </p:cNvPicPr>
          <p:nvPr/>
        </p:nvPicPr>
        <p:blipFill>
          <a:blip r:embed="rId3"/>
          <a:stretch>
            <a:fillRect/>
          </a:stretch>
        </p:blipFill>
        <p:spPr>
          <a:xfrm>
            <a:off x="638365" y="1294540"/>
            <a:ext cx="7867270" cy="5269890"/>
          </a:xfrm>
          <a:prstGeom prst="rect">
            <a:avLst/>
          </a:prstGeom>
        </p:spPr>
      </p:pic>
    </p:spTree>
    <p:extLst>
      <p:ext uri="{BB962C8B-B14F-4D97-AF65-F5344CB8AC3E}">
        <p14:creationId xmlns:p14="http://schemas.microsoft.com/office/powerpoint/2010/main" val="35820888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 xmlns:a16="http://schemas.microsoft.com/office/drawing/2014/main" id="{1649852F-C7A7-4B3B-869A-710F061CDAE8}"/>
              </a:ext>
            </a:extLst>
          </p:cNvPr>
          <p:cNvSpPr txBox="1">
            <a:spLocks noChangeArrowheads="1"/>
          </p:cNvSpPr>
          <p:nvPr/>
        </p:nvSpPr>
        <p:spPr bwMode="auto">
          <a:xfrm>
            <a:off x="611188" y="1334860"/>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p:txBody>
      </p:sp>
      <p:sp>
        <p:nvSpPr>
          <p:cNvPr id="9" name="Text Box 5">
            <a:extLst>
              <a:ext uri="{FF2B5EF4-FFF2-40B4-BE49-F238E27FC236}">
                <a16:creationId xmlns="" xmlns:a16="http://schemas.microsoft.com/office/drawing/2014/main" id="{2A9F2637-7BC4-4A79-981B-00B55DDB0BD8}"/>
              </a:ext>
            </a:extLst>
          </p:cNvPr>
          <p:cNvSpPr txBox="1">
            <a:spLocks noChangeArrowheads="1"/>
          </p:cNvSpPr>
          <p:nvPr/>
        </p:nvSpPr>
        <p:spPr bwMode="auto">
          <a:xfrm>
            <a:off x="1289431" y="1628800"/>
            <a:ext cx="7340390"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"IDENTIFICACION EMPLEADO",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first_name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 ' ' ||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"NOMBRE DEL EMPLEADO",</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salario</a:t>
            </a:r>
            <a:endPar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0" name="Imagen 9">
            <a:extLst>
              <a:ext uri="{FF2B5EF4-FFF2-40B4-BE49-F238E27FC236}">
                <a16:creationId xmlns="" xmlns:a16="http://schemas.microsoft.com/office/drawing/2014/main" id="{2CA47A55-C117-4930-8141-E1C237E63D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784" y="2996952"/>
            <a:ext cx="4382616" cy="3767345"/>
          </a:xfrm>
          <a:prstGeom prst="rect">
            <a:avLst/>
          </a:prstGeom>
        </p:spPr>
      </p:pic>
      <p:pic>
        <p:nvPicPr>
          <p:cNvPr id="11" name="Imagen 10">
            <a:extLst>
              <a:ext uri="{FF2B5EF4-FFF2-40B4-BE49-F238E27FC236}">
                <a16:creationId xmlns="" xmlns:a16="http://schemas.microsoft.com/office/drawing/2014/main" id="{EA40233A-12DD-41E4-B865-5100F589378A}"/>
              </a:ext>
            </a:extLst>
          </p:cNvPr>
          <p:cNvPicPr>
            <a:picLocks noChangeAspect="1"/>
          </p:cNvPicPr>
          <p:nvPr/>
        </p:nvPicPr>
        <p:blipFill>
          <a:blip r:embed="rId4"/>
          <a:stretch>
            <a:fillRect/>
          </a:stretch>
        </p:blipFill>
        <p:spPr>
          <a:xfrm>
            <a:off x="4844296" y="3057964"/>
            <a:ext cx="1486166" cy="3704438"/>
          </a:xfrm>
          <a:prstGeom prst="rect">
            <a:avLst/>
          </a:prstGeom>
        </p:spPr>
      </p:pic>
      <p:sp>
        <p:nvSpPr>
          <p:cNvPr id="16" name="Título 2">
            <a:extLst>
              <a:ext uri="{FF2B5EF4-FFF2-40B4-BE49-F238E27FC236}">
                <a16:creationId xmlns="" xmlns:a16="http://schemas.microsoft.com/office/drawing/2014/main" id="{CB3A7131-9D1E-47F3-B80C-80072DEF2F1D}"/>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Usando Operador de Concatenación</a:t>
            </a:r>
          </a:p>
        </p:txBody>
      </p:sp>
    </p:spTree>
    <p:extLst>
      <p:ext uri="{BB962C8B-B14F-4D97-AF65-F5344CB8AC3E}">
        <p14:creationId xmlns:p14="http://schemas.microsoft.com/office/powerpoint/2010/main" val="17561900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3">
            <a:extLst>
              <a:ext uri="{FF2B5EF4-FFF2-40B4-BE49-F238E27FC236}">
                <a16:creationId xmlns="" xmlns:a16="http://schemas.microsoft.com/office/drawing/2014/main" id="{450BB95F-8219-4356-89DE-CB7FC29C64D2}"/>
              </a:ext>
            </a:extLst>
          </p:cNvPr>
          <p:cNvSpPr txBox="1">
            <a:spLocks noChangeArrowheads="1"/>
          </p:cNvSpPr>
          <p:nvPr/>
        </p:nvSpPr>
        <p:spPr bwMode="auto">
          <a:xfrm>
            <a:off x="611188" y="1334860"/>
            <a:ext cx="7848600" cy="407988"/>
          </a:xfrm>
          <a:prstGeom prst="rect">
            <a:avLst/>
          </a:prstGeom>
          <a:noFill/>
          <a:ln w="9525">
            <a:noFill/>
            <a:miter lim="800000"/>
            <a:headEnd/>
            <a:tailEnd/>
          </a:ln>
        </p:spPr>
        <p:txBody>
          <a:bodyPr/>
          <a:lstStyle/>
          <a:p>
            <a:pPr marL="609600" indent="-609600" algn="just" defTabSz="457200" fontAlgn="base">
              <a:lnSpc>
                <a:spcPct val="80000"/>
              </a:lnSpc>
              <a:spcBef>
                <a:spcPct val="20000"/>
              </a:spcBef>
              <a:spcAft>
                <a:spcPct val="0"/>
              </a:spcAft>
              <a:buClrTx/>
              <a:buFont typeface="Arial" charset="0"/>
              <a:buChar char="•"/>
            </a:pPr>
            <a:r>
              <a:rPr lang="es-CL" sz="2000" kern="1200" dirty="0">
                <a:solidFill>
                  <a:prstClr val="black"/>
                </a:solidFill>
                <a:latin typeface="Calibri"/>
                <a:ea typeface="Arial Unicode MS"/>
                <a:cs typeface="Arial Unicode MS"/>
              </a:rPr>
              <a:t>Ejemplo:</a:t>
            </a:r>
          </a:p>
        </p:txBody>
      </p:sp>
      <p:sp>
        <p:nvSpPr>
          <p:cNvPr id="15" name="Text Box 5">
            <a:extLst>
              <a:ext uri="{FF2B5EF4-FFF2-40B4-BE49-F238E27FC236}">
                <a16:creationId xmlns="" xmlns:a16="http://schemas.microsoft.com/office/drawing/2014/main" id="{0533FAAD-0F2D-46CE-AE5D-3CA0B5ED330A}"/>
              </a:ext>
            </a:extLst>
          </p:cNvPr>
          <p:cNvSpPr txBox="1">
            <a:spLocks noChangeArrowheads="1"/>
          </p:cNvSpPr>
          <p:nvPr/>
        </p:nvSpPr>
        <p:spPr bwMode="auto">
          <a:xfrm>
            <a:off x="1289431" y="1628800"/>
            <a:ext cx="674500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pertenece al departamento '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"Detalle de Empleados"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6" name="Imagen 15">
            <a:extLst>
              <a:ext uri="{FF2B5EF4-FFF2-40B4-BE49-F238E27FC236}">
                <a16:creationId xmlns="" xmlns:a16="http://schemas.microsoft.com/office/drawing/2014/main" id="{8303E27F-05EA-4CB7-B828-AB5E328B67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9773" y="2780928"/>
            <a:ext cx="3622427" cy="3748004"/>
          </a:xfrm>
          <a:prstGeom prst="rect">
            <a:avLst/>
          </a:prstGeom>
        </p:spPr>
      </p:pic>
      <p:sp>
        <p:nvSpPr>
          <p:cNvPr id="17" name="Título 2">
            <a:extLst>
              <a:ext uri="{FF2B5EF4-FFF2-40B4-BE49-F238E27FC236}">
                <a16:creationId xmlns="" xmlns:a16="http://schemas.microsoft.com/office/drawing/2014/main" id="{4C15CAEA-7038-429B-9408-3D8393F0E05F}"/>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Usando Operador de Concatenación</a:t>
            </a:r>
          </a:p>
        </p:txBody>
      </p:sp>
    </p:spTree>
    <p:extLst>
      <p:ext uri="{BB962C8B-B14F-4D97-AF65-F5344CB8AC3E}">
        <p14:creationId xmlns:p14="http://schemas.microsoft.com/office/powerpoint/2010/main" val="269971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Marcador de contenido 1">
            <a:extLst>
              <a:ext uri="{FF2B5EF4-FFF2-40B4-BE49-F238E27FC236}">
                <a16:creationId xmlns="" xmlns:a16="http://schemas.microsoft.com/office/drawing/2014/main" id="{A9A8799F-0C01-43AE-9C00-E546F269C2EA}"/>
              </a:ext>
            </a:extLst>
          </p:cNvPr>
          <p:cNvSpPr txBox="1">
            <a:spLocks/>
          </p:cNvSpPr>
          <p:nvPr/>
        </p:nvSpPr>
        <p:spPr>
          <a:xfrm>
            <a:off x="539552" y="1207293"/>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0" name="Text Box 5">
            <a:extLst>
              <a:ext uri="{FF2B5EF4-FFF2-40B4-BE49-F238E27FC236}">
                <a16:creationId xmlns="" xmlns:a16="http://schemas.microsoft.com/office/drawing/2014/main" id="{B9D61D1C-8C75-459C-BC19-89E066D56326}"/>
              </a:ext>
            </a:extLst>
          </p:cNvPr>
          <p:cNvSpPr txBox="1">
            <a:spLocks noChangeArrowheads="1"/>
          </p:cNvSpPr>
          <p:nvPr/>
        </p:nvSpPr>
        <p:spPr bwMode="auto">
          <a:xfrm>
            <a:off x="944196" y="1573045"/>
            <a:ext cx="7632848"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'El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salario</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mensual</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del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empleado</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last_name ||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es de $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salary salarios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1" name="Imagen 10">
            <a:extLst>
              <a:ext uri="{FF2B5EF4-FFF2-40B4-BE49-F238E27FC236}">
                <a16:creationId xmlns="" xmlns:a16="http://schemas.microsoft.com/office/drawing/2014/main" id="{8F5AF5A3-B64F-4012-8255-234369489A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3876" y="2497998"/>
            <a:ext cx="4780952" cy="3685714"/>
          </a:xfrm>
          <a:prstGeom prst="rect">
            <a:avLst/>
          </a:prstGeom>
        </p:spPr>
      </p:pic>
      <p:sp>
        <p:nvSpPr>
          <p:cNvPr id="17" name="Título 2">
            <a:extLst>
              <a:ext uri="{FF2B5EF4-FFF2-40B4-BE49-F238E27FC236}">
                <a16:creationId xmlns="" xmlns:a16="http://schemas.microsoft.com/office/drawing/2014/main" id="{3D6D6367-29B3-4B8F-8630-8F63ACAB3957}"/>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Usando Operador de Concatenación</a:t>
            </a:r>
          </a:p>
        </p:txBody>
      </p:sp>
    </p:spTree>
    <p:extLst>
      <p:ext uri="{BB962C8B-B14F-4D97-AF65-F5344CB8AC3E}">
        <p14:creationId xmlns:p14="http://schemas.microsoft.com/office/powerpoint/2010/main" val="2169459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 xmlns:a16="http://schemas.microsoft.com/office/drawing/2014/main" id="{532F8F7C-62F6-AB45-8C6F-954F7E1DBD86}"/>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Valores Duplicados en las Columnas</a:t>
            </a:r>
          </a:p>
        </p:txBody>
      </p:sp>
      <p:pic>
        <p:nvPicPr>
          <p:cNvPr id="6" name="Imagen 5" descr="Imagen que contiene firmar, parada, tabla, hecho de madera&#10;&#10;Descripción generada automáticamente">
            <a:extLst>
              <a:ext uri="{FF2B5EF4-FFF2-40B4-BE49-F238E27FC236}">
                <a16:creationId xmlns="" xmlns:a16="http://schemas.microsoft.com/office/drawing/2014/main" id="{E5541088-5B24-4012-BCD2-4E582EDF5577}"/>
              </a:ext>
            </a:extLst>
          </p:cNvPr>
          <p:cNvPicPr>
            <a:picLocks noChangeAspect="1"/>
          </p:cNvPicPr>
          <p:nvPr/>
        </p:nvPicPr>
        <p:blipFill>
          <a:blip r:embed="rId3"/>
          <a:stretch>
            <a:fillRect/>
          </a:stretch>
        </p:blipFill>
        <p:spPr>
          <a:xfrm>
            <a:off x="658741" y="1072508"/>
            <a:ext cx="7826517" cy="5666072"/>
          </a:xfrm>
          <a:prstGeom prst="rect">
            <a:avLst/>
          </a:prstGeom>
        </p:spPr>
      </p:pic>
    </p:spTree>
    <p:extLst>
      <p:ext uri="{BB962C8B-B14F-4D97-AF65-F5344CB8AC3E}">
        <p14:creationId xmlns:p14="http://schemas.microsoft.com/office/powerpoint/2010/main" val="17039399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Marcador de contenido 1">
            <a:extLst>
              <a:ext uri="{FF2B5EF4-FFF2-40B4-BE49-F238E27FC236}">
                <a16:creationId xmlns="" xmlns:a16="http://schemas.microsoft.com/office/drawing/2014/main" id="{99E858B6-B8AC-4415-BD94-5879F751B9CF}"/>
              </a:ext>
            </a:extLst>
          </p:cNvPr>
          <p:cNvSpPr txBox="1">
            <a:spLocks/>
          </p:cNvSpPr>
          <p:nvPr/>
        </p:nvSpPr>
        <p:spPr>
          <a:xfrm>
            <a:off x="590872"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1" name="Text Box 5">
            <a:extLst>
              <a:ext uri="{FF2B5EF4-FFF2-40B4-BE49-F238E27FC236}">
                <a16:creationId xmlns="" xmlns:a16="http://schemas.microsoft.com/office/drawing/2014/main" id="{FEBA2442-F89D-4158-9D40-0F8636A29E9C}"/>
              </a:ext>
            </a:extLst>
          </p:cNvPr>
          <p:cNvSpPr txBox="1">
            <a:spLocks noChangeArrowheads="1"/>
          </p:cNvSpPr>
          <p:nvPr/>
        </p:nvSpPr>
        <p:spPr bwMode="auto">
          <a:xfrm>
            <a:off x="971600" y="1584196"/>
            <a:ext cx="3384376"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department_id</a:t>
            </a:r>
            <a:endPar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12" name="Text Box 5">
            <a:extLst>
              <a:ext uri="{FF2B5EF4-FFF2-40B4-BE49-F238E27FC236}">
                <a16:creationId xmlns="" xmlns:a16="http://schemas.microsoft.com/office/drawing/2014/main" id="{2AD07CAE-1F55-41D9-AEE6-287D180C4702}"/>
              </a:ext>
            </a:extLst>
          </p:cNvPr>
          <p:cNvSpPr txBox="1">
            <a:spLocks noChangeArrowheads="1"/>
          </p:cNvSpPr>
          <p:nvPr/>
        </p:nvSpPr>
        <p:spPr bwMode="auto">
          <a:xfrm>
            <a:off x="5004048" y="1584196"/>
            <a:ext cx="3384376" cy="830997"/>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DISTINCT</a:t>
            </a:r>
            <a:r>
              <a:rPr kumimoji="0" lang="en-US" sz="1600" b="1" i="0" u="none" strike="noStrike" kern="1200" cap="none" spc="0" normalizeH="0" baseline="0" noProof="0" dirty="0">
                <a:ln>
                  <a:noFill/>
                </a:ln>
                <a:solidFill>
                  <a:srgbClr val="FF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department_id</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3" name="Imagen 12">
            <a:extLst>
              <a:ext uri="{FF2B5EF4-FFF2-40B4-BE49-F238E27FC236}">
                <a16:creationId xmlns="" xmlns:a16="http://schemas.microsoft.com/office/drawing/2014/main" id="{436E90E3-73DB-4F5D-9B32-9991D3787A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6888" y="2531451"/>
            <a:ext cx="1638095" cy="3685714"/>
          </a:xfrm>
          <a:prstGeom prst="rect">
            <a:avLst/>
          </a:prstGeom>
        </p:spPr>
      </p:pic>
      <p:pic>
        <p:nvPicPr>
          <p:cNvPr id="14" name="Imagen 13">
            <a:extLst>
              <a:ext uri="{FF2B5EF4-FFF2-40B4-BE49-F238E27FC236}">
                <a16:creationId xmlns="" xmlns:a16="http://schemas.microsoft.com/office/drawing/2014/main" id="{FED92933-0C66-4A02-9F2E-6E3894975B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2120" y="2531451"/>
            <a:ext cx="1656184" cy="2898322"/>
          </a:xfrm>
          <a:prstGeom prst="rect">
            <a:avLst/>
          </a:prstGeom>
        </p:spPr>
      </p:pic>
      <p:sp>
        <p:nvSpPr>
          <p:cNvPr id="16" name="Título 2">
            <a:extLst>
              <a:ext uri="{FF2B5EF4-FFF2-40B4-BE49-F238E27FC236}">
                <a16:creationId xmlns="" xmlns:a16="http://schemas.microsoft.com/office/drawing/2014/main" id="{AEB955E9-53EA-4ADC-9D73-B6A63162739D}"/>
              </a:ext>
            </a:extLst>
          </p:cNvPr>
          <p:cNvSpPr>
            <a:spLocks noGrp="1"/>
          </p:cNvSpPr>
          <p:nvPr>
            <p:ph type="title"/>
          </p:nvPr>
        </p:nvSpPr>
        <p:spPr>
          <a:xfrm>
            <a:off x="1670394" y="212725"/>
            <a:ext cx="4288185" cy="813000"/>
          </a:xfrm>
        </p:spPr>
        <p:txBody>
          <a:bodyPr/>
          <a:lstStyle/>
          <a:p>
            <a:pPr lvl="0" defTabSz="457200">
              <a:defRPr/>
            </a:pPr>
            <a:r>
              <a:rPr lang="es-CL" sz="2800" b="1" dirty="0">
                <a:solidFill>
                  <a:prstClr val="white"/>
                </a:solidFill>
                <a:latin typeface="Calibri"/>
              </a:rPr>
              <a:t>Valores Duplicados en las Columnas</a:t>
            </a:r>
          </a:p>
        </p:txBody>
      </p:sp>
    </p:spTree>
    <p:extLst>
      <p:ext uri="{BB962C8B-B14F-4D97-AF65-F5344CB8AC3E}">
        <p14:creationId xmlns:p14="http://schemas.microsoft.com/office/powerpoint/2010/main" val="1562017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 xmlns:a16="http://schemas.microsoft.com/office/drawing/2014/main" id="{548035E2-9379-2346-A89D-675F58CEB28A}"/>
              </a:ext>
            </a:extLst>
          </p:cNvPr>
          <p:cNvSpPr>
            <a:spLocks noGrp="1"/>
          </p:cNvSpPr>
          <p:nvPr>
            <p:ph type="title"/>
          </p:nvPr>
        </p:nvSpPr>
        <p:spPr/>
        <p:txBody>
          <a:bodyPr anchor="ctr" anchorCtr="0"/>
          <a:lstStyle/>
          <a:p>
            <a:r>
              <a:rPr lang="es-ES_tradnl" sz="4800" b="1" dirty="0"/>
              <a:t>Cláusula </a:t>
            </a:r>
            <a:br>
              <a:rPr lang="es-ES_tradnl" sz="4800" b="1" dirty="0"/>
            </a:br>
            <a:r>
              <a:rPr lang="es-ES_tradnl" sz="4800" b="1" dirty="0"/>
              <a:t>ORDER BY</a:t>
            </a:r>
          </a:p>
        </p:txBody>
      </p:sp>
    </p:spTree>
    <p:extLst>
      <p:ext uri="{BB962C8B-B14F-4D97-AF65-F5344CB8AC3E}">
        <p14:creationId xmlns:p14="http://schemas.microsoft.com/office/powerpoint/2010/main" val="3572879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 xmlns:a16="http://schemas.microsoft.com/office/drawing/2014/main" id="{DAE73FF3-44DC-4A81-A8DE-3BD2CE159B4B}"/>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Ordenando las Filas Recuperadas</a:t>
            </a:r>
          </a:p>
        </p:txBody>
      </p:sp>
      <p:sp>
        <p:nvSpPr>
          <p:cNvPr id="14" name="Marcador de contenido 1">
            <a:extLst>
              <a:ext uri="{FF2B5EF4-FFF2-40B4-BE49-F238E27FC236}">
                <a16:creationId xmlns="" xmlns:a16="http://schemas.microsoft.com/office/drawing/2014/main" id="{F3039A27-5003-4BDC-8DB6-E1524147D6D0}"/>
              </a:ext>
            </a:extLst>
          </p:cNvPr>
          <p:cNvSpPr txBox="1">
            <a:spLocks/>
          </p:cNvSpPr>
          <p:nvPr/>
        </p:nvSpPr>
        <p:spPr>
          <a:xfrm>
            <a:off x="457200" y="1804654"/>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32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32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32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32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endParaRPr kumimoji="0" lang="es-MX" sz="2000" b="0" i="0" u="none" strike="noStrike" kern="1200" cap="none" spc="0" normalizeH="0" baseline="0" noProof="0">
              <a:ln>
                <a:noFill/>
              </a:ln>
              <a:solidFill>
                <a:sysClr val="windowText" lastClr="000000"/>
              </a:solidFill>
              <a:effectLst/>
              <a:uLnTx/>
              <a:uFillTx/>
              <a:latin typeface="Calibri"/>
              <a:ea typeface="+mn-ea"/>
              <a:cs typeface="+mn-cs"/>
            </a:endParaRPr>
          </a:p>
          <a:p>
            <a:pPr marL="609600" marR="0" lvl="0" indent="-609600" algn="just" defTabSz="457200" rtl="0" eaLnBrk="1" fontAlgn="auto" latinLnBrk="0" hangingPunct="1">
              <a:lnSpc>
                <a:spcPct val="80000"/>
              </a:lnSpc>
              <a:spcBef>
                <a:spcPct val="20000"/>
              </a:spcBef>
              <a:spcAft>
                <a:spcPts val="0"/>
              </a:spcAft>
              <a:buClrTx/>
              <a:buSzTx/>
              <a:buFont typeface="Arial"/>
              <a:buChar char="•"/>
              <a:tabLst/>
              <a:defRPr/>
            </a:pPr>
            <a:r>
              <a:rPr kumimoji="0" lang="es-MX" sz="2000" b="0" i="0" u="none" strike="noStrike" kern="1200" cap="none" spc="0" normalizeH="0" baseline="0" noProof="0">
                <a:ln>
                  <a:noFill/>
                </a:ln>
                <a:solidFill>
                  <a:sysClr val="windowText" lastClr="000000"/>
                </a:solidFill>
                <a:effectLst/>
                <a:uLnTx/>
                <a:uFillTx/>
                <a:latin typeface="Calibri"/>
                <a:ea typeface="+mn-ea"/>
                <a:cs typeface="+mn-cs"/>
              </a:rPr>
              <a:t>Sintaxis:</a:t>
            </a: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32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5" name="Text Box 5">
            <a:extLst>
              <a:ext uri="{FF2B5EF4-FFF2-40B4-BE49-F238E27FC236}">
                <a16:creationId xmlns="" xmlns:a16="http://schemas.microsoft.com/office/drawing/2014/main" id="{39AC2378-3D6B-4684-9C2B-F0B94C0B0400}"/>
              </a:ext>
            </a:extLst>
          </p:cNvPr>
          <p:cNvSpPr txBox="1">
            <a:spLocks noChangeArrowheads="1"/>
          </p:cNvSpPr>
          <p:nvPr/>
        </p:nvSpPr>
        <p:spPr bwMode="auto">
          <a:xfrm>
            <a:off x="1115616" y="4359106"/>
            <a:ext cx="7056784"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SELECT  * | { [ DISTINCT ]  </a:t>
            </a:r>
            <a:r>
              <a:rPr kumimoji="0" lang="es-MX" sz="1600" b="1" i="1" u="none" strike="noStrike" kern="1200" cap="none" spc="0" normalizeH="0" baseline="0" noProof="0" dirty="0" err="1">
                <a:ln>
                  <a:noFill/>
                </a:ln>
                <a:solidFill>
                  <a:prstClr val="black"/>
                </a:solidFill>
                <a:effectLst/>
                <a:uLnTx/>
                <a:uFillTx/>
                <a:latin typeface="Calibri"/>
                <a:ea typeface="+mn-ea"/>
                <a:cs typeface="Arial" charset="0"/>
              </a:rPr>
              <a:t>columna</a:t>
            </a:r>
            <a:r>
              <a:rPr kumimoji="0" lang="es-MX" sz="1600" b="1" i="0" u="none" strike="noStrike" kern="1200" cap="none" spc="0" normalizeH="0" baseline="0" noProof="0" dirty="0" err="1">
                <a:ln>
                  <a:noFill/>
                </a:ln>
                <a:solidFill>
                  <a:prstClr val="black"/>
                </a:solidFill>
                <a:effectLst/>
                <a:uLnTx/>
                <a:uFillTx/>
                <a:latin typeface="Calibri"/>
                <a:ea typeface="+mn-ea"/>
                <a:cs typeface="Arial" charset="0"/>
              </a:rPr>
              <a:t>|</a:t>
            </a:r>
            <a:r>
              <a:rPr kumimoji="0" lang="es-MX" sz="1600" b="1" i="1" u="none" strike="noStrike" kern="1200" cap="none" spc="0" normalizeH="0" baseline="0" noProof="0" dirty="0" err="1">
                <a:ln>
                  <a:noFill/>
                </a:ln>
                <a:solidFill>
                  <a:prstClr val="black"/>
                </a:solidFill>
                <a:effectLst/>
                <a:uLnTx/>
                <a:uFillTx/>
                <a:latin typeface="Calibri"/>
                <a:ea typeface="+mn-ea"/>
                <a:cs typeface="Arial" charset="0"/>
              </a:rPr>
              <a:t>expresión</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 [</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alias</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FROM   </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tabla</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[WHERE  </a:t>
            </a:r>
            <a:r>
              <a:rPr kumimoji="0" lang="es-MX" sz="1600" b="1" i="1" u="none" strike="noStrike" kern="1200" cap="none" spc="0" normalizeH="0" baseline="0" noProof="0" dirty="0">
                <a:ln>
                  <a:noFill/>
                </a:ln>
                <a:solidFill>
                  <a:prstClr val="black"/>
                </a:solidFill>
                <a:effectLst/>
                <a:uLnTx/>
                <a:uFillTx/>
                <a:latin typeface="Calibri"/>
                <a:ea typeface="+mn-ea"/>
                <a:cs typeface="Arial" charset="0"/>
              </a:rPr>
              <a:t>condición</a:t>
            </a:r>
            <a:r>
              <a:rPr kumimoji="0" lang="es-MX" sz="1600" b="1" i="0" u="none" strike="noStrike" kern="1200" cap="none" spc="0" normalizeH="0" baseline="0" noProof="0" dirty="0">
                <a:ln>
                  <a:noFill/>
                </a:ln>
                <a:solidFill>
                  <a:prstClr val="black"/>
                </a:solidFill>
                <a:effectLst/>
                <a:uLnTx/>
                <a:uFillTx/>
                <a:latin typeface="Calibri"/>
                <a:ea typeface="+mn-ea"/>
                <a:cs typeface="Arial" charset="0"/>
              </a:rPr>
              <a:t>]</a:t>
            </a:r>
          </a:p>
          <a:p>
            <a:pPr marL="0" marR="0" lvl="0" indent="0" defTabSz="914400" eaLnBrk="1" fontAlgn="base" latinLnBrk="0" hangingPunct="1">
              <a:lnSpc>
                <a:spcPct val="100000"/>
              </a:lnSpc>
              <a:spcBef>
                <a:spcPct val="0"/>
              </a:spcBef>
              <a:spcAft>
                <a:spcPct val="0"/>
              </a:spcAft>
              <a:buClrTx/>
              <a:buSzTx/>
              <a:buFontTx/>
              <a:buNone/>
              <a:tabLst/>
              <a:defRPr/>
            </a:pPr>
            <a:r>
              <a:rPr kumimoji="0" lang="es-MX" sz="1600" b="1" i="0" u="none" strike="noStrike" kern="1200" cap="none" spc="0" normalizeH="0" baseline="0" noProof="0" dirty="0">
                <a:ln>
                  <a:noFill/>
                </a:ln>
                <a:solidFill>
                  <a:srgbClr val="C00000"/>
                </a:solidFill>
                <a:effectLst/>
                <a:uLnTx/>
                <a:uFillTx/>
                <a:latin typeface="Calibri"/>
                <a:ea typeface="+mn-ea"/>
                <a:cs typeface="Arial" charset="0"/>
              </a:rPr>
              <a:t>[ORDER  BY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t>
            </a:r>
            <a:r>
              <a:rPr kumimoji="0" lang="en-US" sz="1600" b="1" i="1" u="none" strike="noStrike" kern="1200" cap="none" spc="0" normalizeH="0" baseline="0" noProof="0" dirty="0" err="1">
                <a:ln>
                  <a:noFill/>
                </a:ln>
                <a:solidFill>
                  <a:srgbClr val="C00000"/>
                </a:solidFill>
                <a:effectLst/>
                <a:uLnTx/>
                <a:uFillTx/>
                <a:latin typeface="Calibri"/>
                <a:ea typeface="+mn-ea"/>
                <a:cs typeface="Arial" charset="0"/>
              </a:rPr>
              <a:t>columna</a:t>
            </a:r>
            <a:r>
              <a:rPr kumimoji="0" lang="en-US" sz="1600" b="1" i="1" u="none" strike="noStrike" kern="1200" cap="none" spc="0" normalizeH="0" baseline="0" noProof="0" dirty="0">
                <a:ln>
                  <a:noFill/>
                </a:ln>
                <a:solidFill>
                  <a:srgbClr val="C00000"/>
                </a:solidFill>
                <a:effectLst/>
                <a:uLnTx/>
                <a:uFillTx/>
                <a:latin typeface="Calibri"/>
                <a:ea typeface="+mn-ea"/>
                <a:cs typeface="Arial" charset="0"/>
              </a:rPr>
              <a:t>, alias, </a:t>
            </a:r>
            <a:r>
              <a:rPr kumimoji="0" lang="en-US" sz="1600" b="1" i="1" u="none" strike="noStrike" kern="1200" cap="none" spc="0" normalizeH="0" baseline="0" noProof="0" dirty="0" err="1">
                <a:ln>
                  <a:noFill/>
                </a:ln>
                <a:solidFill>
                  <a:srgbClr val="C00000"/>
                </a:solidFill>
                <a:effectLst/>
                <a:uLnTx/>
                <a:uFillTx/>
                <a:latin typeface="Calibri"/>
                <a:ea typeface="+mn-ea"/>
                <a:cs typeface="Arial" charset="0"/>
              </a:rPr>
              <a:t>expresión</a:t>
            </a:r>
            <a:r>
              <a:rPr kumimoji="0" lang="en-US" sz="1600" b="1" i="1" u="none" strike="noStrike" kern="1200" cap="none" spc="0" normalizeH="0" baseline="0" noProof="0" dirty="0">
                <a:ln>
                  <a:noFill/>
                </a:ln>
                <a:solidFill>
                  <a:srgbClr val="C00000"/>
                </a:solidFill>
                <a:effectLst/>
                <a:uLnTx/>
                <a:uFillTx/>
                <a:latin typeface="Calibri"/>
                <a:ea typeface="+mn-ea"/>
                <a:cs typeface="Arial" charset="0"/>
              </a:rPr>
              <a:t>, </a:t>
            </a:r>
            <a:r>
              <a:rPr kumimoji="0" lang="en-US" sz="1600" b="1" i="1" u="none" strike="noStrike" kern="1200" cap="none" spc="0" normalizeH="0" baseline="0" noProof="0" dirty="0" err="1">
                <a:ln>
                  <a:noFill/>
                </a:ln>
                <a:solidFill>
                  <a:srgbClr val="C00000"/>
                </a:solidFill>
                <a:effectLst/>
                <a:uLnTx/>
                <a:uFillTx/>
                <a:latin typeface="Calibri"/>
                <a:ea typeface="+mn-ea"/>
                <a:cs typeface="Arial" charset="0"/>
              </a:rPr>
              <a:t>posición_numérica</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t>
            </a:r>
            <a:r>
              <a:rPr kumimoji="0" lang="en-US" sz="1600" b="1" i="1" u="none" strike="noStrike" kern="1200" cap="none" spc="0" normalizeH="0" baseline="0" noProof="0" dirty="0">
                <a:ln>
                  <a:noFill/>
                </a:ln>
                <a:solidFill>
                  <a:srgbClr val="C00000"/>
                </a:solidFill>
                <a:effectLst/>
                <a:uLnTx/>
                <a:uFillTx/>
                <a:latin typeface="Calibri"/>
                <a:ea typeface="+mn-ea"/>
                <a:cs typeface="Arial"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charset="0"/>
              </a:rPr>
              <a:t>[ASC|DESC]]</a:t>
            </a:r>
            <a:r>
              <a:rPr kumimoji="0" lang="en-US" sz="1600" b="1" i="0" u="none" strike="noStrike" kern="1200" cap="none" spc="0" normalizeH="0" baseline="0" noProof="0" dirty="0">
                <a:ln>
                  <a:noFill/>
                </a:ln>
                <a:solidFill>
                  <a:prstClr val="black"/>
                </a:solidFill>
                <a:effectLst/>
                <a:uLnTx/>
                <a:uFillTx/>
                <a:latin typeface="Calibri"/>
                <a:ea typeface="+mn-ea"/>
                <a:cs typeface="Arial" charset="0"/>
              </a:rPr>
              <a:t>;</a:t>
            </a:r>
            <a:endParaRPr kumimoji="0" lang="es-MX" sz="1600" b="1" i="0" u="none" strike="noStrike" kern="1200" cap="none" spc="0" normalizeH="0" baseline="0" noProof="0" dirty="0">
              <a:ln>
                <a:noFill/>
              </a:ln>
              <a:solidFill>
                <a:prstClr val="black"/>
              </a:solidFill>
              <a:effectLst/>
              <a:uLnTx/>
              <a:uFillTx/>
              <a:latin typeface="Calibri"/>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endParaRPr>
          </a:p>
        </p:txBody>
      </p:sp>
      <p:sp>
        <p:nvSpPr>
          <p:cNvPr id="16" name="Rectángulo redondeado 4">
            <a:extLst>
              <a:ext uri="{FF2B5EF4-FFF2-40B4-BE49-F238E27FC236}">
                <a16:creationId xmlns="" xmlns:a16="http://schemas.microsoft.com/office/drawing/2014/main" id="{6F8B09CF-8DD5-4604-B9FB-27225504F480}"/>
              </a:ext>
            </a:extLst>
          </p:cNvPr>
          <p:cNvSpPr/>
          <p:nvPr/>
        </p:nvSpPr>
        <p:spPr>
          <a:xfrm>
            <a:off x="900096" y="1506329"/>
            <a:ext cx="2268000" cy="2124000"/>
          </a:xfrm>
          <a:prstGeom prst="roundRect">
            <a:avLst/>
          </a:prstGeom>
          <a:solidFill>
            <a:srgbClr val="B94441"/>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Las filas que retorna una </a:t>
            </a:r>
            <a:r>
              <a:rPr kumimoji="0" lang="es-CL" sz="1800" b="1" i="0" u="none" strike="noStrike" kern="1200" cap="none" spc="0" normalizeH="0" baseline="0" noProof="0" dirty="0" err="1">
                <a:ln>
                  <a:noFill/>
                </a:ln>
                <a:solidFill>
                  <a:srgbClr val="FFFFFF"/>
                </a:solidFill>
                <a:effectLst/>
                <a:uLnTx/>
                <a:uFillTx/>
                <a:latin typeface="Calibri"/>
                <a:ea typeface="+mn-ea"/>
                <a:cs typeface="Arial" panose="020B0604020202020204" pitchFamily="34" charset="0"/>
              </a:rPr>
              <a:t>query</a:t>
            </a: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 no tienen un orden definido. Para ordenarlas se debe usar</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 ORDER BY</a:t>
            </a:r>
          </a:p>
        </p:txBody>
      </p:sp>
      <p:sp>
        <p:nvSpPr>
          <p:cNvPr id="17" name="Rectángulo redondeado 4">
            <a:extLst>
              <a:ext uri="{FF2B5EF4-FFF2-40B4-BE49-F238E27FC236}">
                <a16:creationId xmlns="" xmlns:a16="http://schemas.microsoft.com/office/drawing/2014/main" id="{313F256B-F1CD-4C57-B8CF-87527F5098CA}"/>
              </a:ext>
            </a:extLst>
          </p:cNvPr>
          <p:cNvSpPr/>
          <p:nvPr/>
        </p:nvSpPr>
        <p:spPr>
          <a:xfrm>
            <a:off x="3420376" y="1506329"/>
            <a:ext cx="2268000" cy="2124000"/>
          </a:xfrm>
          <a:prstGeom prst="roundRect">
            <a:avLst/>
          </a:prstGeom>
          <a:solidFill>
            <a:srgbClr val="17375E"/>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La cláusula ORDER BY va al final de la sentencia SELECT y permite ordenar en forma Ascendente (defecto) o Descendente</a:t>
            </a:r>
          </a:p>
        </p:txBody>
      </p:sp>
      <p:sp>
        <p:nvSpPr>
          <p:cNvPr id="18" name="Rectángulo redondeado 4">
            <a:extLst>
              <a:ext uri="{FF2B5EF4-FFF2-40B4-BE49-F238E27FC236}">
                <a16:creationId xmlns="" xmlns:a16="http://schemas.microsoft.com/office/drawing/2014/main" id="{DDF9A5D5-B4F7-454A-8EF4-0A49F74BBEA3}"/>
              </a:ext>
            </a:extLst>
          </p:cNvPr>
          <p:cNvSpPr/>
          <p:nvPr/>
        </p:nvSpPr>
        <p:spPr>
          <a:xfrm>
            <a:off x="5976408" y="1506329"/>
            <a:ext cx="2268000" cy="2124000"/>
          </a:xfrm>
          <a:prstGeom prst="roundRect">
            <a:avLst/>
          </a:prstGeom>
          <a:solidFill>
            <a:srgbClr val="86A33F"/>
          </a:solidFill>
          <a:ln w="38100" cap="flat" cmpd="sng" algn="ctr">
            <a:solidFill>
              <a:sysClr val="windowText" lastClr="000000"/>
            </a:solidFill>
            <a:prstDash val="solid"/>
          </a:ln>
          <a:effectLst>
            <a:outerShdw blurRad="50800" dist="38100" dir="2700000" algn="tl" rotWithShape="0">
              <a:prstClr val="black">
                <a:alpha val="40000"/>
              </a:prstClr>
            </a:outerShdw>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s-CL" sz="1800" b="1" i="0" u="none" strike="noStrike" kern="1200" cap="none" spc="0" normalizeH="0" baseline="0" noProof="0" dirty="0">
                <a:ln>
                  <a:noFill/>
                </a:ln>
                <a:solidFill>
                  <a:srgbClr val="FFFFFF"/>
                </a:solidFill>
                <a:effectLst/>
                <a:uLnTx/>
                <a:uFillTx/>
                <a:latin typeface="Calibri"/>
                <a:ea typeface="+mn-ea"/>
                <a:cs typeface="Arial" panose="020B0604020202020204" pitchFamily="34" charset="0"/>
              </a:rPr>
              <a:t>Se puede especificar el nombre de la columna, un alias, una expresión o la posición de la columna</a:t>
            </a:r>
          </a:p>
        </p:txBody>
      </p:sp>
    </p:spTree>
    <p:extLst>
      <p:ext uri="{BB962C8B-B14F-4D97-AF65-F5344CB8AC3E}">
        <p14:creationId xmlns:p14="http://schemas.microsoft.com/office/powerpoint/2010/main" val="183291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 xmlns:a16="http://schemas.microsoft.com/office/drawing/2014/main" id="{DAE73FF3-44DC-4A81-A8DE-3BD2CE159B4B}"/>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Ordenando las Filas Recuperadas</a:t>
            </a:r>
          </a:p>
        </p:txBody>
      </p:sp>
      <p:sp>
        <p:nvSpPr>
          <p:cNvPr id="19" name="Marcador de contenido 1">
            <a:extLst>
              <a:ext uri="{FF2B5EF4-FFF2-40B4-BE49-F238E27FC236}">
                <a16:creationId xmlns="" xmlns:a16="http://schemas.microsoft.com/office/drawing/2014/main" id="{352B2815-DC4A-43C9-B208-2AA27533559B}"/>
              </a:ext>
            </a:extLst>
          </p:cNvPr>
          <p:cNvSpPr txBox="1">
            <a:spLocks/>
          </p:cNvSpPr>
          <p:nvPr/>
        </p:nvSpPr>
        <p:spPr>
          <a:xfrm>
            <a:off x="497567"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20" name="Text Box 5">
            <a:extLst>
              <a:ext uri="{FF2B5EF4-FFF2-40B4-BE49-F238E27FC236}">
                <a16:creationId xmlns="" xmlns:a16="http://schemas.microsoft.com/office/drawing/2014/main" id="{9A85CB95-5A30-4BFC-8568-EC10337AEE3F}"/>
              </a:ext>
            </a:extLst>
          </p:cNvPr>
          <p:cNvSpPr txBox="1">
            <a:spLocks noChangeArrowheads="1"/>
          </p:cNvSpPr>
          <p:nvPr/>
        </p:nvSpPr>
        <p:spPr bwMode="auto">
          <a:xfrm>
            <a:off x="518255" y="1556792"/>
            <a:ext cx="388843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job_id, hire_date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hire_date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21" name="Text Box 5">
            <a:extLst>
              <a:ext uri="{FF2B5EF4-FFF2-40B4-BE49-F238E27FC236}">
                <a16:creationId xmlns="" xmlns:a16="http://schemas.microsoft.com/office/drawing/2014/main" id="{083F3E5F-B941-4C3B-BF12-D93C8D79F1F5}"/>
              </a:ext>
            </a:extLst>
          </p:cNvPr>
          <p:cNvSpPr txBox="1">
            <a:spLocks noChangeArrowheads="1"/>
          </p:cNvSpPr>
          <p:nvPr/>
        </p:nvSpPr>
        <p:spPr bwMode="auto">
          <a:xfrm>
            <a:off x="4923376" y="1556792"/>
            <a:ext cx="3888432"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job_id, hire_date</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hire_date</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DESC</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22" name="Imagen 21">
            <a:extLst>
              <a:ext uri="{FF2B5EF4-FFF2-40B4-BE49-F238E27FC236}">
                <a16:creationId xmlns="" xmlns:a16="http://schemas.microsoft.com/office/drawing/2014/main" id="{AE79F4DF-4A9D-46CF-B7FF-0977A99928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756" y="2667939"/>
            <a:ext cx="2784111" cy="3569373"/>
          </a:xfrm>
          <a:prstGeom prst="rect">
            <a:avLst/>
          </a:prstGeom>
        </p:spPr>
      </p:pic>
      <p:pic>
        <p:nvPicPr>
          <p:cNvPr id="23" name="Imagen 22">
            <a:extLst>
              <a:ext uri="{FF2B5EF4-FFF2-40B4-BE49-F238E27FC236}">
                <a16:creationId xmlns="" xmlns:a16="http://schemas.microsoft.com/office/drawing/2014/main" id="{1B22A80C-FD8D-4F34-8462-F4E29FDECC8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783" y="2667939"/>
            <a:ext cx="2860879" cy="3569373"/>
          </a:xfrm>
          <a:prstGeom prst="rect">
            <a:avLst/>
          </a:prstGeom>
        </p:spPr>
      </p:pic>
    </p:spTree>
    <p:extLst>
      <p:ext uri="{BB962C8B-B14F-4D97-AF65-F5344CB8AC3E}">
        <p14:creationId xmlns:p14="http://schemas.microsoft.com/office/powerpoint/2010/main" val="24700866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 xmlns:a16="http://schemas.microsoft.com/office/drawing/2014/main" id="{DAE73FF3-44DC-4A81-A8DE-3BD2CE159B4B}"/>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Ordenando las Filas Recuperadas</a:t>
            </a:r>
          </a:p>
        </p:txBody>
      </p:sp>
      <p:sp>
        <p:nvSpPr>
          <p:cNvPr id="13" name="Marcador de contenido 1">
            <a:extLst>
              <a:ext uri="{FF2B5EF4-FFF2-40B4-BE49-F238E27FC236}">
                <a16:creationId xmlns="" xmlns:a16="http://schemas.microsoft.com/office/drawing/2014/main" id="{6B990EF6-B04B-4F1C-AEFA-E53B0F45CA79}"/>
              </a:ext>
            </a:extLst>
          </p:cNvPr>
          <p:cNvSpPr txBox="1">
            <a:spLocks/>
          </p:cNvSpPr>
          <p:nvPr/>
        </p:nvSpPr>
        <p:spPr>
          <a:xfrm>
            <a:off x="534889"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4" name="Text Box 5">
            <a:extLst>
              <a:ext uri="{FF2B5EF4-FFF2-40B4-BE49-F238E27FC236}">
                <a16:creationId xmlns="" xmlns:a16="http://schemas.microsoft.com/office/drawing/2014/main" id="{CE10759F-AF91-4CE4-8122-13FC6ABF5ED2}"/>
              </a:ext>
            </a:extLst>
          </p:cNvPr>
          <p:cNvSpPr txBox="1">
            <a:spLocks noChangeArrowheads="1"/>
          </p:cNvSpPr>
          <p:nvPr/>
        </p:nvSpPr>
        <p:spPr bwMode="auto">
          <a:xfrm>
            <a:off x="700025" y="1556792"/>
            <a:ext cx="3888000"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employee_id,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salary*12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"Salario Anual"</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Salario</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Anual</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15" name="Text Box 5">
            <a:extLst>
              <a:ext uri="{FF2B5EF4-FFF2-40B4-BE49-F238E27FC236}">
                <a16:creationId xmlns="" xmlns:a16="http://schemas.microsoft.com/office/drawing/2014/main" id="{D1CA3E3C-718F-4E8F-9451-B506900B8A78}"/>
              </a:ext>
            </a:extLst>
          </p:cNvPr>
          <p:cNvSpPr txBox="1">
            <a:spLocks noChangeArrowheads="1"/>
          </p:cNvSpPr>
          <p:nvPr/>
        </p:nvSpPr>
        <p:spPr bwMode="auto">
          <a:xfrm>
            <a:off x="4732041" y="1556792"/>
            <a:ext cx="3888432"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salary*12</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"Salario Anual"</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salary*12</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6" name="Imagen 15">
            <a:extLst>
              <a:ext uri="{FF2B5EF4-FFF2-40B4-BE49-F238E27FC236}">
                <a16:creationId xmlns="" xmlns:a16="http://schemas.microsoft.com/office/drawing/2014/main" id="{32F6958B-F80C-4B72-BC25-8A30916C3F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3469" y="2924944"/>
            <a:ext cx="3728772" cy="3682738"/>
          </a:xfrm>
          <a:prstGeom prst="rect">
            <a:avLst/>
          </a:prstGeom>
        </p:spPr>
      </p:pic>
    </p:spTree>
    <p:extLst>
      <p:ext uri="{BB962C8B-B14F-4D97-AF65-F5344CB8AC3E}">
        <p14:creationId xmlns:p14="http://schemas.microsoft.com/office/powerpoint/2010/main" val="37040998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 xmlns:a16="http://schemas.microsoft.com/office/drawing/2014/main" id="{DAE73FF3-44DC-4A81-A8DE-3BD2CE159B4B}"/>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Ordenando las Filas Recuperadas</a:t>
            </a:r>
          </a:p>
        </p:txBody>
      </p:sp>
      <p:sp>
        <p:nvSpPr>
          <p:cNvPr id="17" name="Marcador de contenido 1">
            <a:extLst>
              <a:ext uri="{FF2B5EF4-FFF2-40B4-BE49-F238E27FC236}">
                <a16:creationId xmlns="" xmlns:a16="http://schemas.microsoft.com/office/drawing/2014/main" id="{F5B130D7-AAFC-4475-9AC2-2FFC1497AD8D}"/>
              </a:ext>
            </a:extLst>
          </p:cNvPr>
          <p:cNvSpPr txBox="1">
            <a:spLocks/>
          </p:cNvSpPr>
          <p:nvPr/>
        </p:nvSpPr>
        <p:spPr>
          <a:xfrm>
            <a:off x="329616"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8" name="Text Box 5">
            <a:extLst>
              <a:ext uri="{FF2B5EF4-FFF2-40B4-BE49-F238E27FC236}">
                <a16:creationId xmlns="" xmlns:a16="http://schemas.microsoft.com/office/drawing/2014/main" id="{C7607DDF-8BC4-4983-BC3C-7DF4F2A38484}"/>
              </a:ext>
            </a:extLst>
          </p:cNvPr>
          <p:cNvSpPr txBox="1">
            <a:spLocks noChangeArrowheads="1"/>
          </p:cNvSpPr>
          <p:nvPr/>
        </p:nvSpPr>
        <p:spPr bwMode="auto">
          <a:xfrm>
            <a:off x="782784" y="1556792"/>
            <a:ext cx="4392056" cy="1323439"/>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employee_id,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salary*12 </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"Salario Anual"</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a:ln>
                  <a:noFill/>
                </a:ln>
                <a:solidFill>
                  <a:srgbClr val="0000FF"/>
                </a:solidFill>
                <a:effectLst/>
                <a:uLnTx/>
                <a:uFillTx/>
                <a:latin typeface="Calibri"/>
                <a:ea typeface="+mn-ea"/>
                <a:cs typeface="Arial" panose="020B0604020202020204" pitchFamily="34" charset="0"/>
              </a:rPr>
              <a:t>"SALARIO ANUAL" </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9" name="Imagen 18">
            <a:extLst>
              <a:ext uri="{FF2B5EF4-FFF2-40B4-BE49-F238E27FC236}">
                <a16:creationId xmlns="" xmlns:a16="http://schemas.microsoft.com/office/drawing/2014/main" id="{05414EFF-0D5F-4683-A92A-DC8BC647A5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5185" y="1700808"/>
            <a:ext cx="3257551" cy="895826"/>
          </a:xfrm>
          <a:prstGeom prst="rect">
            <a:avLst/>
          </a:prstGeom>
        </p:spPr>
      </p:pic>
      <p:sp>
        <p:nvSpPr>
          <p:cNvPr id="20" name="Text Box 5">
            <a:extLst>
              <a:ext uri="{FF2B5EF4-FFF2-40B4-BE49-F238E27FC236}">
                <a16:creationId xmlns="" xmlns:a16="http://schemas.microsoft.com/office/drawing/2014/main" id="{232C7EFB-74D8-42E0-9E50-BABA128CAD8C}"/>
              </a:ext>
            </a:extLst>
          </p:cNvPr>
          <p:cNvSpPr txBox="1">
            <a:spLocks noChangeArrowheads="1"/>
          </p:cNvSpPr>
          <p:nvPr/>
        </p:nvSpPr>
        <p:spPr bwMode="auto">
          <a:xfrm>
            <a:off x="782352" y="3431902"/>
            <a:ext cx="4392488"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last_name, department_id,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department_id, 3 DESC</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21" name="Imagen 20">
            <a:extLst>
              <a:ext uri="{FF2B5EF4-FFF2-40B4-BE49-F238E27FC236}">
                <a16:creationId xmlns="" xmlns:a16="http://schemas.microsoft.com/office/drawing/2014/main" id="{CF18E46A-5162-4E49-9173-2A700F536A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5185" y="3284984"/>
            <a:ext cx="2933380" cy="3514690"/>
          </a:xfrm>
          <a:prstGeom prst="rect">
            <a:avLst/>
          </a:prstGeom>
        </p:spPr>
      </p:pic>
    </p:spTree>
    <p:extLst>
      <p:ext uri="{BB962C8B-B14F-4D97-AF65-F5344CB8AC3E}">
        <p14:creationId xmlns:p14="http://schemas.microsoft.com/office/powerpoint/2010/main" val="30511413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 xmlns:a16="http://schemas.microsoft.com/office/drawing/2014/main" id="{DAE73FF3-44DC-4A81-A8DE-3BD2CE159B4B}"/>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Ordenando las Filas Recuperadas</a:t>
            </a:r>
          </a:p>
        </p:txBody>
      </p:sp>
      <p:sp>
        <p:nvSpPr>
          <p:cNvPr id="12" name="Marcador de contenido 1">
            <a:extLst>
              <a:ext uri="{FF2B5EF4-FFF2-40B4-BE49-F238E27FC236}">
                <a16:creationId xmlns="" xmlns:a16="http://schemas.microsoft.com/office/drawing/2014/main" id="{C3E766A1-BB41-4480-8BD2-A33C3F8514AD}"/>
              </a:ext>
            </a:extLst>
          </p:cNvPr>
          <p:cNvSpPr txBox="1">
            <a:spLocks/>
          </p:cNvSpPr>
          <p:nvPr/>
        </p:nvSpPr>
        <p:spPr>
          <a:xfrm>
            <a:off x="422923"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3" name="Text Box 5">
            <a:extLst>
              <a:ext uri="{FF2B5EF4-FFF2-40B4-BE49-F238E27FC236}">
                <a16:creationId xmlns="" xmlns:a16="http://schemas.microsoft.com/office/drawing/2014/main" id="{8960120F-31DE-481E-81F7-5E481A5428A7}"/>
              </a:ext>
            </a:extLst>
          </p:cNvPr>
          <p:cNvSpPr txBox="1">
            <a:spLocks noChangeArrowheads="1"/>
          </p:cNvSpPr>
          <p:nvPr/>
        </p:nvSpPr>
        <p:spPr bwMode="auto">
          <a:xfrm>
            <a:off x="876091" y="1556792"/>
            <a:ext cx="7488400" cy="1077218"/>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department_id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job_id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department_id</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job_id</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last_name</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4" name="Imagen 13">
            <a:extLst>
              <a:ext uri="{FF2B5EF4-FFF2-40B4-BE49-F238E27FC236}">
                <a16:creationId xmlns="" xmlns:a16="http://schemas.microsoft.com/office/drawing/2014/main" id="{29D2B77D-ACB3-4CA7-83C8-951B047AA4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1555" y="2683587"/>
            <a:ext cx="3372335" cy="3913765"/>
          </a:xfrm>
          <a:prstGeom prst="rect">
            <a:avLst/>
          </a:prstGeom>
        </p:spPr>
      </p:pic>
    </p:spTree>
    <p:extLst>
      <p:ext uri="{BB962C8B-B14F-4D97-AF65-F5344CB8AC3E}">
        <p14:creationId xmlns:p14="http://schemas.microsoft.com/office/powerpoint/2010/main" val="3697872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ítulo 2">
            <a:extLst>
              <a:ext uri="{FF2B5EF4-FFF2-40B4-BE49-F238E27FC236}">
                <a16:creationId xmlns="" xmlns:a16="http://schemas.microsoft.com/office/drawing/2014/main" id="{DAE73FF3-44DC-4A81-A8DE-3BD2CE159B4B}"/>
              </a:ext>
            </a:extLst>
          </p:cNvPr>
          <p:cNvSpPr>
            <a:spLocks noGrp="1"/>
          </p:cNvSpPr>
          <p:nvPr>
            <p:ph type="title"/>
          </p:nvPr>
        </p:nvSpPr>
        <p:spPr>
          <a:xfrm>
            <a:off x="1763713" y="212725"/>
            <a:ext cx="4287837" cy="812800"/>
          </a:xfrm>
        </p:spPr>
        <p:txBody>
          <a:bodyPr/>
          <a:lstStyle/>
          <a:p>
            <a:pPr lvl="0" defTabSz="457200">
              <a:defRPr/>
            </a:pPr>
            <a:r>
              <a:rPr lang="es-CL" sz="2800" b="1" dirty="0">
                <a:solidFill>
                  <a:prstClr val="white"/>
                </a:solidFill>
                <a:latin typeface="Calibri"/>
              </a:rPr>
              <a:t>Ordenando las Filas Recuperadas</a:t>
            </a:r>
          </a:p>
        </p:txBody>
      </p:sp>
      <p:sp>
        <p:nvSpPr>
          <p:cNvPr id="11" name="Marcador de contenido 1">
            <a:extLst>
              <a:ext uri="{FF2B5EF4-FFF2-40B4-BE49-F238E27FC236}">
                <a16:creationId xmlns="" xmlns:a16="http://schemas.microsoft.com/office/drawing/2014/main" id="{B06C0DB7-DD05-49CA-817D-341C8102B7FF}"/>
              </a:ext>
            </a:extLst>
          </p:cNvPr>
          <p:cNvSpPr txBox="1">
            <a:spLocks/>
          </p:cNvSpPr>
          <p:nvPr/>
        </p:nvSpPr>
        <p:spPr>
          <a:xfrm>
            <a:off x="534889" y="1196752"/>
            <a:ext cx="8229600"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r>
              <a:rPr kumimoji="0" lang="es-CL" sz="2000" b="0" i="0" u="none" strike="noStrike" kern="1200" cap="none" spc="0" normalizeH="0" baseline="0" noProof="0">
                <a:ln>
                  <a:noFill/>
                </a:ln>
                <a:solidFill>
                  <a:sysClr val="windowText" lastClr="000000"/>
                </a:solidFill>
                <a:effectLst/>
                <a:uLnTx/>
                <a:uFillTx/>
                <a:latin typeface="Calibri"/>
                <a:ea typeface="+mn-ea"/>
                <a:cs typeface="+mn-cs"/>
              </a:rPr>
              <a:t>Ejemplo:</a:t>
            </a: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342900" marR="0" lvl="0" indent="-342900" algn="l" defTabSz="457200" rtl="0" eaLnBrk="1" fontAlgn="auto" latinLnBrk="0" hangingPunct="1">
              <a:lnSpc>
                <a:spcPct val="100000"/>
              </a:lnSpc>
              <a:spcBef>
                <a:spcPct val="20000"/>
              </a:spcBef>
              <a:spcAft>
                <a:spcPts val="0"/>
              </a:spcAft>
              <a:buClrTx/>
              <a:buSzTx/>
              <a:buFont typeface="Arial"/>
              <a:buChar char="•"/>
              <a:tabLst/>
              <a:defRPr/>
            </a:pPr>
            <a:endParaRPr kumimoji="0" lang="es-CL" sz="2000" b="0" i="0" u="none" strike="noStrike" kern="1200" cap="none" spc="0" normalizeH="0" baseline="0" noProof="0">
              <a:ln>
                <a:noFill/>
              </a:ln>
              <a:solidFill>
                <a:sysClr val="windowText" lastClr="000000"/>
              </a:solidFill>
              <a:effectLst/>
              <a:uLnTx/>
              <a:uFillTx/>
              <a:latin typeface="Calibri"/>
              <a:ea typeface="+mn-ea"/>
              <a:cs typeface="+mn-cs"/>
            </a:endParaRPr>
          </a:p>
          <a:p>
            <a:pPr marL="0" marR="0" lvl="0" indent="0" algn="l" defTabSz="457200" rtl="0" eaLnBrk="1" fontAlgn="auto" latinLnBrk="0" hangingPunct="1">
              <a:lnSpc>
                <a:spcPct val="100000"/>
              </a:lnSpc>
              <a:spcBef>
                <a:spcPct val="20000"/>
              </a:spcBef>
              <a:spcAft>
                <a:spcPts val="0"/>
              </a:spcAft>
              <a:buClrTx/>
              <a:buSzTx/>
              <a:buFont typeface="Arial"/>
              <a:buNone/>
              <a:tabLst/>
              <a:defRPr/>
            </a:pPr>
            <a:endParaRPr kumimoji="0" lang="es-CL" sz="2000" b="0" i="0" u="none" strike="noStrike" kern="1200" cap="none" spc="0" normalizeH="0" baseline="0" noProof="0" dirty="0">
              <a:ln>
                <a:noFill/>
              </a:ln>
              <a:solidFill>
                <a:sysClr val="windowText" lastClr="000000"/>
              </a:solidFill>
              <a:effectLst/>
              <a:uLnTx/>
              <a:uFillTx/>
              <a:latin typeface="Calibri"/>
              <a:ea typeface="+mn-ea"/>
              <a:cs typeface="+mn-cs"/>
            </a:endParaRPr>
          </a:p>
        </p:txBody>
      </p:sp>
      <p:sp>
        <p:nvSpPr>
          <p:cNvPr id="15" name="Text Box 5">
            <a:extLst>
              <a:ext uri="{FF2B5EF4-FFF2-40B4-BE49-F238E27FC236}">
                <a16:creationId xmlns="" xmlns:a16="http://schemas.microsoft.com/office/drawing/2014/main" id="{692A8778-77F3-4D08-A5AD-ABD0C7892C58}"/>
              </a:ext>
            </a:extLst>
          </p:cNvPr>
          <p:cNvSpPr txBox="1">
            <a:spLocks noChangeArrowheads="1"/>
          </p:cNvSpPr>
          <p:nvPr/>
        </p:nvSpPr>
        <p:spPr bwMode="auto">
          <a:xfrm>
            <a:off x="555577" y="1556792"/>
            <a:ext cx="4824104"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"ID EMPLEADO",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salario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"PORCENTAJE COMISION"</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salary</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sp>
        <p:nvSpPr>
          <p:cNvPr id="16" name="Text Box 5">
            <a:extLst>
              <a:ext uri="{FF2B5EF4-FFF2-40B4-BE49-F238E27FC236}">
                <a16:creationId xmlns="" xmlns:a16="http://schemas.microsoft.com/office/drawing/2014/main" id="{BE844AFF-0A1F-477A-AF3E-0E9C9E6CD80D}"/>
              </a:ext>
            </a:extLst>
          </p:cNvPr>
          <p:cNvSpPr txBox="1">
            <a:spLocks noChangeArrowheads="1"/>
          </p:cNvSpPr>
          <p:nvPr/>
        </p:nvSpPr>
        <p:spPr bwMode="auto">
          <a:xfrm>
            <a:off x="555577" y="3515524"/>
            <a:ext cx="4824104" cy="1569660"/>
          </a:xfrm>
          <a:prstGeom prst="rect">
            <a:avLst/>
          </a:prstGeom>
          <a:solidFill>
            <a:srgbClr val="FFC000"/>
          </a:solidFill>
          <a:ln w="22225">
            <a:solidFill>
              <a:sysClr val="windowText" lastClr="000000"/>
            </a:solidFill>
            <a:miter lim="800000"/>
            <a:headEnd/>
            <a:tailEnd/>
          </a:ln>
          <a:scene3d>
            <a:camera prst="orthographicFront"/>
            <a:lightRig rig="threePt" dir="t"/>
          </a:scene3d>
          <a:sp3d>
            <a:bevelT w="165100" prst="coolSlant"/>
            <a:bevelB/>
          </a:sp3d>
        </p:spPr>
        <p:txBody>
          <a:bodyPr wrap="square">
            <a:spAutoFit/>
          </a:bodyPr>
          <a:lstStyle>
            <a:lvl1pPr eaLnBrk="0" hangingPunct="0">
              <a:defRPr>
                <a:solidFill>
                  <a:schemeClr val="tx1"/>
                </a:solidFill>
                <a:latin typeface="Tahoma" panose="020B0604030504040204" pitchFamily="34" charset="0"/>
                <a:cs typeface="Arial" panose="020B0604020202020204" pitchFamily="34" charset="0"/>
              </a:defRPr>
            </a:lvl1pPr>
            <a:lvl2pPr marL="742950" indent="-285750" eaLnBrk="0" hangingPunct="0">
              <a:defRPr>
                <a:solidFill>
                  <a:schemeClr val="tx1"/>
                </a:solidFill>
                <a:latin typeface="Tahoma" panose="020B0604030504040204" pitchFamily="34" charset="0"/>
                <a:cs typeface="Arial" panose="020B0604020202020204" pitchFamily="34" charset="0"/>
              </a:defRPr>
            </a:lvl2pPr>
            <a:lvl3pPr marL="1143000" indent="-228600" eaLnBrk="0" hangingPunct="0">
              <a:defRPr>
                <a:solidFill>
                  <a:schemeClr val="tx1"/>
                </a:solidFill>
                <a:latin typeface="Tahoma" panose="020B0604030504040204" pitchFamily="34" charset="0"/>
                <a:cs typeface="Arial" panose="020B0604020202020204" pitchFamily="34" charset="0"/>
              </a:defRPr>
            </a:lvl3pPr>
            <a:lvl4pPr marL="1600200" indent="-228600" eaLnBrk="0" hangingPunct="0">
              <a:defRPr>
                <a:solidFill>
                  <a:schemeClr val="tx1"/>
                </a:solidFill>
                <a:latin typeface="Tahoma" panose="020B0604030504040204" pitchFamily="34" charset="0"/>
                <a:cs typeface="Arial" panose="020B0604020202020204" pitchFamily="34" charset="0"/>
              </a:defRPr>
            </a:lvl4pPr>
            <a:lvl5pPr marL="2057400" indent="-228600" eaLnBrk="0" hangingPunct="0">
              <a:defRPr>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cs typeface="Arial" panose="020B0604020202020204" pitchFamily="34" charset="0"/>
              </a:defRPr>
            </a:lvl9p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0" i="0" u="none" strike="noStrike" kern="1200" cap="none" spc="0" normalizeH="0" baseline="0" noProof="0" dirty="0">
              <a:ln>
                <a:noFill/>
              </a:ln>
              <a:solidFill>
                <a:prstClr val="black"/>
              </a:solidFill>
              <a:effectLst/>
              <a:uLnTx/>
              <a:uFillTx/>
              <a:latin typeface="Arial" charset="0"/>
              <a:ea typeface="+mn-ea"/>
              <a:cs typeface="Arial" charset="0"/>
            </a:endParaRP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SELECT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employee_id</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"ID EMPLEADO",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salary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salario</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 </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a:t>
            </a:r>
            <a:r>
              <a:rPr kumimoji="0" lang="en-US" sz="1600" b="1" i="0" u="none" strike="noStrike" kern="1200" cap="none" spc="0" normalizeH="0" baseline="0" noProof="0" dirty="0" err="1">
                <a:ln>
                  <a:noFill/>
                </a:ln>
                <a:solidFill>
                  <a:prstClr val="black"/>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"PORCENTAJE COMISION"</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 FROM  employees</a:t>
            </a:r>
          </a:p>
          <a:p>
            <a:pPr marL="0" marR="0" lvl="0" indent="0" defTabSz="91440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ORDER BY </a:t>
            </a:r>
            <a:r>
              <a:rPr kumimoji="0" lang="en-US" sz="1600" b="1" i="0" u="none" strike="noStrike" kern="1200" cap="none" spc="0" normalizeH="0" baseline="0" noProof="0" dirty="0" err="1">
                <a:ln>
                  <a:noFill/>
                </a:ln>
                <a:solidFill>
                  <a:srgbClr val="C00000"/>
                </a:solidFill>
                <a:effectLst/>
                <a:uLnTx/>
                <a:uFillTx/>
                <a:latin typeface="Calibri"/>
                <a:ea typeface="+mn-ea"/>
                <a:cs typeface="Arial" panose="020B0604020202020204" pitchFamily="34" charset="0"/>
              </a:rPr>
              <a:t>commission_pct</a:t>
            </a:r>
            <a:r>
              <a:rPr kumimoji="0" lang="en-US" sz="1600" b="1" i="0" u="none" strike="noStrike" kern="1200" cap="none" spc="0" normalizeH="0" baseline="0" noProof="0" dirty="0">
                <a:ln>
                  <a:noFill/>
                </a:ln>
                <a:solidFill>
                  <a:srgbClr val="C00000"/>
                </a:solidFill>
                <a:effectLst/>
                <a:uLnTx/>
                <a:uFillTx/>
                <a:latin typeface="Calibri"/>
                <a:ea typeface="+mn-ea"/>
                <a:cs typeface="Arial" panose="020B0604020202020204" pitchFamily="34" charset="0"/>
              </a:rPr>
              <a:t> NULLS LAST, salary</a:t>
            </a:r>
            <a:r>
              <a:rPr kumimoji="0" lang="en-US" sz="1600" b="1" i="0" u="none" strike="noStrike" kern="1200" cap="none" spc="0" normalizeH="0" baseline="0" noProof="0" dirty="0">
                <a:ln>
                  <a:noFill/>
                </a:ln>
                <a:solidFill>
                  <a:prstClr val="black"/>
                </a:solidFill>
                <a:effectLst/>
                <a:uLnTx/>
                <a:uFillTx/>
                <a:latin typeface="Calibri"/>
                <a:ea typeface="+mn-ea"/>
                <a:cs typeface="Arial" panose="020B0604020202020204" pitchFamily="34" charset="0"/>
              </a:rPr>
              <a:t>;</a:t>
            </a:r>
          </a:p>
          <a:p>
            <a:pPr marL="0" marR="0" lvl="0" indent="0" defTabSz="914400" eaLnBrk="1" fontAlgn="base" latinLnBrk="0" hangingPunct="1">
              <a:lnSpc>
                <a:spcPct val="100000"/>
              </a:lnSpc>
              <a:spcBef>
                <a:spcPct val="0"/>
              </a:spcBef>
              <a:spcAft>
                <a:spcPct val="0"/>
              </a:spcAft>
              <a:buClrTx/>
              <a:buSzTx/>
              <a:buFontTx/>
              <a:buNone/>
              <a:tabLst/>
              <a:defRPr/>
            </a:pPr>
            <a:endParaRPr kumimoji="0" lang="es-MX" sz="800" b="1" i="0" u="none" strike="noStrike" kern="1200" cap="none" spc="0" normalizeH="0" baseline="0" noProof="0" dirty="0">
              <a:ln>
                <a:noFill/>
              </a:ln>
              <a:solidFill>
                <a:prstClr val="black"/>
              </a:solidFill>
              <a:effectLst/>
              <a:uLnTx/>
              <a:uFillTx/>
              <a:latin typeface="Arial" pitchFamily="34" charset="0"/>
              <a:ea typeface="+mn-ea"/>
              <a:cs typeface="Arial" panose="020B0604020202020204" pitchFamily="34" charset="0"/>
            </a:endParaRPr>
          </a:p>
        </p:txBody>
      </p:sp>
      <p:pic>
        <p:nvPicPr>
          <p:cNvPr id="17" name="Imagen 16">
            <a:extLst>
              <a:ext uri="{FF2B5EF4-FFF2-40B4-BE49-F238E27FC236}">
                <a16:creationId xmlns="" xmlns:a16="http://schemas.microsoft.com/office/drawing/2014/main" id="{C068E325-50BF-433D-923F-423B5E9403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4129" y="1268760"/>
            <a:ext cx="3096562" cy="5400600"/>
          </a:xfrm>
          <a:prstGeom prst="rect">
            <a:avLst/>
          </a:prstGeom>
        </p:spPr>
      </p:pic>
    </p:spTree>
    <p:extLst>
      <p:ext uri="{BB962C8B-B14F-4D97-AF65-F5344CB8AC3E}">
        <p14:creationId xmlns:p14="http://schemas.microsoft.com/office/powerpoint/2010/main" val="21507668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número de diapositiva 2">
            <a:extLst>
              <a:ext uri="{FF2B5EF4-FFF2-40B4-BE49-F238E27FC236}">
                <a16:creationId xmlns="" xmlns:a16="http://schemas.microsoft.com/office/drawing/2014/main" id="{71DCFFB2-9AD1-704E-96BD-9E25D01600D1}"/>
              </a:ext>
            </a:extLst>
          </p:cNvPr>
          <p:cNvSpPr>
            <a:spLocks noGrp="1"/>
          </p:cNvSpPr>
          <p:nvPr>
            <p:ph type="sldNum" idx="4294967295"/>
          </p:nvPr>
        </p:nvSpPr>
        <p:spPr>
          <a:xfrm>
            <a:off x="6915150" y="6356351"/>
            <a:ext cx="2057400" cy="365100"/>
          </a:xfrm>
        </p:spPr>
        <p:txBody>
          <a:bodyPr/>
          <a:lstStyle/>
          <a:p>
            <a:fld id="{00000000-1234-1234-1234-123412341234}" type="slidenum">
              <a:rPr lang="en-US" smtClean="0"/>
              <a:pPr/>
              <a:t>33</a:t>
            </a:fld>
            <a:endParaRPr lang="en-US"/>
          </a:p>
        </p:txBody>
      </p:sp>
      <p:sp>
        <p:nvSpPr>
          <p:cNvPr id="2" name="Título 1">
            <a:extLst>
              <a:ext uri="{FF2B5EF4-FFF2-40B4-BE49-F238E27FC236}">
                <a16:creationId xmlns="" xmlns:a16="http://schemas.microsoft.com/office/drawing/2014/main" id="{9750BC02-FE4E-1148-8346-BA2C94ECC781}"/>
              </a:ext>
            </a:extLst>
          </p:cNvPr>
          <p:cNvSpPr>
            <a:spLocks noGrp="1"/>
          </p:cNvSpPr>
          <p:nvPr>
            <p:ph type="title"/>
          </p:nvPr>
        </p:nvSpPr>
        <p:spPr/>
        <p:txBody>
          <a:bodyPr/>
          <a:lstStyle/>
          <a:p>
            <a:r>
              <a:rPr lang="es-ES_tradnl" b="1" dirty="0"/>
              <a:t>Resumen de la Clase</a:t>
            </a:r>
          </a:p>
        </p:txBody>
      </p:sp>
      <p:sp>
        <p:nvSpPr>
          <p:cNvPr id="9" name="Marcador de texto 8">
            <a:extLst>
              <a:ext uri="{FF2B5EF4-FFF2-40B4-BE49-F238E27FC236}">
                <a16:creationId xmlns="" xmlns:a16="http://schemas.microsoft.com/office/drawing/2014/main" id="{C0A58EEC-AE91-4A1D-A092-4DC34F040D5C}"/>
              </a:ext>
            </a:extLst>
          </p:cNvPr>
          <p:cNvSpPr>
            <a:spLocks noGrp="1"/>
          </p:cNvSpPr>
          <p:nvPr>
            <p:ph type="body" sz="quarter" idx="11"/>
          </p:nvPr>
        </p:nvSpPr>
        <p:spPr/>
        <p:txBody>
          <a:bodyPr/>
          <a:lstStyle/>
          <a:p>
            <a:pPr marL="393700" indent="-342900" algn="just">
              <a:buFont typeface="Arial" panose="020B0604020202020204" pitchFamily="34" charset="0"/>
              <a:buChar char="•"/>
            </a:pPr>
            <a:r>
              <a:rPr lang="es-CL" sz="2200" dirty="0"/>
              <a:t>Se explicó cómo utilizar sentencia SELECT básica para mostrar datos desde las Tablas de la Base de Datos.</a:t>
            </a:r>
          </a:p>
          <a:p>
            <a:pPr marL="393700" indent="-342900" algn="just">
              <a:buFont typeface="Arial" panose="020B0604020202020204" pitchFamily="34" charset="0"/>
              <a:buChar char="•"/>
            </a:pPr>
            <a:r>
              <a:rPr lang="es-CL" sz="2200" dirty="0"/>
              <a:t>Se explicó cómo utilizar operadores matemáticos en una sentencia SELECT.</a:t>
            </a:r>
          </a:p>
          <a:p>
            <a:pPr marL="393700" indent="-342900" algn="just">
              <a:buFont typeface="Arial" panose="020B0604020202020204" pitchFamily="34" charset="0"/>
              <a:buChar char="•"/>
            </a:pPr>
            <a:r>
              <a:rPr lang="es-CL" sz="2200" dirty="0"/>
              <a:t>Se explicó cómo unir valores/columnas/expresiones en una sentencia SELECT.</a:t>
            </a:r>
          </a:p>
          <a:p>
            <a:pPr marL="393700" indent="-342900" algn="just">
              <a:buFont typeface="Arial" panose="020B0604020202020204" pitchFamily="34" charset="0"/>
              <a:buChar char="•"/>
            </a:pPr>
            <a:r>
              <a:rPr lang="es-CL" sz="2200" dirty="0"/>
              <a:t>Se explicó cómo utilizar Alias para asignar nombres lógicos a las columnas y expresiones obtenidas en una sentencia SELECT.</a:t>
            </a:r>
          </a:p>
          <a:p>
            <a:pPr marL="393700" indent="-342900" algn="just">
              <a:buFont typeface="Arial" panose="020B0604020202020204" pitchFamily="34" charset="0"/>
              <a:buChar char="•"/>
            </a:pPr>
            <a:r>
              <a:rPr lang="es-CL" sz="2200" dirty="0"/>
              <a:t>Se explicó cómo mostrar la información en un orden específico.</a:t>
            </a:r>
          </a:p>
          <a:p>
            <a:pPr algn="l"/>
            <a:endParaRPr lang="es-CL" sz="2200" dirty="0"/>
          </a:p>
        </p:txBody>
      </p:sp>
    </p:spTree>
    <p:extLst>
      <p:ext uri="{BB962C8B-B14F-4D97-AF65-F5344CB8AC3E}">
        <p14:creationId xmlns:p14="http://schemas.microsoft.com/office/powerpoint/2010/main" val="540675517"/>
      </p:ext>
    </p:extLst>
  </p:cSld>
  <p:clrMapOvr>
    <a:masterClrMapping/>
  </p:clrMapOvr>
</p:sld>
</file>

<file path=ppt/theme/theme1.xml><?xml version="1.0" encoding="utf-8"?>
<a:theme xmlns:a="http://schemas.openxmlformats.org/drawingml/2006/main" name="Tema de Office">
  <a:themeElements>
    <a:clrScheme name="DUOC 2">
      <a:dk1>
        <a:srgbClr val="17274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Autofit/>
      </a:bodyPr>
      <a:lstStyle>
        <a:defPPr algn="l">
          <a:defRPr sz="2400" dirty="0"/>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2175</TotalTime>
  <Words>3213</Words>
  <Application>Microsoft Office PowerPoint</Application>
  <PresentationFormat>Presentación en pantalla (4:3)</PresentationFormat>
  <Paragraphs>303</Paragraphs>
  <Slides>33</Slides>
  <Notes>31</Notes>
  <HiddenSlides>0</HiddenSlides>
  <MMClips>0</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33</vt:i4>
      </vt:variant>
    </vt:vector>
  </HeadingPairs>
  <TitlesOfParts>
    <vt:vector size="44" baseType="lpstr">
      <vt:lpstr>Arial</vt:lpstr>
      <vt:lpstr>Bebas Neue</vt:lpstr>
      <vt:lpstr>Roboto</vt:lpstr>
      <vt:lpstr>Roboto Condensed</vt:lpstr>
      <vt:lpstr>Roboto Mono</vt:lpstr>
      <vt:lpstr>Calibri</vt:lpstr>
      <vt:lpstr>Times New Roman</vt:lpstr>
      <vt:lpstr>Wingdings</vt:lpstr>
      <vt:lpstr>Franklin Gothic</vt:lpstr>
      <vt:lpstr>Arial Unicode MS</vt:lpstr>
      <vt:lpstr>Tema de Office</vt:lpstr>
      <vt:lpstr>Usando  Sentencia   SELECT para Recuperar Datos</vt:lpstr>
      <vt:lpstr>Presentación de PowerPoint</vt:lpstr>
      <vt:lpstr>Objetivos de la Clase</vt:lpstr>
      <vt:lpstr>SENTENCIA  SELECT</vt:lpstr>
      <vt:lpstr>Capacidades de la Sentencia SELECT</vt:lpstr>
      <vt:lpstr>Seleccionando las Columnas de una Tabla</vt:lpstr>
      <vt:lpstr>Seleccionando Todas las Columnas de la Tabla</vt:lpstr>
      <vt:lpstr>Seleccionando Columnas Específicas de la Tabla</vt:lpstr>
      <vt:lpstr>Seleccionando Columnas Específicas de la Tabla</vt:lpstr>
      <vt:lpstr>Operadores Matemáticos</vt:lpstr>
      <vt:lpstr>Usando Operadores  Aritméticos</vt:lpstr>
      <vt:lpstr>Usando Operadores  Aritméticos</vt:lpstr>
      <vt:lpstr>Usando Operadores  Aritméticos</vt:lpstr>
      <vt:lpstr>Usando Operadores  Aritméticos</vt:lpstr>
      <vt:lpstr>Usando Operadores  Aritméticos</vt:lpstr>
      <vt:lpstr>Alias de Columnas, Concatenación  y Valores Duplicados</vt:lpstr>
      <vt:lpstr>Definiendo Alias de Columnas</vt:lpstr>
      <vt:lpstr>Definiendo Alias de Columnas</vt:lpstr>
      <vt:lpstr>Definiendo Alias de Columnas</vt:lpstr>
      <vt:lpstr>Usando Operador de Concatenación</vt:lpstr>
      <vt:lpstr>Usando Operador de Concatenación</vt:lpstr>
      <vt:lpstr>Usando Operador de Concatenación</vt:lpstr>
      <vt:lpstr>Usando Operador de Concatenación</vt:lpstr>
      <vt:lpstr>Valores Duplicados en las Columnas</vt:lpstr>
      <vt:lpstr>Valores Duplicados en las Columnas</vt:lpstr>
      <vt:lpstr>Cláusula  ORDER BY</vt:lpstr>
      <vt:lpstr>Ordenando las Filas Recuperadas</vt:lpstr>
      <vt:lpstr>Ordenando las Filas Recuperadas</vt:lpstr>
      <vt:lpstr>Ordenando las Filas Recuperadas</vt:lpstr>
      <vt:lpstr>Ordenando las Filas Recuperadas</vt:lpstr>
      <vt:lpstr>Ordenando las Filas Recuperadas</vt:lpstr>
      <vt:lpstr>Ordenando las Filas Recuperadas</vt:lpstr>
      <vt:lpstr>Resumen de la Clase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GESTIÓN DE REQUISITOS</dc:title>
  <dc:creator>Alejandra Gajardo</dc:creator>
  <cp:lastModifiedBy>Usuario de Windows</cp:lastModifiedBy>
  <cp:revision>203</cp:revision>
  <dcterms:modified xsi:type="dcterms:W3CDTF">2020-05-26T13:13:51Z</dcterms:modified>
</cp:coreProperties>
</file>