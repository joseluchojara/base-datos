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9"/>
  </p:notesMasterIdLst>
  <p:sldIdLst>
    <p:sldId id="256" r:id="rId2"/>
    <p:sldId id="257" r:id="rId3"/>
    <p:sldId id="317" r:id="rId4"/>
    <p:sldId id="258" r:id="rId5"/>
    <p:sldId id="315" r:id="rId6"/>
    <p:sldId id="316" r:id="rId7"/>
    <p:sldId id="278" r:id="rId8"/>
    <p:sldId id="268" r:id="rId9"/>
    <p:sldId id="279" r:id="rId10"/>
    <p:sldId id="294" r:id="rId11"/>
    <p:sldId id="295" r:id="rId12"/>
    <p:sldId id="296" r:id="rId13"/>
    <p:sldId id="300" r:id="rId14"/>
    <p:sldId id="301" r:id="rId15"/>
    <p:sldId id="269" r:id="rId16"/>
    <p:sldId id="304" r:id="rId17"/>
    <p:sldId id="280" r:id="rId18"/>
    <p:sldId id="305" r:id="rId19"/>
    <p:sldId id="306" r:id="rId20"/>
    <p:sldId id="307" r:id="rId21"/>
    <p:sldId id="308" r:id="rId22"/>
    <p:sldId id="309" r:id="rId23"/>
    <p:sldId id="310" r:id="rId24"/>
    <p:sldId id="311" r:id="rId25"/>
    <p:sldId id="312" r:id="rId26"/>
    <p:sldId id="313" r:id="rId27"/>
    <p:sldId id="314" r:id="rId28"/>
  </p:sldIdLst>
  <p:sldSz cx="9144000" cy="6858000" type="screen4x3"/>
  <p:notesSz cx="6858000" cy="9144000"/>
  <p:embeddedFontLst>
    <p:embeddedFont>
      <p:font typeface="Arial Black" panose="020B0A04020102020204" pitchFamily="34" charset="0"/>
      <p:bold r:id="rId30"/>
    </p:embeddedFont>
    <p:embeddedFont>
      <p:font typeface="Bebas Neue" panose="020B0604020202020204" charset="0"/>
      <p:regular r:id="rId31"/>
    </p:embeddedFont>
    <p:embeddedFont>
      <p:font typeface="Roboto Condensed" panose="020B0604020202020204" charset="0"/>
      <p:regular r:id="rId32"/>
      <p:bold r:id="rId33"/>
      <p:italic r:id="rId34"/>
      <p:boldItalic r:id="rId35"/>
    </p:embeddedFont>
    <p:embeddedFont>
      <p:font typeface="Franklin Gothic" panose="020B0604020202020204" charset="0"/>
      <p:regular r:id="rId36"/>
      <p:bold r:id="rId37"/>
      <p:italic r:id="rId38"/>
      <p:boldItalic r:id="rId39"/>
    </p:embeddedFont>
    <p:embeddedFont>
      <p:font typeface="Calibri" panose="020F0502020204030204" pitchFamily="34" charset="0"/>
      <p:regular r:id="rId40"/>
      <p:bold r:id="rId41"/>
      <p:italic r:id="rId42"/>
      <p:boldItalic r:id="rId43"/>
    </p:embeddedFont>
    <p:embeddedFont>
      <p:font typeface="Roboto Mono" panose="020B060402020202020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6299" autoAdjust="0"/>
  </p:normalViewPr>
  <p:slideViewPr>
    <p:cSldViewPr snapToGrid="0" snapToObjects="1">
      <p:cViewPr varScale="1">
        <p:scale>
          <a:sx n="100" d="100"/>
          <a:sy n="100" d="100"/>
        </p:scale>
        <p:origin x="191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6339709a3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6339709a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631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7813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90000"/>
              </a:lnSpc>
              <a:spcBef>
                <a:spcPct val="0"/>
              </a:spcBef>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Modelamiento de Datos</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lnSpc>
                <a:spcPct val="90000"/>
              </a:lnSpc>
              <a:spcBef>
                <a:spcPct val="0"/>
              </a:spcBef>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Los modelos son la base del diseño. Así, como por ejemplo, los ingenieros construyen un modelo de automóvil para resolver cualquier detalle antes de colocarlo en producción. Del mismo modo, los diseñadores de sistemas desarrollan modelos para explorar ideas y mejorar la comprensión del diseño de la base de datos.</a:t>
            </a:r>
          </a:p>
          <a:p>
            <a:pPr marL="0" indent="0" algn="just" eaLnBrk="1" hangingPunct="1">
              <a:lnSpc>
                <a:spcPct val="90000"/>
              </a:lnSpc>
              <a:spcBef>
                <a:spcPct val="0"/>
              </a:spcBef>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Los modelos ayudan a comunicar los conceptos que están en la mente de las personas. Se pueden usar para: comunicar, clasificar por categorías, describir, especificar, investigar, evolucionar y analizar. El objetivo es producir un modelo que se ajuste a los diferentes usos, que pueda ser entendido por el usuario final y que contenga detalles suficientes para que un desarrollador construya un sistema de base de datos.</a:t>
            </a:r>
          </a:p>
          <a:p>
            <a:pPr marL="0" indent="0" algn="just" eaLnBrk="1" hangingPunct="1">
              <a:lnSpc>
                <a:spcPct val="90000"/>
              </a:lnSpc>
              <a:spcBef>
                <a:spcPct val="0"/>
              </a:spcBef>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Un modelo relación de entidad (E/R) es una ilustración de las diversas entidades en un negocio y las relaciones entre ellas. Un modelo E/R se obtiene de especificaciones o narrativas y se construye durante la fase de análisis del ciclo de vida de desarrollo de un sistema. Los modelos E/R separan la información requerida por un negocio de las actividades realizadas dentro del negocio. Aunque las empresas pueden cambiar sus actividades, el tipo de información tiende a permanecer constante. Por lo tanto, las estructuras de datos también tienden a ser constantes. </a:t>
            </a:r>
          </a:p>
          <a:p>
            <a:pPr marL="0" indent="0" algn="just" eaLnBrk="1" hangingPunct="1">
              <a:lnSpc>
                <a:spcPct val="90000"/>
              </a:lnSpc>
              <a:spcBef>
                <a:spcPct val="0"/>
              </a:spcBef>
              <a:buNone/>
            </a:pPr>
            <a:r>
              <a:rPr lang="es-CL" sz="1200" dirty="0">
                <a:latin typeface="Calibri" panose="020F0502020204030204" pitchFamily="34" charset="0"/>
                <a:cs typeface="Calibri" panose="020F0502020204030204" pitchFamily="34" charset="0"/>
              </a:rPr>
              <a:t>En 1970 Edgar F. Codd describió por primera vez los principios del modelo relacional en un artículo titulado “Un modelo relacional de datos para grandes bancos de datos compartidos”. En este documento, el Codd propuso el Modelo Relacional para sistemas de bases de datos.</a:t>
            </a:r>
          </a:p>
          <a:p>
            <a:pPr marL="0" indent="0" algn="just" eaLnBrk="1" hangingPunct="1">
              <a:lnSpc>
                <a:spcPct val="90000"/>
              </a:lnSpc>
              <a:spcBef>
                <a:spcPct val="0"/>
              </a:spcBef>
              <a:buNone/>
            </a:pPr>
            <a:r>
              <a:rPr lang="es-CL" sz="1200" dirty="0">
                <a:latin typeface="Calibri" panose="020F0502020204030204" pitchFamily="34" charset="0"/>
                <a:cs typeface="Calibri" panose="020F0502020204030204" pitchFamily="34" charset="0"/>
              </a:rPr>
              <a:t>Los sistemas de gestión de bases de datos relacionales (RDBMS o SGDB) pronto se hicieron muy populares, especialmente por su facilidad de uso y flexibilidad en la estructura. Además, varios proveedores innovadores, como Oracle, complementaron el RDBMS con un conjunto de potentes productos de desarrollo de aplicaciones e interfaz de usuario, proporcionando así una solución total.</a:t>
            </a:r>
          </a:p>
          <a:p>
            <a:pPr marL="0" indent="0" algn="just" eaLnBrk="1" hangingPunct="1">
              <a:lnSpc>
                <a:spcPct val="90000"/>
              </a:lnSpc>
              <a:spcBef>
                <a:spcPct val="0"/>
              </a:spcBef>
              <a:buNone/>
            </a:pPr>
            <a:r>
              <a:rPr lang="es-CL" sz="1200" dirty="0">
                <a:latin typeface="Calibri" panose="020F0502020204030204" pitchFamily="34" charset="0"/>
                <a:cs typeface="Calibri" panose="020F0502020204030204" pitchFamily="34" charset="0"/>
              </a:rPr>
              <a:t>Las características de un Modelo Relacional son:</a:t>
            </a:r>
          </a:p>
          <a:p>
            <a:pPr marL="171450" indent="-171450" algn="just" eaLnBrk="1" hangingPunct="1">
              <a:lnSpc>
                <a:spcPct val="90000"/>
              </a:lnSpc>
              <a:spcBef>
                <a:spcPct val="0"/>
              </a:spcBef>
              <a:buFont typeface="Arial" panose="020B0604020202020204" pitchFamily="34" charset="0"/>
              <a:buChar char="•"/>
            </a:pPr>
            <a:r>
              <a:rPr lang="es-CL" sz="1200" dirty="0">
                <a:latin typeface="Calibri" panose="020F0502020204030204" pitchFamily="34" charset="0"/>
                <a:cs typeface="Calibri" panose="020F0502020204030204" pitchFamily="34" charset="0"/>
              </a:rPr>
              <a:t>Colecciones de objetos o relaciones que almacenan los datos.</a:t>
            </a:r>
          </a:p>
          <a:p>
            <a:pPr marL="171450" indent="-171450" algn="just" eaLnBrk="1" hangingPunct="1">
              <a:lnSpc>
                <a:spcPct val="90000"/>
              </a:lnSpc>
              <a:spcBef>
                <a:spcPct val="0"/>
              </a:spcBef>
              <a:buFont typeface="Arial" panose="020B0604020202020204" pitchFamily="34" charset="0"/>
              <a:buChar char="•"/>
            </a:pPr>
            <a:r>
              <a:rPr lang="es-CL" sz="1200" dirty="0">
                <a:latin typeface="Calibri" panose="020F0502020204030204" pitchFamily="34" charset="0"/>
                <a:cs typeface="Calibri" panose="020F0502020204030204" pitchFamily="34" charset="0"/>
              </a:rPr>
              <a:t>Un conjunto de operadores que pueden actuar sobre las relaciones para producir otras relaciones. </a:t>
            </a:r>
          </a:p>
          <a:p>
            <a:pPr marL="171450" indent="-171450" algn="just" eaLnBrk="1" hangingPunct="1">
              <a:lnSpc>
                <a:spcPct val="90000"/>
              </a:lnSpc>
              <a:spcBef>
                <a:spcPct val="0"/>
              </a:spcBef>
              <a:buFont typeface="Arial" panose="020B0604020202020204" pitchFamily="34" charset="0"/>
              <a:buChar char="•"/>
            </a:pPr>
            <a:r>
              <a:rPr lang="es-CL" sz="1200" dirty="0">
                <a:latin typeface="Calibri" panose="020F0502020204030204" pitchFamily="34" charset="0"/>
                <a:cs typeface="Calibri" panose="020F0502020204030204" pitchFamily="34" charset="0"/>
              </a:rPr>
              <a:t>Integridad de datos para precisión y consistencia.</a:t>
            </a:r>
          </a:p>
          <a:p>
            <a:pPr marL="0" indent="0" algn="just" eaLnBrk="1" hangingPunct="1">
              <a:lnSpc>
                <a:spcPct val="90000"/>
              </a:lnSpc>
              <a:spcBef>
                <a:spcPct val="0"/>
              </a:spcBef>
              <a:buFont typeface="Arial" panose="020B0604020202020204" pitchFamily="34" charset="0"/>
              <a:buNone/>
            </a:pPr>
            <a:r>
              <a:rPr lang="es-CL" sz="1200" b="0" i="0" u="none" strike="noStrike" cap="none" dirty="0">
                <a:solidFill>
                  <a:srgbClr val="000000"/>
                </a:solidFill>
                <a:latin typeface="Calibri" panose="020F0502020204030204" pitchFamily="34" charset="0"/>
                <a:cs typeface="Calibri" panose="020F0502020204030204" pitchFamily="34" charset="0"/>
                <a:sym typeface="Arial"/>
              </a:rPr>
              <a:t>Este Modelo se puede implementar en una Base de Datos Relacional a través de un lenguaje que este tipo de base de datos “entienda” para poder implementarlo a través de la creación de las tablas y sus </a:t>
            </a:r>
            <a:r>
              <a:rPr lang="es-CL" sz="1200" b="0" i="0" u="none" strike="noStrike" cap="none" dirty="0" err="1">
                <a:solidFill>
                  <a:srgbClr val="000000"/>
                </a:solidFill>
                <a:latin typeface="Calibri" panose="020F0502020204030204" pitchFamily="34" charset="0"/>
                <a:cs typeface="Calibri" panose="020F0502020204030204" pitchFamily="34" charset="0"/>
                <a:sym typeface="Arial"/>
              </a:rPr>
              <a:t>constraints</a:t>
            </a:r>
            <a:r>
              <a:rPr lang="es-CL" sz="1200" b="0" i="0" u="none" strike="noStrike" cap="none" dirty="0">
                <a:solidFill>
                  <a:srgbClr val="000000"/>
                </a:solidFill>
                <a:latin typeface="Calibri" panose="020F0502020204030204" pitchFamily="34" charset="0"/>
                <a:cs typeface="Calibri" panose="020F0502020204030204" pitchFamily="34" charset="0"/>
                <a:sym typeface="Arial"/>
              </a:rPr>
              <a:t>. </a:t>
            </a: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3068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90000"/>
              </a:lnSpc>
              <a:spcBef>
                <a:spcPct val="0"/>
              </a:spcBef>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Base de Datos Relacional</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lnSpc>
                <a:spcPct val="90000"/>
              </a:lnSpc>
              <a:spcBef>
                <a:spcPct val="0"/>
              </a:spcBef>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Una base de datos relacional usa relaciones o tablas bidimensionales (de dos dimensiones) para almacenar información. Por ejemplo, es posible que desee almacenar información sobre todos los empleados de la empresa. En una base de datos relacional, se crean varias tablas para almacenar datos sobre los empleados, como una tabla de empleados, una tabla de departamentos y una tabla de trabajos.</a:t>
            </a:r>
          </a:p>
        </p:txBody>
      </p:sp>
    </p:spTree>
    <p:extLst>
      <p:ext uri="{BB962C8B-B14F-4D97-AF65-F5344CB8AC3E}">
        <p14:creationId xmlns:p14="http://schemas.microsoft.com/office/powerpoint/2010/main" val="3502507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158750" indent="0" algn="just" eaLnBrk="1" hangingPunct="1">
              <a:lnSpc>
                <a:spcPct val="90000"/>
              </a:lnSpc>
              <a:spcBef>
                <a:spcPct val="0"/>
              </a:spcBef>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Terminología de una Base de Datos Relacional</a:t>
            </a:r>
          </a:p>
          <a:p>
            <a:pPr marL="158750" indent="0" algn="just" eaLnBrk="1" hangingPunct="1">
              <a:lnSpc>
                <a:spcPct val="90000"/>
              </a:lnSpc>
              <a:spcBef>
                <a:spcPct val="0"/>
              </a:spcBef>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Una base de datos relacional puede contener una o varias tablas. Una tabla es la estructura básica de almacenamiento de un RDBMS. Una tabla contiene todos los datos necesarios sobre algo en el mundo real, como empleados, facturas o clientes.</a:t>
            </a:r>
          </a:p>
          <a:p>
            <a:pPr marL="158750" indent="0" algn="just" eaLnBrk="1" hangingPunct="1">
              <a:lnSpc>
                <a:spcPct val="90000"/>
              </a:lnSpc>
              <a:spcBef>
                <a:spcPct val="0"/>
              </a:spcBef>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se muestra la tabla EMPLOYEES y los números indican lo siguiente:</a:t>
            </a:r>
          </a:p>
          <a:p>
            <a:pPr marL="158750" indent="0" algn="just" eaLnBrk="1" hangingPunct="1">
              <a:lnSpc>
                <a:spcPct val="90000"/>
              </a:lnSpc>
              <a:spcBef>
                <a:spcPct val="0"/>
              </a:spcBef>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1.</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Una sola fila (o tupla) que representa todos los datos requeridos para un empleado en particular. Cada fila en una tabla debe identificarse con una clave principal, que no permite filas duplicadas. El orden de las filas es insignificante; se debe especificar el orden de fila cuando se recuperan los datos.</a:t>
            </a:r>
          </a:p>
          <a:p>
            <a:pPr marL="158750" indent="0" algn="just" eaLnBrk="1" hangingPunct="1">
              <a:lnSpc>
                <a:spcPct val="90000"/>
              </a:lnSpc>
              <a:spcBef>
                <a:spcPct val="0"/>
              </a:spcBef>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2.</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Una columna o atributo que contiene el número de empleado. El número de empleado identifica a un empleado único en la tabla EMPLOYEES por lo tanto es la clave principal de la tabla. Una clave principal (clave primaria o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Primary</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Key)</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debe contener un valor y el valor debe ser único.</a:t>
            </a:r>
          </a:p>
          <a:p>
            <a:pPr marL="158750" indent="0" algn="just">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3.</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Una columna que no es un valor clave. Una columna representa un tipo de datos en una tabla; en este ejemplo, los datos son los salarios de todos los empleados. El orden de las columnas es insignificante cuando se almacenan datos; de debe especificar el orden de las columnas cuando se recuperan los datos.</a:t>
            </a:r>
          </a:p>
          <a:p>
            <a:pPr marL="158750" indent="0" algn="just">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4.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Una columna que contiene el número de departamento, que también es una clave foránea. Una clave foránea es una columna que define cómo las tablas se relacionan entre sí. Una clave foránea se refiere a una clave primaria o una clave única en la misma tabla o en otra tabla. En el ejemplo, DEPARTMENT_ID identifica de manera única un departamento en la tabla DEPARTMENTS.</a:t>
            </a:r>
          </a:p>
          <a:p>
            <a:pPr marL="158750" indent="0" algn="just">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5.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Valor de una columna.</a:t>
            </a:r>
          </a:p>
          <a:p>
            <a:pPr marL="158750" indent="0" algn="just">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6.</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Una columna puede no tener ningún valor. Esto se llama valor nulo. En la tabla EMPLOYEES, solo aquellos empleados que tienen el rol de representante de ventas tienen un valor en la columna COMMISSION_PCT (porcentaje de comisión).</a:t>
            </a:r>
            <a:endParaRPr lang="es-CL" sz="1200" dirty="0">
              <a:latin typeface="Calibri" panose="020F0502020204030204" pitchFamily="34" charset="0"/>
              <a:cs typeface="Calibri" panose="020F0502020204030204" pitchFamily="34" charset="0"/>
            </a:endParaRPr>
          </a:p>
          <a:p>
            <a:pPr marL="0" indent="0">
              <a:buNone/>
            </a:pPr>
            <a:endParaRPr lang="es-CL" dirty="0"/>
          </a:p>
        </p:txBody>
      </p:sp>
    </p:spTree>
    <p:extLst>
      <p:ext uri="{BB962C8B-B14F-4D97-AF65-F5344CB8AC3E}">
        <p14:creationId xmlns:p14="http://schemas.microsoft.com/office/powerpoint/2010/main" val="1489568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80000"/>
              </a:lnSpc>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Lenguaje de Consulta Estructurado (SQL)</a:t>
            </a:r>
          </a:p>
          <a:p>
            <a:pPr marL="171450" indent="-171450" algn="just" eaLnBrk="1" hangingPunct="1">
              <a:lnSpc>
                <a:spcPct val="80000"/>
              </a:lnSpc>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SQL es el lenguaje fundamental de los SGBD Relacionales</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para poder crear usuarios de base de datos, objetos en la Base de Datos, manipular información de las tablas y obtener información almacenada en la Base de Datos.</a:t>
            </a:r>
          </a:p>
          <a:p>
            <a:pPr marL="171450" indent="-171450" algn="just" eaLnBrk="1" hangingPunct="1">
              <a:lnSpc>
                <a:spcPct val="80000"/>
              </a:lnSpc>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SQL es un lenguaje que simula su escritura al lenguaje normal, de ahí que se le considere un lenguaje de cuarta generación (4GL). </a:t>
            </a:r>
          </a:p>
          <a:p>
            <a:pPr marL="171450" indent="-171450" algn="just" eaLnBrk="1" hangingPunct="1">
              <a:lnSpc>
                <a:spcPct val="80000"/>
              </a:lnSpc>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Consta de palabras especiales y de expresiones. Se trata de un lenguaje que intenta agrupar todas las funciones que se le pueden pedir a una base de datos, por lo que es el lenguaje utilizado tanto por administradores como por programadores o incluso usuarios avanzados.</a:t>
            </a:r>
          </a:p>
          <a:p>
            <a:pPr marL="171450" indent="-171450" algn="just" eaLnBrk="1" hangingPunct="1">
              <a:lnSpc>
                <a:spcPct val="80000"/>
              </a:lnSpc>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Es un lenguaje de tipo declarativo, se especifica qué es lo que desea realizar, no el cómo queremos realizarlo (el cómo es la pregunta de los lenguajes imperativos, como PL/SQL, C, C++ o Java).</a:t>
            </a:r>
          </a:p>
          <a:p>
            <a:pPr marL="171450" indent="-171450" algn="just" eaLnBrk="1" hangingPunct="1">
              <a:lnSpc>
                <a:spcPct val="80000"/>
              </a:lnSpc>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t>
            </a: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os orígenes del SQL están ligados a los de las bases de datos relacionales. En 1970 E.F. Codd propone el modelo relacional y asociado a este modelo un </a:t>
            </a:r>
            <a:r>
              <a:rPr lang="es-E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sublenguaje</a:t>
            </a: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de acceso a los datos.</a:t>
            </a:r>
          </a:p>
          <a:p>
            <a:pPr marL="171450" indent="-171450" algn="just" eaLnBrk="1" hangingPunct="1">
              <a:lnSpc>
                <a:spcPct val="80000"/>
              </a:lnSpc>
              <a:buFont typeface="Arial" pitchFamily="34" charset="0"/>
              <a:buChar char="•"/>
            </a:pP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Basándose en estas ideas, los laboratorios de IBM definen el lenguaje SEQUEL (</a:t>
            </a:r>
            <a:r>
              <a:rPr lang="es-E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Structured</a:t>
            </a: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English </a:t>
            </a:r>
            <a:r>
              <a:rPr lang="es-E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QUEry</a:t>
            </a: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E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Language</a:t>
            </a: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que más tarde sería ampliamente implementado por el SGBD experimental </a:t>
            </a:r>
            <a:r>
              <a:rPr lang="es-ES"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System</a:t>
            </a: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R, desarrollado en 1977 también por IBM. </a:t>
            </a:r>
          </a:p>
          <a:p>
            <a:pPr marL="171450" indent="-171450" algn="just" eaLnBrk="1" hangingPunct="1">
              <a:lnSpc>
                <a:spcPct val="80000"/>
              </a:lnSpc>
              <a:buFont typeface="Arial" pitchFamily="34" charset="0"/>
              <a:buChar char="•"/>
            </a:pP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Sin embargo, fue Oracle quien lo introdujo por primera vez en 1979 en un programa comercial. El SQL pasa a ser el lenguaje por excelencia de los diversos SGBD relacionales surgidos en los años siguientes y es por fin estandarizado en 1986 por el ANSI (Instituto Nacional Americano de Estandarización). Al año siguiente este estándar es también adoptado por la ISO (Organización Internacional de Estandarización).</a:t>
            </a:r>
          </a:p>
          <a:p>
            <a:pPr marL="171450" indent="-171450" algn="just" eaLnBrk="1" hangingPunct="1">
              <a:lnSpc>
                <a:spcPct val="80000"/>
              </a:lnSpc>
              <a:buFont typeface="Arial" pitchFamily="34" charset="0"/>
              <a:buChar char="•"/>
            </a:pP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E</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n el año 1989 ANSI publicó una extensión de la norma para SQL denominada SQL-89.</a:t>
            </a:r>
          </a:p>
          <a:p>
            <a:pPr marL="171450" indent="-171450" algn="just" eaLnBrk="1" hangingPunct="1">
              <a:lnSpc>
                <a:spcPct val="80000"/>
              </a:lnSpc>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 siguiente versión de la norma fue en SQL-92 seguida de SQL:1999 (compatible con Oracle). </a:t>
            </a:r>
            <a:endPar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58750" indent="0">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7518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Usando SQL para comunicarse con un RDBMS</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lnSpc>
                <a:spcPct val="80000"/>
              </a:lnSpc>
              <a:buNone/>
            </a:pP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Usando SQL se puede conectar al Servidor Oracle.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SQL tiene las siguientes ventajas:</a:t>
            </a:r>
          </a:p>
          <a:p>
            <a:pPr marL="171450" indent="-171450" algn="just" eaLnBrk="1" hangingPunct="1">
              <a:lnSpc>
                <a:spcPct val="80000"/>
              </a:lnSpc>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Eficiente.</a:t>
            </a:r>
          </a:p>
          <a:p>
            <a:pPr marL="171450" indent="-171450" algn="just" eaLnBrk="1" hangingPunct="1">
              <a:lnSpc>
                <a:spcPct val="80000"/>
              </a:lnSpc>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Fácil de entender y usar.</a:t>
            </a:r>
          </a:p>
          <a:p>
            <a:pPr marL="171450" indent="-171450" algn="just" eaLnBrk="1" hangingPunct="1">
              <a:lnSpc>
                <a:spcPct val="80000"/>
              </a:lnSpc>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Funcionalmente completo, ya que con SQL se pueden definir, recuperar y manipular datos en las tablas</a:t>
            </a:r>
          </a:p>
          <a:p>
            <a:pPr marL="0" indent="0" algn="just" eaLnBrk="1" hangingPunct="1">
              <a:lnSpc>
                <a:spcPct val="80000"/>
              </a:lnSpc>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 sentencias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SQL pueden</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ser parte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del código de otro lenguaje que se considera anfitrión (PL/SQL, C, Java, HTML,...). El código anfitrión se debe de compilar o interpretar mediante un software adecuado, el cual detectará el código SQL y podrá ejecutarlo hacia la</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Base de Datos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 través de una interfaz especial, como JDBC u ODBC por ejemplo.</a:t>
            </a:r>
          </a:p>
          <a:p>
            <a:pPr marL="0" indent="0" algn="just" eaLnBrk="1" hangingPunct="1">
              <a:lnSpc>
                <a:spcPct val="80000"/>
              </a:lnSpc>
              <a:buFont typeface="Arial"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otra</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opción es que a través de alguna herramienta gráfica, conectado a la base de datos, se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ejecuten </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sentencias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SQL y los resultados se manejen</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también en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forma gráfica.</a:t>
            </a: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6295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Usando SQL para comunicarse con un RDBMS</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De acuerdo</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a la acción que la sentencia SQL realiza en la Base de Datos, se dividen en los grupos:</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i="0" u="none" strike="noStrike" cap="none" dirty="0">
                <a:solidFill>
                  <a:srgbClr val="000000"/>
                </a:solidFill>
                <a:latin typeface="Calibri" panose="020F0502020204030204" pitchFamily="34" charset="0"/>
                <a:ea typeface="Arial"/>
                <a:cs typeface="Calibri" panose="020F0502020204030204" pitchFamily="34" charset="0"/>
                <a:sym typeface="Arial"/>
              </a:rPr>
              <a:t>Sentencias</a:t>
            </a:r>
            <a:r>
              <a:rPr lang="es-ES"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DML: </a:t>
            </a:r>
            <a:r>
              <a:rPr lang="es-ES"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permiten r</a:t>
            </a:r>
            <a:r>
              <a:rPr lang="es-CL" sz="1200" b="0" i="0" u="none" strike="noStrike" cap="none" baseline="0" dirty="0" err="1">
                <a:solidFill>
                  <a:srgbClr val="000000"/>
                </a:solidFill>
                <a:latin typeface="Calibri" panose="020F0502020204030204" pitchFamily="34" charset="0"/>
                <a:ea typeface="Arial"/>
                <a:cs typeface="Calibri" panose="020F0502020204030204" pitchFamily="34" charset="0"/>
                <a:sym typeface="Arial"/>
              </a:rPr>
              <a:t>ecuperar</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datos de la base de datos, ingresar nuevas filas, modificar las filas existentes y eliminar las filas no deseadas de las tablas en la base de datos, respectivamente.</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L"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Sentencias DDL:</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permiten configurar, modificar y eliminar la estructura de una tabla</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L"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Sentencias DCL:</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permite otorgar o eliminar permisos de acceso a la Base de Datos como a los objetos creados en ella.</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L"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Sentencias Control de Transacciones:</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administran los cambios de datos realizados en las tablas a través de sentencias DML</a:t>
            </a:r>
            <a:endPar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700673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Elementos de un código</a:t>
            </a:r>
            <a:r>
              <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 desarrollado en </a:t>
            </a: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SQL</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indent="0">
              <a:buNone/>
            </a:pP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Al usar</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SQL para construir alguna solución, ésta puede </a:t>
            </a: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contener los siguientes elementos:</a:t>
            </a:r>
          </a:p>
          <a:p>
            <a:pPr marL="171450" indent="-171450" eaLnBrk="1" hangingPunct="1">
              <a:lnSpc>
                <a:spcPct val="80000"/>
              </a:lnSpc>
              <a:buFont typeface="Arial" pitchFamily="34" charset="0"/>
              <a:buChar cha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Comandos SQL:</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DML, DDL, DCL etc.</a:t>
            </a:r>
          </a:p>
          <a:p>
            <a:pPr marL="171450" indent="-171450" eaLnBrk="1" hangingPunct="1">
              <a:lnSpc>
                <a:spcPct val="80000"/>
              </a:lnSpc>
              <a:buFont typeface="Arial" pitchFamily="34" charset="0"/>
              <a:buChar cha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Palabras reservadas: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hacen referencia a un elemento SQL individual: </a:t>
            </a:r>
          </a:p>
          <a:p>
            <a:pPr marL="1066800" lvl="1" indent="-609600" eaLnBrk="1" hangingPunct="1">
              <a:lnSpc>
                <a:spcPct val="80000"/>
              </a:lnSpc>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SELECT, FROM, WHERE, JOIN.</a:t>
            </a:r>
          </a:p>
          <a:p>
            <a:pPr marL="171450" indent="-171450" eaLnBrk="1" hangingPunct="1">
              <a:lnSpc>
                <a:spcPct val="80000"/>
              </a:lnSpc>
              <a:buFont typeface="Arial" pitchFamily="34" charset="0"/>
              <a:buChar cha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Cláusulas: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es una parte de una sentencia SQL: </a:t>
            </a:r>
          </a:p>
          <a:p>
            <a:pPr marL="1066800" lvl="1" indent="-609600" eaLnBrk="1" hangingPunct="1">
              <a:lnSpc>
                <a:spcPct val="80000"/>
              </a:lnSpc>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SELECT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employee_id</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last_name</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indent="-171450" eaLnBrk="1" hangingPunct="1">
              <a:lnSpc>
                <a:spcPct val="80000"/>
              </a:lnSpc>
              <a:buFont typeface="Arial" pitchFamily="34" charset="0"/>
              <a:buChar cha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Sentencia:</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es una combinación de dos o más cláusulas: </a:t>
            </a:r>
          </a:p>
          <a:p>
            <a:pPr marL="1066800" lvl="1" indent="-609600" eaLnBrk="1" hangingPunct="1">
              <a:lnSpc>
                <a:spcPct val="80000"/>
              </a:lnSpc>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SELECT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employee_id</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last_name</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p>
          <a:p>
            <a:pPr marL="1066800" lvl="1" indent="-609600" eaLnBrk="1" hangingPunct="1">
              <a:lnSpc>
                <a:spcPct val="80000"/>
              </a:lnSpc>
              <a:buFont typeface="Arial" pitchFamily="34" charset="0"/>
              <a:buNone/>
            </a:pP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FROM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employees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p>
          <a:p>
            <a:pPr marL="171450" indent="-171450" eaLnBrk="1" hangingPunct="1">
              <a:lnSpc>
                <a:spcPct val="80000"/>
              </a:lnSpc>
              <a:buFont typeface="Arial" pitchFamily="34" charset="0"/>
              <a:buChar cha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Operadores: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permiten crear expresiones complejas: </a:t>
            </a:r>
          </a:p>
          <a:p>
            <a:pPr marL="1066800" lvl="1" indent="-609600" eaLnBrk="1" hangingPunct="1">
              <a:lnSpc>
                <a:spcPct val="80000"/>
              </a:lnSpc>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Pueden ser aritméticos (+, -, /, *, …), de comparación (&gt;, &lt;, &gt;=, …)  o lógicos (AND, OR, NOT)</a:t>
            </a:r>
          </a:p>
          <a:p>
            <a:pPr marL="171450" indent="-171450" eaLnBrk="1" hangingPunct="1">
              <a:lnSpc>
                <a:spcPct val="80000"/>
              </a:lnSpc>
              <a:buFont typeface="Arial" pitchFamily="34" charset="0"/>
              <a:buChar cha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carácter, fecha, números,</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generales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p>
          <a:p>
            <a:pPr marL="1066800" lvl="1" indent="-609600" eaLnBrk="1" hangingPunct="1">
              <a:lnSpc>
                <a:spcPct val="80000"/>
              </a:lnSpc>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SYSDATE, NVL(), ROUND() …</a:t>
            </a:r>
          </a:p>
          <a:p>
            <a:pPr marL="171450" indent="-171450" eaLnBrk="1" hangingPunct="1">
              <a:lnSpc>
                <a:spcPct val="80000"/>
              </a:lnSpc>
              <a:buFont typeface="Arial" pitchFamily="34" charset="0"/>
              <a:buChar cha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para conseguir valores complejos: </a:t>
            </a:r>
          </a:p>
          <a:p>
            <a:pPr marL="1066800" lvl="1" indent="-609600" eaLnBrk="1" hangingPunct="1">
              <a:lnSpc>
                <a:spcPct val="80000"/>
              </a:lnSpc>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SUM(), MIN(), COUNT() …</a:t>
            </a:r>
          </a:p>
          <a:p>
            <a:pPr marL="0" indent="-171450" eaLnBrk="1" hangingPunct="1">
              <a:lnSpc>
                <a:spcPct val="80000"/>
              </a:lnSpc>
              <a:buFont typeface="Arial" pitchFamily="34" charset="0"/>
              <a:buChar cha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Constantes: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valores literales para las consultas: </a:t>
            </a:r>
          </a:p>
          <a:p>
            <a:pPr marL="1066800" lvl="1" indent="-609600" eaLnBrk="1" hangingPunct="1">
              <a:lnSpc>
                <a:spcPct val="80000"/>
              </a:lnSpc>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Números, textos, caracteres, ….</a:t>
            </a:r>
            <a:endPar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486705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Significado del formato de las sentencias SQL</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indent="0">
              <a:buNone/>
            </a:pP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Cuando</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vemos la sintaxis de una sentencia SQL, aparecen una serie de símbolos que significan lo siguiente:</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 (corchetes):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los corchetes sirven para encerrar texto que NO es obligatorio en el comando, es decir para indicar una parte opcional.</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|(barra vertical):</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este símbolo indica opción, es decir que se puede elegir entre varias opciones.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 (puntos suspensivos):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indica que se puede repetir el texto anterior en el comando continuamente (significaría </a:t>
            </a:r>
            <a:r>
              <a:rPr lang="es-MX" sz="1200" b="0" i="1" u="none" strike="noStrike" cap="none" dirty="0">
                <a:solidFill>
                  <a:srgbClr val="000000"/>
                </a:solidFill>
                <a:latin typeface="Calibri" panose="020F0502020204030204" pitchFamily="34" charset="0"/>
                <a:ea typeface="Arial"/>
                <a:cs typeface="Calibri" panose="020F0502020204030204" pitchFamily="34" charset="0"/>
                <a:sym typeface="Arial"/>
              </a:rPr>
              <a:t>y así sucesivamente</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 } (llaves):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indican opciones mutuamente exclusivas pero obligatorias. Es decir, opciones de las que sólo se puede elegir una opción, pero de las que es obligatorio elegir una.</a:t>
            </a: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9492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Consideraciones para construir una sentencia SQL</a:t>
            </a:r>
          </a:p>
          <a:p>
            <a:pPr marL="171450" indent="-1714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Las sentencias SQL NO son Case-</a:t>
            </a:r>
            <a:r>
              <a:rPr lang="es-CL" sz="1200" dirty="0" err="1">
                <a:solidFill>
                  <a:srgbClr val="FFFFFF"/>
                </a:solidFill>
                <a:latin typeface="Calibri" panose="020F0502020204030204" pitchFamily="34" charset="0"/>
                <a:cs typeface="Calibri" panose="020F0502020204030204" pitchFamily="34" charset="0"/>
              </a:rPr>
              <a:t>Sensitive</a:t>
            </a:r>
            <a:endParaRPr lang="es-CL" sz="1200" dirty="0">
              <a:solidFill>
                <a:srgbClr val="FFFFFF"/>
              </a:solidFill>
              <a:latin typeface="Calibri" panose="020F0502020204030204" pitchFamily="34" charset="0"/>
              <a:cs typeface="Calibri" panose="020F0502020204030204" pitchFamily="34" charset="0"/>
            </a:endParaRPr>
          </a:p>
          <a:p>
            <a:pPr marL="171450" indent="-1714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Las sentencias SQL pueden ser una o más líneas</a:t>
            </a:r>
          </a:p>
          <a:p>
            <a:pPr marL="171450" indent="-1714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Las palabras reservadas no pueden ser abreviadas o continuar en líneas diferentes</a:t>
            </a:r>
          </a:p>
          <a:p>
            <a:pPr marL="171450" indent="-1714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Las cláusulas son normalmente escritas en líneas diferentes</a:t>
            </a:r>
          </a:p>
          <a:p>
            <a:pPr marL="171450" indent="-1714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Las sentencias SQL deben terminar con un punto y coma (;)</a:t>
            </a:r>
          </a:p>
          <a:p>
            <a:pPr marL="171450" indent="-1714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Idealmente las palabras reservadas deben ser escritas en mayúsculas; todas las otras palabras, como nombre de columnas y tablas en minúsculas</a:t>
            </a:r>
          </a:p>
        </p:txBody>
      </p:sp>
    </p:spTree>
    <p:extLst>
      <p:ext uri="{BB962C8B-B14F-4D97-AF65-F5344CB8AC3E}">
        <p14:creationId xmlns:p14="http://schemas.microsoft.com/office/powerpoint/2010/main" val="3791651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16229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eaLnBrk="1" hangingPunct="1">
              <a:lnSpc>
                <a:spcPct val="90000"/>
              </a:lnSpc>
              <a:spcBef>
                <a:spcPct val="0"/>
              </a:spcBef>
              <a:buNone/>
            </a:pPr>
            <a:r>
              <a:rPr lang="es-CL" sz="1100" b="1" i="0" u="none" strike="noStrike" cap="none" dirty="0">
                <a:solidFill>
                  <a:prstClr val="white"/>
                </a:solidFill>
                <a:latin typeface="Calibri" panose="020F0502020204030204" pitchFamily="34" charset="0"/>
                <a:ea typeface="Arial"/>
                <a:cs typeface="Calibri" panose="020F0502020204030204" pitchFamily="34" charset="0"/>
                <a:sym typeface="Arial"/>
              </a:rPr>
              <a:t>Ejecución de una Sentencia SQL en Oracle</a:t>
            </a:r>
            <a:endParaRPr lang="es-CL" sz="11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Para poder comprender cómo </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se ejecuta una sentencia SQL en la Base de Datos Oracle es importante comprender cómo está compuesto un Servidor de Base Oracle. SI bien su estructura es algo más compleja de la que se muestra en la figura, en esta asignatura se aborda desde el punto de vista de la importancia en la ejecución de una sentencia SQL. </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Un Servidor de Base de Datos Oracle consta de dos</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parte</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p>
          <a:p>
            <a:pPr marL="171450" indent="-171450" algn="just">
              <a:buFont typeface="Arial" panose="020B0604020202020204" pitchFamily="34" charset="0"/>
              <a:buChar char="•"/>
            </a:pP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instancia: que considera un conjunto de procesos y las estructuras de memoria que requiere el servidor cuando está en funcionamiento. Todas las áreas de memoria que</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se encuentran en la SGA son compartidas por todos los usuarios que tiene permiso para acceder y trabajar con los objetos de la Base de Datos.</a:t>
            </a:r>
            <a:endPar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171450" indent="-171450" algn="just">
              <a:buFont typeface="Arial" panose="020B0604020202020204" pitchFamily="34" charset="0"/>
              <a:buChar char="•"/>
            </a:pP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Base de Datos:</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que son los archivos </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disco que almacenan de forma permanente la información de la base de datos. La base de datos en sí, la forman los archivos de datos, los de control y los Redo Log.</a:t>
            </a:r>
          </a:p>
          <a:p>
            <a:pPr marL="0" indent="0" algn="just">
              <a:buFont typeface="Arial" panose="020B0604020202020204" pitchFamily="34" charset="0"/>
              <a:buNone/>
            </a:pP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conexión típica a Oracle comienza con una petición de acceso por parte</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del usuario. A través de un proceso que </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r>
              <a:rPr lang="es-CL" sz="1100" b="0"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escucha” </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dicha petición se establece la</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c</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onexión y el usuario puede trabajar con las Base de Datos. Es importante indicar que el usuario NUNCA se</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conecta directamente a la Base de Datos sino que todo lo que realizar es en la Instancia (memoria asignada) asociada a esa Base de Datos.</a:t>
            </a:r>
          </a:p>
          <a:p>
            <a:pPr marL="0" indent="0" algn="just">
              <a:buFont typeface="Arial" panose="020B0604020202020204" pitchFamily="34" charset="0"/>
              <a:buNone/>
            </a:pP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Cuando un usuario ejecuta una sentencia SQL Oracle</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primero “busca” toda la información que requiere en la Instancia con el objetivo de ahorrar tiempo y reducir el acceso a disco. Esto sucede la siguiente manera:</a:t>
            </a:r>
            <a:endPar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171450" indent="-171450" algn="just">
              <a:buFont typeface="Arial" panose="020B0604020202020204" pitchFamily="34" charset="0"/>
              <a:buChar char="•"/>
            </a:pP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Primero, Oracle verifica si ya existe en la Library Cache una sentencia idéntica. Si no se encuentra una sentencia idéntica, la sentencia del usuario</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debe ser</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validada </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y luego queda almacenada en la Library Cache. Si, en cambio, existe una sentencia idéntica en la Library Cache, Oracle la reutiliza y no consume tiempo en validarla.</a:t>
            </a:r>
          </a:p>
          <a:p>
            <a:pPr marL="171450" indent="-171450" algn="just">
              <a:buFont typeface="Arial" panose="020B0604020202020204" pitchFamily="34" charset="0"/>
              <a:buChar char="•"/>
            </a:pP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Segundo,</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Oracle verifica sin en</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la </a:t>
            </a:r>
            <a:r>
              <a:rPr lang="es-CL" sz="1100" b="0" i="0" u="none" strike="noStrike" kern="1200" cap="none" baseline="0" dirty="0" err="1">
                <a:solidFill>
                  <a:schemeClr val="tx1"/>
                </a:solidFill>
                <a:effectLst/>
                <a:latin typeface="Calibri" panose="020F0502020204030204" pitchFamily="34" charset="0"/>
                <a:ea typeface="Arial"/>
                <a:cs typeface="Calibri" panose="020F0502020204030204" pitchFamily="34" charset="0"/>
                <a:sym typeface="Arial"/>
              </a:rPr>
              <a:t>D</a:t>
            </a:r>
            <a:r>
              <a:rPr lang="es-CL" sz="11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ictionary</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Cache existe información de los</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objetos que usa la sentencia SQL (nombre de las columnas de la tabla, tipo de dato de las columnas, </a:t>
            </a:r>
            <a:r>
              <a:rPr lang="es-CL" sz="1100" b="0" i="0" u="none" strike="noStrike" kern="1200" cap="none" baseline="0" dirty="0" err="1">
                <a:solidFill>
                  <a:schemeClr val="tx1"/>
                </a:solidFill>
                <a:effectLst/>
                <a:latin typeface="Calibri" panose="020F0502020204030204" pitchFamily="34" charset="0"/>
                <a:ea typeface="Arial"/>
                <a:cs typeface="Calibri" panose="020F0502020204030204" pitchFamily="34" charset="0"/>
                <a:sym typeface="Arial"/>
              </a:rPr>
              <a:t>etc</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para verificar que los objetos que usa la sentencia existen y si el usuario posee los permisos para usar esas tablas.</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Si Oracle no encuentra en la </a:t>
            </a:r>
            <a:r>
              <a:rPr lang="es-CL" sz="11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Dictionary</a:t>
            </a:r>
            <a:r>
              <a:rPr lang="es-CL" sz="11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Cache los datos que necesita, entonces tendrá que recuperar esa la información desde la</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Base de Datos. </a:t>
            </a:r>
          </a:p>
          <a:p>
            <a:pPr marL="171450" indent="-171450" algn="just">
              <a:buFont typeface="Arial" panose="020B0604020202020204" pitchFamily="34" charset="0"/>
              <a:buChar char="•"/>
            </a:pP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Tercero: Oracle verifica si los bloques de datos que requiere la sentencia SQL del usuario ya están en la </a:t>
            </a:r>
            <a:r>
              <a:rPr lang="es-CL" sz="1100" b="0" i="0" u="none" strike="noStrike" kern="1200" cap="none" baseline="0" dirty="0" err="1">
                <a:solidFill>
                  <a:schemeClr val="tx1"/>
                </a:solidFill>
                <a:effectLst/>
                <a:latin typeface="Calibri" panose="020F0502020204030204" pitchFamily="34" charset="0"/>
                <a:ea typeface="Arial"/>
                <a:cs typeface="Calibri" panose="020F0502020204030204" pitchFamily="34" charset="0"/>
                <a:sym typeface="Arial"/>
              </a:rPr>
              <a:t>Database</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Buffer Caché. Si es así, se los datos se recuperan desde esa área de memoria para ser devueltos al usuario y así evitar el acceso a disco. Si los bloques de datos que requiere la sentencia no se encuentran en la </a:t>
            </a:r>
            <a:r>
              <a:rPr lang="es-CL" sz="1100" b="0" i="0" u="none" strike="noStrike" kern="1200" cap="none" baseline="0" dirty="0" err="1">
                <a:solidFill>
                  <a:schemeClr val="tx1"/>
                </a:solidFill>
                <a:effectLst/>
                <a:latin typeface="Calibri" panose="020F0502020204030204" pitchFamily="34" charset="0"/>
                <a:ea typeface="Arial"/>
                <a:cs typeface="Calibri" panose="020F0502020204030204" pitchFamily="34" charset="0"/>
                <a:sym typeface="Arial"/>
              </a:rPr>
              <a:t>Database</a:t>
            </a:r>
            <a:r>
              <a:rPr lang="es-CL" sz="11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Buffer Caché entonces de deben recuperar desde la Base de Datos.</a:t>
            </a:r>
          </a:p>
          <a:p>
            <a:pPr marL="0" indent="0" algn="just">
              <a:buFont typeface="Arial" panose="020B0604020202020204" pitchFamily="34" charset="0"/>
              <a:buNone/>
            </a:pPr>
            <a:endParaRPr lang="es-CL" sz="1100" b="0" i="0" u="none" strike="noStrike" kern="1200" cap="none" dirty="0">
              <a:solidFill>
                <a:schemeClr val="tx1"/>
              </a:solidFill>
              <a:effectLst/>
              <a:latin typeface="Arial"/>
              <a:ea typeface="Arial"/>
              <a:cs typeface="Arial"/>
              <a:sym typeface="Arial"/>
            </a:endParaRPr>
          </a:p>
          <a:p>
            <a:pPr marL="0" indent="0">
              <a:buNone/>
            </a:pPr>
            <a:endParaRPr lang="es-CL" dirty="0"/>
          </a:p>
        </p:txBody>
      </p:sp>
    </p:spTree>
    <p:extLst>
      <p:ext uri="{BB962C8B-B14F-4D97-AF65-F5344CB8AC3E}">
        <p14:creationId xmlns:p14="http://schemas.microsoft.com/office/powerpoint/2010/main" val="101313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eaLnBrk="1" hangingPunct="1">
              <a:lnSpc>
                <a:spcPct val="90000"/>
              </a:lnSpc>
              <a:spcBef>
                <a:spcPct val="0"/>
              </a:spcBef>
              <a:buNone/>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Usuarios</a:t>
            </a:r>
            <a:r>
              <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 Predefinidos de una Base de Datos Oracle</a:t>
            </a:r>
            <a:endPar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Cuando se crea una Base de Datos Oracle varios usuarios son creados automáticamente.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Los usuarios </a:t>
            </a: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SYS y SYSTEM</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son los que se usan para efectuar las tareas de administración de la Base de Datos.</a:t>
            </a:r>
          </a:p>
          <a:p>
            <a:pPr marL="0" indent="0" algn="just" eaLnBrk="1" hangingPunct="1">
              <a:buFont typeface="Arial" panose="020B0604020202020204"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SYS:</a:t>
            </a:r>
          </a:p>
          <a:p>
            <a:pPr marL="171450" indent="-171450" algn="just" eaLnBrk="1" hangingPunct="1">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Es el dueño de todas las tablas y vistas del diccionario de la Base de Datos (tablas que guardan información propia de la Base de Datos.</a:t>
            </a:r>
          </a:p>
          <a:p>
            <a:pPr marL="171450" indent="-171450" algn="just" eaLnBrk="1" hangingPunct="1">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Posee todos los privilegios (permisos) para efectuar cualquier actividad en la Base de Datos.</a:t>
            </a:r>
          </a:p>
          <a:p>
            <a:pPr marL="171450" indent="-171450" algn="just" eaLnBrk="1" hangingPunct="1">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Para conectarse a la Base de Datos con este usuario se debe como SYSDBA.</a:t>
            </a:r>
          </a:p>
          <a:p>
            <a:pPr marL="0" indent="0" algn="just" eaLnBrk="1" hangingPunct="1">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SYSTEM:</a:t>
            </a:r>
          </a:p>
          <a:p>
            <a:pPr marL="171450" indent="-171450" algn="just" eaLnBrk="1" hangingPunct="1">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Se utiliza para efectuar tareas rutinarias en la Base de datos como creación de  usuarios, asignar permisos a usuarios etc.</a:t>
            </a:r>
          </a:p>
          <a:p>
            <a:pPr marL="171450" indent="-171450" algn="just" eaLnBrk="1" hangingPunct="1">
              <a:buFont typeface="Arial"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Posee menos privilegios que el usuario SYS.</a:t>
            </a:r>
          </a:p>
          <a:p>
            <a:pPr marL="0" indent="0" algn="just" eaLnBrk="1" hangingPunct="1">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Otros usuarios:</a:t>
            </a:r>
          </a:p>
          <a:p>
            <a:pPr marL="0" indent="0" algn="just" eaLnBrk="1" hangingPunct="1">
              <a:buFont typeface="Arial"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DBSNMP: Cuenta utilizada por el Management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Agent</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componente de Oracle Enterprise Manager</a:t>
            </a:r>
          </a:p>
          <a:p>
            <a:pPr marL="0" indent="0" algn="just" eaLnBrk="1" hangingPunct="1">
              <a:buFont typeface="Arial"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MDDATA: Esquema utilizado por Oracle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Spatial</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para almacenar información de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Geocoder</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0" indent="0" algn="just" eaLnBrk="1" hangingPunct="1">
              <a:buFont typeface="Arial"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MDSYS: Cuenta para administrar Oracle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Spatial</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y Oracle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Multumedia</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Locator</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0" indent="0" algn="just" eaLnBrk="1" hangingPunct="1">
              <a:buFont typeface="Arial"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MGMT_VIEW: Cuenta utilizada por Oracle Enterprise Manager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Database</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Control</a:t>
            </a:r>
          </a:p>
          <a:p>
            <a:pPr marL="0" indent="0" algn="just" eaLnBrk="1" hangingPunct="1">
              <a:buFont typeface="Arial"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ORACLE_OCM: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Owner</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de los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packages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usados por el Oracle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Configuration</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Manager</a:t>
            </a:r>
          </a:p>
          <a:p>
            <a:pPr marL="0" indent="0" algn="just" eaLnBrk="1" hangingPunct="1">
              <a:buFont typeface="Arial"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ORDSYS: Cuenta de administrador de Oracle Multimedia</a:t>
            </a:r>
          </a:p>
          <a:p>
            <a:pPr marL="0" indent="0" algn="just" eaLnBrk="1" hangingPunct="1">
              <a:buFont typeface="Arial"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OUTLN: Cuenta relacionada con el manejo de planes de ejecución</a:t>
            </a:r>
          </a:p>
          <a:p>
            <a:pPr marL="0" indent="0" algn="just" eaLnBrk="1" hangingPunct="1">
              <a:buFont typeface="Arial"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También</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se crear algunos usuarios de ejemplos que son proporcionados por Oracle para efectuar pruebas o capacitaciones. En el caso de esta asignatura todos los ejemplos del material están basados en las tablas del usuario HR.</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a:p>
            <a:pPr marL="0" indent="0">
              <a:buNone/>
            </a:pPr>
            <a:endParaRPr lang="es-CL" dirty="0"/>
          </a:p>
        </p:txBody>
      </p:sp>
    </p:spTree>
    <p:extLst>
      <p:ext uri="{BB962C8B-B14F-4D97-AF65-F5344CB8AC3E}">
        <p14:creationId xmlns:p14="http://schemas.microsoft.com/office/powerpoint/2010/main" val="9311710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eaLnBrk="1" hangingPunct="1">
              <a:lnSpc>
                <a:spcPct val="90000"/>
              </a:lnSpc>
              <a:spcBef>
                <a:spcPct val="0"/>
              </a:spcBef>
              <a:buNone/>
            </a:pPr>
            <a:r>
              <a:rPr lang="es-CL" sz="1100" b="1" i="0" u="none" strike="noStrike" cap="none" baseline="0" dirty="0">
                <a:solidFill>
                  <a:prstClr val="white"/>
                </a:solidFill>
                <a:latin typeface="Arial"/>
                <a:ea typeface="Arial"/>
                <a:cs typeface="Arial"/>
                <a:sym typeface="Arial"/>
              </a:rPr>
              <a:t>Tablas del Usuario HR BD Oracle XE 18c</a:t>
            </a:r>
          </a:p>
          <a:p>
            <a:pPr marL="0" indent="0" algn="just" eaLnBrk="1" hangingPunct="1">
              <a:lnSpc>
                <a:spcPct val="90000"/>
              </a:lnSpc>
              <a:spcBef>
                <a:spcPct val="0"/>
              </a:spcBef>
              <a:buNone/>
            </a:pPr>
            <a:r>
              <a:rPr lang="es-CL" sz="1100" b="0" i="0" u="none" strike="noStrike" kern="1200" cap="none" dirty="0">
                <a:solidFill>
                  <a:schemeClr val="tx1"/>
                </a:solidFill>
                <a:effectLst/>
                <a:latin typeface="Arial"/>
                <a:ea typeface="Arial"/>
                <a:cs typeface="Arial"/>
                <a:sym typeface="Arial"/>
              </a:rPr>
              <a:t>Como dijimos anteriormente,</a:t>
            </a:r>
            <a:r>
              <a:rPr lang="es-CL" sz="1100" b="0" i="0" u="none" strike="noStrike" kern="1200" cap="none" baseline="0" dirty="0">
                <a:solidFill>
                  <a:schemeClr val="tx1"/>
                </a:solidFill>
                <a:effectLst/>
                <a:latin typeface="Arial"/>
                <a:ea typeface="Arial"/>
                <a:cs typeface="Arial"/>
                <a:sym typeface="Arial"/>
              </a:rPr>
              <a:t> uno de los usuarios que Oracle proporciona para ser usado en prueba o capacitaciones es HR y muchos de los ejemplos que se plantean en el material están basados en las tablas que posee y que son las que se muestran.</a:t>
            </a:r>
            <a:endParaRPr lang="es-CL" sz="1100" b="0" i="0" u="none" strike="noStrike" kern="1200" cap="none" dirty="0">
              <a:solidFill>
                <a:schemeClr val="tx1"/>
              </a:solidFill>
              <a:effectLst/>
              <a:latin typeface="Arial"/>
              <a:ea typeface="Arial"/>
              <a:cs typeface="Arial"/>
              <a:sym typeface="Arial"/>
            </a:endParaRPr>
          </a:p>
          <a:p>
            <a:pPr marL="0" indent="0">
              <a:buNone/>
            </a:pPr>
            <a:endParaRPr lang="es-CL" dirty="0"/>
          </a:p>
        </p:txBody>
      </p:sp>
    </p:spTree>
    <p:extLst>
      <p:ext uri="{BB962C8B-B14F-4D97-AF65-F5344CB8AC3E}">
        <p14:creationId xmlns:p14="http://schemas.microsoft.com/office/powerpoint/2010/main" val="3424650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Creación de un Usuario de BD Oracle XE 18c</a:t>
            </a:r>
            <a:endParaRPr lang="es-CL" sz="1200" b="0" i="0" u="none" strike="noStrike" kern="0"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latin typeface="Calibri" panose="020F0502020204030204" pitchFamily="34" charset="0"/>
                <a:ea typeface="Arial"/>
                <a:cs typeface="Calibri" panose="020F0502020204030204" pitchFamily="34" charset="0"/>
                <a:sym typeface="Arial"/>
              </a:rPr>
              <a:t>Para conectarnos con un servidor de Base</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de Datos </a:t>
            </a:r>
            <a:r>
              <a:rPr lang="es-CL" sz="1200" b="0" i="0" u="none" strike="noStrike" kern="1200" cap="none" dirty="0">
                <a:solidFill>
                  <a:schemeClr val="tx1"/>
                </a:solidFill>
                <a:latin typeface="Calibri" panose="020F0502020204030204" pitchFamily="34" charset="0"/>
                <a:ea typeface="Arial"/>
                <a:cs typeface="Calibri" panose="020F0502020204030204" pitchFamily="34" charset="0"/>
                <a:sym typeface="Arial"/>
              </a:rPr>
              <a:t>Oracle necesitamos un modo de acceso que incluye los permisos que dispondremos durante la conexión; estos permisos se definen a partir de un nombre de usuario.</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latin typeface="Calibri" panose="020F0502020204030204" pitchFamily="34" charset="0"/>
                <a:ea typeface="Arial"/>
                <a:cs typeface="Calibri" panose="020F0502020204030204" pitchFamily="34" charset="0"/>
                <a:sym typeface="Arial"/>
              </a:rPr>
              <a:t>Un USUARIO es:</a:t>
            </a:r>
          </a:p>
          <a:p>
            <a:pPr marL="171450" indent="-171450" algn="just">
              <a:buFont typeface="Arial" panose="020B0604020202020204" pitchFamily="34" charset="0"/>
              <a:buChar char="•"/>
            </a:pPr>
            <a:r>
              <a:rPr lang="es-CL" sz="1200" b="0" i="0" u="none" strike="noStrike" kern="1200" cap="none" dirty="0">
                <a:solidFill>
                  <a:schemeClr val="tx1"/>
                </a:solidFill>
                <a:latin typeface="Calibri" panose="020F0502020204030204" pitchFamily="34" charset="0"/>
                <a:ea typeface="Arial"/>
                <a:cs typeface="Calibri" panose="020F0502020204030204" pitchFamily="34" charset="0"/>
                <a:sym typeface="Arial"/>
              </a:rPr>
              <a:t>Un identificador necesario para acceder a una base de datos. </a:t>
            </a:r>
          </a:p>
          <a:p>
            <a:pPr marL="171450" indent="-171450" algn="just">
              <a:buFont typeface="Arial" panose="020B0604020202020204" pitchFamily="34" charset="0"/>
              <a:buChar char="•"/>
            </a:pPr>
            <a:r>
              <a:rPr lang="es-CL" sz="1200" b="0" i="0" u="none" strike="noStrike" kern="1200" cap="none" dirty="0">
                <a:solidFill>
                  <a:schemeClr val="tx1"/>
                </a:solidFill>
                <a:latin typeface="Calibri" panose="020F0502020204030204" pitchFamily="34" charset="0"/>
                <a:ea typeface="Arial"/>
                <a:cs typeface="Calibri" panose="020F0502020204030204" pitchFamily="34" charset="0"/>
                <a:sym typeface="Arial"/>
              </a:rPr>
              <a:t>Un usuario es un conjunto de permisos que se aplican a una conexión de base de datos. </a:t>
            </a:r>
          </a:p>
          <a:p>
            <a:pPr marL="171450" indent="-171450" algn="just">
              <a:buFont typeface="Arial" panose="020B0604020202020204" pitchFamily="34" charset="0"/>
              <a:buChar char="•"/>
            </a:pPr>
            <a:r>
              <a:rPr lang="es-CL" sz="1200" b="0" i="0" u="none" strike="noStrike" kern="1200" cap="none" dirty="0">
                <a:solidFill>
                  <a:schemeClr val="tx1"/>
                </a:solidFill>
                <a:latin typeface="Calibri" panose="020F0502020204030204" pitchFamily="34" charset="0"/>
                <a:ea typeface="Arial"/>
                <a:cs typeface="Calibri" panose="020F0502020204030204" pitchFamily="34" charset="0"/>
                <a:sym typeface="Arial"/>
              </a:rPr>
              <a:t>Propietario de los objetos que cree.</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lvl="1" indent="0" algn="just" defTabSz="914400" rtl="0" eaLnBrk="1" fontAlgn="auto" latinLnBrk="0" hangingPunct="1">
              <a:lnSpc>
                <a:spcPct val="100000"/>
              </a:lnSpc>
              <a:spcBef>
                <a:spcPts val="0"/>
              </a:spcBef>
              <a:spcAft>
                <a:spcPts val="0"/>
              </a:spcAft>
              <a:buClrTx/>
              <a:buSzTx/>
              <a:buFontTx/>
              <a:buNone/>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Antes de crear un usuario de base de datos</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se debe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crear una conexión a la Base de Datos como usuario SYS o SYSTEM usando una herramienta de desarrollo como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SQLDeveloper</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El</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nombre de conexión es sólo un nombre que aparecerá en la Oracle conexiones de la herramienta.  Después de debe indicar el usuario (y su clave) que se va a usar para conectarse a la base de datos, en el ejemplo, se ve a conectar con el usuario SYSTEM. Para finalmente indicar el nombre de la base de datos. En Oracle XE 18c nos debemos conectar a XEPDB1. </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buNone/>
            </a:pPr>
            <a:endParaRPr lang="es-CL" dirty="0"/>
          </a:p>
        </p:txBody>
      </p:sp>
    </p:spTree>
    <p:extLst>
      <p:ext uri="{BB962C8B-B14F-4D97-AF65-F5344CB8AC3E}">
        <p14:creationId xmlns:p14="http://schemas.microsoft.com/office/powerpoint/2010/main" val="2757345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Creación de un Usuario de BD Oracle XE 18c</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cap="none" dirty="0">
                <a:solidFill>
                  <a:srgbClr val="000000"/>
                </a:solidFill>
                <a:latin typeface="Arial"/>
                <a:ea typeface="Arial"/>
                <a:cs typeface="Arial"/>
                <a:sym typeface="Arial"/>
              </a:rPr>
              <a:t>Al dar </a:t>
            </a:r>
            <a:r>
              <a:rPr lang="es-MX" sz="1200" b="0" i="0" u="none" strike="noStrike" cap="none" dirty="0" err="1">
                <a:solidFill>
                  <a:srgbClr val="000000"/>
                </a:solidFill>
                <a:latin typeface="Arial"/>
                <a:ea typeface="Arial"/>
                <a:cs typeface="Arial"/>
                <a:sym typeface="Arial"/>
              </a:rPr>
              <a:t>click</a:t>
            </a:r>
            <a:r>
              <a:rPr lang="es-MX" sz="1200" b="0" i="0" u="none" strike="noStrike" cap="none" dirty="0">
                <a:solidFill>
                  <a:srgbClr val="000000"/>
                </a:solidFill>
                <a:latin typeface="Arial"/>
                <a:ea typeface="Arial"/>
                <a:cs typeface="Arial"/>
                <a:sym typeface="Arial"/>
              </a:rPr>
              <a:t> en Conectar,</a:t>
            </a:r>
            <a:r>
              <a:rPr lang="es-MX" sz="1200" b="0" i="0" u="none" strike="noStrike" cap="none" baseline="0" dirty="0">
                <a:solidFill>
                  <a:srgbClr val="000000"/>
                </a:solidFill>
                <a:latin typeface="Arial"/>
                <a:ea typeface="Arial"/>
                <a:cs typeface="Arial"/>
                <a:sym typeface="Arial"/>
              </a:rPr>
              <a:t> la conexión (en el ejemplo SYSTEM)  a</a:t>
            </a:r>
            <a:r>
              <a:rPr lang="es-MX" sz="1200" b="0" i="0" u="none" strike="noStrike" cap="none" dirty="0">
                <a:solidFill>
                  <a:srgbClr val="000000"/>
                </a:solidFill>
                <a:latin typeface="Arial"/>
                <a:ea typeface="Arial"/>
                <a:cs typeface="Arial"/>
                <a:sym typeface="Arial"/>
              </a:rPr>
              <a:t>parecerá al lado izquierdo de</a:t>
            </a:r>
            <a:r>
              <a:rPr lang="es-MX" sz="1200" b="0" i="0" u="none" strike="noStrike" cap="none" baseline="0" dirty="0">
                <a:solidFill>
                  <a:srgbClr val="000000"/>
                </a:solidFill>
                <a:latin typeface="Arial"/>
                <a:ea typeface="Arial"/>
                <a:cs typeface="Arial"/>
                <a:sym typeface="Arial"/>
              </a:rPr>
              <a:t> la herramienta SQL </a:t>
            </a:r>
            <a:r>
              <a:rPr lang="es-MX" sz="1200" b="0" i="0" u="none" strike="noStrike" cap="none" baseline="0" dirty="0" err="1">
                <a:solidFill>
                  <a:srgbClr val="000000"/>
                </a:solidFill>
                <a:latin typeface="Arial"/>
                <a:ea typeface="Arial"/>
                <a:cs typeface="Arial"/>
                <a:sym typeface="Arial"/>
              </a:rPr>
              <a:t>Developer</a:t>
            </a:r>
            <a:r>
              <a:rPr lang="es-MX" sz="1200" b="0" i="0" u="none" strike="noStrike" cap="none" baseline="0" dirty="0">
                <a:solidFill>
                  <a:srgbClr val="000000"/>
                </a:solidFill>
                <a:latin typeface="Arial"/>
                <a:ea typeface="Arial"/>
                <a:cs typeface="Arial"/>
                <a:sym typeface="Arial"/>
              </a:rPr>
              <a:t>.</a:t>
            </a:r>
            <a:endParaRPr lang="es-CL" sz="1200" b="0" i="0" u="none" strike="noStrike" kern="0"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236636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Creación de un Usuario de BD Oracle XE 18c</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indent="0" algn="just" eaLnBrk="1" hangingPunct="1">
              <a:buNone/>
            </a:pPr>
            <a:r>
              <a:rPr lang="es-MX" sz="1200" b="0" i="0" u="none" strike="noStrike" cap="none" dirty="0">
                <a:solidFill>
                  <a:srgbClr val="000000"/>
                </a:solidFill>
                <a:latin typeface="Arial"/>
                <a:ea typeface="Arial"/>
                <a:cs typeface="Arial"/>
                <a:sym typeface="Arial"/>
              </a:rPr>
              <a:t>Posteriormente en Otros Usuarios elegir Crear Usuario</a:t>
            </a:r>
          </a:p>
        </p:txBody>
      </p:sp>
    </p:spTree>
    <p:extLst>
      <p:ext uri="{BB962C8B-B14F-4D97-AF65-F5344CB8AC3E}">
        <p14:creationId xmlns:p14="http://schemas.microsoft.com/office/powerpoint/2010/main" val="3148370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Creación de un Usuario de BD Oracle XE 18c</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Al elegir Crear Usuario se</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piden los datos necesarios para poder crear este nuevo usuario en la base de datos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Se le debe dar un nombre, una clave, el lugar en donde podrá crear sus objetos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Tablespaces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por Defecto) y un lugar en donde podrá efectuar otras operaciones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Tablespaces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Temporal) </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buNone/>
            </a:pPr>
            <a:endParaRPr lang="es-MX" sz="12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894977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Creación de un Usuario de BD Oracle XE 18c</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indent="0" algn="just" eaLnBrk="1" hangingPunct="1">
              <a:buNone/>
            </a:pPr>
            <a:r>
              <a:rPr lang="es-MX" sz="1200" b="0" i="0" u="none" strike="noStrike" cap="none" dirty="0">
                <a:solidFill>
                  <a:srgbClr val="000000"/>
                </a:solidFill>
                <a:latin typeface="Arial"/>
                <a:ea typeface="Arial"/>
                <a:cs typeface="Arial"/>
                <a:sym typeface="Arial"/>
              </a:rPr>
              <a:t>Además se les deben asignar los permisos o privilegios básicos para que el usuario pueda trabajar en la Base de Datos.</a:t>
            </a:r>
          </a:p>
          <a:p>
            <a:pPr marL="609600" indent="-609600" algn="just" eaLnBrk="1" hangingPunct="1">
              <a:buFont typeface="Arial" pitchFamily="34" charset="0"/>
              <a:buChar char="•"/>
            </a:pPr>
            <a:r>
              <a:rPr lang="es-MX" sz="1200" b="1" i="0" u="none" strike="noStrike" cap="none" dirty="0">
                <a:solidFill>
                  <a:srgbClr val="000000"/>
                </a:solidFill>
                <a:latin typeface="Arial"/>
                <a:ea typeface="Arial"/>
                <a:cs typeface="Arial"/>
                <a:sym typeface="Arial"/>
              </a:rPr>
              <a:t>Los</a:t>
            </a:r>
            <a:r>
              <a:rPr lang="es-CL" sz="1200" b="1" i="0" u="none" strike="noStrike" kern="1200" cap="none" dirty="0">
                <a:solidFill>
                  <a:schemeClr val="tx1"/>
                </a:solidFill>
                <a:latin typeface="Arial"/>
                <a:ea typeface="Arial"/>
                <a:cs typeface="Arial"/>
                <a:sym typeface="Arial"/>
              </a:rPr>
              <a:t> privilegios:</a:t>
            </a:r>
            <a:r>
              <a:rPr lang="es-CL" sz="1200" b="0" i="0" u="none" strike="noStrike" kern="1200" cap="none" dirty="0">
                <a:solidFill>
                  <a:schemeClr val="tx1"/>
                </a:solidFill>
                <a:latin typeface="Arial"/>
                <a:ea typeface="Arial"/>
                <a:cs typeface="Arial"/>
                <a:sym typeface="Arial"/>
              </a:rPr>
              <a:t> especifican qué operaciones puede realizar un usuario y sobre qué objetos de la base de datos tiene autorización, es decir, qué tarea puede realizar con esos objetos y si puede emitir determinadas instrucciones. </a:t>
            </a:r>
          </a:p>
          <a:p>
            <a:pPr marL="609600" indent="-609600" algn="just" eaLnBrk="1" hangingPunct="1">
              <a:buFont typeface="Arial" pitchFamily="34" charset="0"/>
              <a:buChar char="•"/>
            </a:pPr>
            <a:r>
              <a:rPr lang="es-CL" sz="1200" b="1" i="0" u="none" strike="noStrike" kern="1200" cap="none" dirty="0">
                <a:solidFill>
                  <a:schemeClr val="tx1"/>
                </a:solidFill>
                <a:latin typeface="Arial"/>
                <a:ea typeface="Arial"/>
                <a:cs typeface="Arial"/>
                <a:sym typeface="Arial"/>
              </a:rPr>
              <a:t>Un rol de base de datos:</a:t>
            </a:r>
            <a:r>
              <a:rPr lang="es-CL" sz="1200" b="0" i="0" u="none" strike="noStrike" kern="1200" cap="none" dirty="0">
                <a:solidFill>
                  <a:schemeClr val="tx1"/>
                </a:solidFill>
                <a:latin typeface="Arial"/>
                <a:ea typeface="Arial"/>
                <a:cs typeface="Arial"/>
                <a:sym typeface="Arial"/>
              </a:rPr>
              <a:t> es una agrupación de permisos de sistema y de objeto.</a:t>
            </a:r>
          </a:p>
          <a:p>
            <a:pPr marL="0" indent="0" algn="just" eaLnBrk="1" hangingPunct="1">
              <a:buFont typeface="Arial" pitchFamily="34" charset="0"/>
              <a:buNone/>
            </a:pPr>
            <a:r>
              <a:rPr lang="es-CL" sz="1200" b="0" i="0" u="none" strike="noStrike" kern="1200" cap="none" dirty="0">
                <a:solidFill>
                  <a:schemeClr val="tx1"/>
                </a:solidFill>
                <a:latin typeface="Arial"/>
                <a:ea typeface="Arial"/>
                <a:cs typeface="Arial"/>
                <a:sym typeface="Arial"/>
              </a:rPr>
              <a:t>Los permisos controlan el acceso a los distintos objetos de una base de datos; pueden concederse a nivel de usuario o a nivel de rol.</a:t>
            </a:r>
            <a:r>
              <a:rPr lang="es-CL" sz="1200" b="0" i="0" u="none" strike="noStrike" kern="1200" cap="none" baseline="0" dirty="0">
                <a:solidFill>
                  <a:schemeClr val="tx1"/>
                </a:solidFill>
                <a:latin typeface="Arial"/>
                <a:ea typeface="Arial"/>
                <a:cs typeface="Arial"/>
                <a:sym typeface="Arial"/>
              </a:rPr>
              <a:t> </a:t>
            </a:r>
            <a:r>
              <a:rPr lang="es-MX" sz="1200" b="0" i="0" u="none" strike="noStrike" cap="none" dirty="0">
                <a:solidFill>
                  <a:srgbClr val="000000"/>
                </a:solidFill>
                <a:latin typeface="Arial"/>
                <a:ea typeface="Arial"/>
                <a:cs typeface="Arial"/>
                <a:sym typeface="Arial"/>
              </a:rPr>
              <a:t>En el</a:t>
            </a:r>
            <a:r>
              <a:rPr lang="es-MX" sz="1200" b="0" i="0" u="none" strike="noStrike" cap="none" baseline="0" dirty="0">
                <a:solidFill>
                  <a:srgbClr val="000000"/>
                </a:solidFill>
                <a:latin typeface="Arial"/>
                <a:ea typeface="Arial"/>
                <a:cs typeface="Arial"/>
                <a:sym typeface="Arial"/>
              </a:rPr>
              <a:t> ejemplo, se asigna el Rol </a:t>
            </a:r>
            <a:r>
              <a:rPr lang="es-MX" sz="1200" b="0" i="0" u="none" strike="noStrike" cap="none" dirty="0" err="1">
                <a:solidFill>
                  <a:srgbClr val="000000"/>
                </a:solidFill>
                <a:latin typeface="Arial"/>
                <a:ea typeface="Arial"/>
                <a:cs typeface="Arial"/>
                <a:sym typeface="Arial"/>
              </a:rPr>
              <a:t>Resource</a:t>
            </a:r>
            <a:r>
              <a:rPr lang="es-MX" sz="1200" b="0" i="0" u="none" strike="noStrike" cap="none" dirty="0">
                <a:solidFill>
                  <a:srgbClr val="000000"/>
                </a:solidFill>
                <a:latin typeface="Arial"/>
                <a:ea typeface="Arial"/>
                <a:cs typeface="Arial"/>
                <a:sym typeface="Arial"/>
              </a:rPr>
              <a:t> (que sirve por ejemplo para que el usuario</a:t>
            </a:r>
            <a:r>
              <a:rPr lang="es-MX" sz="1200" b="0" i="0" u="none" strike="noStrike" cap="none" baseline="0" dirty="0">
                <a:solidFill>
                  <a:srgbClr val="000000"/>
                </a:solidFill>
                <a:latin typeface="Arial"/>
                <a:ea typeface="Arial"/>
                <a:cs typeface="Arial"/>
                <a:sym typeface="Arial"/>
              </a:rPr>
              <a:t> pueda crear tablas, programas en la base de datos)</a:t>
            </a:r>
            <a:r>
              <a:rPr lang="es-MX" sz="1200" b="0" i="0" u="none" strike="noStrike" cap="none" dirty="0">
                <a:solidFill>
                  <a:srgbClr val="000000"/>
                </a:solidFill>
                <a:latin typeface="Arial"/>
                <a:ea typeface="Arial"/>
                <a:cs typeface="Arial"/>
                <a:sym typeface="Arial"/>
              </a:rPr>
              <a:t>.  Cuando se le asigna un rol a un usuario</a:t>
            </a:r>
            <a:r>
              <a:rPr lang="es-MX" sz="1200" b="0" i="0" u="none" strike="noStrike" cap="none" baseline="0" dirty="0">
                <a:solidFill>
                  <a:srgbClr val="000000"/>
                </a:solidFill>
                <a:latin typeface="Arial"/>
                <a:ea typeface="Arial"/>
                <a:cs typeface="Arial"/>
                <a:sym typeface="Arial"/>
              </a:rPr>
              <a:t> se debe marcar también la opción Valor por Defecto.</a:t>
            </a:r>
            <a:endParaRPr lang="es-MX" sz="1200" b="0" i="0" u="none" strike="noStrike" cap="none" dirty="0">
              <a:solidFill>
                <a:srgbClr val="000000"/>
              </a:solidFill>
              <a:latin typeface="Arial"/>
              <a:ea typeface="Arial"/>
              <a:cs typeface="Arial"/>
              <a:sym typeface="Arial"/>
            </a:endParaRPr>
          </a:p>
          <a:p>
            <a:pPr marL="0" indent="0" algn="just" eaLnBrk="1" hangingPunct="1">
              <a:buNone/>
            </a:pPr>
            <a:endParaRPr lang="es-MX" sz="12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462276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Creación de un Usuario de BD Oracle XE 18c</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indent="0" algn="just" eaLnBrk="1" hangingPunct="1">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Todo usuario de la base de datos debe tener el Privilegio de Sistema CREATE SESSION. Este privilegio es el que permite que el usuario se pueda conectar a la base de datos. </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7688993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Creación de un Usuario de BD Oracle XE 18c</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indent="0" eaLnBrk="1" hangingPunct="1">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Además al usuario se le debe asignar cuanto espacio</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de la base de datos tendrá como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máximo para poder crear sus objetos en el área que</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se le asignó (</a:t>
            </a:r>
            <a:r>
              <a:rPr lang="es-MX" sz="1200" b="0" i="0" u="none" strike="noStrike" cap="none" baseline="0" dirty="0" err="1">
                <a:solidFill>
                  <a:srgbClr val="000000"/>
                </a:solidFill>
                <a:latin typeface="Calibri" panose="020F0502020204030204" pitchFamily="34" charset="0"/>
                <a:ea typeface="Arial"/>
                <a:cs typeface="Calibri" panose="020F0502020204030204" pitchFamily="34" charset="0"/>
                <a:sym typeface="Arial"/>
              </a:rPr>
              <a:t>tablespace</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3970860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Creación de un Usuario de BD Oracle XE 18c</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Si</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bien SQL </a:t>
            </a:r>
            <a:r>
              <a:rPr lang="es-CL" sz="1200" b="0" i="0" u="none" strike="noStrike" cap="none" baseline="0" dirty="0" err="1">
                <a:solidFill>
                  <a:srgbClr val="000000"/>
                </a:solidFill>
                <a:latin typeface="Calibri" panose="020F0502020204030204" pitchFamily="34" charset="0"/>
                <a:ea typeface="Arial"/>
                <a:cs typeface="Calibri" panose="020F0502020204030204" pitchFamily="34" charset="0"/>
                <a:sym typeface="Arial"/>
              </a:rPr>
              <a:t>Developer</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permite crear un usuario en forma gráfica, debe transformar todo lo que hicimos en sentencias DDL de SQL porque es a través de este lenguaje que podemos </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crear usuarios de base de datos, objetos en la Base de Datos, manipular información de las tablas y obtener información almacenada en una Base de Datos relacional.</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804669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 xmlns:a16="http://schemas.microsoft.com/office/drawing/2014/main"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2">
  <p:cSld name="TITLE_4">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3">
  <p:cSld name="TITLE_1_1">
    <p:bg>
      <p:bgPr>
        <a:solidFill>
          <a:schemeClr val="accent2"/>
        </a:solidFill>
        <a:effectLst/>
      </p:bgPr>
    </p:bg>
    <p:spTree>
      <p:nvGrpSpPr>
        <p:cNvPr id="1" name="Shape 29"/>
        <p:cNvGrpSpPr/>
        <p:nvPr/>
      </p:nvGrpSpPr>
      <p:grpSpPr>
        <a:xfrm>
          <a:off x="0" y="0"/>
          <a:ext cx="0" cy="0"/>
          <a:chOff x="0" y="0"/>
          <a:chExt cx="0" cy="0"/>
        </a:xfrm>
      </p:grpSpPr>
      <p:sp>
        <p:nvSpPr>
          <p:cNvPr id="30" name="Google Shape;30;p5"/>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1" name="Google Shape;31;p5"/>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2" name="Google Shape;32;p5"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34" name="Google Shape;34;p5"/>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 xmlns:a16="http://schemas.microsoft.com/office/drawing/2014/main"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 xmlns:a16="http://schemas.microsoft.com/office/drawing/2014/main"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 xmlns:a16="http://schemas.microsoft.com/office/drawing/2014/main"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 xmlns:a16="http://schemas.microsoft.com/office/drawing/2014/main"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3" userDrawn="1">
  <p:cSld name="OBJECT_1">
    <p:spTree>
      <p:nvGrpSpPr>
        <p:cNvPr id="1" name="Shape 99"/>
        <p:cNvGrpSpPr/>
        <p:nvPr/>
      </p:nvGrpSpPr>
      <p:grpSpPr>
        <a:xfrm>
          <a:off x="0" y="0"/>
          <a:ext cx="0" cy="0"/>
          <a:chOff x="0" y="0"/>
          <a:chExt cx="0" cy="0"/>
        </a:xfrm>
      </p:grpSpPr>
      <p:sp>
        <p:nvSpPr>
          <p:cNvPr id="101" name="Google Shape;101;p16"/>
          <p:cNvSpPr/>
          <p:nvPr/>
        </p:nvSpPr>
        <p:spPr>
          <a:xfrm>
            <a:off x="770850" y="212725"/>
            <a:ext cx="903600" cy="813000"/>
          </a:xfrm>
          <a:prstGeom prst="parallelogram">
            <a:avLst>
              <a:gd name="adj" fmla="val 45310"/>
            </a:avLst>
          </a:prstGeom>
          <a:solidFill>
            <a:srgbClr val="702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46422" y="212725"/>
            <a:ext cx="903600" cy="813000"/>
          </a:xfrm>
          <a:prstGeom prst="parallelogram">
            <a:avLst>
              <a:gd name="adj" fmla="val 45310"/>
            </a:avLst>
          </a:prstGeom>
          <a:gradFill>
            <a:gsLst>
              <a:gs pos="0">
                <a:srgbClr val="FFFFFF"/>
              </a:gs>
              <a:gs pos="65000">
                <a:schemeClr val="accent2"/>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6"/>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06" name="Google Shape;106;p16"/>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84;p14">
            <a:extLst>
              <a:ext uri="{FF2B5EF4-FFF2-40B4-BE49-F238E27FC236}">
                <a16:creationId xmlns="" xmlns:a16="http://schemas.microsoft.com/office/drawing/2014/main" id="{BB89A5F1-01F7-AA47-B434-101A27DE7BC0}"/>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 xmlns:a16="http://schemas.microsoft.com/office/drawing/2014/main" id="{8DC17925-3C94-8F46-871B-B63E680B4A39}"/>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1" name="Google Shape;7;p1">
            <a:extLst>
              <a:ext uri="{FF2B5EF4-FFF2-40B4-BE49-F238E27FC236}">
                <a16:creationId xmlns="" xmlns:a16="http://schemas.microsoft.com/office/drawing/2014/main" id="{3C188FE6-8EF7-F044-9027-21CDC308C75A}"/>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 xmlns:a16="http://schemas.microsoft.com/office/drawing/2014/main"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 xmlns:a16="http://schemas.microsoft.com/office/drawing/2014/main"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 xmlns:a16="http://schemas.microsoft.com/office/drawing/2014/main"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 xmlns:a16="http://schemas.microsoft.com/office/drawing/2014/main"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 xmlns:a16="http://schemas.microsoft.com/office/drawing/2014/main"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 xmlns:a16="http://schemas.microsoft.com/office/drawing/2014/main"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 xmlns:a16="http://schemas.microsoft.com/office/drawing/2014/main"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 xmlns:a16="http://schemas.microsoft.com/office/drawing/2014/main"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79" r:id="rId5"/>
    <p:sldLayoutId id="2147483661" r:id="rId6"/>
    <p:sldLayoutId id="2147483662" r:id="rId7"/>
    <p:sldLayoutId id="2147483678" r:id="rId8"/>
    <p:sldLayoutId id="214748367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p>
            <a:pPr lvl="0"/>
            <a:r>
              <a:rPr lang="es-CL" sz="5800" b="1" dirty="0"/>
              <a:t>Aspectos Generales del Lenguaje SQL</a:t>
            </a:r>
            <a:endParaRPr sz="5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17"/>
        <p:cNvGrpSpPr/>
        <p:nvPr/>
      </p:nvGrpSpPr>
      <p:grpSpPr>
        <a:xfrm>
          <a:off x="0" y="0"/>
          <a:ext cx="0" cy="0"/>
          <a:chOff x="0" y="0"/>
          <a:chExt cx="0" cy="0"/>
        </a:xfrm>
      </p:grpSpPr>
      <p:pic>
        <p:nvPicPr>
          <p:cNvPr id="3" name="Imagen 2" descr="Imagen que contiene libro, estante, cuarto, biblioteca&#10;&#10;Descripción generada automáticamente">
            <a:extLst>
              <a:ext uri="{FF2B5EF4-FFF2-40B4-BE49-F238E27FC236}">
                <a16:creationId xmlns="" xmlns:a16="http://schemas.microsoft.com/office/drawing/2014/main" id="{5A1B416D-DB06-1044-A7D7-9CB67D117EC4}"/>
              </a:ext>
            </a:extLst>
          </p:cNvPr>
          <p:cNvPicPr>
            <a:picLocks noChangeAspect="1"/>
          </p:cNvPicPr>
          <p:nvPr/>
        </p:nvPicPr>
        <p:blipFill rotWithShape="1">
          <a:blip r:embed="rId3">
            <a:alphaModFix amt="29000"/>
          </a:blip>
          <a:srcRect l="5510" r="5510"/>
          <a:stretch/>
        </p:blipFill>
        <p:spPr>
          <a:xfrm>
            <a:off x="0" y="0"/>
            <a:ext cx="9144001" cy="6858000"/>
          </a:xfrm>
          <a:prstGeom prst="rect">
            <a:avLst/>
          </a:prstGeom>
        </p:spPr>
      </p:pic>
      <p:sp>
        <p:nvSpPr>
          <p:cNvPr id="218" name="Google Shape;218;p31"/>
          <p:cNvSpPr txBox="1"/>
          <p:nvPr/>
        </p:nvSpPr>
        <p:spPr>
          <a:xfrm>
            <a:off x="602900" y="2327775"/>
            <a:ext cx="7943100" cy="1401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8500" dirty="0">
              <a:solidFill>
                <a:srgbClr val="DE3075"/>
              </a:solidFill>
              <a:latin typeface="Franklin Gothic"/>
              <a:ea typeface="Franklin Gothic"/>
              <a:cs typeface="Franklin Gothic"/>
              <a:sym typeface="Franklin Gothic"/>
            </a:endParaRPr>
          </a:p>
        </p:txBody>
      </p:sp>
      <p:sp>
        <p:nvSpPr>
          <p:cNvPr id="219" name="Google Shape;219;p31"/>
          <p:cNvSpPr txBox="1"/>
          <p:nvPr/>
        </p:nvSpPr>
        <p:spPr>
          <a:xfrm>
            <a:off x="602900" y="3862775"/>
            <a:ext cx="7938200" cy="63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3600" dirty="0">
              <a:solidFill>
                <a:schemeClr val="bg1"/>
              </a:solidFill>
              <a:latin typeface="Franklin Gothic"/>
              <a:ea typeface="Franklin Gothic"/>
              <a:cs typeface="Franklin Gothic"/>
              <a:sym typeface="Franklin Gothic"/>
            </a:endParaRPr>
          </a:p>
        </p:txBody>
      </p:sp>
      <p:sp>
        <p:nvSpPr>
          <p:cNvPr id="4" name="Marcador de número de diapositiva 3">
            <a:extLst>
              <a:ext uri="{FF2B5EF4-FFF2-40B4-BE49-F238E27FC236}">
                <a16:creationId xmlns="" xmlns:a16="http://schemas.microsoft.com/office/drawing/2014/main" id="{33043ABA-A441-AF49-86F2-AD630E090C18}"/>
              </a:ext>
            </a:extLst>
          </p:cNvPr>
          <p:cNvSpPr>
            <a:spLocks noGrp="1"/>
          </p:cNvSpPr>
          <p:nvPr>
            <p:ph type="sldNum" idx="4294967295"/>
          </p:nvPr>
        </p:nvSpPr>
        <p:spPr>
          <a:xfrm>
            <a:off x="6457950" y="6356351"/>
            <a:ext cx="2057400" cy="365100"/>
          </a:xfrm>
          <a:prstGeom prst="rect">
            <a:avLst/>
          </a:prstGeom>
        </p:spPr>
        <p:txBody>
          <a:bodyPr/>
          <a:lstStyle/>
          <a:p>
            <a:pPr marL="0" lvl="0" indent="0" algn="r" rtl="0">
              <a:spcBef>
                <a:spcPts val="0"/>
              </a:spcBef>
              <a:spcAft>
                <a:spcPts val="0"/>
              </a:spcAft>
              <a:buNone/>
            </a:pPr>
            <a:fld id="{00000000-1234-1234-1234-123412341234}" type="slidenum">
              <a:rPr lang="en-US" smtClean="0">
                <a:solidFill>
                  <a:schemeClr val="bg1"/>
                </a:solidFill>
              </a:rPr>
              <a:t>2</a:t>
            </a:fld>
            <a:endParaRPr 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 xmlns:a16="http://schemas.microsoft.com/office/drawing/2014/main"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 xmlns:a16="http://schemas.microsoft.com/office/drawing/2014/main"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 xmlns:a16="http://schemas.microsoft.com/office/drawing/2014/main" id="{C0A58EEC-AE91-4A1D-A092-4DC34F040D5C}"/>
              </a:ext>
            </a:extLst>
          </p:cNvPr>
          <p:cNvSpPr>
            <a:spLocks noGrp="1"/>
          </p:cNvSpPr>
          <p:nvPr>
            <p:ph type="body" sz="quarter" idx="11"/>
          </p:nvPr>
        </p:nvSpPr>
        <p:spPr/>
        <p:txBody>
          <a:bodyPr/>
          <a:lstStyle/>
          <a:p>
            <a:pPr marL="393700" indent="-342900" algn="just">
              <a:buFont typeface="Arial" panose="020B0604020202020204" pitchFamily="34" charset="0"/>
              <a:buChar char="•"/>
            </a:pPr>
            <a:r>
              <a:rPr lang="es-CL" sz="2200" dirty="0"/>
              <a:t>Explicar los conceptos básicos de una Base de Datos Relacional.</a:t>
            </a:r>
          </a:p>
          <a:p>
            <a:pPr marL="393700" indent="-342900" algn="just">
              <a:buFont typeface="Arial" panose="020B0604020202020204" pitchFamily="34" charset="0"/>
              <a:buChar char="•"/>
            </a:pPr>
            <a:r>
              <a:rPr lang="es-CL" sz="2200" dirty="0"/>
              <a:t>Explicar los conceptos y características principales del lenguaje SQL.</a:t>
            </a:r>
          </a:p>
          <a:p>
            <a:pPr marL="393700" indent="-342900" algn="just">
              <a:buFont typeface="Arial" panose="020B0604020202020204" pitchFamily="34" charset="0"/>
              <a:buChar char="•"/>
            </a:pPr>
            <a:r>
              <a:rPr lang="es-CL" sz="2200" dirty="0"/>
              <a:t>Explicar la estructura un Servidor de Base de Datos Oracle desde le punto de vista de la ejecución de una sentencias SQL.</a:t>
            </a:r>
          </a:p>
          <a:p>
            <a:pPr marL="393700" indent="-342900" algn="just">
              <a:buFont typeface="Arial" panose="020B0604020202020204" pitchFamily="34" charset="0"/>
              <a:buChar char="•"/>
            </a:pPr>
            <a:r>
              <a:rPr lang="es-CL" sz="2200" dirty="0"/>
              <a:t>Cómo crear un usuario en la Base de Datos usando SQL </a:t>
            </a:r>
            <a:r>
              <a:rPr lang="es-CL" sz="2200" dirty="0" err="1"/>
              <a:t>Developer</a:t>
            </a:r>
            <a:endParaRPr lang="es-CL" sz="2200" dirty="0"/>
          </a:p>
          <a:p>
            <a:pPr algn="l"/>
            <a:endParaRPr lang="es-CL" sz="2200" dirty="0"/>
          </a:p>
        </p:txBody>
      </p:sp>
    </p:spTree>
    <p:extLst>
      <p:ext uri="{BB962C8B-B14F-4D97-AF65-F5344CB8AC3E}">
        <p14:creationId xmlns:p14="http://schemas.microsoft.com/office/powerpoint/2010/main" val="199414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04575" y="3476150"/>
            <a:ext cx="5995800" cy="160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r>
              <a:rPr lang="en-US" sz="4800" b="1" dirty="0"/>
              <a:t>Base de Datos Relacional</a:t>
            </a:r>
            <a:endParaRPr sz="4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14411" y="212725"/>
            <a:ext cx="4288185" cy="813000"/>
          </a:xfrm>
        </p:spPr>
        <p:txBody>
          <a:bodyPr/>
          <a:lstStyle/>
          <a:p>
            <a:pPr lvl="0" defTabSz="457200">
              <a:defRPr/>
            </a:pPr>
            <a:r>
              <a:rPr lang="es-CL" sz="2800" b="1" dirty="0">
                <a:solidFill>
                  <a:prstClr val="white"/>
                </a:solidFill>
                <a:latin typeface="Calibri"/>
              </a:rPr>
              <a:t>Modelamiento de Datos</a:t>
            </a:r>
          </a:p>
        </p:txBody>
      </p:sp>
      <p:pic>
        <p:nvPicPr>
          <p:cNvPr id="4" name="Imagen 3" descr="Captura de pantalla de un celular con letras&#10;&#10;Descripción generada automáticamente">
            <a:extLst>
              <a:ext uri="{FF2B5EF4-FFF2-40B4-BE49-F238E27FC236}">
                <a16:creationId xmlns="" xmlns:a16="http://schemas.microsoft.com/office/drawing/2014/main" id="{94F1C37F-4096-4FA2-9785-6E3C94D5BE4D}"/>
              </a:ext>
            </a:extLst>
          </p:cNvPr>
          <p:cNvPicPr>
            <a:picLocks noChangeAspect="1"/>
          </p:cNvPicPr>
          <p:nvPr/>
        </p:nvPicPr>
        <p:blipFill>
          <a:blip r:embed="rId3"/>
          <a:stretch>
            <a:fillRect/>
          </a:stretch>
        </p:blipFill>
        <p:spPr>
          <a:xfrm>
            <a:off x="223937" y="1289265"/>
            <a:ext cx="8752114" cy="5167750"/>
          </a:xfrm>
          <a:prstGeom prst="rect">
            <a:avLst/>
          </a:prstGeom>
        </p:spPr>
      </p:pic>
    </p:spTree>
    <p:extLst>
      <p:ext uri="{BB962C8B-B14F-4D97-AF65-F5344CB8AC3E}">
        <p14:creationId xmlns:p14="http://schemas.microsoft.com/office/powerpoint/2010/main" val="269731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14411" y="212725"/>
            <a:ext cx="4288185" cy="813000"/>
          </a:xfrm>
        </p:spPr>
        <p:txBody>
          <a:bodyPr/>
          <a:lstStyle/>
          <a:p>
            <a:pPr lvl="0" defTabSz="457200">
              <a:defRPr/>
            </a:pPr>
            <a:r>
              <a:rPr lang="es-CL" sz="2800" b="1" dirty="0">
                <a:solidFill>
                  <a:prstClr val="white"/>
                </a:solidFill>
                <a:latin typeface="Calibri"/>
              </a:rPr>
              <a:t>Base de Datos Relacional</a:t>
            </a:r>
          </a:p>
        </p:txBody>
      </p:sp>
      <p:pic>
        <p:nvPicPr>
          <p:cNvPr id="7" name="Imagen 6" descr="Imagen que contiene tabla, competencia de atletismo&#10;&#10;Descripción generada automáticamente">
            <a:extLst>
              <a:ext uri="{FF2B5EF4-FFF2-40B4-BE49-F238E27FC236}">
                <a16:creationId xmlns="" xmlns:a16="http://schemas.microsoft.com/office/drawing/2014/main" id="{2C4E1C64-134C-4322-B85D-A59FBC707175}"/>
              </a:ext>
            </a:extLst>
          </p:cNvPr>
          <p:cNvPicPr>
            <a:picLocks noChangeAspect="1"/>
          </p:cNvPicPr>
          <p:nvPr/>
        </p:nvPicPr>
        <p:blipFill>
          <a:blip r:embed="rId3"/>
          <a:stretch>
            <a:fillRect/>
          </a:stretch>
        </p:blipFill>
        <p:spPr>
          <a:xfrm>
            <a:off x="1024381" y="1608270"/>
            <a:ext cx="7095238" cy="4723809"/>
          </a:xfrm>
          <a:prstGeom prst="rect">
            <a:avLst/>
          </a:prstGeom>
        </p:spPr>
      </p:pic>
    </p:spTree>
    <p:extLst>
      <p:ext uri="{BB962C8B-B14F-4D97-AF65-F5344CB8AC3E}">
        <p14:creationId xmlns:p14="http://schemas.microsoft.com/office/powerpoint/2010/main" val="2934061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707716" y="212725"/>
            <a:ext cx="4288185" cy="813000"/>
          </a:xfrm>
        </p:spPr>
        <p:txBody>
          <a:bodyPr/>
          <a:lstStyle/>
          <a:p>
            <a:pPr lvl="0" defTabSz="457200">
              <a:defRPr/>
            </a:pPr>
            <a:r>
              <a:rPr lang="es-CL" sz="2800" b="1" dirty="0">
                <a:solidFill>
                  <a:prstClr val="white"/>
                </a:solidFill>
                <a:latin typeface="Calibri"/>
              </a:rPr>
              <a:t>Terminología de una Base de Datos Relacional</a:t>
            </a:r>
          </a:p>
        </p:txBody>
      </p:sp>
      <p:pic>
        <p:nvPicPr>
          <p:cNvPr id="7" name="Imagen 6">
            <a:extLst>
              <a:ext uri="{FF2B5EF4-FFF2-40B4-BE49-F238E27FC236}">
                <a16:creationId xmlns="" xmlns:a16="http://schemas.microsoft.com/office/drawing/2014/main" id="{B1C6500C-413B-433D-996A-5B37469A2D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136" y="1031438"/>
            <a:ext cx="6118460" cy="5733257"/>
          </a:xfrm>
          <a:prstGeom prst="rect">
            <a:avLst/>
          </a:prstGeom>
        </p:spPr>
      </p:pic>
    </p:spTree>
    <p:extLst>
      <p:ext uri="{BB962C8B-B14F-4D97-AF65-F5344CB8AC3E}">
        <p14:creationId xmlns:p14="http://schemas.microsoft.com/office/powerpoint/2010/main" val="1073654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 xmlns:a16="http://schemas.microsoft.com/office/drawing/2014/main" id="{548035E2-9379-2346-A89D-675F58CEB28A}"/>
              </a:ext>
            </a:extLst>
          </p:cNvPr>
          <p:cNvSpPr>
            <a:spLocks noGrp="1"/>
          </p:cNvSpPr>
          <p:nvPr>
            <p:ph type="title"/>
          </p:nvPr>
        </p:nvSpPr>
        <p:spPr/>
        <p:txBody>
          <a:bodyPr anchor="ctr" anchorCtr="0"/>
          <a:lstStyle/>
          <a:p>
            <a:r>
              <a:rPr lang="es-ES_tradnl" sz="4800" b="1" dirty="0"/>
              <a:t>Lenguaje SQL</a:t>
            </a:r>
          </a:p>
        </p:txBody>
      </p:sp>
    </p:spTree>
    <p:extLst>
      <p:ext uri="{BB962C8B-B14F-4D97-AF65-F5344CB8AC3E}">
        <p14:creationId xmlns:p14="http://schemas.microsoft.com/office/powerpoint/2010/main" val="1679846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96444" y="212725"/>
            <a:ext cx="4293810" cy="813000"/>
          </a:xfrm>
        </p:spPr>
        <p:txBody>
          <a:bodyPr/>
          <a:lstStyle/>
          <a:p>
            <a:pPr lvl="0" defTabSz="457200">
              <a:defRPr/>
            </a:pPr>
            <a:r>
              <a:rPr lang="es-CL" sz="2800" b="1" dirty="0">
                <a:solidFill>
                  <a:prstClr val="white"/>
                </a:solidFill>
                <a:latin typeface="Calibri"/>
              </a:rPr>
              <a:t>Lenguaje de Consulta Estructurado (SQL)</a:t>
            </a:r>
          </a:p>
        </p:txBody>
      </p:sp>
      <p:pic>
        <p:nvPicPr>
          <p:cNvPr id="6" name="Imagen 5">
            <a:extLst>
              <a:ext uri="{FF2B5EF4-FFF2-40B4-BE49-F238E27FC236}">
                <a16:creationId xmlns="" xmlns:a16="http://schemas.microsoft.com/office/drawing/2014/main" id="{95EACB5B-AFBC-4A09-8C02-A81F10D956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324" y="1489792"/>
            <a:ext cx="8196007" cy="4633421"/>
          </a:xfrm>
          <a:prstGeom prst="rect">
            <a:avLst/>
          </a:prstGeom>
        </p:spPr>
      </p:pic>
    </p:spTree>
    <p:extLst>
      <p:ext uri="{BB962C8B-B14F-4D97-AF65-F5344CB8AC3E}">
        <p14:creationId xmlns:p14="http://schemas.microsoft.com/office/powerpoint/2010/main" val="3828127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 xmlns:a16="http://schemas.microsoft.com/office/drawing/2014/main" id="{37AAEC07-39D1-40E2-BE3A-D1DC266603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124" y="1269490"/>
            <a:ext cx="8885714" cy="5057143"/>
          </a:xfrm>
          <a:prstGeom prst="rect">
            <a:avLst/>
          </a:prstGeom>
        </p:spPr>
      </p:pic>
      <p:sp>
        <p:nvSpPr>
          <p:cNvPr id="6" name="Título 2">
            <a:extLst>
              <a:ext uri="{FF2B5EF4-FFF2-40B4-BE49-F238E27FC236}">
                <a16:creationId xmlns="" xmlns:a16="http://schemas.microsoft.com/office/drawing/2014/main" id="{053572FE-B297-474B-A287-F81E6D12852F}"/>
              </a:ext>
            </a:extLst>
          </p:cNvPr>
          <p:cNvSpPr>
            <a:spLocks noGrp="1"/>
          </p:cNvSpPr>
          <p:nvPr>
            <p:ph type="title"/>
          </p:nvPr>
        </p:nvSpPr>
        <p:spPr>
          <a:xfrm>
            <a:off x="1624139" y="212725"/>
            <a:ext cx="5278161" cy="813000"/>
          </a:xfrm>
        </p:spPr>
        <p:txBody>
          <a:bodyPr/>
          <a:lstStyle/>
          <a:p>
            <a:pPr lvl="0" defTabSz="457200">
              <a:defRPr/>
            </a:pPr>
            <a:r>
              <a:rPr lang="es-CL" sz="2800" b="1" dirty="0">
                <a:solidFill>
                  <a:prstClr val="white"/>
                </a:solidFill>
                <a:latin typeface="Calibri"/>
              </a:rPr>
              <a:t>Usando SQL para</a:t>
            </a:r>
            <a:br>
              <a:rPr lang="es-CL" sz="2800" b="1" dirty="0">
                <a:solidFill>
                  <a:prstClr val="white"/>
                </a:solidFill>
                <a:latin typeface="Calibri"/>
              </a:rPr>
            </a:br>
            <a:r>
              <a:rPr lang="es-CL" sz="2800" b="1" dirty="0">
                <a:solidFill>
                  <a:prstClr val="white"/>
                </a:solidFill>
                <a:latin typeface="Calibri"/>
              </a:rPr>
              <a:t>comunicarse con un RDBMS</a:t>
            </a:r>
          </a:p>
        </p:txBody>
      </p:sp>
    </p:spTree>
    <p:extLst>
      <p:ext uri="{BB962C8B-B14F-4D97-AF65-F5344CB8AC3E}">
        <p14:creationId xmlns:p14="http://schemas.microsoft.com/office/powerpoint/2010/main" val="302159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24139" y="212725"/>
            <a:ext cx="5278161" cy="813000"/>
          </a:xfrm>
        </p:spPr>
        <p:txBody>
          <a:bodyPr/>
          <a:lstStyle/>
          <a:p>
            <a:pPr lvl="0" defTabSz="457200">
              <a:defRPr/>
            </a:pPr>
            <a:r>
              <a:rPr lang="es-CL" sz="2800" b="1" dirty="0">
                <a:solidFill>
                  <a:prstClr val="white"/>
                </a:solidFill>
                <a:latin typeface="Calibri"/>
              </a:rPr>
              <a:t>Usando SQL para</a:t>
            </a:r>
            <a:br>
              <a:rPr lang="es-CL" sz="2800" b="1" dirty="0">
                <a:solidFill>
                  <a:prstClr val="white"/>
                </a:solidFill>
                <a:latin typeface="Calibri"/>
              </a:rPr>
            </a:br>
            <a:r>
              <a:rPr lang="es-CL" sz="2800" b="1" dirty="0">
                <a:solidFill>
                  <a:prstClr val="white"/>
                </a:solidFill>
                <a:latin typeface="Calibri"/>
              </a:rPr>
              <a:t>comunicarse con un RDBMS</a:t>
            </a:r>
          </a:p>
        </p:txBody>
      </p:sp>
      <p:pic>
        <p:nvPicPr>
          <p:cNvPr id="5" name="Imagen 4">
            <a:extLst>
              <a:ext uri="{FF2B5EF4-FFF2-40B4-BE49-F238E27FC236}">
                <a16:creationId xmlns="" xmlns:a16="http://schemas.microsoft.com/office/drawing/2014/main" id="{8C94DDF0-DE01-4EAA-8217-3A41664AEF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019" y="1196751"/>
            <a:ext cx="7124317" cy="5448523"/>
          </a:xfrm>
          <a:prstGeom prst="rect">
            <a:avLst/>
          </a:prstGeom>
        </p:spPr>
      </p:pic>
    </p:spTree>
    <p:extLst>
      <p:ext uri="{BB962C8B-B14F-4D97-AF65-F5344CB8AC3E}">
        <p14:creationId xmlns:p14="http://schemas.microsoft.com/office/powerpoint/2010/main" val="2332710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736101" y="212725"/>
            <a:ext cx="4496747" cy="813000"/>
          </a:xfrm>
        </p:spPr>
        <p:txBody>
          <a:bodyPr/>
          <a:lstStyle/>
          <a:p>
            <a:pPr lvl="0" defTabSz="457200">
              <a:defRPr/>
            </a:pPr>
            <a:r>
              <a:rPr lang="es-CL" sz="2800" b="1" dirty="0">
                <a:solidFill>
                  <a:prstClr val="white"/>
                </a:solidFill>
                <a:latin typeface="Calibri"/>
              </a:rPr>
              <a:t>Elementos de un código desarrollado en SQL</a:t>
            </a:r>
          </a:p>
        </p:txBody>
      </p:sp>
      <p:pic>
        <p:nvPicPr>
          <p:cNvPr id="5" name="Imagen 4">
            <a:extLst>
              <a:ext uri="{FF2B5EF4-FFF2-40B4-BE49-F238E27FC236}">
                <a16:creationId xmlns="" xmlns:a16="http://schemas.microsoft.com/office/drawing/2014/main" id="{4A17C1F4-8286-4A4D-AAA7-D6DF1345FA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4824" y="1123414"/>
            <a:ext cx="6071245" cy="5509093"/>
          </a:xfrm>
          <a:prstGeom prst="rect">
            <a:avLst/>
          </a:prstGeom>
        </p:spPr>
      </p:pic>
    </p:spTree>
    <p:extLst>
      <p:ext uri="{BB962C8B-B14F-4D97-AF65-F5344CB8AC3E}">
        <p14:creationId xmlns:p14="http://schemas.microsoft.com/office/powerpoint/2010/main" val="482268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763688" y="229054"/>
            <a:ext cx="4074921" cy="813000"/>
          </a:xfrm>
        </p:spPr>
        <p:txBody>
          <a:bodyPr/>
          <a:lstStyle/>
          <a:p>
            <a:pPr lvl="0" defTabSz="457200">
              <a:defRPr/>
            </a:pPr>
            <a:r>
              <a:rPr lang="es-CL" sz="2800" b="1" dirty="0">
                <a:solidFill>
                  <a:prstClr val="white"/>
                </a:solidFill>
                <a:latin typeface="Calibri"/>
              </a:rPr>
              <a:t>Significado del formato de las sentencias SQL</a:t>
            </a:r>
          </a:p>
        </p:txBody>
      </p:sp>
      <p:sp>
        <p:nvSpPr>
          <p:cNvPr id="4" name="Text Box 5">
            <a:extLst>
              <a:ext uri="{FF2B5EF4-FFF2-40B4-BE49-F238E27FC236}">
                <a16:creationId xmlns="" xmlns:a16="http://schemas.microsoft.com/office/drawing/2014/main" id="{4ABB7A78-5A53-4C30-85C2-8E8F66F327AD}"/>
              </a:ext>
            </a:extLst>
          </p:cNvPr>
          <p:cNvSpPr txBox="1">
            <a:spLocks noChangeArrowheads="1"/>
          </p:cNvSpPr>
          <p:nvPr/>
        </p:nvSpPr>
        <p:spPr bwMode="auto">
          <a:xfrm>
            <a:off x="1763688" y="1700808"/>
            <a:ext cx="5688632" cy="89255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nchor="ctr" anchorCtr="0">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 |</a:t>
            </a:r>
            <a:r>
              <a:rPr kumimoji="0" lang="es-MX"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s-MX" sz="18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columna </a:t>
            </a:r>
            <a:r>
              <a:rPr kumimoji="0" lang="es-MX"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s-MX" sz="18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expresión </a:t>
            </a:r>
            <a:r>
              <a:rPr kumimoji="0" lang="es-MX"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r>
              <a:rPr kumimoji="0" lang="es-MX" sz="18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alias</a:t>
            </a:r>
            <a:r>
              <a:rPr kumimoji="0" lang="es-MX"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a:t>
            </a:r>
            <a:r>
              <a:rPr kumimoji="0" lang="es-MX" sz="18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tabla;</a:t>
            </a:r>
          </a:p>
          <a:p>
            <a:pPr marL="0" marR="0" lvl="0" indent="0" defTabSz="914400" eaLnBrk="1" fontAlgn="base" latinLnBrk="0" hangingPunct="1">
              <a:lnSpc>
                <a:spcPct val="100000"/>
              </a:lnSpc>
              <a:spcBef>
                <a:spcPct val="0"/>
              </a:spcBef>
              <a:spcAft>
                <a:spcPct val="0"/>
              </a:spcAft>
              <a:buClrTx/>
              <a:buSzTx/>
              <a:buFontTx/>
              <a:buNone/>
              <a:tabLst/>
              <a:defRPr/>
            </a:pPr>
            <a:endParaRPr kumimoji="0" lang="es-ES" sz="800" b="1" i="1"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6" name="Rectángulo redondeado 4">
            <a:extLst>
              <a:ext uri="{FF2B5EF4-FFF2-40B4-BE49-F238E27FC236}">
                <a16:creationId xmlns="" xmlns:a16="http://schemas.microsoft.com/office/drawing/2014/main" id="{D157BD0D-1A9F-49D6-B633-788E3EBC5938}"/>
              </a:ext>
            </a:extLst>
          </p:cNvPr>
          <p:cNvSpPr/>
          <p:nvPr/>
        </p:nvSpPr>
        <p:spPr>
          <a:xfrm>
            <a:off x="4601410" y="3140968"/>
            <a:ext cx="2052000" cy="2052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prstClr val="white"/>
                </a:solidFill>
                <a:effectLst/>
                <a:uLnTx/>
                <a:uFillTx/>
                <a:latin typeface="Calibri"/>
                <a:ea typeface="+mn-ea"/>
                <a:cs typeface="+mn-cs"/>
              </a:rPr>
              <a:t>... (puntos suspensivos): </a:t>
            </a:r>
            <a:r>
              <a:rPr kumimoji="0" lang="es-MX" sz="1800" b="0" i="0" u="none" strike="noStrike" kern="1200" cap="none" spc="0" normalizeH="0" baseline="0" noProof="0" dirty="0">
                <a:ln>
                  <a:noFill/>
                </a:ln>
                <a:solidFill>
                  <a:prstClr val="white"/>
                </a:solidFill>
                <a:effectLst/>
                <a:uLnTx/>
                <a:uFillTx/>
                <a:latin typeface="Calibri"/>
                <a:ea typeface="+mn-ea"/>
                <a:cs typeface="+mn-cs"/>
              </a:rPr>
              <a:t>que lo indicado se puede repetir</a:t>
            </a:r>
            <a:endParaRPr kumimoji="0" lang="es-CL" sz="1800" b="0" i="0" u="none" strike="noStrike" kern="1200" cap="none" spc="0" normalizeH="0" baseline="0" noProof="0" dirty="0">
              <a:ln>
                <a:noFill/>
              </a:ln>
              <a:solidFill>
                <a:srgbClr val="FFFFFF"/>
              </a:solidFill>
              <a:effectLst/>
              <a:uLnTx/>
              <a:uFillTx/>
              <a:latin typeface="Calibri"/>
              <a:ea typeface="+mn-ea"/>
              <a:cs typeface="Arial" panose="020B0604020202020204" pitchFamily="34" charset="0"/>
            </a:endParaRPr>
          </a:p>
        </p:txBody>
      </p:sp>
      <p:sp>
        <p:nvSpPr>
          <p:cNvPr id="7" name="Rectángulo redondeado 4">
            <a:extLst>
              <a:ext uri="{FF2B5EF4-FFF2-40B4-BE49-F238E27FC236}">
                <a16:creationId xmlns="" xmlns:a16="http://schemas.microsoft.com/office/drawing/2014/main" id="{EDF46C49-9799-49AB-AA17-C582C6F894B2}"/>
              </a:ext>
            </a:extLst>
          </p:cNvPr>
          <p:cNvSpPr/>
          <p:nvPr/>
        </p:nvSpPr>
        <p:spPr>
          <a:xfrm>
            <a:off x="6797674" y="3140968"/>
            <a:ext cx="2052000" cy="2052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prstClr val="white"/>
                </a:solidFill>
                <a:effectLst/>
                <a:uLnTx/>
                <a:uFillTx/>
                <a:latin typeface="Calibri"/>
                <a:ea typeface="+mn-ea"/>
                <a:cs typeface="+mn-cs"/>
              </a:rPr>
              <a:t>{ } (llaves): </a:t>
            </a:r>
            <a:r>
              <a:rPr kumimoji="0" lang="es-MX" sz="1800" b="0" i="0" u="none" strike="noStrike" kern="1200" cap="none" spc="0" normalizeH="0" baseline="0" noProof="0" dirty="0">
                <a:ln>
                  <a:noFill/>
                </a:ln>
                <a:solidFill>
                  <a:prstClr val="white"/>
                </a:solidFill>
                <a:effectLst/>
                <a:uLnTx/>
                <a:uFillTx/>
                <a:latin typeface="Calibri"/>
                <a:ea typeface="+mn-ea"/>
                <a:cs typeface="+mn-cs"/>
              </a:rPr>
              <a:t>opciones obligatorias pero se debe elegir sólo una  </a:t>
            </a:r>
            <a:endParaRPr kumimoji="0" lang="es-CL" sz="1800" b="0" i="0" u="none" strike="noStrike" kern="1200" cap="none" spc="0" normalizeH="0" baseline="0" noProof="0" dirty="0">
              <a:ln>
                <a:noFill/>
              </a:ln>
              <a:solidFill>
                <a:srgbClr val="FFFFFF"/>
              </a:solidFill>
              <a:effectLst/>
              <a:uLnTx/>
              <a:uFillTx/>
              <a:latin typeface="Calibri"/>
              <a:ea typeface="+mn-ea"/>
              <a:cs typeface="Arial" panose="020B0604020202020204" pitchFamily="34" charset="0"/>
            </a:endParaRPr>
          </a:p>
        </p:txBody>
      </p:sp>
      <p:sp>
        <p:nvSpPr>
          <p:cNvPr id="8" name="Rectángulo redondeado 4">
            <a:extLst>
              <a:ext uri="{FF2B5EF4-FFF2-40B4-BE49-F238E27FC236}">
                <a16:creationId xmlns="" xmlns:a16="http://schemas.microsoft.com/office/drawing/2014/main" id="{D2CBF01D-8A26-46C1-8C15-940C47239759}"/>
              </a:ext>
            </a:extLst>
          </p:cNvPr>
          <p:cNvSpPr/>
          <p:nvPr/>
        </p:nvSpPr>
        <p:spPr>
          <a:xfrm>
            <a:off x="2411760" y="3140968"/>
            <a:ext cx="2052000" cy="2052000"/>
          </a:xfrm>
          <a:prstGeom prst="roundRect">
            <a:avLst/>
          </a:prstGeom>
          <a:solidFill>
            <a:srgbClr val="86A33F"/>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prstClr val="white"/>
                </a:solidFill>
                <a:effectLst/>
                <a:uLnTx/>
                <a:uFillTx/>
                <a:latin typeface="Calibri"/>
                <a:ea typeface="+mn-ea"/>
                <a:cs typeface="+mn-cs"/>
              </a:rPr>
              <a:t>| (barra vertical): </a:t>
            </a:r>
            <a:r>
              <a:rPr kumimoji="0" lang="es-MX" sz="1800" b="0" i="0" u="none" strike="noStrike" kern="1200" cap="none" spc="0" normalizeH="0" baseline="0" noProof="0" dirty="0">
                <a:ln>
                  <a:noFill/>
                </a:ln>
                <a:solidFill>
                  <a:prstClr val="white"/>
                </a:solidFill>
                <a:effectLst/>
                <a:uLnTx/>
                <a:uFillTx/>
                <a:latin typeface="Calibri"/>
                <a:ea typeface="+mn-ea"/>
                <a:cs typeface="+mn-cs"/>
              </a:rPr>
              <a:t>es una opción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s-MX" sz="1800" b="0" i="0" u="none" strike="noStrike" kern="1200" cap="none" spc="0" normalizeH="0" baseline="0" noProof="0" dirty="0">
                <a:ln>
                  <a:noFill/>
                </a:ln>
                <a:solidFill>
                  <a:prstClr val="white"/>
                </a:solidFill>
                <a:effectLst/>
                <a:uLnTx/>
                <a:uFillTx/>
                <a:latin typeface="Calibri"/>
                <a:ea typeface="+mn-ea"/>
                <a:cs typeface="+mn-cs"/>
              </a:rPr>
              <a:t>entre varias </a:t>
            </a:r>
            <a:endParaRPr kumimoji="0" lang="es-CL" sz="1800" b="0" i="0" u="none" strike="noStrike" kern="1200" cap="none" spc="0" normalizeH="0" baseline="0" noProof="0" dirty="0">
              <a:ln>
                <a:noFill/>
              </a:ln>
              <a:solidFill>
                <a:srgbClr val="FFFFFF"/>
              </a:solidFill>
              <a:effectLst/>
              <a:uLnTx/>
              <a:uFillTx/>
              <a:latin typeface="Calibri"/>
              <a:ea typeface="+mn-ea"/>
              <a:cs typeface="Arial" panose="020B0604020202020204" pitchFamily="34" charset="0"/>
            </a:endParaRPr>
          </a:p>
        </p:txBody>
      </p:sp>
      <p:sp>
        <p:nvSpPr>
          <p:cNvPr id="9" name="Rectángulo redondeado 4">
            <a:extLst>
              <a:ext uri="{FF2B5EF4-FFF2-40B4-BE49-F238E27FC236}">
                <a16:creationId xmlns="" xmlns:a16="http://schemas.microsoft.com/office/drawing/2014/main" id="{2BACF2D0-B2F2-4BD0-8DE1-3CEDDD9BD78A}"/>
              </a:ext>
            </a:extLst>
          </p:cNvPr>
          <p:cNvSpPr/>
          <p:nvPr/>
        </p:nvSpPr>
        <p:spPr>
          <a:xfrm>
            <a:off x="211044" y="3140968"/>
            <a:ext cx="2052000" cy="2052000"/>
          </a:xfrm>
          <a:prstGeom prst="roundRect">
            <a:avLst/>
          </a:prstGeom>
          <a:solidFill>
            <a:srgbClr val="CD6209"/>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prstClr val="white"/>
                </a:solidFill>
                <a:effectLst/>
                <a:uLnTx/>
                <a:uFillTx/>
                <a:latin typeface="Calibri"/>
                <a:ea typeface="+mn-ea"/>
                <a:cs typeface="+mn-cs"/>
              </a:rPr>
              <a:t>[ ] (corchetes):  </a:t>
            </a:r>
            <a:r>
              <a:rPr kumimoji="0" lang="es-MX" sz="1800" b="0" i="0" u="none" strike="noStrike" kern="1200" cap="none" spc="0" normalizeH="0" baseline="0" noProof="0" dirty="0">
                <a:ln>
                  <a:noFill/>
                </a:ln>
                <a:solidFill>
                  <a:prstClr val="white"/>
                </a:solidFill>
                <a:effectLst/>
                <a:uLnTx/>
                <a:uFillTx/>
                <a:latin typeface="Calibri"/>
                <a:ea typeface="+mn-ea"/>
                <a:cs typeface="+mn-cs"/>
              </a:rPr>
              <a:t>no es obligatorio en el comando </a:t>
            </a:r>
            <a:endParaRPr kumimoji="0" lang="es-CL" sz="1800" b="0" i="0" u="none" strike="noStrike" kern="1200" cap="none" spc="0" normalizeH="0" baseline="0" noProof="0" dirty="0">
              <a:ln>
                <a:noFill/>
              </a:ln>
              <a:solidFill>
                <a:srgbClr val="FFFFFF"/>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470958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79508" y="212725"/>
            <a:ext cx="4345711" cy="813000"/>
          </a:xfrm>
        </p:spPr>
        <p:txBody>
          <a:bodyPr/>
          <a:lstStyle/>
          <a:p>
            <a:pPr lvl="0" defTabSz="457200">
              <a:defRPr/>
            </a:pPr>
            <a:r>
              <a:rPr lang="es-CL" sz="2800" b="1" dirty="0">
                <a:solidFill>
                  <a:prstClr val="white"/>
                </a:solidFill>
                <a:latin typeface="Calibri"/>
              </a:rPr>
              <a:t>Consideraciones para </a:t>
            </a:r>
            <a:br>
              <a:rPr lang="es-CL" sz="2800" b="1" dirty="0">
                <a:solidFill>
                  <a:prstClr val="white"/>
                </a:solidFill>
                <a:latin typeface="Calibri"/>
              </a:rPr>
            </a:br>
            <a:r>
              <a:rPr lang="es-CL" sz="2800" b="1" dirty="0">
                <a:solidFill>
                  <a:prstClr val="white"/>
                </a:solidFill>
                <a:latin typeface="Calibri"/>
              </a:rPr>
              <a:t>construir una Sentencia SQL</a:t>
            </a:r>
          </a:p>
        </p:txBody>
      </p:sp>
      <p:pic>
        <p:nvPicPr>
          <p:cNvPr id="5" name="Imagen 4">
            <a:extLst>
              <a:ext uri="{FF2B5EF4-FFF2-40B4-BE49-F238E27FC236}">
                <a16:creationId xmlns="" xmlns:a16="http://schemas.microsoft.com/office/drawing/2014/main" id="{F3EA26BB-AF92-47BD-8548-CA46E7AA40E4}"/>
              </a:ext>
            </a:extLst>
          </p:cNvPr>
          <p:cNvPicPr>
            <a:picLocks noChangeAspect="1"/>
          </p:cNvPicPr>
          <p:nvPr/>
        </p:nvPicPr>
        <p:blipFill>
          <a:blip r:embed="rId3"/>
          <a:stretch>
            <a:fillRect/>
          </a:stretch>
        </p:blipFill>
        <p:spPr>
          <a:xfrm>
            <a:off x="476923" y="1257759"/>
            <a:ext cx="8194111" cy="5304265"/>
          </a:xfrm>
          <a:prstGeom prst="rect">
            <a:avLst/>
          </a:prstGeom>
        </p:spPr>
      </p:pic>
    </p:spTree>
    <p:extLst>
      <p:ext uri="{BB962C8B-B14F-4D97-AF65-F5344CB8AC3E}">
        <p14:creationId xmlns:p14="http://schemas.microsoft.com/office/powerpoint/2010/main" val="336940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 xmlns:a16="http://schemas.microsoft.com/office/drawing/2014/main" id="{548035E2-9379-2346-A89D-675F58CEB28A}"/>
              </a:ext>
            </a:extLst>
          </p:cNvPr>
          <p:cNvSpPr>
            <a:spLocks noGrp="1"/>
          </p:cNvSpPr>
          <p:nvPr>
            <p:ph type="title"/>
          </p:nvPr>
        </p:nvSpPr>
        <p:spPr/>
        <p:txBody>
          <a:bodyPr anchor="ctr" anchorCtr="0"/>
          <a:lstStyle/>
          <a:p>
            <a:r>
              <a:rPr lang="es-ES_tradnl" sz="4800" b="1" dirty="0"/>
              <a:t>Base de Datos </a:t>
            </a:r>
            <a:br>
              <a:rPr lang="es-ES_tradnl" sz="4800" b="1" dirty="0"/>
            </a:br>
            <a:r>
              <a:rPr lang="es-ES_tradnl" sz="4800" b="1" dirty="0"/>
              <a:t>Oracle XE</a:t>
            </a:r>
          </a:p>
        </p:txBody>
      </p:sp>
    </p:spTree>
    <p:extLst>
      <p:ext uri="{BB962C8B-B14F-4D97-AF65-F5344CB8AC3E}">
        <p14:creationId xmlns:p14="http://schemas.microsoft.com/office/powerpoint/2010/main" val="3726567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707716" y="212725"/>
            <a:ext cx="4288185" cy="813000"/>
          </a:xfrm>
        </p:spPr>
        <p:txBody>
          <a:bodyPr/>
          <a:lstStyle/>
          <a:p>
            <a:r>
              <a:rPr lang="es-CL" sz="2800" b="1" dirty="0">
                <a:solidFill>
                  <a:prstClr val="white"/>
                </a:solidFill>
                <a:latin typeface="Calibri"/>
              </a:rPr>
              <a:t>Ejecución de una </a:t>
            </a:r>
            <a:br>
              <a:rPr lang="es-CL" sz="2800" b="1" dirty="0">
                <a:solidFill>
                  <a:prstClr val="white"/>
                </a:solidFill>
                <a:latin typeface="Calibri"/>
              </a:rPr>
            </a:br>
            <a:r>
              <a:rPr lang="es-CL" sz="2800" b="1" dirty="0">
                <a:solidFill>
                  <a:prstClr val="white"/>
                </a:solidFill>
                <a:latin typeface="Calibri"/>
              </a:rPr>
              <a:t>Sentencia SQL en Oracle</a:t>
            </a:r>
            <a:endParaRPr lang="es-ES_tradnl" sz="2800" dirty="0"/>
          </a:p>
        </p:txBody>
      </p:sp>
      <p:pic>
        <p:nvPicPr>
          <p:cNvPr id="4" name="Imagen 3">
            <a:extLst>
              <a:ext uri="{FF2B5EF4-FFF2-40B4-BE49-F238E27FC236}">
                <a16:creationId xmlns="" xmlns:a16="http://schemas.microsoft.com/office/drawing/2014/main" id="{21D7F2D1-D4F7-4ADF-A827-11CFCF5C10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2735" y="1196752"/>
            <a:ext cx="6838529" cy="5422704"/>
          </a:xfrm>
          <a:prstGeom prst="rect">
            <a:avLst/>
          </a:prstGeom>
        </p:spPr>
      </p:pic>
    </p:spTree>
    <p:extLst>
      <p:ext uri="{BB962C8B-B14F-4D97-AF65-F5344CB8AC3E}">
        <p14:creationId xmlns:p14="http://schemas.microsoft.com/office/powerpoint/2010/main" val="3955520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Usuarios Predefinidos de una BD Oracle</a:t>
            </a:r>
          </a:p>
        </p:txBody>
      </p:sp>
      <p:pic>
        <p:nvPicPr>
          <p:cNvPr id="6" name="Imagen 5">
            <a:extLst>
              <a:ext uri="{FF2B5EF4-FFF2-40B4-BE49-F238E27FC236}">
                <a16:creationId xmlns="" xmlns:a16="http://schemas.microsoft.com/office/drawing/2014/main" id="{6EE136C4-5A5A-436E-A8DC-7D842B0612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4849" y="1107370"/>
            <a:ext cx="5225037" cy="5648690"/>
          </a:xfrm>
          <a:prstGeom prst="rect">
            <a:avLst/>
          </a:prstGeom>
        </p:spPr>
      </p:pic>
    </p:spTree>
    <p:extLst>
      <p:ext uri="{BB962C8B-B14F-4D97-AF65-F5344CB8AC3E}">
        <p14:creationId xmlns:p14="http://schemas.microsoft.com/office/powerpoint/2010/main" val="2376167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Tablas del Usuario HR BD Oracle XE 18c</a:t>
            </a:r>
          </a:p>
        </p:txBody>
      </p:sp>
      <p:pic>
        <p:nvPicPr>
          <p:cNvPr id="4" name="Imagen 3">
            <a:extLst>
              <a:ext uri="{FF2B5EF4-FFF2-40B4-BE49-F238E27FC236}">
                <a16:creationId xmlns="" xmlns:a16="http://schemas.microsoft.com/office/drawing/2014/main" id="{5BA76B09-A49C-405D-82A3-2AF6D5C3C0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592" y="1844824"/>
            <a:ext cx="8807896" cy="3802165"/>
          </a:xfrm>
          <a:prstGeom prst="rect">
            <a:avLst/>
          </a:prstGeom>
        </p:spPr>
      </p:pic>
    </p:spTree>
    <p:extLst>
      <p:ext uri="{BB962C8B-B14F-4D97-AF65-F5344CB8AC3E}">
        <p14:creationId xmlns:p14="http://schemas.microsoft.com/office/powerpoint/2010/main" val="2777203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Creación de un Usuario de BD Oracle XE 18c</a:t>
            </a:r>
          </a:p>
        </p:txBody>
      </p:sp>
      <p:pic>
        <p:nvPicPr>
          <p:cNvPr id="5" name="Imagen 4">
            <a:extLst>
              <a:ext uri="{FF2B5EF4-FFF2-40B4-BE49-F238E27FC236}">
                <a16:creationId xmlns="" xmlns:a16="http://schemas.microsoft.com/office/drawing/2014/main" id="{697F3332-C881-4240-B8C7-61B4C2FD55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252" y="1290057"/>
            <a:ext cx="8810136" cy="4904831"/>
          </a:xfrm>
          <a:prstGeom prst="rect">
            <a:avLst/>
          </a:prstGeom>
        </p:spPr>
      </p:pic>
    </p:spTree>
    <p:extLst>
      <p:ext uri="{BB962C8B-B14F-4D97-AF65-F5344CB8AC3E}">
        <p14:creationId xmlns:p14="http://schemas.microsoft.com/office/powerpoint/2010/main" val="1526718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 xmlns:a16="http://schemas.microsoft.com/office/drawing/2014/main" id="{F7A7FF2A-218F-4F36-BD3C-1C1B533A74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7804" y="1140769"/>
            <a:ext cx="3528392" cy="5592169"/>
          </a:xfrm>
          <a:prstGeom prst="rect">
            <a:avLst/>
          </a:prstGeom>
        </p:spPr>
      </p:pic>
      <p:sp>
        <p:nvSpPr>
          <p:cNvPr id="6" name="Título 2">
            <a:extLst>
              <a:ext uri="{FF2B5EF4-FFF2-40B4-BE49-F238E27FC236}">
                <a16:creationId xmlns="" xmlns:a16="http://schemas.microsoft.com/office/drawing/2014/main" id="{BDA0BA97-B90C-4AA4-A73D-6BB09E8D4A4C}"/>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Creación de un Usuario de BD Oracle XE 18c</a:t>
            </a:r>
          </a:p>
        </p:txBody>
      </p:sp>
    </p:spTree>
    <p:extLst>
      <p:ext uri="{BB962C8B-B14F-4D97-AF65-F5344CB8AC3E}">
        <p14:creationId xmlns:p14="http://schemas.microsoft.com/office/powerpoint/2010/main" val="1373082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 xmlns:a16="http://schemas.microsoft.com/office/drawing/2014/main" id="{C625EA05-01AB-42DD-80F1-2E3C526045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0032" y="1222129"/>
            <a:ext cx="3520189" cy="5633987"/>
          </a:xfrm>
          <a:prstGeom prst="rect">
            <a:avLst/>
          </a:prstGeom>
        </p:spPr>
      </p:pic>
      <p:pic>
        <p:nvPicPr>
          <p:cNvPr id="6" name="Imagen 5">
            <a:extLst>
              <a:ext uri="{FF2B5EF4-FFF2-40B4-BE49-F238E27FC236}">
                <a16:creationId xmlns="" xmlns:a16="http://schemas.microsoft.com/office/drawing/2014/main" id="{D40FD33E-428B-4964-894B-9120FC463F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584" y="1222129"/>
            <a:ext cx="2952328" cy="4969113"/>
          </a:xfrm>
          <a:prstGeom prst="rect">
            <a:avLst/>
          </a:prstGeom>
        </p:spPr>
      </p:pic>
      <p:sp>
        <p:nvSpPr>
          <p:cNvPr id="7" name="Google Shape;205;p25">
            <a:extLst>
              <a:ext uri="{FF2B5EF4-FFF2-40B4-BE49-F238E27FC236}">
                <a16:creationId xmlns="" xmlns:a16="http://schemas.microsoft.com/office/drawing/2014/main" id="{BF955BE7-C46D-4983-970D-15337DB0DEA9}"/>
              </a:ext>
            </a:extLst>
          </p:cNvPr>
          <p:cNvSpPr txBox="1"/>
          <p:nvPr/>
        </p:nvSpPr>
        <p:spPr>
          <a:xfrm>
            <a:off x="468241" y="3407645"/>
            <a:ext cx="369887" cy="427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s-CL" sz="2400" b="1" i="0" u="none" strike="noStrike" cap="none" dirty="0">
                <a:solidFill>
                  <a:srgbClr val="C00000"/>
                </a:solidFill>
                <a:latin typeface="Calibri" panose="020F0502020204030204" pitchFamily="34" charset="0"/>
                <a:ea typeface="Arial Black"/>
                <a:cs typeface="Calibri" panose="020F0502020204030204" pitchFamily="34" charset="0"/>
                <a:sym typeface="Arial Black"/>
              </a:rPr>
              <a:t>1</a:t>
            </a:r>
            <a:endParaRPr sz="2400" b="1" i="0" u="none" strike="noStrike" cap="none" dirty="0">
              <a:solidFill>
                <a:srgbClr val="C00000"/>
              </a:solidFill>
              <a:latin typeface="Calibri" panose="020F0502020204030204" pitchFamily="34" charset="0"/>
              <a:ea typeface="Arial Black"/>
              <a:cs typeface="Calibri" panose="020F0502020204030204" pitchFamily="34" charset="0"/>
              <a:sym typeface="Arial Black"/>
            </a:endParaRPr>
          </a:p>
        </p:txBody>
      </p:sp>
      <p:sp>
        <p:nvSpPr>
          <p:cNvPr id="8" name="Google Shape;205;p25">
            <a:extLst>
              <a:ext uri="{FF2B5EF4-FFF2-40B4-BE49-F238E27FC236}">
                <a16:creationId xmlns="" xmlns:a16="http://schemas.microsoft.com/office/drawing/2014/main" id="{A6DA4874-4C66-4885-89BB-F864404B321A}"/>
              </a:ext>
            </a:extLst>
          </p:cNvPr>
          <p:cNvSpPr txBox="1"/>
          <p:nvPr/>
        </p:nvSpPr>
        <p:spPr>
          <a:xfrm>
            <a:off x="4446192" y="3410757"/>
            <a:ext cx="369887" cy="427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s-CL" sz="2400" b="1" i="0" u="none" strike="noStrike" cap="none" dirty="0">
                <a:solidFill>
                  <a:srgbClr val="C00000"/>
                </a:solidFill>
                <a:latin typeface="Calibri" panose="020F0502020204030204" pitchFamily="34" charset="0"/>
                <a:ea typeface="Arial Black"/>
                <a:cs typeface="Calibri" panose="020F0502020204030204" pitchFamily="34" charset="0"/>
                <a:sym typeface="Arial Black"/>
              </a:rPr>
              <a:t>2</a:t>
            </a:r>
            <a:endParaRPr sz="2400" b="1" i="0" u="none" strike="noStrike" cap="none" dirty="0">
              <a:solidFill>
                <a:srgbClr val="C00000"/>
              </a:solidFill>
              <a:latin typeface="Calibri" panose="020F0502020204030204" pitchFamily="34" charset="0"/>
              <a:ea typeface="Arial Black"/>
              <a:cs typeface="Calibri" panose="020F0502020204030204" pitchFamily="34" charset="0"/>
              <a:sym typeface="Arial Black"/>
            </a:endParaRPr>
          </a:p>
        </p:txBody>
      </p:sp>
      <p:sp>
        <p:nvSpPr>
          <p:cNvPr id="9" name="Título 2">
            <a:extLst>
              <a:ext uri="{FF2B5EF4-FFF2-40B4-BE49-F238E27FC236}">
                <a16:creationId xmlns="" xmlns:a16="http://schemas.microsoft.com/office/drawing/2014/main" id="{63589E40-BAF5-4FD0-BEEB-22AB4DD31922}"/>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Creación de un Usuario de BD Oracle XE 18c</a:t>
            </a:r>
          </a:p>
        </p:txBody>
      </p:sp>
    </p:spTree>
    <p:extLst>
      <p:ext uri="{BB962C8B-B14F-4D97-AF65-F5344CB8AC3E}">
        <p14:creationId xmlns:p14="http://schemas.microsoft.com/office/powerpoint/2010/main" val="2340362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 xmlns:a16="http://schemas.microsoft.com/office/drawing/2014/main" id="{5075B555-B6BD-44A1-955B-9BDF722B9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821" y="1218049"/>
            <a:ext cx="8635583" cy="5092972"/>
          </a:xfrm>
          <a:prstGeom prst="rect">
            <a:avLst/>
          </a:prstGeom>
        </p:spPr>
      </p:pic>
      <p:sp>
        <p:nvSpPr>
          <p:cNvPr id="6" name="Título 2">
            <a:extLst>
              <a:ext uri="{FF2B5EF4-FFF2-40B4-BE49-F238E27FC236}">
                <a16:creationId xmlns="" xmlns:a16="http://schemas.microsoft.com/office/drawing/2014/main" id="{97170C3F-8D1D-492E-9574-2D08A61357F0}"/>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Creación de un Usuario de BD Oracle XE 18c</a:t>
            </a:r>
          </a:p>
        </p:txBody>
      </p:sp>
    </p:spTree>
    <p:extLst>
      <p:ext uri="{BB962C8B-B14F-4D97-AF65-F5344CB8AC3E}">
        <p14:creationId xmlns:p14="http://schemas.microsoft.com/office/powerpoint/2010/main" val="2854240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 xmlns:a16="http://schemas.microsoft.com/office/drawing/2014/main" id="{9131CE24-45EF-472E-8FE0-071CDD6804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599" y="1250099"/>
            <a:ext cx="8772801" cy="5183584"/>
          </a:xfrm>
          <a:prstGeom prst="rect">
            <a:avLst/>
          </a:prstGeom>
        </p:spPr>
      </p:pic>
      <p:sp>
        <p:nvSpPr>
          <p:cNvPr id="6" name="Título 2">
            <a:extLst>
              <a:ext uri="{FF2B5EF4-FFF2-40B4-BE49-F238E27FC236}">
                <a16:creationId xmlns="" xmlns:a16="http://schemas.microsoft.com/office/drawing/2014/main" id="{06A639CE-FAA2-48DF-BB6F-118BC4E64D03}"/>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Creación de un Usuario de BD Oracle XE 18c</a:t>
            </a:r>
          </a:p>
        </p:txBody>
      </p:sp>
    </p:spTree>
    <p:extLst>
      <p:ext uri="{BB962C8B-B14F-4D97-AF65-F5344CB8AC3E}">
        <p14:creationId xmlns:p14="http://schemas.microsoft.com/office/powerpoint/2010/main" val="2301658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 xmlns:a16="http://schemas.microsoft.com/office/drawing/2014/main" id="{70098D89-8C12-4B29-9A26-DB5918E7D4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10" y="1196752"/>
            <a:ext cx="8789437" cy="5193413"/>
          </a:xfrm>
          <a:prstGeom prst="rect">
            <a:avLst/>
          </a:prstGeom>
        </p:spPr>
      </p:pic>
      <p:sp>
        <p:nvSpPr>
          <p:cNvPr id="7" name="Título 2">
            <a:extLst>
              <a:ext uri="{FF2B5EF4-FFF2-40B4-BE49-F238E27FC236}">
                <a16:creationId xmlns="" xmlns:a16="http://schemas.microsoft.com/office/drawing/2014/main" id="{C288BB98-F1A8-41D1-91EE-A8693A872A25}"/>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Creación de un Usuario de BD Oracle XE 18c</a:t>
            </a:r>
          </a:p>
        </p:txBody>
      </p:sp>
    </p:spTree>
    <p:extLst>
      <p:ext uri="{BB962C8B-B14F-4D97-AF65-F5344CB8AC3E}">
        <p14:creationId xmlns:p14="http://schemas.microsoft.com/office/powerpoint/2010/main" val="3475436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 xmlns:a16="http://schemas.microsoft.com/office/drawing/2014/main" id="{1D673534-5A8B-4DF4-B34E-364DEC8650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149" y="1143404"/>
            <a:ext cx="8874224" cy="5221027"/>
          </a:xfrm>
          <a:prstGeom prst="rect">
            <a:avLst/>
          </a:prstGeom>
        </p:spPr>
      </p:pic>
      <p:sp>
        <p:nvSpPr>
          <p:cNvPr id="6" name="Título 2">
            <a:extLst>
              <a:ext uri="{FF2B5EF4-FFF2-40B4-BE49-F238E27FC236}">
                <a16:creationId xmlns="" xmlns:a16="http://schemas.microsoft.com/office/drawing/2014/main" id="{424B1383-8E9B-4944-B065-E37DC9D12F2D}"/>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Creación de un Usuario de BD Oracle XE 18c</a:t>
            </a:r>
          </a:p>
        </p:txBody>
      </p:sp>
    </p:spTree>
    <p:extLst>
      <p:ext uri="{BB962C8B-B14F-4D97-AF65-F5344CB8AC3E}">
        <p14:creationId xmlns:p14="http://schemas.microsoft.com/office/powerpoint/2010/main" val="2270855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 xmlns:a16="http://schemas.microsoft.com/office/drawing/2014/main" id="{2C120716-A0FE-4536-A17F-E50102D3E2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157" y="1124743"/>
            <a:ext cx="8802216" cy="5216129"/>
          </a:xfrm>
          <a:prstGeom prst="rect">
            <a:avLst/>
          </a:prstGeom>
        </p:spPr>
      </p:pic>
      <p:sp>
        <p:nvSpPr>
          <p:cNvPr id="7" name="Título 2">
            <a:extLst>
              <a:ext uri="{FF2B5EF4-FFF2-40B4-BE49-F238E27FC236}">
                <a16:creationId xmlns="" xmlns:a16="http://schemas.microsoft.com/office/drawing/2014/main" id="{B5671435-828D-4445-A4E3-43042373CCC6}"/>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Creación de un Usuario de BD Oracle XE 18c</a:t>
            </a:r>
          </a:p>
        </p:txBody>
      </p:sp>
    </p:spTree>
    <p:extLst>
      <p:ext uri="{BB962C8B-B14F-4D97-AF65-F5344CB8AC3E}">
        <p14:creationId xmlns:p14="http://schemas.microsoft.com/office/powerpoint/2010/main" val="1847454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 xmlns:a16="http://schemas.microsoft.com/office/drawing/2014/main"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27</a:t>
            </a:fld>
            <a:endParaRPr lang="en-US"/>
          </a:p>
        </p:txBody>
      </p:sp>
      <p:sp>
        <p:nvSpPr>
          <p:cNvPr id="2" name="Título 1">
            <a:extLst>
              <a:ext uri="{FF2B5EF4-FFF2-40B4-BE49-F238E27FC236}">
                <a16:creationId xmlns="" xmlns:a16="http://schemas.microsoft.com/office/drawing/2014/main" id="{9750BC02-FE4E-1148-8346-BA2C94ECC781}"/>
              </a:ext>
            </a:extLst>
          </p:cNvPr>
          <p:cNvSpPr>
            <a:spLocks noGrp="1"/>
          </p:cNvSpPr>
          <p:nvPr>
            <p:ph type="title"/>
          </p:nvPr>
        </p:nvSpPr>
        <p:spPr/>
        <p:txBody>
          <a:bodyPr/>
          <a:lstStyle/>
          <a:p>
            <a:r>
              <a:rPr lang="es-ES_tradnl" b="1" dirty="0"/>
              <a:t>Resumen de la Clase</a:t>
            </a:r>
          </a:p>
        </p:txBody>
      </p:sp>
      <p:sp>
        <p:nvSpPr>
          <p:cNvPr id="9" name="Marcador de texto 8">
            <a:extLst>
              <a:ext uri="{FF2B5EF4-FFF2-40B4-BE49-F238E27FC236}">
                <a16:creationId xmlns="" xmlns:a16="http://schemas.microsoft.com/office/drawing/2014/main" id="{C0A58EEC-AE91-4A1D-A092-4DC34F040D5C}"/>
              </a:ext>
            </a:extLst>
          </p:cNvPr>
          <p:cNvSpPr>
            <a:spLocks noGrp="1"/>
          </p:cNvSpPr>
          <p:nvPr>
            <p:ph type="body" sz="quarter" idx="11"/>
          </p:nvPr>
        </p:nvSpPr>
        <p:spPr/>
        <p:txBody>
          <a:bodyPr/>
          <a:lstStyle/>
          <a:p>
            <a:pPr marL="393700" indent="-342900" algn="just">
              <a:buFont typeface="Arial" panose="020B0604020202020204" pitchFamily="34" charset="0"/>
              <a:buChar char="•"/>
            </a:pPr>
            <a:r>
              <a:rPr lang="es-CL" sz="2200" dirty="0"/>
              <a:t>Se explicaron los conceptos básicos de una Base de Datos Relacional.</a:t>
            </a:r>
          </a:p>
          <a:p>
            <a:pPr marL="393700" indent="-342900" algn="just">
              <a:buFont typeface="Arial" panose="020B0604020202020204" pitchFamily="34" charset="0"/>
              <a:buChar char="•"/>
            </a:pPr>
            <a:r>
              <a:rPr lang="es-CL" sz="2200" dirty="0"/>
              <a:t>Se explicaron los conceptos y características principales del lenguaje SQL.</a:t>
            </a:r>
          </a:p>
          <a:p>
            <a:pPr marL="393700" indent="-342900" algn="just">
              <a:buFont typeface="Arial" panose="020B0604020202020204" pitchFamily="34" charset="0"/>
              <a:buChar char="•"/>
            </a:pPr>
            <a:r>
              <a:rPr lang="es-CL" sz="2200" dirty="0"/>
              <a:t>Se explicó la estructura un Servidor de Base de Datos Oracle desde le punto de vista de la ejecución de una sentencias SQL.</a:t>
            </a:r>
          </a:p>
          <a:p>
            <a:pPr marL="393700" indent="-342900" algn="just">
              <a:buFont typeface="Arial" panose="020B0604020202020204" pitchFamily="34" charset="0"/>
              <a:buChar char="•"/>
            </a:pPr>
            <a:r>
              <a:rPr lang="es-CL" sz="2200" dirty="0"/>
              <a:t>Se explicó cómo crear un usuario en la Base de Datos usando SQL </a:t>
            </a:r>
            <a:r>
              <a:rPr lang="es-CL" sz="2200" dirty="0" err="1"/>
              <a:t>Developer</a:t>
            </a:r>
            <a:endParaRPr lang="es-CL" sz="2200" dirty="0"/>
          </a:p>
          <a:p>
            <a:pPr algn="l"/>
            <a:endParaRPr lang="es-CL" sz="2200" dirty="0"/>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2406</TotalTime>
  <Words>3100</Words>
  <Application>Microsoft Office PowerPoint</Application>
  <PresentationFormat>Presentación en pantalla (4:3)</PresentationFormat>
  <Paragraphs>177</Paragraphs>
  <Slides>27</Slides>
  <Notes>24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27</vt:i4>
      </vt:variant>
    </vt:vector>
  </HeadingPairs>
  <TitlesOfParts>
    <vt:vector size="36" baseType="lpstr">
      <vt:lpstr>Arial</vt:lpstr>
      <vt:lpstr>Arial Black</vt:lpstr>
      <vt:lpstr>Bebas Neue</vt:lpstr>
      <vt:lpstr>Roboto Condensed</vt:lpstr>
      <vt:lpstr>Roboto</vt:lpstr>
      <vt:lpstr>Franklin Gothic</vt:lpstr>
      <vt:lpstr>Calibri</vt:lpstr>
      <vt:lpstr>Roboto Mono</vt:lpstr>
      <vt:lpstr>Tema de Office</vt:lpstr>
      <vt:lpstr>Aspectos Generales del Lenguaje SQL</vt:lpstr>
      <vt:lpstr>Presentación de PowerPoint</vt:lpstr>
      <vt:lpstr>Objetivos de la Clase</vt:lpstr>
      <vt:lpstr>Base de Datos Relacional</vt:lpstr>
      <vt:lpstr>Modelamiento de Datos</vt:lpstr>
      <vt:lpstr>Base de Datos Relacional</vt:lpstr>
      <vt:lpstr>Terminología de una Base de Datos Relacional</vt:lpstr>
      <vt:lpstr>Lenguaje SQL</vt:lpstr>
      <vt:lpstr>Lenguaje de Consulta Estructurado (SQL)</vt:lpstr>
      <vt:lpstr>Usando SQL para comunicarse con un RDBMS</vt:lpstr>
      <vt:lpstr>Usando SQL para comunicarse con un RDBMS</vt:lpstr>
      <vt:lpstr>Elementos de un código desarrollado en SQL</vt:lpstr>
      <vt:lpstr>Significado del formato de las sentencias SQL</vt:lpstr>
      <vt:lpstr>Consideraciones para  construir una Sentencia SQL</vt:lpstr>
      <vt:lpstr>Base de Datos  Oracle XE</vt:lpstr>
      <vt:lpstr>Ejecución de una  Sentencia SQL en Oracle</vt:lpstr>
      <vt:lpstr>Usuarios Predefinidos de una BD Oracle</vt:lpstr>
      <vt:lpstr>Tablas del Usuario HR BD Oracle XE 18c</vt:lpstr>
      <vt:lpstr>Creación de un Usuario de BD Oracle XE 18c</vt:lpstr>
      <vt:lpstr>Creación de un Usuario de BD Oracle XE 18c</vt:lpstr>
      <vt:lpstr>Creación de un Usuario de BD Oracle XE 18c</vt:lpstr>
      <vt:lpstr>Creación de un Usuario de BD Oracle XE 18c</vt:lpstr>
      <vt:lpstr>Creación de un Usuario de BD Oracle XE 18c</vt:lpstr>
      <vt:lpstr>Creación de un Usuario de BD Oracle XE 18c</vt:lpstr>
      <vt:lpstr>Creación de un Usuario de BD Oracle XE 18c</vt:lpstr>
      <vt:lpstr>Creación de un Usuario de BD Oracle XE 18c</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cp:lastModifiedBy>Usuario de Windows</cp:lastModifiedBy>
  <cp:revision>143</cp:revision>
  <dcterms:modified xsi:type="dcterms:W3CDTF">2020-05-26T13:13:25Z</dcterms:modified>
</cp:coreProperties>
</file>