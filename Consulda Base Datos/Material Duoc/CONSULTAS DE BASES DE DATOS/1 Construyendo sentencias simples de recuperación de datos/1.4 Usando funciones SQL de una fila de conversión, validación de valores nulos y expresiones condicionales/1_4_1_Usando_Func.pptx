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33"/>
  </p:notesMasterIdLst>
  <p:sldIdLst>
    <p:sldId id="256" r:id="rId2"/>
    <p:sldId id="338" r:id="rId3"/>
    <p:sldId id="263" r:id="rId4"/>
    <p:sldId id="258" r:id="rId5"/>
    <p:sldId id="315" r:id="rId6"/>
    <p:sldId id="366" r:id="rId7"/>
    <p:sldId id="367" r:id="rId8"/>
    <p:sldId id="316" r:id="rId9"/>
    <p:sldId id="368" r:id="rId10"/>
    <p:sldId id="369" r:id="rId11"/>
    <p:sldId id="370" r:id="rId12"/>
    <p:sldId id="371" r:id="rId13"/>
    <p:sldId id="372" r:id="rId14"/>
    <p:sldId id="373" r:id="rId15"/>
    <p:sldId id="374" r:id="rId16"/>
    <p:sldId id="268" r:id="rId17"/>
    <p:sldId id="279" r:id="rId18"/>
    <p:sldId id="375" r:id="rId19"/>
    <p:sldId id="376" r:id="rId20"/>
    <p:sldId id="377" r:id="rId21"/>
    <p:sldId id="378" r:id="rId22"/>
    <p:sldId id="379" r:id="rId23"/>
    <p:sldId id="354" r:id="rId24"/>
    <p:sldId id="380" r:id="rId25"/>
    <p:sldId id="269" r:id="rId26"/>
    <p:sldId id="304" r:id="rId27"/>
    <p:sldId id="381" r:id="rId28"/>
    <p:sldId id="382" r:id="rId29"/>
    <p:sldId id="383" r:id="rId30"/>
    <p:sldId id="384" r:id="rId31"/>
    <p:sldId id="314" r:id="rId32"/>
  </p:sldIdLst>
  <p:sldSz cx="9144000" cy="6858000" type="screen4x3"/>
  <p:notesSz cx="6858000" cy="9144000"/>
  <p:embeddedFontLst>
    <p:embeddedFont>
      <p:font typeface="Calibri" panose="020F0502020204030204" pitchFamily="34" charset="0"/>
      <p:regular r:id="rId34"/>
      <p:bold r:id="rId35"/>
      <p:italic r:id="rId36"/>
      <p:boldItalic r:id="rId37"/>
    </p:embeddedFont>
    <p:embeddedFont>
      <p:font typeface="Roboto Condensed" panose="020B0604020202020204" charset="0"/>
      <p:regular r:id="rId38"/>
      <p:bold r:id="rId39"/>
      <p:italic r:id="rId40"/>
      <p:boldItalic r:id="rId41"/>
    </p:embeddedFont>
    <p:embeddedFont>
      <p:font typeface="Roboto Mono" panose="020B0604020202020204" charset="0"/>
      <p:regular r:id="rId42"/>
      <p:bold r:id="rId43"/>
      <p:italic r:id="rId44"/>
      <p:boldItalic r:id="rId45"/>
    </p:embeddedFont>
    <p:embeddedFont>
      <p:font typeface="Franklin Gothic" panose="020B0604020202020204" charset="0"/>
      <p:regular r:id="rId46"/>
      <p:bold r:id="rId47"/>
      <p:italic r:id="rId48"/>
      <p:boldItalic r:id="rId49"/>
    </p:embeddedFont>
    <p:embeddedFont>
      <p:font typeface="Arial Unicode MS" panose="020B0604020202020204" pitchFamily="34" charset="-128"/>
      <p:regular r:id="rId50"/>
    </p:embeddedFont>
    <p:embeddedFont>
      <p:font typeface="Bebas Neue" panose="020B0604020202020204" charset="0"/>
      <p:regular r:id="rId51"/>
    </p:embeddedFont>
    <p:embeddedFont>
      <p:font typeface="Arial Black" panose="020B0A04020102020204" pitchFamily="34" charset="0"/>
      <p:bold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83302" autoAdjust="0"/>
  </p:normalViewPr>
  <p:slideViewPr>
    <p:cSldViewPr snapToGrid="0" snapToObjects="1">
      <p:cViewPr varScale="1">
        <p:scale>
          <a:sx n="62" d="100"/>
          <a:sy n="62" d="100"/>
        </p:scale>
        <p:origin x="1596"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font" Target="fonts/font17.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52"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714474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63392f1e7f_0_4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63392f1e7f_0_4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39570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63392f1e7f_0_5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63392f1e7f_0_5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07813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eaLnBrk="1" hangingPunct="1">
              <a:lnSpc>
                <a:spcPct val="90000"/>
              </a:lnSpc>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Funciones SQL</a:t>
            </a: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indent="0" algn="just" eaLnBrk="1" hangingPunct="1">
              <a:lnSpc>
                <a:spcPct val="90000"/>
              </a:lnSpc>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Las funciones son una característica muy poderosa del SQL. A partir de parámetros que requiere (cuando se requiera) para realizar una acción y entregar un resultado.</a:t>
            </a:r>
          </a:p>
          <a:p>
            <a:pPr marL="0" indent="0" algn="just" eaLnBrk="1" hangingPunct="1">
              <a:lnSpc>
                <a:spcPct val="90000"/>
              </a:lnSpc>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Las funciones pueden ser usadas para:</a:t>
            </a:r>
          </a:p>
          <a:p>
            <a:pPr marL="171450" indent="-171450" algn="just" eaLnBrk="1" hangingPunct="1">
              <a:lnSpc>
                <a:spcPct val="90000"/>
              </a:lnSpc>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Realizar cálculos sobre los datos.</a:t>
            </a:r>
          </a:p>
          <a:p>
            <a:pPr marL="171450" indent="-171450" algn="just" eaLnBrk="1" hangingPunct="1">
              <a:lnSpc>
                <a:spcPct val="90000"/>
              </a:lnSpc>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Modificar datos individuales.</a:t>
            </a:r>
          </a:p>
          <a:p>
            <a:pPr marL="171450" indent="-171450" algn="just" eaLnBrk="1" hangingPunct="1">
              <a:lnSpc>
                <a:spcPct val="90000"/>
              </a:lnSpc>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Manipular la salida para grupos de filas.</a:t>
            </a:r>
          </a:p>
          <a:p>
            <a:pPr marL="171450" indent="-171450" algn="just" eaLnBrk="1" hangingPunct="1">
              <a:lnSpc>
                <a:spcPct val="90000"/>
              </a:lnSpc>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Formatear fechas y números para ser visualizadas.</a:t>
            </a:r>
          </a:p>
          <a:p>
            <a:pPr marL="171450" indent="-171450" algn="just" eaLnBrk="1" hangingPunct="1">
              <a:lnSpc>
                <a:spcPct val="90000"/>
              </a:lnSpc>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Convertir tipos de datos de columnas.</a:t>
            </a:r>
          </a:p>
          <a:p>
            <a:pPr marL="0" marR="0" lvl="0" indent="0" algn="just" defTabSz="914400" rtl="0" eaLnBrk="1" fontAlgn="base" latinLnBrk="0" hangingPunct="1">
              <a:lnSpc>
                <a:spcPct val="90000"/>
              </a:lnSpc>
              <a:spcBef>
                <a:spcPct val="30000"/>
              </a:spcBef>
              <a:spcAft>
                <a:spcPct val="0"/>
              </a:spcAft>
              <a:buClrTx/>
              <a:buSzTx/>
              <a:buFontTx/>
              <a:buNone/>
              <a:tabLst/>
              <a:defRP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Las funciones pueden opcionalmente recibir argumentos (valores) como entrada, pero SIEMPRE retornan un valor.</a:t>
            </a:r>
            <a:r>
              <a:rPr kumimoji="0" lang="es-CL" sz="1200" b="1" i="0" u="none" strike="noStrike" kern="1200" cap="none" spc="0" normalizeH="0" baseline="0" noProof="0" dirty="0">
                <a:ln>
                  <a:noFill/>
                </a:ln>
                <a:solidFill>
                  <a:prstClr val="black"/>
                </a:solidFill>
                <a:effectLst/>
                <a:uLnTx/>
                <a:uFillTx/>
                <a:latin typeface="Calibri"/>
                <a:ea typeface="+mn-ea"/>
                <a:cs typeface="Arial" charset="0"/>
              </a:rPr>
              <a:t> Conversión de Tipos de Datos</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En algunos casos, el servidor Oracle usa tipos de datos distintos a los que se requieren. Cuando esto sucede, se debe convertir al tipo de datos que se requiere. </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La conversión de un tipo de dato a otro puede ser efectuada en forma implícita o automática por el servidor Oracle o en forma explícita por el usuario usando funciones de conversión.</a:t>
            </a:r>
          </a:p>
          <a:p>
            <a:pPr marL="0" marR="0" lvl="0" indent="0" algn="l" defTabSz="914400" rtl="0" eaLnBrk="1" fontAlgn="base" latinLnBrk="0" hangingPunct="1">
              <a:lnSpc>
                <a:spcPct val="90000"/>
              </a:lnSpc>
              <a:spcBef>
                <a:spcPct val="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endParaRPr>
          </a:p>
          <a:p>
            <a:pPr marL="0" indent="0" algn="just" eaLnBrk="1" hangingPunct="1">
              <a:lnSpc>
                <a:spcPct val="90000"/>
              </a:lnSpc>
              <a:buFont typeface="Arial" panose="020B0604020202020204" pitchFamily="34" charset="0"/>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Conversión de Tipos de Datos</a:t>
            </a:r>
          </a:p>
          <a:p>
            <a:pPr marL="0" indent="0" algn="just" eaLnBrk="1" hangingPunct="1">
              <a:lnSpc>
                <a:spcPct val="90000"/>
              </a:lnSpc>
              <a:buFont typeface="Arial" panose="020B0604020202020204" pitchFamily="34" charset="0"/>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algunos casos, el servidor Oracle usa tipos de datos distintos a los que se requieren. Cuando esto sucede, se debe convertir al tipo de datos que se requiere. </a:t>
            </a:r>
          </a:p>
          <a:p>
            <a:pPr marL="0" indent="0" algn="just" eaLnBrk="1" hangingPunct="1">
              <a:lnSpc>
                <a:spcPct val="90000"/>
              </a:lnSpc>
              <a:buFont typeface="Arial" panose="020B0604020202020204" pitchFamily="34" charset="0"/>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La conversión de un tipo de dato a otro puede ser efectuada en forma implícita o automática por el servidor Oracle o en forma explícita por el usuario usando funciones de conversión.</a:t>
            </a:r>
          </a:p>
          <a:p>
            <a:pPr marL="0" indent="0" algn="just" eaLnBrk="1" hangingPunct="1">
              <a:lnSpc>
                <a:spcPct val="90000"/>
              </a:lnSpc>
              <a:buFont typeface="Arial" panose="020B0604020202020204" pitchFamily="34" charset="0"/>
              <a:buNone/>
            </a:pP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indent="0" algn="just" eaLnBrk="1" hangingPunct="1">
              <a:lnSpc>
                <a:spcPct val="90000"/>
              </a:lnSpc>
              <a:buFont typeface="Arial" panose="020B0604020202020204" pitchFamily="34" charset="0"/>
              <a:buNone/>
            </a:pP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41330683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Conversión de Tipos de Datos Implícita</a:t>
            </a:r>
          </a:p>
          <a:p>
            <a:pPr marL="171450" marR="0" lvl="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La asignación de valores tiene éxito si el servidor Oracle puede convertir el tipo de dato del valor usado en el tipo de dato que se encuentra almacenado.</a:t>
            </a:r>
          </a:p>
          <a:p>
            <a:pPr marL="171450" marR="0" lvl="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El servidor Oracle puede convertir implícitamente (en forma automática) siempre que el valor a convertir tenga un formato válido al tipo de dato en el que se convertirá.</a:t>
            </a:r>
          </a:p>
          <a:p>
            <a:pPr marL="171450" marR="0" lvl="0"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Su pueden convertir en forma explícita:</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De VARCHAR2 o CHAR a NUMBER</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De VARCHAR2 o CHAR a DATE</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DE NUMBER A VARCHA2</a:t>
            </a:r>
          </a:p>
          <a:p>
            <a:pPr marL="628650" marR="0" lvl="1" indent="-171450" algn="l" defTabSz="914400" rtl="0" eaLnBrk="0" fontAlgn="base" latinLnBrk="0" hangingPunct="0">
              <a:lnSpc>
                <a:spcPct val="100000"/>
              </a:lnSpc>
              <a:spcBef>
                <a:spcPct val="30000"/>
              </a:spcBef>
              <a:spcAft>
                <a:spcPct val="0"/>
              </a:spcAft>
              <a:buClrTx/>
              <a:buSzTx/>
              <a:buFont typeface="Arial" pitchFamily="34" charset="0"/>
              <a:buChar char="•"/>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DE DATE A VARCHAR2</a:t>
            </a: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En la sentencia del ejemplo, se obtiene información de los empleados contratados después del '05/03/2008’ . La fecha es una cadena de caracteres que Oracle convierte a fecha al momento de comparar. Esto lo puede hacer porque la fecha de la condición tiene un formato de fecha válido para poder ser convertido a tipo de dato DATE.</a:t>
            </a:r>
          </a:p>
        </p:txBody>
      </p:sp>
    </p:spTree>
    <p:extLst>
      <p:ext uri="{BB962C8B-B14F-4D97-AF65-F5344CB8AC3E}">
        <p14:creationId xmlns:p14="http://schemas.microsoft.com/office/powerpoint/2010/main" val="34777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Conversión de Tipos de Datos Explícita</a:t>
            </a: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Oracle proporciona tres funciones para convertir en forma explícita un tipo de dato en otro:</a:t>
            </a: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 </a:t>
            </a: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TO_CHAR: </a:t>
            </a: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Obtiene un texto a partir de un número o fecha. Opcionalmente se puede dar un formato específico de conversión.</a:t>
            </a: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 </a:t>
            </a: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TO_NUMBER:</a:t>
            </a: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 Convierte textos en números, indicándole, si se desea,  el formato de salida.</a:t>
            </a: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 </a:t>
            </a: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TO_DATE:</a:t>
            </a: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 Convierte textos en fechas, indicándole, si se desea, el formato de salida.</a:t>
            </a: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endParaRPr>
          </a:p>
        </p:txBody>
      </p:sp>
    </p:spTree>
    <p:extLst>
      <p:ext uri="{BB962C8B-B14F-4D97-AF65-F5344CB8AC3E}">
        <p14:creationId xmlns:p14="http://schemas.microsoft.com/office/powerpoint/2010/main" val="13818203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80000"/>
              </a:lnSpc>
              <a:spcBef>
                <a:spcPct val="0"/>
              </a:spcBef>
              <a:spcAft>
                <a:spcPct val="0"/>
              </a:spcAft>
              <a:buClrTx/>
              <a:buSzTx/>
              <a:buFontTx/>
              <a:buNone/>
              <a:tabLst/>
              <a:defRPr/>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Uso de Función TO_CHAR con Fechas </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Los elementos más usados en el formato de conversión son lo siguientes:</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YYYY: muestra el año en 4 dígitos</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YEAR: muestra el año en palabras. Si las dos primeras letras son mayúsculas, se mostrará todo en mayúscula. Si la segunda letra es minúscula, la primera letra se muestra en mayúscula y todo el resto en minúscula.</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MM: muestra el mes en dos dígitos</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MONTH:  muestra el mes en palabras. Si las dos primeras letras son mayúsculas, se mostrará todo en mayúscula. Si la segunda letra es minúscula, la primera letra se muestra en mayúscula y todo el resto en minúscula.</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MON: muestra el mes abreviado en tres letras. Si las dos primeras letras son mayúsculas, se mostrará todo en mayúscula. Si la segunda letra es minúscula, la primera letra se muestra en mayúscula y todo el resto en minúscula.</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DY: muestra el día de la semana en tres letras. Si la segunda letra es minúscula, la primera letra se muestra en mayúscula y el resto en minúscula.</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DAY: muestra el día en palabras. Si las dos primeras letras son mayúsculas, se mostrará todo en mayúscula. Si la segunda letra es minúscula, la primera letra se muestra en mayúscula y todo el resto en minúscula.</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DD. muestra el día en dos dígitos.</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Q (o q): muestra a qué trimestre corresponde la fecha.</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AM o PM: muestra el indicador del meridiano</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HH, HH12 o HH24: muestra la hora, la hora de 1-12 y muestra la hora de 0-23 respectivamente.</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MI: muestra los minutos</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SS: muestra los segundos</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Los símbolos / . Y , : estos símbolos se muestra como parte del formato.</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a:t>
            </a:r>
            <a:r>
              <a:rPr kumimoji="0" lang="es-CL" sz="1200" b="0" i="0" u="none" strike="noStrike" kern="1200" cap="none" spc="0" normalizeH="0" baseline="0" noProof="0" dirty="0" err="1">
                <a:ln>
                  <a:noFill/>
                </a:ln>
                <a:solidFill>
                  <a:prstClr val="white"/>
                </a:solidFill>
                <a:effectLst/>
                <a:uLnTx/>
                <a:uFillTx/>
                <a:latin typeface="Calibri" panose="020F0502020204030204" pitchFamily="34" charset="0"/>
                <a:ea typeface="Arial"/>
                <a:cs typeface="Calibri" panose="020F0502020204030204" pitchFamily="34" charset="0"/>
                <a:sym typeface="Arial"/>
              </a:rPr>
              <a:t>caracteres_a_visualiza</a:t>
            </a: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 texto fijo que se muestra en el resultado</a:t>
            </a:r>
            <a:endParaRPr lang="es-CL"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02507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1" fontAlgn="base" latinLnBrk="0" hangingPunct="1">
              <a:lnSpc>
                <a:spcPct val="80000"/>
              </a:lnSpc>
              <a:spcBef>
                <a:spcPct val="0"/>
              </a:spcBef>
              <a:spcAft>
                <a:spcPct val="0"/>
              </a:spcAft>
              <a:buClrTx/>
              <a:buSzTx/>
              <a:buFontTx/>
              <a:buNone/>
              <a:tabLst/>
              <a:defRPr/>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Uso de Función TO_CHAR con Fechas</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a:p>
            <a:pPr marL="0" marR="0" lvl="0" indent="0" algn="just" defTabSz="914400" rtl="0" eaLnBrk="1" fontAlgn="base" latinLnBrk="0" hangingPunct="1">
              <a:lnSpc>
                <a:spcPct val="80000"/>
              </a:lnSpc>
              <a:spcBef>
                <a:spcPct val="0"/>
              </a:spcBef>
              <a:spcAft>
                <a:spcPct val="0"/>
              </a:spcAft>
              <a:buClrTx/>
              <a:buSzTx/>
              <a:buFontTx/>
              <a:buNone/>
              <a:tabLst/>
              <a:defRP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el ejemplo, la sentencia se ejecutó </a:t>
            </a:r>
            <a:r>
              <a:rPr lang="es-MX" sz="1200" b="0" i="0" u="none" strike="noStrike" cap="none" dirty="0">
                <a:solidFill>
                  <a:srgbClr val="800080"/>
                </a:solidFill>
                <a:latin typeface="Calibri" panose="020F0502020204030204" pitchFamily="34" charset="0"/>
                <a:ea typeface="Arial"/>
                <a:cs typeface="Calibri" panose="020F0502020204030204" pitchFamily="34" charset="0"/>
                <a:sym typeface="Arial"/>
              </a:rPr>
              <a:t>11 de Octubre del 2019 a las 15:21)</a:t>
            </a:r>
            <a:r>
              <a:rPr lang="es-MX" sz="1200" b="0" i="0" u="none" strike="noStrike" cap="none" dirty="0">
                <a:solidFill>
                  <a:schemeClr val="tx1"/>
                </a:solidFill>
                <a:latin typeface="Calibri" panose="020F0502020204030204" pitchFamily="34" charset="0"/>
                <a:ea typeface="Arial"/>
                <a:cs typeface="Calibri" panose="020F0502020204030204" pitchFamily="34" charset="0"/>
                <a:sym typeface="Arial"/>
              </a:rPr>
              <a:t>. E</a:t>
            </a:r>
            <a:r>
              <a:rPr lang="es-MX" sz="1200" b="0" i="0" u="none" strike="noStrike" cap="none" dirty="0">
                <a:solidFill>
                  <a:schemeClr val="hlink"/>
                </a:solidFill>
                <a:latin typeface="Calibri" panose="020F0502020204030204" pitchFamily="34" charset="0"/>
                <a:ea typeface="Arial"/>
                <a:cs typeface="Calibri" panose="020F0502020204030204" pitchFamily="34" charset="0"/>
                <a:sym typeface="Arial"/>
              </a:rPr>
              <a:t>l primer formato de fecha de contrato se muestra en número (año en 4 dígitos) y separado por /</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lang="es-MX" sz="1200" b="0" i="0" u="none" strike="noStrike" cap="none" dirty="0">
                <a:solidFill>
                  <a:srgbClr val="0000CC"/>
                </a:solidFill>
                <a:latin typeface="Calibri" panose="020F0502020204030204" pitchFamily="34" charset="0"/>
                <a:ea typeface="Arial"/>
                <a:cs typeface="Calibri" panose="020F0502020204030204" pitchFamily="34" charset="0"/>
                <a:sym typeface="Arial"/>
              </a:rPr>
              <a:t>El segundo formato muestra el día y año de contrato en número y el mes en palabras (la primera letra</a:t>
            </a:r>
            <a:r>
              <a:rPr lang="es-MX" sz="1200" b="0" i="0" u="none" strike="noStrike" cap="none" baseline="0" dirty="0">
                <a:solidFill>
                  <a:srgbClr val="0000CC"/>
                </a:solidFill>
                <a:latin typeface="Calibri" panose="020F0502020204030204" pitchFamily="34" charset="0"/>
                <a:ea typeface="Arial"/>
                <a:cs typeface="Calibri" panose="020F0502020204030204" pitchFamily="34" charset="0"/>
                <a:sym typeface="Arial"/>
              </a:rPr>
              <a:t> en mayúscula y el resto en minúscula.</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lang="es-MX" sz="1200" b="0" i="0" u="none" strike="noStrike" cap="none" dirty="0">
                <a:solidFill>
                  <a:srgbClr val="800080"/>
                </a:solidFill>
                <a:latin typeface="Calibri" panose="020F0502020204030204" pitchFamily="34" charset="0"/>
                <a:ea typeface="Arial"/>
                <a:cs typeface="Calibri" panose="020F0502020204030204" pitchFamily="34" charset="0"/>
                <a:sym typeface="Arial"/>
              </a:rPr>
              <a:t>El tercer formato muestra la fecha y hora del sistema incorporando las palabras de. En el cuarto</a:t>
            </a:r>
            <a:r>
              <a:rPr lang="es-MX" sz="1200" b="0" i="0" u="none" strike="noStrike" cap="none" baseline="0" dirty="0">
                <a:solidFill>
                  <a:srgbClr val="800080"/>
                </a:solidFill>
                <a:latin typeface="Calibri" panose="020F0502020204030204" pitchFamily="34" charset="0"/>
                <a:ea typeface="Arial"/>
                <a:cs typeface="Calibri" panose="020F0502020204030204" pitchFamily="34" charset="0"/>
                <a:sym typeface="Arial"/>
              </a:rPr>
              <a:t> formato de fecha muestra la fecha y hora del sistema pero la hora en formato de 12 horas con el indicador de meridiano. Como la sentencia se ejecutó a las 3 de la tarde automáticamente aparece en indicador PM. </a:t>
            </a:r>
            <a:endParaRPr lang="es-MX" sz="1200" b="0" i="0" u="none" strike="noStrike" cap="none" dirty="0">
              <a:solidFill>
                <a:srgbClr val="80008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1909209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1" fontAlgn="base" latinLnBrk="0" hangingPunct="1">
              <a:lnSpc>
                <a:spcPct val="80000"/>
              </a:lnSpc>
              <a:spcBef>
                <a:spcPct val="0"/>
              </a:spcBef>
              <a:spcAft>
                <a:spcPct val="0"/>
              </a:spcAft>
              <a:buClrTx/>
              <a:buSzTx/>
              <a:buFontTx/>
              <a:buNone/>
              <a:tabLst/>
              <a:defRPr/>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Uso de Función TO_CHAR con Fechas</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a:p>
            <a:pPr marL="0" marR="0" lvl="0" indent="0" algn="just" defTabSz="914400" rtl="0" eaLnBrk="1" fontAlgn="base" latinLnBrk="0" hangingPunct="1">
              <a:lnSpc>
                <a:spcPct val="80000"/>
              </a:lnSpc>
              <a:spcBef>
                <a:spcPct val="0"/>
              </a:spcBef>
              <a:spcAft>
                <a:spcPct val="0"/>
              </a:spcAft>
              <a:buClrTx/>
              <a:buSzTx/>
              <a:buFontTx/>
              <a:buNone/>
              <a:tabLst/>
              <a:defRP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el ejemplo, la sentencia se ejecutó </a:t>
            </a:r>
            <a:r>
              <a:rPr lang="es-MX" sz="1200" b="0" i="0" u="none" strike="noStrike" cap="none" dirty="0">
                <a:solidFill>
                  <a:srgbClr val="800080"/>
                </a:solidFill>
                <a:latin typeface="Calibri" panose="020F0502020204030204" pitchFamily="34" charset="0"/>
                <a:ea typeface="Arial"/>
                <a:cs typeface="Calibri" panose="020F0502020204030204" pitchFamily="34" charset="0"/>
                <a:sym typeface="Arial"/>
              </a:rPr>
              <a:t>11 de Octubre del 2019 a las 15:21)</a:t>
            </a:r>
            <a:r>
              <a:rPr lang="es-MX" sz="1200" b="0" i="0" u="none" strike="noStrike" cap="none" dirty="0">
                <a:solidFill>
                  <a:schemeClr val="tx1"/>
                </a:solidFill>
                <a:latin typeface="Calibri" panose="020F0502020204030204" pitchFamily="34" charset="0"/>
                <a:ea typeface="Arial"/>
                <a:cs typeface="Calibri" panose="020F0502020204030204" pitchFamily="34" charset="0"/>
                <a:sym typeface="Arial"/>
              </a:rPr>
              <a:t>. E</a:t>
            </a:r>
            <a:r>
              <a:rPr lang="es-MX" sz="1200" b="0" i="0" u="none" strike="noStrike" cap="none" dirty="0">
                <a:solidFill>
                  <a:schemeClr val="hlink"/>
                </a:solidFill>
                <a:latin typeface="Calibri" panose="020F0502020204030204" pitchFamily="34" charset="0"/>
                <a:ea typeface="Arial"/>
                <a:cs typeface="Calibri" panose="020F0502020204030204" pitchFamily="34" charset="0"/>
                <a:sym typeface="Arial"/>
              </a:rPr>
              <a:t>l primer formato de fecha de contrato se muestra en número (año en 4 dígitos) y separado por /</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r>
              <a:rPr lang="es-MX" sz="1200" b="0" i="0" u="none" strike="noStrike" cap="none" dirty="0">
                <a:solidFill>
                  <a:srgbClr val="0000CC"/>
                </a:solidFill>
                <a:latin typeface="Calibri" panose="020F0502020204030204" pitchFamily="34" charset="0"/>
                <a:ea typeface="Arial"/>
                <a:cs typeface="Calibri" panose="020F0502020204030204" pitchFamily="34" charset="0"/>
                <a:sym typeface="Arial"/>
              </a:rPr>
              <a:t>El segundo formato muestra el día y año de contrato en número y el mes en palabras (la primera letra</a:t>
            </a:r>
            <a:r>
              <a:rPr lang="es-MX" sz="1200" b="0" i="0" u="none" strike="noStrike" cap="none" baseline="0" dirty="0">
                <a:solidFill>
                  <a:srgbClr val="0000CC"/>
                </a:solidFill>
                <a:latin typeface="Calibri" panose="020F0502020204030204" pitchFamily="34" charset="0"/>
                <a:ea typeface="Arial"/>
                <a:cs typeface="Calibri" panose="020F0502020204030204" pitchFamily="34" charset="0"/>
                <a:sym typeface="Arial"/>
              </a:rPr>
              <a:t> en mayúscula y el resto en minúscula.</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El tercer formato muestra a que trimestre del año corresponde la fecha de contrato del empleado, </a:t>
            </a:r>
            <a:r>
              <a:rPr lang="es-MX" sz="1200" b="0" i="0" u="none" strike="noStrike" cap="none" dirty="0">
                <a:solidFill>
                  <a:srgbClr val="800080"/>
                </a:solidFill>
                <a:latin typeface="Calibri" panose="020F0502020204030204" pitchFamily="34" charset="0"/>
                <a:ea typeface="Arial"/>
                <a:cs typeface="Calibri" panose="020F0502020204030204" pitchFamily="34" charset="0"/>
                <a:sym typeface="Arial"/>
              </a:rPr>
              <a:t>El cuarto formato muestra la fecha y hora del sistema incorporando las palabras de. En el quinto</a:t>
            </a:r>
            <a:r>
              <a:rPr lang="es-MX" sz="1200" b="0" i="0" u="none" strike="noStrike" cap="none" baseline="0" dirty="0">
                <a:solidFill>
                  <a:srgbClr val="800080"/>
                </a:solidFill>
                <a:latin typeface="Calibri" panose="020F0502020204030204" pitchFamily="34" charset="0"/>
                <a:ea typeface="Arial"/>
                <a:cs typeface="Calibri" panose="020F0502020204030204" pitchFamily="34" charset="0"/>
                <a:sym typeface="Arial"/>
              </a:rPr>
              <a:t> formato de fecha muestra la fecha y hora del sistema pero la hora en formato de 12 horas con el indicador de meridiano. Como la sentencia se ejecutó a las 6 de la tarde automáticamente aparece en indicador PM. </a:t>
            </a:r>
            <a:endParaRPr lang="es-MX" sz="1200" b="0" i="0" u="none" strike="noStrike" cap="none" dirty="0">
              <a:solidFill>
                <a:srgbClr val="80008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38838843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Uso de Función</a:t>
            </a:r>
            <a:r>
              <a:rPr lang="es-MX" sz="1200" b="1" i="0" u="none" strike="noStrike" cap="none" baseline="0" dirty="0">
                <a:solidFill>
                  <a:srgbClr val="000000"/>
                </a:solidFill>
                <a:latin typeface="Calibri" panose="020F0502020204030204" pitchFamily="34" charset="0"/>
                <a:ea typeface="Arial"/>
                <a:cs typeface="Calibri" panose="020F0502020204030204" pitchFamily="34" charset="0"/>
                <a:sym typeface="Arial"/>
              </a:rPr>
              <a:t> TO_CHAR </a:t>
            </a: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de Números</a:t>
            </a:r>
          </a:p>
          <a:p>
            <a:pPr marL="0" indent="0" algn="just">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Cuando se desean trabajar los valores numéricos como una cadena de caracteres se deben convertir esos números a un tipo de dato </a:t>
            </a:r>
            <a:r>
              <a:rPr lang="es-MX"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caracter</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utilizando la función TO_CHAR. Esta función convierte un dato de tipo NUMBER a un dato de tipo VARCHAR2.</a:t>
            </a:r>
          </a:p>
          <a:p>
            <a:pPr algn="just">
              <a:buFont typeface="Arial" pitchFamily="34" charset="0"/>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El formato de conversión:</a:t>
            </a:r>
          </a:p>
          <a:p>
            <a:pPr marL="171450" indent="-171450" algn="just">
              <a:buFont typeface="Arial" panose="020B0604020202020204" pitchFamily="34" charset="0"/>
              <a:buChar cha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Debe ir entre comillas simples.</a:t>
            </a:r>
          </a:p>
          <a:p>
            <a:pPr marL="171450" indent="-171450" algn="just">
              <a:buFont typeface="Arial" panose="020B0604020202020204" pitchFamily="34" charset="0"/>
              <a:buChar cha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Puede incluir cualquier elemento de formato de número válido.</a:t>
            </a:r>
          </a:p>
          <a:p>
            <a:pPr marL="171450" indent="-171450" algn="just">
              <a:buFont typeface="Arial" panose="020B0604020202020204" pitchFamily="34" charset="0"/>
              <a:buChar cha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Debe ir separado del valor número por una coma.</a:t>
            </a:r>
          </a:p>
          <a:p>
            <a:pPr marL="0" indent="0" algn="just">
              <a:buFont typeface="Arial" panose="020B0604020202020204" pitchFamily="34" charset="0"/>
              <a:buNone/>
            </a:pPr>
            <a:endPar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indent="0" algn="just">
              <a:buFont typeface="Arial" panose="020B0604020202020204" pitchFamily="34" charset="0"/>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Los elementos para f</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ormatos de números válidos</a:t>
            </a:r>
            <a:endPar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171450" indent="-171450" algn="just">
              <a:buFont typeface="Arial" panose="020B0604020202020204" pitchFamily="34" charset="0"/>
              <a:buChar cha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9: Representa un número.</a:t>
            </a:r>
          </a:p>
          <a:p>
            <a:pPr marL="171450" indent="-171450" algn="just">
              <a:buFont typeface="Arial" panose="020B0604020202020204" pitchFamily="34" charset="0"/>
              <a:buChar cha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0: </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Fuerza a que se muestre un cero.</a:t>
            </a:r>
          </a:p>
          <a:p>
            <a:pPr marL="171450" indent="-171450" algn="just">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Coloca un signo dólar.</a:t>
            </a:r>
          </a:p>
          <a:p>
            <a:pPr marL="171450" indent="-171450" algn="just">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 Coloca el símbolo de moneda local.</a:t>
            </a:r>
          </a:p>
          <a:p>
            <a:pPr marL="171450" indent="-171450" algn="just">
              <a:buFont typeface="Arial" panose="020B0604020202020204" pitchFamily="34" charset="0"/>
              <a:buChar char="•"/>
            </a:pP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G: muestra</a:t>
            </a:r>
            <a:r>
              <a:rPr lang="es-ES"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 un punto como separador de grupo en la posición especificada.</a:t>
            </a:r>
          </a:p>
          <a:p>
            <a:pPr marL="171450" indent="-171450" algn="just">
              <a:buFont typeface="Arial" panose="020B0604020202020204" pitchFamily="34" charset="0"/>
              <a:buChar char="•"/>
            </a:pPr>
            <a:r>
              <a:rPr lang="es-ES"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 : </a:t>
            </a: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Coloca un punto decimal en la posición especificada. En </a:t>
            </a:r>
            <a:r>
              <a:rPr lang="es-MX" sz="1200" b="0" i="0" u="none" strike="noStrike" cap="none" dirty="0">
                <a:solidFill>
                  <a:srgbClr val="FF0000"/>
                </a:solidFill>
                <a:latin typeface="Calibri" panose="020F0502020204030204" pitchFamily="34" charset="0"/>
                <a:ea typeface="Arial"/>
                <a:cs typeface="Calibri" panose="020F0502020204030204" pitchFamily="34" charset="0"/>
                <a:sym typeface="Arial"/>
              </a:rPr>
              <a:t>una Base de Datos Oracle el punto es el separador de decimales.</a:t>
            </a:r>
            <a:endPar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endParaRPr>
          </a:p>
          <a:p>
            <a:pPr marL="171450" indent="-171450" algn="just">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 Coloca un separador de miles. E</a:t>
            </a:r>
            <a:r>
              <a:rPr lang="es-MX" sz="1200" b="0" i="0" u="none" strike="noStrike" cap="none" dirty="0">
                <a:solidFill>
                  <a:srgbClr val="FF0000"/>
                </a:solidFill>
                <a:latin typeface="Calibri" panose="020F0502020204030204" pitchFamily="34" charset="0"/>
                <a:ea typeface="Arial"/>
                <a:cs typeface="Calibri" panose="020F0502020204030204" pitchFamily="34" charset="0"/>
                <a:sym typeface="Arial"/>
              </a:rPr>
              <a:t>n una Base de Datos Oracle la coma es el separador de miles.</a:t>
            </a: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171450" indent="-171450" algn="just">
              <a:buFont typeface="Arial" panose="020B0604020202020204" pitchFamily="34" charset="0"/>
              <a:buChar char="•"/>
            </a:pP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D: coloca</a:t>
            </a:r>
            <a:r>
              <a:rPr lang="es-ES"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 el carácter decimal en la posición especificada (defecto es punto).  </a:t>
            </a:r>
          </a:p>
          <a:p>
            <a:pPr marL="171450" indent="-171450" algn="just">
              <a:buFont typeface="Arial" panose="020B0604020202020204" pitchFamily="34" charset="0"/>
              <a:buChar char="•"/>
            </a:pPr>
            <a:r>
              <a:rPr lang="es-CL"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V: m</a:t>
            </a:r>
            <a:r>
              <a:rPr lang="es-ES" sz="1200" b="0" i="0" u="none" strike="noStrike" kern="1200" cap="none" baseline="0" dirty="0" err="1">
                <a:solidFill>
                  <a:schemeClr val="tx1"/>
                </a:solidFill>
                <a:latin typeface="Calibri" panose="020F0502020204030204" pitchFamily="34" charset="0"/>
                <a:ea typeface="Arial"/>
                <a:cs typeface="Calibri" panose="020F0502020204030204" pitchFamily="34" charset="0"/>
                <a:sym typeface="Arial"/>
              </a:rPr>
              <a:t>ultiplica</a:t>
            </a:r>
            <a:r>
              <a:rPr lang="es-ES" sz="1200" b="0" i="0" u="none" strike="noStrike" kern="1200" cap="none" baseline="0" dirty="0">
                <a:solidFill>
                  <a:schemeClr val="tx1"/>
                </a:solidFill>
                <a:latin typeface="Calibri" panose="020F0502020204030204" pitchFamily="34" charset="0"/>
                <a:ea typeface="Arial"/>
                <a:cs typeface="Calibri" panose="020F0502020204030204" pitchFamily="34" charset="0"/>
                <a:sym typeface="Arial"/>
              </a:rPr>
              <a:t> por 10 n veces (n = número de 9 o 0 (ceros) después de la V)</a:t>
            </a:r>
          </a:p>
          <a:p>
            <a:pPr marL="171450" indent="-171450" algn="just">
              <a:buFont typeface="Arial" panose="020B0604020202020204" pitchFamily="34" charset="0"/>
              <a:buChar char="•"/>
            </a:pPr>
            <a:endParaRPr lang="es-CL" sz="1200" dirty="0"/>
          </a:p>
          <a:p>
            <a:pPr marL="0" marR="0" lvl="0" indent="0" algn="just" defTabSz="914400" rtl="0" eaLnBrk="1" fontAlgn="base" latinLnBrk="0" hangingPunct="1">
              <a:lnSpc>
                <a:spcPct val="80000"/>
              </a:lnSpc>
              <a:spcBef>
                <a:spcPct val="0"/>
              </a:spcBef>
              <a:spcAft>
                <a:spcPct val="0"/>
              </a:spcAft>
              <a:buClrTx/>
              <a:buSzTx/>
              <a:buFontTx/>
              <a:buNone/>
              <a:tabLst/>
              <a:defRPr/>
            </a:pPr>
            <a:endParaRPr lang="es-MX" sz="1200" b="0" i="0" u="none" strike="noStrike" cap="none" dirty="0">
              <a:solidFill>
                <a:srgbClr val="80008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2831872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mn-ea"/>
                <a:cs typeface="Arial" pitchFamily="34" charset="0"/>
              </a:rPr>
              <a:t>Uso de Función TO_CHAR con Números</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En la primera sentencia del ejemplo, la muestra el salario del empleado Ernest en 4 formatos diferentes. </a:t>
            </a:r>
            <a:r>
              <a:rPr kumimoji="0" lang="es-MX" sz="1200" b="0" i="0" u="none" strike="noStrike" kern="1200" cap="none" spc="0" normalizeH="0" baseline="0" noProof="0" dirty="0">
                <a:ln>
                  <a:noFill/>
                </a:ln>
                <a:solidFill>
                  <a:srgbClr val="FF0000"/>
                </a:solidFill>
                <a:effectLst/>
                <a:uLnTx/>
                <a:uFillTx/>
                <a:latin typeface="Calibri"/>
                <a:ea typeface="+mn-ea"/>
                <a:cs typeface="Arial" pitchFamily="34" charset="0"/>
              </a:rPr>
              <a:t>En el formato1 se muestra el salario tal como se encuentra se almacenado en la tabla (cada 9 representa un dígito del salario). En el  formato2 se antepondrán tantos ceros como falten para mostrar el valor en 7 caracteres. En el formato3 se antepondrá el signo dólar y se mostrará un  punto como separador de miles.  En el formato4 se antepondrá el símbolo de moneda local y se mostrarán los separadores de miles y de decimales por defecto en Oracle, es decir la coma y el punto respectivamente.</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s-MX" sz="1200" b="0" i="0" u="none" strike="noStrike" kern="1200" cap="none" spc="0" normalizeH="0" baseline="0" noProof="0" dirty="0">
                <a:ln>
                  <a:noFill/>
                </a:ln>
                <a:solidFill>
                  <a:srgbClr val="FF0000"/>
                </a:solidFill>
                <a:effectLst/>
                <a:uLnTx/>
                <a:uFillTx/>
                <a:latin typeface="Calibri"/>
                <a:ea typeface="+mn-ea"/>
                <a:cs typeface="Arial" pitchFamily="34" charset="0"/>
              </a:rPr>
              <a:t>En la sentencia del segundo ejemplo, en el formato1 </a:t>
            </a:r>
            <a:r>
              <a:rPr kumimoji="0" lang="es-MX" sz="1200" b="0" i="0" u="none" strike="noStrike" kern="1200" cap="none" spc="0" normalizeH="0" baseline="0" noProof="0" dirty="0">
                <a:ln>
                  <a:noFill/>
                </a:ln>
                <a:solidFill>
                  <a:srgbClr val="0000CC"/>
                </a:solidFill>
                <a:effectLst/>
                <a:uLnTx/>
                <a:uFillTx/>
                <a:latin typeface="Calibri"/>
                <a:ea typeface="+mn-ea"/>
                <a:cs typeface="Arial" pitchFamily="34" charset="0"/>
              </a:rPr>
              <a:t>se antepondrán ceros hasta completar 4 caracteres antes del separador de miles. En </a:t>
            </a:r>
            <a:r>
              <a:rPr kumimoji="0" lang="es-MX" sz="1200" b="0" i="0" u="none" strike="noStrike" kern="1200" cap="none" spc="0" normalizeH="0" baseline="0" noProof="0" dirty="0">
                <a:ln>
                  <a:noFill/>
                </a:ln>
                <a:solidFill>
                  <a:srgbClr val="00B050"/>
                </a:solidFill>
                <a:effectLst/>
                <a:uLnTx/>
                <a:uFillTx/>
                <a:latin typeface="Calibri"/>
                <a:ea typeface="+mn-ea"/>
                <a:cs typeface="Arial" pitchFamily="34" charset="0"/>
              </a:rPr>
              <a:t>el formato2 se mostrará un punto como separador de miles y una coma para los decimales</a:t>
            </a: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 y </a:t>
            </a:r>
            <a:r>
              <a:rPr kumimoji="0" lang="es-MX" sz="1200" b="0" i="0" u="none" strike="noStrike" kern="1200" cap="none" spc="0" normalizeH="0" baseline="0" noProof="0" dirty="0">
                <a:ln>
                  <a:noFill/>
                </a:ln>
                <a:solidFill>
                  <a:srgbClr val="800080"/>
                </a:solidFill>
                <a:effectLst/>
                <a:uLnTx/>
                <a:uFillTx/>
                <a:latin typeface="Calibri"/>
                <a:ea typeface="+mn-ea"/>
                <a:cs typeface="Arial" pitchFamily="34" charset="0"/>
              </a:rPr>
              <a:t>en formato3 dado que la cantidad entre 9 y ceros después de V son tres, se mostrará el valor del salario multiplicado por 1000</a:t>
            </a: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a:t>
            </a: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2849583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80000"/>
              </a:lnSpc>
              <a:spcBef>
                <a:spcPct val="0"/>
              </a:spcBef>
              <a:spcAft>
                <a:spcPct val="0"/>
              </a:spcAft>
              <a:buClrTx/>
              <a:buSzTx/>
              <a:buFontTx/>
              <a:buNone/>
              <a:tabLst/>
              <a:defRPr/>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Uso de Función TO_NUMBER con Caracteres </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Para poder convertir un literal o una columna de tipo de dato </a:t>
            </a:r>
            <a:r>
              <a:rPr kumimoji="0" lang="es-CL" sz="1200" b="0" i="0" u="none" strike="noStrike" kern="1200" cap="none" spc="0" normalizeH="0" baseline="0" noProof="0" dirty="0" err="1">
                <a:ln>
                  <a:noFill/>
                </a:ln>
                <a:solidFill>
                  <a:prstClr val="white"/>
                </a:solidFill>
                <a:effectLst/>
                <a:uLnTx/>
                <a:uFillTx/>
                <a:latin typeface="Calibri" panose="020F0502020204030204" pitchFamily="34" charset="0"/>
                <a:ea typeface="Arial"/>
                <a:cs typeface="Calibri" panose="020F0502020204030204" pitchFamily="34" charset="0"/>
                <a:sym typeface="Arial"/>
              </a:rPr>
              <a:t>caracter</a:t>
            </a: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 a número se debe usar la función TO_NUMBER. La restricción es que el valor del </a:t>
            </a:r>
            <a:r>
              <a:rPr kumimoji="0" lang="es-CL" sz="1200" b="0" i="0" u="none" strike="noStrike" kern="1200" cap="none" spc="0" normalizeH="0" baseline="0" noProof="0" dirty="0" err="1">
                <a:ln>
                  <a:noFill/>
                </a:ln>
                <a:solidFill>
                  <a:prstClr val="white"/>
                </a:solidFill>
                <a:effectLst/>
                <a:uLnTx/>
                <a:uFillTx/>
                <a:latin typeface="Calibri" panose="020F0502020204030204" pitchFamily="34" charset="0"/>
                <a:ea typeface="Arial"/>
                <a:cs typeface="Calibri" panose="020F0502020204030204" pitchFamily="34" charset="0"/>
                <a:sym typeface="Arial"/>
              </a:rPr>
              <a:t>caracter</a:t>
            </a: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 a convertir debe tener un formato de número válido. El formato de conversión es opcional sin embargo, si se desea dar un formato en particular, los elementos que se pueden usar son los mismo que se usan para números con la función TO_CHAR.</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En el ejemplo, se tiene un literal que es un número que se muestra primero como un carácter y usando la función TO_NUMBER ese literal se convierte en número. Esto sirve cuando por ejemplo a partir de una planilla Excel se deben insertar valores que tienen el formato que se muestra en el ejemplo y se deben insertar en una columna de tipo NUMBER entonces se debe efectuar la conversión explícita a número.</a:t>
            </a:r>
            <a:endParaRPr lang="es-CL"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928671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80000"/>
              </a:lnSpc>
              <a:spcBef>
                <a:spcPct val="0"/>
              </a:spcBef>
              <a:spcAft>
                <a:spcPct val="0"/>
              </a:spcAft>
              <a:buClrTx/>
              <a:buSzTx/>
              <a:buFontTx/>
              <a:buNone/>
              <a:tabLst/>
              <a:defRPr/>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Uso de Función TO_DATE con Caracteres </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Para poder convertir un literal o una columna de tipo de dato </a:t>
            </a:r>
            <a:r>
              <a:rPr kumimoji="0" lang="es-CL" sz="1200" b="0" i="0" u="none" strike="noStrike" kern="1200" cap="none" spc="0" normalizeH="0" baseline="0" noProof="0" dirty="0" err="1">
                <a:ln>
                  <a:noFill/>
                </a:ln>
                <a:solidFill>
                  <a:prstClr val="white"/>
                </a:solidFill>
                <a:effectLst/>
                <a:uLnTx/>
                <a:uFillTx/>
                <a:latin typeface="Calibri" panose="020F0502020204030204" pitchFamily="34" charset="0"/>
                <a:ea typeface="Arial"/>
                <a:cs typeface="Calibri" panose="020F0502020204030204" pitchFamily="34" charset="0"/>
                <a:sym typeface="Arial"/>
              </a:rPr>
              <a:t>caracter</a:t>
            </a: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 a fecha se debe usar la función TO_DATE. La restricción es que el valor del </a:t>
            </a:r>
            <a:r>
              <a:rPr kumimoji="0" lang="es-CL" sz="1200" b="0" i="0" u="none" strike="noStrike" kern="1200" cap="none" spc="0" normalizeH="0" baseline="0" noProof="0" dirty="0" err="1">
                <a:ln>
                  <a:noFill/>
                </a:ln>
                <a:solidFill>
                  <a:prstClr val="white"/>
                </a:solidFill>
                <a:effectLst/>
                <a:uLnTx/>
                <a:uFillTx/>
                <a:latin typeface="Calibri" panose="020F0502020204030204" pitchFamily="34" charset="0"/>
                <a:ea typeface="Arial"/>
                <a:cs typeface="Calibri" panose="020F0502020204030204" pitchFamily="34" charset="0"/>
                <a:sym typeface="Arial"/>
              </a:rPr>
              <a:t>caracter</a:t>
            </a: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 a convertir debe tener un formato de fecha válido. El formato de conversión es opcional sin embargo, si se desea dar un formato en particular, los elementos que se pueden usar son los mismo que se usan para fecha con la función TO_CHAR.</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En el ejemplo, se tiene un literal que es una fecha pero no en el formato tradicional, por lo tanto cuando se trata de convertir ese </a:t>
            </a:r>
            <a:r>
              <a:rPr kumimoji="0" lang="es-CL" sz="1200" b="0" i="0" u="none" strike="noStrike" kern="1200" cap="none" spc="0" normalizeH="0" baseline="0" noProof="0" dirty="0" err="1">
                <a:ln>
                  <a:noFill/>
                </a:ln>
                <a:solidFill>
                  <a:prstClr val="white"/>
                </a:solidFill>
                <a:effectLst/>
                <a:uLnTx/>
                <a:uFillTx/>
                <a:latin typeface="Calibri" panose="020F0502020204030204" pitchFamily="34" charset="0"/>
                <a:ea typeface="Arial"/>
                <a:cs typeface="Calibri" panose="020F0502020204030204" pitchFamily="34" charset="0"/>
                <a:sym typeface="Arial"/>
              </a:rPr>
              <a:t>caracter</a:t>
            </a: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 a fecha se produce un error. Par poder mostrar ese </a:t>
            </a:r>
            <a:r>
              <a:rPr kumimoji="0" lang="es-CL" sz="1200" b="0" i="0" u="none" strike="noStrike" kern="1200" cap="none" spc="0" normalizeH="0" baseline="0" noProof="0" dirty="0" err="1">
                <a:ln>
                  <a:noFill/>
                </a:ln>
                <a:solidFill>
                  <a:prstClr val="white"/>
                </a:solidFill>
                <a:effectLst/>
                <a:uLnTx/>
                <a:uFillTx/>
                <a:latin typeface="Calibri" panose="020F0502020204030204" pitchFamily="34" charset="0"/>
                <a:ea typeface="Arial"/>
                <a:cs typeface="Calibri" panose="020F0502020204030204" pitchFamily="34" charset="0"/>
                <a:sym typeface="Arial"/>
              </a:rPr>
              <a:t>literla</a:t>
            </a: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 en como fecha, se debe le dar un formato de conversión válido al valor literal.</a:t>
            </a:r>
            <a:endParaRPr lang="es-CL"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515726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80000"/>
              </a:lnSpc>
              <a:spcBef>
                <a:spcPct val="0"/>
              </a:spcBef>
              <a:spcAft>
                <a:spcPct val="0"/>
              </a:spcAft>
              <a:buClrTx/>
              <a:buSzTx/>
              <a:buFontTx/>
              <a:buNone/>
              <a:tabLst/>
              <a:defRPr/>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Uso de Función TO_DATE con Caracteres </a:t>
            </a:r>
            <a:endParaRPr lang="es-CL" sz="1200" b="0" i="0" u="none" strike="noStrike" cap="none" dirty="0">
              <a:solidFill>
                <a:prstClr val="white"/>
              </a:solidFill>
              <a:latin typeface="Calibri" panose="020F0502020204030204" pitchFamily="34" charset="0"/>
              <a:ea typeface="Arial"/>
              <a:cs typeface="Calibri" panose="020F0502020204030204" pitchFamily="34" charset="0"/>
              <a:sym typeface="Arial"/>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En la primera sentencia del ejemplo se desea mostrar sólo el año del valor 01/08/2019. Sin embargo como el elemento YYYY se usa para fechas, al ejecutar se produce el error número no valido porque el valor a convertir es de tipo de dato </a:t>
            </a:r>
            <a:r>
              <a:rPr kumimoji="0" lang="es-CL" sz="1200" b="0" i="0" u="none" strike="noStrike" kern="1200" cap="none" spc="0" normalizeH="0" baseline="0" noProof="0" dirty="0" err="1">
                <a:ln>
                  <a:noFill/>
                </a:ln>
                <a:solidFill>
                  <a:prstClr val="white"/>
                </a:solidFill>
                <a:effectLst/>
                <a:uLnTx/>
                <a:uFillTx/>
                <a:latin typeface="Calibri" panose="020F0502020204030204" pitchFamily="34" charset="0"/>
                <a:ea typeface="Arial"/>
                <a:cs typeface="Calibri" panose="020F0502020204030204" pitchFamily="34" charset="0"/>
                <a:sym typeface="Arial"/>
              </a:rPr>
              <a:t>caracter</a:t>
            </a: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 ¿Entonces que se puede hacer?</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s-CL" sz="1200" b="0" i="0" u="none" strike="noStrike" kern="1200" cap="none" spc="0" normalizeH="0" baseline="0" noProof="0" dirty="0">
                <a:ln>
                  <a:noFill/>
                </a:ln>
                <a:solidFill>
                  <a:prstClr val="white"/>
                </a:solidFill>
                <a:effectLst/>
                <a:uLnTx/>
                <a:uFillTx/>
                <a:latin typeface="Calibri" panose="020F0502020204030204" pitchFamily="34" charset="0"/>
                <a:ea typeface="Arial"/>
                <a:cs typeface="Calibri" panose="020F0502020204030204" pitchFamily="34" charset="0"/>
                <a:sym typeface="Arial"/>
              </a:rPr>
              <a:t>La segunda sentencia del ejemplo muestra que primero se debe convertir el valor 01/08/2019 a tipo de dato fecha usando la función TO_DATE. Una vez convertido se puede mostrar ahora el año.</a:t>
            </a:r>
          </a:p>
          <a:p>
            <a:pPr marL="0" marR="0" lvl="0" indent="0" algn="l" defTabSz="914400" rtl="0" eaLnBrk="1" fontAlgn="base" latinLnBrk="0" hangingPunct="1">
              <a:lnSpc>
                <a:spcPct val="80000"/>
              </a:lnSpc>
              <a:spcBef>
                <a:spcPct val="0"/>
              </a:spcBef>
              <a:spcAft>
                <a:spcPct val="0"/>
              </a:spcAft>
              <a:buClrTx/>
              <a:buSzTx/>
              <a:buFontTx/>
              <a:buNone/>
              <a:tabLst/>
              <a:defRPr/>
            </a:pPr>
            <a:endParaRPr lang="es-CL" sz="1200" dirty="0"/>
          </a:p>
        </p:txBody>
      </p:sp>
    </p:spTree>
    <p:extLst>
      <p:ext uri="{BB962C8B-B14F-4D97-AF65-F5344CB8AC3E}">
        <p14:creationId xmlns:p14="http://schemas.microsoft.com/office/powerpoint/2010/main" val="2063564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2070116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s-CL" sz="1200" b="1"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Funciones  Generales</a:t>
            </a: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Estas funciones trabajan con cualquier tipo de datos y se relacionan con el uso de valores nulos en la lista de expresiones:</a:t>
            </a: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NVL: Si el valor de expr1 es NULO , devuelve el valor de expr2. Si no es NULO retorna el valor de expr1.</a:t>
            </a: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NVL2: Devuelve el valor de expr2 si el valor de expr1 no es NULO. Si expr1 es NULO devuelve el valor de expr3.</a:t>
            </a: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NULLIF: devuelve NULO si expr1 y expr2 son iguales. Si no lo son devuelve el valor de expr1.</a:t>
            </a:r>
          </a:p>
          <a:p>
            <a:pPr marL="171450" marR="0" lvl="0" indent="-171450"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COALESCE: retorna el valor de expr1 si no es NULO. Si es NULO devuelve el valor de expr2 si no es NULO. Si los valores de expr1 y expr2 son NULOS devuelve el valor de expr3 sino es NULO y así sucesivamente.</a:t>
            </a:r>
            <a:endPar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19475185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s-CL" sz="1200" b="1"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Funciones  Generales: NVL</a:t>
            </a:r>
            <a:endPar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endParaRP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Esta función la </a:t>
            </a:r>
            <a:r>
              <a:rPr lang="es-CL" sz="1200" b="0" dirty="0">
                <a:solidFill>
                  <a:srgbClr val="FFFFFF"/>
                </a:solidFill>
                <a:latin typeface="Calibri" panose="020F0502020204030204" pitchFamily="34" charset="0"/>
                <a:cs typeface="Calibri" panose="020F0502020204030204" pitchFamily="34" charset="0"/>
              </a:rPr>
              <a:t>expr1. Si ésta es nula retorna el valor de expr2. Si expr1 no es nula la función retorna el valor de expr1. </a:t>
            </a: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s-CL" sz="1200" b="0" dirty="0">
                <a:solidFill>
                  <a:srgbClr val="FFFFFF"/>
                </a:solidFill>
                <a:latin typeface="Calibri" panose="020F0502020204030204" pitchFamily="34" charset="0"/>
                <a:cs typeface="Calibri" panose="020F0502020204030204" pitchFamily="34" charset="0"/>
              </a:rPr>
              <a:t>Ambos expresiones deben ser del mismo tipo de dato.</a:t>
            </a: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la sentencia del ejemplo, la función NVL retorna cero cuando la identificación del jefe sea nula es decir, cuando el empleado no posee jefe. </a:t>
            </a:r>
            <a:endParaRPr kumimoji="0" lang="es-CL" sz="1200" b="1"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401952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1" fontAlgn="base" latinLnBrk="0" hangingPunct="1">
              <a:lnSpc>
                <a:spcPct val="100000"/>
              </a:lnSpc>
              <a:spcBef>
                <a:spcPct val="0"/>
              </a:spcBef>
              <a:spcAft>
                <a:spcPct val="0"/>
              </a:spcAft>
              <a:buClrTx/>
              <a:buSzTx/>
              <a:buFont typeface="Arial" pitchFamily="34" charset="0"/>
              <a:buNone/>
              <a:tabLst/>
              <a:defRPr/>
            </a:pPr>
            <a:r>
              <a:rPr kumimoji="0" lang="es-CL" sz="1200" b="1"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Funciones  Generales: NVL</a:t>
            </a:r>
            <a:endPar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endParaRPr>
          </a:p>
          <a:p>
            <a:pPr marL="0" marR="0" lvl="0" indent="0" algn="just" defTabSz="914400" rtl="0" eaLnBrk="1" fontAlgn="base" latinLnBrk="0" hangingPunct="1">
              <a:lnSpc>
                <a:spcPct val="100000"/>
              </a:lnSpc>
              <a:spcBef>
                <a:spcPct val="0"/>
              </a:spcBef>
              <a:spcAft>
                <a:spcPct val="0"/>
              </a:spcAft>
              <a:buClrTx/>
              <a:buSzTx/>
              <a:buFont typeface="Arial" pitchFamily="34" charset="0"/>
              <a:buNone/>
              <a:tabLst/>
              <a:defRP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el ejemplo, no todos lo empleados tiene un porcentaje de comisión asignado, por esa razón al obtener salario anual para esos empleados el valor es NULO (cualquier operación matemática con valores nulos el resultado es NULO).  La primera función NVL retorna cero cuando el porcentaje de comisión es NULO. En la segunda función NVL retorna cero cuando el porcentaje de comisión es NULO y es por era razón que para estos empleados el salario anual es el valor del salario que posee multiplicado por 12.</a:t>
            </a:r>
            <a:endParaRPr kumimoji="0" lang="es-CL" sz="1200" b="1"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14875726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1" fontAlgn="base" latinLnBrk="0" hangingPunct="1">
              <a:lnSpc>
                <a:spcPct val="100000"/>
              </a:lnSpc>
              <a:spcBef>
                <a:spcPct val="0"/>
              </a:spcBef>
              <a:spcAft>
                <a:spcPct val="0"/>
              </a:spcAft>
              <a:buClrTx/>
              <a:buSzTx/>
              <a:buFont typeface="Arial" pitchFamily="34" charset="0"/>
              <a:buNone/>
              <a:tabLst/>
              <a:defRPr/>
            </a:pPr>
            <a:r>
              <a:rPr kumimoji="0" lang="es-CL" sz="1200" b="1"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Funciones  Generales: NVL2</a:t>
            </a:r>
            <a:endPar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endParaRPr>
          </a:p>
          <a:p>
            <a:pPr marL="171450" indent="-171450" algn="just">
              <a:buFont typeface="Arial"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Esta función evalúa la primera expresión (expr1). Si no es Nula la función NVL2 retorna la segunda expresión (expr2). Si la primera expresión es Nula entonces la función retorna la tercera expresión (expr3).</a:t>
            </a:r>
          </a:p>
          <a:p>
            <a:pPr marL="171450" indent="-171450" algn="just">
              <a:buFont typeface="Arial"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El argumento expr1 puede ser cualquier tipo de dato. Los argumentos expr2 y expr3 pueden ser de cualquier tipo de dato excepto LONG.</a:t>
            </a:r>
          </a:p>
          <a:p>
            <a:pPr marL="171450" indent="-171450" algn="just">
              <a:buFont typeface="Arial"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El argumento expr3 debe ser del mismo tipo de dato de expr2 a menos que expr3 sea Nulo.</a:t>
            </a:r>
          </a:p>
          <a:p>
            <a:pPr marL="171450" indent="-171450" algn="just">
              <a:buFont typeface="Arial"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El tipo de dato del valor que retorna la función es siempre del mismo tipo de datos de expr2.</a:t>
            </a:r>
          </a:p>
          <a:p>
            <a:pPr marL="0" algn="just">
              <a:buFont typeface="Arial" pitchFamily="34" charset="0"/>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el ejemplo, la función NVL2 mostrará el </a:t>
            </a:r>
            <a:r>
              <a:rPr lang="es-CL"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string</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SALARIO+COMISION si el porcentaje de comisión no es nulo. Si el porcentaje de comisión es nulo mostrará el </a:t>
            </a:r>
            <a:r>
              <a:rPr lang="es-CL"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string</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SOLO SALARIO para los empleados con identificación 100, 101, 114, 147,148 o 149.</a:t>
            </a:r>
          </a:p>
        </p:txBody>
      </p:sp>
    </p:spTree>
    <p:extLst>
      <p:ext uri="{BB962C8B-B14F-4D97-AF65-F5344CB8AC3E}">
        <p14:creationId xmlns:p14="http://schemas.microsoft.com/office/powerpoint/2010/main" val="23702510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1" fontAlgn="base" latinLnBrk="0" hangingPunct="1">
              <a:lnSpc>
                <a:spcPct val="100000"/>
              </a:lnSpc>
              <a:spcBef>
                <a:spcPct val="0"/>
              </a:spcBef>
              <a:spcAft>
                <a:spcPct val="0"/>
              </a:spcAft>
              <a:buClrTx/>
              <a:buSzTx/>
              <a:buFont typeface="Arial" pitchFamily="34" charset="0"/>
              <a:buNone/>
              <a:tabLst/>
              <a:defRPr/>
            </a:pPr>
            <a:r>
              <a:rPr kumimoji="0" lang="es-CL" sz="1200" b="1"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Funciones  Generales: </a:t>
            </a:r>
            <a:r>
              <a:rPr lang="es-CL" sz="1200" b="1" dirty="0">
                <a:latin typeface="Calibri" panose="020F0502020204030204" pitchFamily="34" charset="0"/>
                <a:cs typeface="Calibri" panose="020F0502020204030204" pitchFamily="34" charset="0"/>
              </a:rPr>
              <a:t>NULLIF</a:t>
            </a:r>
            <a:endPar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endParaRPr>
          </a:p>
          <a:p>
            <a:pPr marL="171450" indent="-171450" algn="just">
              <a:buFont typeface="Arial"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La función NULLIF compara dos expresiones (expr1 y expr2 ). Si son iguales, la función retorna NULO.</a:t>
            </a:r>
          </a:p>
          <a:p>
            <a:pPr marL="171450" indent="-171450" algn="just">
              <a:buFont typeface="Arial"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Si ellas no son iguales, la función retorna la primera expresión (expr1).</a:t>
            </a:r>
          </a:p>
          <a:p>
            <a:pPr marL="171450" indent="-171450" algn="just">
              <a:buFont typeface="Arial"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Los tipos de datos de ambas expresiones deben ser los mismos.</a:t>
            </a:r>
          </a:p>
          <a:p>
            <a:pPr marL="171450" indent="-171450" algn="just">
              <a:buFont typeface="Arial"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No se puede especificar NULL para la primera expresión (expr1). </a:t>
            </a:r>
          </a:p>
          <a:p>
            <a:pPr marL="0" indent="0" algn="just">
              <a:buFont typeface="Arial" pitchFamily="34" charset="0"/>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la sentencia del ejemplo, la función NULLIF compara el resultado de multiplicar el salario por el porcentaje de comisión con el valor cero. Si el resultado de la expresión matemática es cero entonces mostrará NULO y si son diferentes mostrará el valor de la expresión matemática. La información se muestra para los empleados con identificación 100, 104, 106, 110, 166 o 167</a:t>
            </a:r>
          </a:p>
        </p:txBody>
      </p:sp>
    </p:spTree>
    <p:extLst>
      <p:ext uri="{BB962C8B-B14F-4D97-AF65-F5344CB8AC3E}">
        <p14:creationId xmlns:p14="http://schemas.microsoft.com/office/powerpoint/2010/main" val="34230127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es-CL" sz="1200" b="1"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rPr>
              <a:t>Funciones  Generales: </a:t>
            </a:r>
            <a:r>
              <a:rPr lang="es-CL" sz="1200" b="1" dirty="0">
                <a:latin typeface="Calibri" panose="020F0502020204030204" pitchFamily="34" charset="0"/>
                <a:cs typeface="Calibri" panose="020F0502020204030204" pitchFamily="34" charset="0"/>
              </a:rPr>
              <a:t>COALESCE</a:t>
            </a:r>
            <a:endParaRPr kumimoji="0" lang="es-CL" sz="1200" b="0" i="0" u="none" strike="noStrike" cap="none" normalizeH="0" baseline="0" dirty="0">
              <a:ln>
                <a:noFill/>
              </a:ln>
              <a:solidFill>
                <a:schemeClr val="tx1"/>
              </a:solidFill>
              <a:effectLst/>
              <a:latin typeface="Calibri" panose="020F0502020204030204" pitchFamily="34" charset="0"/>
              <a:ea typeface="Arial"/>
              <a:cs typeface="Calibri" panose="020F0502020204030204" pitchFamily="34" charset="0"/>
              <a:sym typeface="Arial"/>
            </a:endParaRPr>
          </a:p>
          <a:p>
            <a:pPr marL="171450" indent="-171450" algn="just">
              <a:buFont typeface="Arial"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La función COALESCE retorna la primera expresión NO NULA de la lista.</a:t>
            </a:r>
          </a:p>
          <a:p>
            <a:pPr marL="171450" indent="-171450" algn="just">
              <a:buFont typeface="Arial"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Todas las expresiones deben tener el mismo tipo de dato.</a:t>
            </a:r>
          </a:p>
          <a:p>
            <a:pPr marL="0" indent="0" algn="just">
              <a:buFont typeface="Arial" pitchFamily="34" charset="0"/>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el ejemplo, la función COALESCE mostrará el valor del porcentaje de comisión si no es nulo, de lo contrario mostrará el valor de la identificación del jefe si no es nulo y si ambos valores son nulos mostrará 9999 para los empleados que trabajan en el departamento 10, 20 o 90.</a:t>
            </a:r>
          </a:p>
        </p:txBody>
      </p:sp>
    </p:spTree>
    <p:extLst>
      <p:ext uri="{BB962C8B-B14F-4D97-AF65-F5344CB8AC3E}">
        <p14:creationId xmlns:p14="http://schemas.microsoft.com/office/powerpoint/2010/main" val="19947898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eaLnBrk="1" hangingPunct="1">
              <a:lnSpc>
                <a:spcPct val="90000"/>
              </a:lnSpc>
              <a:spcBef>
                <a:spcPct val="0"/>
              </a:spcBef>
              <a:buFontTx/>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Funciones de Anidadas</a:t>
            </a:r>
          </a:p>
          <a:p>
            <a:pPr marL="171450" indent="-171450" algn="just" eaLnBrk="1" hangingPunct="1">
              <a:lnSpc>
                <a:spcPct val="90000"/>
              </a:lnSpc>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Las funciones SQL de una fila se pueden anidar y su ejecución es desde el nivel más interno al más externo.</a:t>
            </a:r>
          </a:p>
          <a:p>
            <a:pPr marL="171450" indent="-171450" algn="just" eaLnBrk="1" hangingPunct="1">
              <a:lnSpc>
                <a:spcPct val="90000"/>
              </a:lnSpc>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Esto significa que el resultado de una función se usa como parámetro para la otra función y así sucesivamente.</a:t>
            </a:r>
          </a:p>
          <a:p>
            <a:pPr marL="171450" indent="-171450" algn="just" eaLnBrk="1" hangingPunct="1">
              <a:lnSpc>
                <a:spcPct val="90000"/>
              </a:lnSpc>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Este tipo de funciones se pueden anidar sin limites.</a:t>
            </a:r>
          </a:p>
          <a:p>
            <a:pPr marL="0" marR="0" lvl="0" indent="0" algn="just" defTabSz="914400" rtl="0" eaLnBrk="1" fontAlgn="base" latinLnBrk="0" hangingPunct="1">
              <a:lnSpc>
                <a:spcPct val="90000"/>
              </a:lnSpc>
              <a:spcBef>
                <a:spcPct val="0"/>
              </a:spcBef>
              <a:spcAft>
                <a:spcPct val="0"/>
              </a:spcAft>
              <a:buClrTx/>
              <a:buSzTx/>
              <a:buFont typeface="Arial" panose="020B0604020202020204" pitchFamily="34" charset="0"/>
              <a:buNone/>
              <a:tabLst/>
              <a:defRPr/>
            </a:pPr>
            <a:r>
              <a:rPr lang="es-CL" sz="1200" b="0" i="0" u="none" strike="noStrike" cap="none" dirty="0">
                <a:solidFill>
                  <a:srgbClr val="800080"/>
                </a:solidFill>
                <a:latin typeface="Calibri" panose="020F0502020204030204" pitchFamily="34" charset="0"/>
                <a:ea typeface="Arial"/>
                <a:cs typeface="Calibri" panose="020F0502020204030204" pitchFamily="34" charset="0"/>
                <a:sym typeface="Arial"/>
              </a:rPr>
              <a:t>En el ejemplo, la primera función que se ejecuta es la que transforma a </a:t>
            </a:r>
            <a:r>
              <a:rPr lang="es-CL" sz="1200" b="0" i="0" u="none" strike="noStrike" cap="none" dirty="0" err="1">
                <a:solidFill>
                  <a:srgbClr val="800080"/>
                </a:solidFill>
                <a:latin typeface="Calibri" panose="020F0502020204030204" pitchFamily="34" charset="0"/>
                <a:ea typeface="Arial"/>
                <a:cs typeface="Calibri" panose="020F0502020204030204" pitchFamily="34" charset="0"/>
                <a:sym typeface="Arial"/>
              </a:rPr>
              <a:t>caracter</a:t>
            </a:r>
            <a:r>
              <a:rPr lang="es-CL" sz="1200" b="0" i="0" u="none" strike="noStrike" cap="none" dirty="0">
                <a:solidFill>
                  <a:srgbClr val="800080"/>
                </a:solidFill>
                <a:latin typeface="Calibri" panose="020F0502020204030204" pitchFamily="34" charset="0"/>
                <a:ea typeface="Arial"/>
                <a:cs typeface="Calibri" panose="020F0502020204030204" pitchFamily="34" charset="0"/>
                <a:sym typeface="Arial"/>
              </a:rPr>
              <a:t> la columna </a:t>
            </a:r>
            <a:r>
              <a:rPr lang="es-CL" sz="1200" b="0" i="0" u="none" strike="noStrike" cap="none" dirty="0" err="1">
                <a:solidFill>
                  <a:srgbClr val="800080"/>
                </a:solidFill>
                <a:latin typeface="Calibri" panose="020F0502020204030204" pitchFamily="34" charset="0"/>
                <a:ea typeface="Arial"/>
                <a:cs typeface="Calibri" panose="020F0502020204030204" pitchFamily="34" charset="0"/>
                <a:sym typeface="Arial"/>
              </a:rPr>
              <a:t>manager_id</a:t>
            </a:r>
            <a:r>
              <a:rPr lang="es-CL" sz="1200" b="0" i="0" u="none" strike="noStrike" cap="none" dirty="0">
                <a:solidFill>
                  <a:srgbClr val="800080"/>
                </a:solidFill>
                <a:latin typeface="Calibri" panose="020F0502020204030204" pitchFamily="34" charset="0"/>
                <a:ea typeface="Arial"/>
                <a:cs typeface="Calibri" panose="020F0502020204030204" pitchFamily="34" charset="0"/>
                <a:sym typeface="Arial"/>
              </a:rPr>
              <a:t> (TO_CHAR(</a:t>
            </a:r>
            <a:r>
              <a:rPr lang="es-CL" sz="1200" b="0" i="0" u="none" strike="noStrike" cap="none" dirty="0" err="1">
                <a:solidFill>
                  <a:srgbClr val="800080"/>
                </a:solidFill>
                <a:latin typeface="Calibri" panose="020F0502020204030204" pitchFamily="34" charset="0"/>
                <a:ea typeface="Arial"/>
                <a:cs typeface="Calibri" panose="020F0502020204030204" pitchFamily="34" charset="0"/>
                <a:sym typeface="Arial"/>
              </a:rPr>
              <a:t>manager_id</a:t>
            </a:r>
            <a:r>
              <a:rPr lang="es-CL" sz="1200" b="0" i="0" u="none" strike="noStrike" cap="none" dirty="0">
                <a:solidFill>
                  <a:srgbClr val="800080"/>
                </a:solidFill>
                <a:latin typeface="Calibri" panose="020F0502020204030204" pitchFamily="34" charset="0"/>
                <a:ea typeface="Arial"/>
                <a:cs typeface="Calibri" panose="020F0502020204030204" pitchFamily="34" charset="0"/>
                <a:sym typeface="Arial"/>
              </a:rPr>
              <a:t>)). La segunda función que se ejecuta NVL y que retornará el mensaje NO POSEE JEFE si </a:t>
            </a:r>
            <a:r>
              <a:rPr lang="es-CL" sz="1200" b="0" i="0" u="none" strike="noStrike" cap="none" dirty="0" err="1">
                <a:solidFill>
                  <a:srgbClr val="800080"/>
                </a:solidFill>
                <a:latin typeface="Calibri" panose="020F0502020204030204" pitchFamily="34" charset="0"/>
                <a:ea typeface="Arial"/>
                <a:cs typeface="Calibri" panose="020F0502020204030204" pitchFamily="34" charset="0"/>
                <a:sym typeface="Arial"/>
              </a:rPr>
              <a:t>manager_id</a:t>
            </a:r>
            <a:r>
              <a:rPr lang="es-CL" sz="1200" b="0" i="0" u="none" strike="noStrike" cap="none" dirty="0">
                <a:solidFill>
                  <a:srgbClr val="800080"/>
                </a:solidFill>
                <a:latin typeface="Calibri" panose="020F0502020204030204" pitchFamily="34" charset="0"/>
                <a:ea typeface="Arial"/>
                <a:cs typeface="Calibri" panose="020F0502020204030204" pitchFamily="34" charset="0"/>
                <a:sym typeface="Arial"/>
              </a:rPr>
              <a:t> es NULO. Como </a:t>
            </a:r>
            <a:r>
              <a:rPr lang="es-CL" sz="1200" b="0" i="0" u="none" strike="noStrike" cap="none" dirty="0" err="1">
                <a:solidFill>
                  <a:srgbClr val="800080"/>
                </a:solidFill>
                <a:latin typeface="Calibri" panose="020F0502020204030204" pitchFamily="34" charset="0"/>
                <a:ea typeface="Arial"/>
                <a:cs typeface="Calibri" panose="020F0502020204030204" pitchFamily="34" charset="0"/>
                <a:sym typeface="Arial"/>
              </a:rPr>
              <a:t>manager_id</a:t>
            </a:r>
            <a:r>
              <a:rPr lang="es-CL" sz="1200" b="0" i="0" u="none" strike="noStrike" cap="none" dirty="0">
                <a:solidFill>
                  <a:srgbClr val="800080"/>
                </a:solidFill>
                <a:latin typeface="Calibri" panose="020F0502020204030204" pitchFamily="34" charset="0"/>
                <a:ea typeface="Arial"/>
                <a:cs typeface="Calibri" panose="020F0502020204030204" pitchFamily="34" charset="0"/>
                <a:sym typeface="Arial"/>
              </a:rPr>
              <a:t> es un número y el mensaje que se retorna es un tipo de dato </a:t>
            </a:r>
            <a:r>
              <a:rPr lang="es-CL" sz="1200" b="0" i="0" u="none" strike="noStrike" cap="none" dirty="0" err="1">
                <a:solidFill>
                  <a:srgbClr val="800080"/>
                </a:solidFill>
                <a:latin typeface="Calibri" panose="020F0502020204030204" pitchFamily="34" charset="0"/>
                <a:ea typeface="Arial"/>
                <a:cs typeface="Calibri" panose="020F0502020204030204" pitchFamily="34" charset="0"/>
                <a:sym typeface="Arial"/>
              </a:rPr>
              <a:t>caracter</a:t>
            </a:r>
            <a:r>
              <a:rPr lang="es-CL" sz="1200" b="0" i="0" u="none" strike="noStrike" cap="none" dirty="0">
                <a:solidFill>
                  <a:srgbClr val="800080"/>
                </a:solidFill>
                <a:latin typeface="Calibri" panose="020F0502020204030204" pitchFamily="34" charset="0"/>
                <a:ea typeface="Arial"/>
                <a:cs typeface="Calibri" panose="020F0502020204030204" pitchFamily="34" charset="0"/>
                <a:sym typeface="Arial"/>
              </a:rPr>
              <a:t> se usa TO_CHAR para convertirlo en el mismo tipo de datos que debe retornas NVL. Por último, la función LDAP mostrará en largo fijo de 13 caracteres el valor que retorne la función NVL y para completar los 13 caracteres va a rellenar a la izquierda con espacios en blanco.</a:t>
            </a:r>
          </a:p>
          <a:p>
            <a:pPr marL="0" eaLnBrk="1" hangingPunct="1">
              <a:lnSpc>
                <a:spcPct val="90000"/>
              </a:lnSpc>
              <a:spcBef>
                <a:spcPct val="0"/>
              </a:spcBef>
              <a:buFontTx/>
              <a:buNone/>
            </a:pP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15709007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algn="just" eaLnBrk="1" hangingPunct="1">
              <a:lnSpc>
                <a:spcPct val="90000"/>
              </a:lnSpc>
              <a:spcBef>
                <a:spcPct val="0"/>
              </a:spcBef>
              <a:buFontTx/>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Funciones de Anidadas</a:t>
            </a:r>
          </a:p>
          <a:p>
            <a:pPr marL="0" marR="0" lvl="0" indent="0" algn="just" defTabSz="914400" rtl="0" eaLnBrk="1" fontAlgn="base" latinLnBrk="0" hangingPunct="1">
              <a:lnSpc>
                <a:spcPct val="90000"/>
              </a:lnSpc>
              <a:spcBef>
                <a:spcPct val="0"/>
              </a:spcBef>
              <a:spcAft>
                <a:spcPct val="0"/>
              </a:spcAft>
              <a:buClrTx/>
              <a:buSzTx/>
              <a:buFont typeface="Arial" panose="020B0604020202020204" pitchFamily="34" charset="0"/>
              <a:buNone/>
              <a:tabLst/>
              <a:defRPr/>
            </a:pPr>
            <a:r>
              <a:rPr lang="es-CL" sz="1200" b="0" i="0" u="none" strike="noStrike" cap="none" dirty="0">
                <a:solidFill>
                  <a:srgbClr val="800080"/>
                </a:solidFill>
                <a:latin typeface="Calibri" panose="020F0502020204030204" pitchFamily="34" charset="0"/>
                <a:ea typeface="Arial"/>
                <a:cs typeface="Calibri" panose="020F0502020204030204" pitchFamily="34" charset="0"/>
                <a:sym typeface="Arial"/>
              </a:rPr>
              <a:t>En la sentencia del ejemplo, la función SUBSTR retorna los primeros seis caracteres del apellido del empleado. La  función CONCAT concatena el resultado de la función SUBSTR con el </a:t>
            </a:r>
            <a:r>
              <a:rPr lang="es-CL" sz="1200" b="0" i="0" u="none" strike="noStrike" cap="none" dirty="0" err="1">
                <a:solidFill>
                  <a:srgbClr val="800080"/>
                </a:solidFill>
                <a:latin typeface="Calibri" panose="020F0502020204030204" pitchFamily="34" charset="0"/>
                <a:ea typeface="Arial"/>
                <a:cs typeface="Calibri" panose="020F0502020204030204" pitchFamily="34" charset="0"/>
                <a:sym typeface="Arial"/>
              </a:rPr>
              <a:t>string</a:t>
            </a:r>
            <a:r>
              <a:rPr lang="es-CL" sz="1200" b="0" i="0" u="none" strike="noStrike" cap="none" dirty="0">
                <a:solidFill>
                  <a:srgbClr val="800080"/>
                </a:solidFill>
                <a:latin typeface="Calibri" panose="020F0502020204030204" pitchFamily="34" charset="0"/>
                <a:ea typeface="Arial"/>
                <a:cs typeface="Calibri" panose="020F0502020204030204" pitchFamily="34" charset="0"/>
                <a:sym typeface="Arial"/>
              </a:rPr>
              <a:t> '_chile'. Finalmente  la función  UPPER convierte en mayúscula el resultado entregado por la función CONCAT.</a:t>
            </a:r>
          </a:p>
          <a:p>
            <a:pPr marL="0" eaLnBrk="1" hangingPunct="1">
              <a:lnSpc>
                <a:spcPct val="90000"/>
              </a:lnSpc>
              <a:spcBef>
                <a:spcPct val="0"/>
              </a:spcBef>
              <a:buFontTx/>
              <a:buNone/>
            </a:pP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5599177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1162291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eaLnBrk="1" hangingPunct="1">
              <a:lnSpc>
                <a:spcPct val="90000"/>
              </a:lnSpc>
              <a:spcBef>
                <a:spcPct val="0"/>
              </a:spcBef>
              <a:buFontTx/>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Expresiones  Condicionales</a:t>
            </a:r>
          </a:p>
          <a:p>
            <a:pPr marL="0" eaLnBrk="1" hangingPunct="1">
              <a:lnSpc>
                <a:spcPct val="90000"/>
              </a:lnSpc>
              <a:spcBef>
                <a:spcPct val="0"/>
              </a:spcBef>
              <a:buFontTx/>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Existe dos métodos que se pueden utilizar para implementar una condición lógica IF-THEN-ELSE en una sentencia SQL.</a:t>
            </a:r>
          </a:p>
          <a:p>
            <a:pPr marL="171450" indent="-171450" eaLnBrk="1" hangingPunct="1">
              <a:lnSpc>
                <a:spcPct val="90000"/>
              </a:lnSpc>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Una de ellas es la expresión CASE que cumple con el estándar ANSI SQL.</a:t>
            </a:r>
          </a:p>
          <a:p>
            <a:pPr marL="171450" indent="-171450" eaLnBrk="1" hangingPunct="1">
              <a:lnSpc>
                <a:spcPct val="90000"/>
              </a:lnSpc>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El segundo método es la función DECODE que es específica de Oracle.</a:t>
            </a:r>
          </a:p>
        </p:txBody>
      </p:sp>
    </p:spTree>
    <p:extLst>
      <p:ext uri="{BB962C8B-B14F-4D97-AF65-F5344CB8AC3E}">
        <p14:creationId xmlns:p14="http://schemas.microsoft.com/office/powerpoint/2010/main" val="1013139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Expresiones Condicionales: CASE</a:t>
            </a:r>
          </a:p>
          <a:p>
            <a:pPr marL="171450" indent="-171450" algn="just">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Facilita las consultas condicionales realizando el trabajo de una sentencia IF-THEN-ELSE en sentencias SQL. </a:t>
            </a:r>
          </a:p>
          <a:p>
            <a:pPr marL="171450" indent="-171450" algn="just">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Evalúa una lista de condiciones y devuelve una de las expresiones de resultado. </a:t>
            </a:r>
          </a:p>
          <a:p>
            <a:pPr marL="171450" indent="-171450" algn="just">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una expresión CASE simple, el servidor Oracle busca el primer par WHEN …. THEN para el cual </a:t>
            </a:r>
            <a:r>
              <a:rPr lang="es-CL"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expr</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sea igual a </a:t>
            </a:r>
            <a:r>
              <a:rPr lang="es-CL"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expresión_comparación</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y retorna la </a:t>
            </a:r>
            <a:r>
              <a:rPr lang="es-CL"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expr_resultado</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a:t>
            </a:r>
          </a:p>
          <a:p>
            <a:pPr marL="171450" indent="-171450" algn="just">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Si en ningún par WHEN …. THEN se encuentra la condición y si existe una cláusula ELSE, entonces el servidor Oracle retorna la </a:t>
            </a:r>
            <a:r>
              <a:rPr lang="es-CL"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expr_else</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Si no existe la cláusula ELSE el servidor Oracle retorna NULL (Nulo).</a:t>
            </a:r>
          </a:p>
          <a:p>
            <a:pPr marL="171450" indent="-171450">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No se puede especificar el literal NULL para las </a:t>
            </a:r>
            <a:r>
              <a:rPr lang="es-CL"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expr_resultado</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y para </a:t>
            </a:r>
            <a:r>
              <a:rPr lang="es-CL"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expr_else</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a:t>
            </a:r>
          </a:p>
        </p:txBody>
      </p:sp>
    </p:spTree>
    <p:extLst>
      <p:ext uri="{BB962C8B-B14F-4D97-AF65-F5344CB8AC3E}">
        <p14:creationId xmlns:p14="http://schemas.microsoft.com/office/powerpoint/2010/main" val="12957172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Expresiones Condicionales: CASE</a:t>
            </a:r>
          </a:p>
          <a:p>
            <a:pPr marL="0" indent="0" algn="just">
              <a:buNone/>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el ejemplo, el valor de la columna </a:t>
            </a:r>
            <a:r>
              <a:rPr lang="es-CL"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job_id</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es la condición de búsqueda en la expresión CASE de la sentencia. Si el trabajo del empleado es PR_REP el salario se mostrará incrementado en 15%, si es MK_MAN el salario se mostrará incrementado en 20% y para el resto de los trabajos no se incrementa el salario mostrándose sólo el salario actual. Esto se efectuará sólo</a:t>
            </a:r>
            <a:r>
              <a:rPr lang="es-CL"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para los empleados que trabajan en el departamento 20, 70 o 110. </a:t>
            </a: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1711729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100" b="1" i="0" u="none" strike="noStrike" cap="none" dirty="0">
                <a:solidFill>
                  <a:srgbClr val="000000"/>
                </a:solidFill>
                <a:latin typeface="Arial"/>
                <a:ea typeface="Arial"/>
                <a:cs typeface="Arial"/>
                <a:sym typeface="Arial"/>
              </a:rPr>
              <a:t>Expresiones Condicionales: CASE</a:t>
            </a:r>
          </a:p>
          <a:p>
            <a:pPr marL="0" indent="0">
              <a:buNone/>
            </a:pPr>
            <a:r>
              <a:rPr lang="es-CL" sz="1200" b="0" i="0" u="none" strike="noStrike" cap="none" dirty="0">
                <a:solidFill>
                  <a:srgbClr val="000000"/>
                </a:solidFill>
                <a:latin typeface="Arial"/>
                <a:ea typeface="Arial"/>
                <a:cs typeface="Arial" pitchFamily="34" charset="0"/>
                <a:sym typeface="Arial"/>
              </a:rPr>
              <a:t>En la sentencia del ejemplo, la condición</a:t>
            </a:r>
            <a:r>
              <a:rPr lang="es-CL" sz="1200" b="0" i="0" u="none" strike="noStrike" cap="none" baseline="0" dirty="0">
                <a:solidFill>
                  <a:srgbClr val="000000"/>
                </a:solidFill>
                <a:latin typeface="Arial"/>
                <a:ea typeface="Arial"/>
                <a:cs typeface="Arial" pitchFamily="34" charset="0"/>
                <a:sym typeface="Arial"/>
              </a:rPr>
              <a:t> de búsqueda en la expresión CASE puede ser cualquier columna. Para este caso, la búsqueda en todas las condiciones es el salario del empleado (columna </a:t>
            </a:r>
            <a:r>
              <a:rPr lang="es-CL" sz="1200" b="0" i="0" u="none" strike="noStrike" cap="none" baseline="0" dirty="0" err="1">
                <a:solidFill>
                  <a:srgbClr val="000000"/>
                </a:solidFill>
                <a:latin typeface="Arial"/>
                <a:ea typeface="Arial"/>
                <a:cs typeface="Arial" pitchFamily="34" charset="0"/>
                <a:sym typeface="Arial"/>
              </a:rPr>
              <a:t>salary</a:t>
            </a:r>
            <a:r>
              <a:rPr lang="es-CL" sz="1200" b="0" i="0" u="none" strike="noStrike" cap="none" baseline="0" dirty="0">
                <a:solidFill>
                  <a:srgbClr val="000000"/>
                </a:solidFill>
                <a:latin typeface="Arial"/>
                <a:ea typeface="Arial"/>
                <a:cs typeface="Arial" pitchFamily="34" charset="0"/>
                <a:sym typeface="Arial"/>
              </a:rPr>
              <a:t>). </a:t>
            </a:r>
            <a:r>
              <a:rPr lang="es-CL" sz="1200" b="0" i="0" u="none" strike="noStrike" cap="none" dirty="0">
                <a:solidFill>
                  <a:srgbClr val="000000"/>
                </a:solidFill>
                <a:latin typeface="Arial"/>
                <a:ea typeface="Arial"/>
                <a:cs typeface="Arial" pitchFamily="34" charset="0"/>
                <a:sym typeface="Arial"/>
              </a:rPr>
              <a:t>Si el salario del empleado menor o igual a 5000 entonces se mostrará el mensaje</a:t>
            </a:r>
            <a:r>
              <a:rPr lang="es-CL" sz="1200" b="0" i="0" u="none" strike="noStrike" cap="none" baseline="0" dirty="0">
                <a:solidFill>
                  <a:srgbClr val="000000"/>
                </a:solidFill>
                <a:latin typeface="Arial"/>
                <a:ea typeface="Arial"/>
                <a:cs typeface="Arial" pitchFamily="34" charset="0"/>
                <a:sym typeface="Arial"/>
              </a:rPr>
              <a:t> Bajo, si el salario del empleado es mayor a 5000 y menor o igual a 10000 entonces se mostrará el mensaje Medio, si el salario del empleado es mayor a 10000 y menor o igual a 20000 entonces se mostrará el mensaje Bueno y si el salario es mayor a 20000 se mostrará el mensaje Excelente. </a:t>
            </a:r>
            <a:r>
              <a:rPr lang="es-CL" sz="1200" b="0" i="0" u="none" strike="noStrike" cap="none" dirty="0">
                <a:solidFill>
                  <a:srgbClr val="000000"/>
                </a:solidFill>
                <a:latin typeface="Arial"/>
                <a:ea typeface="Arial"/>
                <a:cs typeface="Arial" pitchFamily="34" charset="0"/>
                <a:sym typeface="Arial"/>
              </a:rPr>
              <a:t>Esto se efectuará sólo</a:t>
            </a:r>
            <a:r>
              <a:rPr lang="es-CL" sz="1200" b="0" i="0" u="none" strike="noStrike" cap="none" baseline="0" dirty="0">
                <a:solidFill>
                  <a:srgbClr val="000000"/>
                </a:solidFill>
                <a:latin typeface="Arial"/>
                <a:ea typeface="Arial"/>
                <a:cs typeface="Arial" pitchFamily="34" charset="0"/>
                <a:sym typeface="Arial"/>
              </a:rPr>
              <a:t> para los empleados que trabajan en el departamento 60 o 90. La información se mostrará ordenada en forma descendente por el valor del salario.</a:t>
            </a:r>
            <a:endParaRPr lang="es-CL" sz="1200" b="0" i="0" u="none" strike="noStrike" cap="none" dirty="0">
              <a:solidFill>
                <a:srgbClr val="000000"/>
              </a:solidFill>
              <a:latin typeface="Arial"/>
              <a:ea typeface="Arial"/>
              <a:cs typeface="Arial" pitchFamily="34" charset="0"/>
              <a:sym typeface="Arial"/>
            </a:endParaRPr>
          </a:p>
        </p:txBody>
      </p:sp>
    </p:spTree>
    <p:extLst>
      <p:ext uri="{BB962C8B-B14F-4D97-AF65-F5344CB8AC3E}">
        <p14:creationId xmlns:p14="http://schemas.microsoft.com/office/powerpoint/2010/main" val="38900134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Expresiones Condicionales: DECODE</a:t>
            </a:r>
          </a:p>
          <a:p>
            <a:pPr marL="0" marR="0" indent="0" algn="l" defTabSz="914400" rtl="0" eaLnBrk="0" fontAlgn="base" latinLnBrk="0" hangingPunct="0">
              <a:lnSpc>
                <a:spcPct val="100000"/>
              </a:lnSpc>
              <a:spcBef>
                <a:spcPct val="30000"/>
              </a:spcBef>
              <a:spcAft>
                <a:spcPct val="0"/>
              </a:spcAft>
              <a:buClrTx/>
              <a:buSzTx/>
              <a:buFontTx/>
              <a:buNone/>
              <a:tabLst/>
              <a:defRPr/>
            </a:pPr>
            <a:r>
              <a:rPr lang="es-ES"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el ejemplo, </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el valor de la columna </a:t>
            </a:r>
            <a:r>
              <a:rPr lang="es-MX"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job_id</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es la condición de búsqueda para la función DECODE. Si el trabajo del empleado es PR_REP el salario se mostrará incrementado en 15%, si es MK_MAN el salario se mostrará incrementado en 20% y para el resto de los trabajos no se incrementa el salario mostrándose sólo el salario actual. La</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información de muestra para los empleados que trabajan en el departamento 20, 70 0 90.</a:t>
            </a:r>
            <a:endPar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24194488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userDrawn="1">
  <p:cSld name="TITLE">
    <p:bg>
      <p:bgPr>
        <a:solidFill>
          <a:schemeClr val="dk2"/>
        </a:solidFill>
        <a:effectLst/>
      </p:bgPr>
    </p:bg>
    <p:spTree>
      <p:nvGrpSpPr>
        <p:cNvPr id="1" name="Shape 9"/>
        <p:cNvGrpSpPr/>
        <p:nvPr/>
      </p:nvGrpSpPr>
      <p:grpSpPr>
        <a:xfrm>
          <a:off x="0" y="0"/>
          <a:ext cx="0" cy="0"/>
          <a:chOff x="0" y="0"/>
          <a:chExt cx="0" cy="0"/>
        </a:xfrm>
      </p:grpSpPr>
      <p:sp>
        <p:nvSpPr>
          <p:cNvPr id="10" name="Google Shape;10;p2"/>
          <p:cNvSpPr/>
          <p:nvPr/>
        </p:nvSpPr>
        <p:spPr>
          <a:xfrm flipH="1">
            <a:off x="-1" y="0"/>
            <a:ext cx="4629587"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11" name="Google Shape;11;p2"/>
          <p:cNvPicPr preferRelativeResize="0"/>
          <p:nvPr/>
        </p:nvPicPr>
        <p:blipFill rotWithShape="1">
          <a:blip r:embed="rId2">
            <a:alphaModFix/>
          </a:blip>
          <a:srcRect/>
          <a:stretch/>
        </p:blipFill>
        <p:spPr>
          <a:xfrm>
            <a:off x="20" y="11958"/>
            <a:ext cx="4518116" cy="6840855"/>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noFill/>
          <a:ln>
            <a:noFill/>
          </a:ln>
        </p:spPr>
      </p:pic>
      <p:pic>
        <p:nvPicPr>
          <p:cNvPr id="12" name="Google Shape;12;p2"/>
          <p:cNvPicPr preferRelativeResize="0"/>
          <p:nvPr/>
        </p:nvPicPr>
        <p:blipFill rotWithShape="1">
          <a:blip r:embed="rId3">
            <a:alphaModFix/>
          </a:blip>
          <a:srcRect/>
          <a:stretch/>
        </p:blipFill>
        <p:spPr>
          <a:xfrm>
            <a:off x="5190123" y="212270"/>
            <a:ext cx="3748263" cy="586221"/>
          </a:xfrm>
          <a:prstGeom prst="rect">
            <a:avLst/>
          </a:prstGeom>
          <a:noFill/>
          <a:ln>
            <a:noFill/>
          </a:ln>
        </p:spPr>
      </p:pic>
      <p:sp>
        <p:nvSpPr>
          <p:cNvPr id="14" name="Google Shape;14;p2"/>
          <p:cNvSpPr txBox="1">
            <a:spLocks noGrp="1"/>
          </p:cNvSpPr>
          <p:nvPr>
            <p:ph type="subTitle" idx="1"/>
          </p:nvPr>
        </p:nvSpPr>
        <p:spPr>
          <a:xfrm>
            <a:off x="5284700" y="5620875"/>
            <a:ext cx="3603900" cy="873900"/>
          </a:xfrm>
          <a:prstGeom prst="rect">
            <a:avLst/>
          </a:prstGeom>
          <a:solidFill>
            <a:srgbClr val="DE3075"/>
          </a:solidFill>
          <a:ln>
            <a:noFill/>
          </a:ln>
        </p:spPr>
        <p:txBody>
          <a:bodyPr spcFirstLastPara="1" wrap="square" lIns="91425" tIns="0" rIns="182875" bIns="0" anchor="t" anchorCtr="0">
            <a:noAutofit/>
          </a:bodyPr>
          <a:lstStyle>
            <a:lvl1pPr lvl="0" algn="r" rtl="0">
              <a:spcBef>
                <a:spcPts val="1000"/>
              </a:spcBef>
              <a:spcAft>
                <a:spcPts val="0"/>
              </a:spcAft>
              <a:buNone/>
              <a:defRPr sz="4800" b="1">
                <a:solidFill>
                  <a:srgbClr val="FFFFFF"/>
                </a:solidFill>
                <a:latin typeface="Calibri" panose="020F0502020204030204" pitchFamily="34" charset="0"/>
                <a:cs typeface="Calibri" panose="020F0502020204030204" pitchFamily="34" charset="0"/>
              </a:defRPr>
            </a:lvl1pPr>
            <a:lvl2pPr lvl="1" algn="r" rtl="0">
              <a:spcBef>
                <a:spcPts val="1000"/>
              </a:spcBef>
              <a:spcAft>
                <a:spcPts val="0"/>
              </a:spcAft>
              <a:buNone/>
              <a:defRPr sz="4800" b="1">
                <a:solidFill>
                  <a:srgbClr val="FFFFFF"/>
                </a:solidFill>
              </a:defRPr>
            </a:lvl2pPr>
            <a:lvl3pPr lvl="2" algn="r" rtl="0">
              <a:spcBef>
                <a:spcPts val="1000"/>
              </a:spcBef>
              <a:spcAft>
                <a:spcPts val="0"/>
              </a:spcAft>
              <a:buNone/>
              <a:defRPr sz="4800" b="1">
                <a:solidFill>
                  <a:srgbClr val="FFFFFF"/>
                </a:solidFill>
              </a:defRPr>
            </a:lvl3pPr>
            <a:lvl4pPr lvl="3" algn="r" rtl="0">
              <a:spcBef>
                <a:spcPts val="1000"/>
              </a:spcBef>
              <a:spcAft>
                <a:spcPts val="0"/>
              </a:spcAft>
              <a:buNone/>
              <a:defRPr sz="4800" b="1">
                <a:solidFill>
                  <a:srgbClr val="FFFFFF"/>
                </a:solidFill>
              </a:defRPr>
            </a:lvl4pPr>
            <a:lvl5pPr lvl="4" algn="r" rtl="0">
              <a:spcBef>
                <a:spcPts val="1000"/>
              </a:spcBef>
              <a:spcAft>
                <a:spcPts val="0"/>
              </a:spcAft>
              <a:buNone/>
              <a:defRPr sz="4800" b="1">
                <a:solidFill>
                  <a:srgbClr val="FFFFFF"/>
                </a:solidFill>
              </a:defRPr>
            </a:lvl5pPr>
            <a:lvl6pPr lvl="5" algn="r" rtl="0">
              <a:spcBef>
                <a:spcPts val="1000"/>
              </a:spcBef>
              <a:spcAft>
                <a:spcPts val="0"/>
              </a:spcAft>
              <a:buNone/>
              <a:defRPr sz="4800" b="1">
                <a:solidFill>
                  <a:srgbClr val="FFFFFF"/>
                </a:solidFill>
              </a:defRPr>
            </a:lvl6pPr>
            <a:lvl7pPr lvl="6" algn="r" rtl="0">
              <a:spcBef>
                <a:spcPts val="1000"/>
              </a:spcBef>
              <a:spcAft>
                <a:spcPts val="0"/>
              </a:spcAft>
              <a:buNone/>
              <a:defRPr sz="4800" b="1">
                <a:solidFill>
                  <a:srgbClr val="FFFFFF"/>
                </a:solidFill>
              </a:defRPr>
            </a:lvl7pPr>
            <a:lvl8pPr lvl="7" algn="r" rtl="0">
              <a:spcBef>
                <a:spcPts val="1000"/>
              </a:spcBef>
              <a:spcAft>
                <a:spcPts val="0"/>
              </a:spcAft>
              <a:buNone/>
              <a:defRPr sz="4800" b="1">
                <a:solidFill>
                  <a:srgbClr val="FFFFFF"/>
                </a:solidFill>
              </a:defRPr>
            </a:lvl8pPr>
            <a:lvl9pPr lvl="8" algn="r" rtl="0">
              <a:spcBef>
                <a:spcPts val="1000"/>
              </a:spcBef>
              <a:spcAft>
                <a:spcPts val="0"/>
              </a:spcAft>
              <a:buNone/>
              <a:defRPr sz="4800" b="1">
                <a:solidFill>
                  <a:srgbClr val="FFFFFF"/>
                </a:solidFill>
              </a:defRPr>
            </a:lvl9pPr>
          </a:lstStyle>
          <a:p>
            <a:endParaRPr/>
          </a:p>
        </p:txBody>
      </p:sp>
      <p:sp>
        <p:nvSpPr>
          <p:cNvPr id="7" name="Google Shape;13;p2">
            <a:extLst>
              <a:ext uri="{FF2B5EF4-FFF2-40B4-BE49-F238E27FC236}">
                <a16:creationId xmlns:a16="http://schemas.microsoft.com/office/drawing/2014/main" xmlns="" id="{64854533-8DCC-1C49-8946-547AD8D471A7}"/>
              </a:ext>
            </a:extLst>
          </p:cNvPr>
          <p:cNvSpPr txBox="1">
            <a:spLocks noGrp="1"/>
          </p:cNvSpPr>
          <p:nvPr>
            <p:ph type="title"/>
          </p:nvPr>
        </p:nvSpPr>
        <p:spPr>
          <a:xfrm>
            <a:off x="3993775" y="2487700"/>
            <a:ext cx="4894800" cy="2891100"/>
          </a:xfrm>
          <a:prstGeom prst="rect">
            <a:avLst/>
          </a:prstGeom>
        </p:spPr>
        <p:txBody>
          <a:bodyPr spcFirstLastPara="1" wrap="square" lIns="91425" tIns="45700" rIns="91425" bIns="45700" anchor="b" anchorCtr="0">
            <a:noAutofit/>
          </a:bodyPr>
          <a:lstStyle>
            <a:lvl1pPr lvl="0" algn="r" rtl="0">
              <a:spcBef>
                <a:spcPts val="0"/>
              </a:spcBef>
              <a:spcAft>
                <a:spcPts val="0"/>
              </a:spcAft>
              <a:buNone/>
              <a:defRPr sz="6600">
                <a:latin typeface="Calibri" panose="020F0502020204030204" pitchFamily="34" charset="0"/>
                <a:cs typeface="Calibri" panose="020F0502020204030204" pitchFamily="34" charset="0"/>
              </a:defRPr>
            </a:lvl1pPr>
            <a:lvl2pPr lvl="1" algn="r" rtl="0">
              <a:spcBef>
                <a:spcPts val="0"/>
              </a:spcBef>
              <a:spcAft>
                <a:spcPts val="0"/>
              </a:spcAft>
              <a:buNone/>
              <a:defRPr sz="5600"/>
            </a:lvl2pPr>
            <a:lvl3pPr lvl="2" algn="r" rtl="0">
              <a:spcBef>
                <a:spcPts val="0"/>
              </a:spcBef>
              <a:spcAft>
                <a:spcPts val="0"/>
              </a:spcAft>
              <a:buNone/>
              <a:defRPr sz="5600"/>
            </a:lvl3pPr>
            <a:lvl4pPr lvl="3" algn="r" rtl="0">
              <a:spcBef>
                <a:spcPts val="0"/>
              </a:spcBef>
              <a:spcAft>
                <a:spcPts val="0"/>
              </a:spcAft>
              <a:buNone/>
              <a:defRPr sz="5600"/>
            </a:lvl4pPr>
            <a:lvl5pPr lvl="4" algn="r" rtl="0">
              <a:spcBef>
                <a:spcPts val="0"/>
              </a:spcBef>
              <a:spcAft>
                <a:spcPts val="0"/>
              </a:spcAft>
              <a:buNone/>
              <a:defRPr sz="5600"/>
            </a:lvl5pPr>
            <a:lvl6pPr lvl="5" algn="r" rtl="0">
              <a:spcBef>
                <a:spcPts val="0"/>
              </a:spcBef>
              <a:spcAft>
                <a:spcPts val="0"/>
              </a:spcAft>
              <a:buNone/>
              <a:defRPr sz="5600"/>
            </a:lvl6pPr>
            <a:lvl7pPr lvl="6" algn="r" rtl="0">
              <a:spcBef>
                <a:spcPts val="0"/>
              </a:spcBef>
              <a:spcAft>
                <a:spcPts val="0"/>
              </a:spcAft>
              <a:buNone/>
              <a:defRPr sz="5600"/>
            </a:lvl7pPr>
            <a:lvl8pPr lvl="7" algn="r" rtl="0">
              <a:spcBef>
                <a:spcPts val="0"/>
              </a:spcBef>
              <a:spcAft>
                <a:spcPts val="0"/>
              </a:spcAft>
              <a:buNone/>
              <a:defRPr sz="5600"/>
            </a:lvl8pPr>
            <a:lvl9pPr lvl="8" algn="r" rtl="0">
              <a:spcBef>
                <a:spcPts val="0"/>
              </a:spcBef>
              <a:spcAft>
                <a:spcPts val="0"/>
              </a:spcAft>
              <a:buNone/>
              <a:defRPr sz="5600"/>
            </a:lvl9pPr>
          </a:lstStyle>
          <a:p>
            <a:endParaRPr lang="es-ES_tradnl"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cabezado de sección 1">
  <p:cSld name="TITLE_4_1_1">
    <p:bg>
      <p:bgPr>
        <a:solidFill>
          <a:schemeClr val="dk2"/>
        </a:solidFill>
        <a:effectLst/>
      </p:bgPr>
    </p:bg>
    <p:spTree>
      <p:nvGrpSpPr>
        <p:cNvPr id="1" name="Shape 15"/>
        <p:cNvGrpSpPr/>
        <p:nvPr/>
      </p:nvGrpSpPr>
      <p:grpSpPr>
        <a:xfrm>
          <a:off x="0" y="0"/>
          <a:ext cx="0" cy="0"/>
          <a:chOff x="0" y="0"/>
          <a:chExt cx="0" cy="0"/>
        </a:xfrm>
      </p:grpSpPr>
      <p:pic>
        <p:nvPicPr>
          <p:cNvPr id="16" name="Google Shape;16;p3"/>
          <p:cNvPicPr preferRelativeResize="0"/>
          <p:nvPr/>
        </p:nvPicPr>
        <p:blipFill rotWithShape="1">
          <a:blip r:embed="rId2">
            <a:alphaModFix/>
          </a:blip>
          <a:srcRect/>
          <a:stretch/>
        </p:blipFill>
        <p:spPr>
          <a:xfrm>
            <a:off x="5177307" y="186298"/>
            <a:ext cx="3812148" cy="601304"/>
          </a:xfrm>
          <a:prstGeom prst="rect">
            <a:avLst/>
          </a:prstGeom>
          <a:noFill/>
          <a:ln>
            <a:noFill/>
          </a:ln>
        </p:spPr>
      </p:pic>
      <p:grpSp>
        <p:nvGrpSpPr>
          <p:cNvPr id="18" name="Google Shape;18;p3"/>
          <p:cNvGrpSpPr/>
          <p:nvPr/>
        </p:nvGrpSpPr>
        <p:grpSpPr>
          <a:xfrm>
            <a:off x="0" y="-124"/>
            <a:ext cx="4853665" cy="5740374"/>
            <a:chOff x="0" y="-126"/>
            <a:chExt cx="4554438" cy="5386482"/>
          </a:xfrm>
        </p:grpSpPr>
        <p:sp>
          <p:nvSpPr>
            <p:cNvPr id="19" name="Google Shape;19;p3"/>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20" name="Google Shape;20;p3" descr="Una caricatura de una ciudad&#10;&#10;Descripción generada automáticamente"/>
            <p:cNvPicPr preferRelativeResize="0"/>
            <p:nvPr/>
          </p:nvPicPr>
          <p:blipFill rotWithShape="1">
            <a:blip r:embed="rId3">
              <a:alphaModFix/>
            </a:blip>
            <a:srcRect l="9870" r="648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21" name="Google Shape;21;p3"/>
          <p:cNvSpPr txBox="1">
            <a:spLocks noGrp="1"/>
          </p:cNvSpPr>
          <p:nvPr>
            <p:ph type="title"/>
          </p:nvPr>
        </p:nvSpPr>
        <p:spPr>
          <a:xfrm>
            <a:off x="3004575" y="3476150"/>
            <a:ext cx="5995800" cy="1603200"/>
          </a:xfrm>
          <a:prstGeom prst="rect">
            <a:avLst/>
          </a:prstGeom>
          <a:solidFill>
            <a:srgbClr val="DE3075">
              <a:alpha val="6429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lang="es-ES_tradnl"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2">
  <p:cSld name="TITLE_4">
    <p:bg>
      <p:bgPr>
        <a:solidFill>
          <a:schemeClr val="accent1"/>
        </a:solidFill>
        <a:effectLst/>
      </p:bgPr>
    </p:bg>
    <p:spTree>
      <p:nvGrpSpPr>
        <p:cNvPr id="1" name="Shape 22"/>
        <p:cNvGrpSpPr/>
        <p:nvPr/>
      </p:nvGrpSpPr>
      <p:grpSpPr>
        <a:xfrm>
          <a:off x="0" y="0"/>
          <a:ext cx="0" cy="0"/>
          <a:chOff x="0" y="0"/>
          <a:chExt cx="0" cy="0"/>
        </a:xfrm>
      </p:grpSpPr>
      <p:grpSp>
        <p:nvGrpSpPr>
          <p:cNvPr id="23" name="Google Shape;23;p4"/>
          <p:cNvGrpSpPr/>
          <p:nvPr/>
        </p:nvGrpSpPr>
        <p:grpSpPr>
          <a:xfrm>
            <a:off x="0" y="-124"/>
            <a:ext cx="4853665" cy="5740374"/>
            <a:chOff x="0" y="-126"/>
            <a:chExt cx="4554438" cy="5386482"/>
          </a:xfrm>
        </p:grpSpPr>
        <p:sp>
          <p:nvSpPr>
            <p:cNvPr id="24" name="Google Shape;24;p4"/>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25" name="Google Shape;25;p4" descr="Imagen que contiene persona, foto, hombre, mujer&#10;&#10;Descripción generada automáticamente"/>
            <p:cNvPicPr preferRelativeResize="0"/>
            <p:nvPr/>
          </p:nvPicPr>
          <p:blipFill rotWithShape="1">
            <a:blip r:embed="rId2">
              <a:alphaModFix/>
            </a:blip>
            <a:srcRect r="1635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26" name="Google Shape;26;p4"/>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lang="es-ES_tradnl" noProof="0" dirty="0"/>
          </a:p>
        </p:txBody>
      </p:sp>
      <p:pic>
        <p:nvPicPr>
          <p:cNvPr id="27" name="Google Shape;27;p4"/>
          <p:cNvPicPr preferRelativeResize="0"/>
          <p:nvPr/>
        </p:nvPicPr>
        <p:blipFill rotWithShape="1">
          <a:blip r:embed="rId3">
            <a:alphaModFix/>
          </a:blip>
          <a:srcRect/>
          <a:stretch/>
        </p:blipFill>
        <p:spPr>
          <a:xfrm>
            <a:off x="5177307" y="186298"/>
            <a:ext cx="3812148" cy="60130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3">
  <p:cSld name="TITLE_1_1">
    <p:bg>
      <p:bgPr>
        <a:solidFill>
          <a:schemeClr val="accent2"/>
        </a:solidFill>
        <a:effectLst/>
      </p:bgPr>
    </p:bg>
    <p:spTree>
      <p:nvGrpSpPr>
        <p:cNvPr id="1" name="Shape 29"/>
        <p:cNvGrpSpPr/>
        <p:nvPr/>
      </p:nvGrpSpPr>
      <p:grpSpPr>
        <a:xfrm>
          <a:off x="0" y="0"/>
          <a:ext cx="0" cy="0"/>
          <a:chOff x="0" y="0"/>
          <a:chExt cx="0" cy="0"/>
        </a:xfrm>
      </p:grpSpPr>
      <p:sp>
        <p:nvSpPr>
          <p:cNvPr id="30" name="Google Shape;30;p5"/>
          <p:cNvSpPr/>
          <p:nvPr/>
        </p:nvSpPr>
        <p:spPr>
          <a:xfrm rot="10800000" flipH="1">
            <a:off x="0" y="3085"/>
            <a:ext cx="4850881" cy="5737081"/>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31" name="Google Shape;31;p5"/>
          <p:cNvPicPr preferRelativeResize="0"/>
          <p:nvPr/>
        </p:nvPicPr>
        <p:blipFill rotWithShape="1">
          <a:blip r:embed="rId2">
            <a:alphaModFix/>
          </a:blip>
          <a:srcRect/>
          <a:stretch/>
        </p:blipFill>
        <p:spPr>
          <a:xfrm>
            <a:off x="5177307" y="186298"/>
            <a:ext cx="3812148" cy="601304"/>
          </a:xfrm>
          <a:prstGeom prst="rect">
            <a:avLst/>
          </a:prstGeom>
          <a:noFill/>
          <a:ln>
            <a:noFill/>
          </a:ln>
        </p:spPr>
      </p:pic>
      <p:pic>
        <p:nvPicPr>
          <p:cNvPr id="32" name="Google Shape;32;p5" descr="Una caricatura de una ciudad&#10;&#10;Descripción generada automáticamente"/>
          <p:cNvPicPr preferRelativeResize="0"/>
          <p:nvPr/>
        </p:nvPicPr>
        <p:blipFill rotWithShape="1">
          <a:blip r:embed="rId3">
            <a:alphaModFix/>
          </a:blip>
          <a:srcRect l="9870" r="6482"/>
          <a:stretch/>
        </p:blipFill>
        <p:spPr>
          <a:xfrm>
            <a:off x="1" y="10"/>
            <a:ext cx="4711067" cy="5589566"/>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34" name="Google Shape;34;p5"/>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1" preserve="1">
  <p:cSld name="Título y objetos 1">
    <p:spTree>
      <p:nvGrpSpPr>
        <p:cNvPr id="1" name="Shape 83"/>
        <p:cNvGrpSpPr/>
        <p:nvPr/>
      </p:nvGrpSpPr>
      <p:grpSpPr>
        <a:xfrm>
          <a:off x="0" y="0"/>
          <a:ext cx="0" cy="0"/>
          <a:chOff x="0" y="0"/>
          <a:chExt cx="0" cy="0"/>
        </a:xfrm>
      </p:grpSpPr>
      <p:sp>
        <p:nvSpPr>
          <p:cNvPr id="84" name="Google Shape;84;p14"/>
          <p:cNvSpPr/>
          <p:nvPr/>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85" name="Google Shape;85;p14"/>
          <p:cNvSpPr/>
          <p:nvPr/>
        </p:nvSpPr>
        <p:spPr>
          <a:xfrm>
            <a:off x="770850" y="212725"/>
            <a:ext cx="903600" cy="813000"/>
          </a:xfrm>
          <a:prstGeom prst="parallelogram">
            <a:avLst>
              <a:gd name="adj" fmla="val 45310"/>
            </a:avLst>
          </a:prstGeom>
          <a:solidFill>
            <a:srgbClr val="8189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4"/>
          <p:cNvSpPr/>
          <p:nvPr/>
        </p:nvSpPr>
        <p:spPr>
          <a:xfrm>
            <a:off x="146422" y="212725"/>
            <a:ext cx="903600" cy="813000"/>
          </a:xfrm>
          <a:prstGeom prst="parallelogram">
            <a:avLst>
              <a:gd name="adj" fmla="val 45310"/>
            </a:avLst>
          </a:prstGeom>
          <a:gradFill>
            <a:gsLst>
              <a:gs pos="0">
                <a:srgbClr val="FFFFFF"/>
              </a:gs>
              <a:gs pos="65000">
                <a:schemeClr val="dk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4"/>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pic>
        <p:nvPicPr>
          <p:cNvPr id="89" name="Google Shape;89;p14"/>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90" name="Google Shape;90;p14"/>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9" name="Google Shape;7;p1">
            <a:extLst>
              <a:ext uri="{FF2B5EF4-FFF2-40B4-BE49-F238E27FC236}">
                <a16:creationId xmlns:a16="http://schemas.microsoft.com/office/drawing/2014/main" xmlns="" id="{0B5789D4-A1BB-0442-8135-68C7C82B7CE3}"/>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423579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y objetos 2" userDrawn="1">
  <p:cSld name="OBJECT">
    <p:spTree>
      <p:nvGrpSpPr>
        <p:cNvPr id="1" name="Shape 91"/>
        <p:cNvGrpSpPr/>
        <p:nvPr/>
      </p:nvGrpSpPr>
      <p:grpSpPr>
        <a:xfrm>
          <a:off x="0" y="0"/>
          <a:ext cx="0" cy="0"/>
          <a:chOff x="0" y="0"/>
          <a:chExt cx="0" cy="0"/>
        </a:xfrm>
      </p:grpSpPr>
      <p:sp>
        <p:nvSpPr>
          <p:cNvPr id="93" name="Google Shape;93;p15"/>
          <p:cNvSpPr/>
          <p:nvPr/>
        </p:nvSpPr>
        <p:spPr>
          <a:xfrm>
            <a:off x="770850" y="212725"/>
            <a:ext cx="903600" cy="813000"/>
          </a:xfrm>
          <a:prstGeom prst="parallelogram">
            <a:avLst>
              <a:gd name="adj" fmla="val 4531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5"/>
          <p:cNvSpPr/>
          <p:nvPr/>
        </p:nvSpPr>
        <p:spPr>
          <a:xfrm>
            <a:off x="146422" y="212725"/>
            <a:ext cx="903600" cy="813000"/>
          </a:xfrm>
          <a:prstGeom prst="parallelogram">
            <a:avLst>
              <a:gd name="adj" fmla="val 45310"/>
            </a:avLst>
          </a:prstGeom>
          <a:gradFill>
            <a:gsLst>
              <a:gs pos="0">
                <a:srgbClr val="FFFFFF"/>
              </a:gs>
              <a:gs pos="65000">
                <a:schemeClr val="accent1"/>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7" name="Google Shape;97;p15"/>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98" name="Google Shape;98;p15"/>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10" name="Google Shape;84;p14">
            <a:extLst>
              <a:ext uri="{FF2B5EF4-FFF2-40B4-BE49-F238E27FC236}">
                <a16:creationId xmlns:a16="http://schemas.microsoft.com/office/drawing/2014/main" xmlns="" id="{4F836A24-6D51-4D40-AB79-0230302D1457}"/>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1" name="Google Shape;87;p14">
            <a:extLst>
              <a:ext uri="{FF2B5EF4-FFF2-40B4-BE49-F238E27FC236}">
                <a16:creationId xmlns:a16="http://schemas.microsoft.com/office/drawing/2014/main" xmlns="" id="{3BFC4BEF-06F5-F149-88A2-FDD96288DC2E}"/>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sp>
        <p:nvSpPr>
          <p:cNvPr id="12" name="Google Shape;7;p1">
            <a:extLst>
              <a:ext uri="{FF2B5EF4-FFF2-40B4-BE49-F238E27FC236}">
                <a16:creationId xmlns:a16="http://schemas.microsoft.com/office/drawing/2014/main" xmlns="" id="{0D7DAA7F-11AA-0147-9DA0-85C0C21C9491}"/>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ítulo y objetos 3" userDrawn="1">
  <p:cSld name="OBJECT_1">
    <p:spTree>
      <p:nvGrpSpPr>
        <p:cNvPr id="1" name="Shape 99"/>
        <p:cNvGrpSpPr/>
        <p:nvPr/>
      </p:nvGrpSpPr>
      <p:grpSpPr>
        <a:xfrm>
          <a:off x="0" y="0"/>
          <a:ext cx="0" cy="0"/>
          <a:chOff x="0" y="0"/>
          <a:chExt cx="0" cy="0"/>
        </a:xfrm>
      </p:grpSpPr>
      <p:sp>
        <p:nvSpPr>
          <p:cNvPr id="101" name="Google Shape;101;p16"/>
          <p:cNvSpPr/>
          <p:nvPr/>
        </p:nvSpPr>
        <p:spPr>
          <a:xfrm>
            <a:off x="770850" y="212725"/>
            <a:ext cx="903600" cy="813000"/>
          </a:xfrm>
          <a:prstGeom prst="parallelogram">
            <a:avLst>
              <a:gd name="adj" fmla="val 45310"/>
            </a:avLst>
          </a:prstGeom>
          <a:solidFill>
            <a:srgbClr val="702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6"/>
          <p:cNvSpPr/>
          <p:nvPr/>
        </p:nvSpPr>
        <p:spPr>
          <a:xfrm>
            <a:off x="146422" y="212725"/>
            <a:ext cx="903600" cy="813000"/>
          </a:xfrm>
          <a:prstGeom prst="parallelogram">
            <a:avLst>
              <a:gd name="adj" fmla="val 45310"/>
            </a:avLst>
          </a:prstGeom>
          <a:gradFill>
            <a:gsLst>
              <a:gs pos="0">
                <a:srgbClr val="FFFFFF"/>
              </a:gs>
              <a:gs pos="65000">
                <a:schemeClr val="accent2"/>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5" name="Google Shape;105;p16"/>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106" name="Google Shape;106;p16"/>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9" name="Google Shape;84;p14">
            <a:extLst>
              <a:ext uri="{FF2B5EF4-FFF2-40B4-BE49-F238E27FC236}">
                <a16:creationId xmlns:a16="http://schemas.microsoft.com/office/drawing/2014/main" xmlns="" id="{BB89A5F1-01F7-AA47-B434-101A27DE7BC0}"/>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0" name="Google Shape;87;p14">
            <a:extLst>
              <a:ext uri="{FF2B5EF4-FFF2-40B4-BE49-F238E27FC236}">
                <a16:creationId xmlns:a16="http://schemas.microsoft.com/office/drawing/2014/main" xmlns="" id="{8DC17925-3C94-8F46-871B-B63E680B4A39}"/>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sp>
        <p:nvSpPr>
          <p:cNvPr id="11" name="Google Shape;7;p1">
            <a:extLst>
              <a:ext uri="{FF2B5EF4-FFF2-40B4-BE49-F238E27FC236}">
                <a16:creationId xmlns:a16="http://schemas.microsoft.com/office/drawing/2014/main" xmlns="" id="{3C188FE6-8EF7-F044-9027-21CDC308C75A}"/>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solidFill>
          <a:schemeClr val="bg2"/>
        </a:solid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xmlns="" id="{EC7D9485-9D22-5647-86A2-61337F2EBDAC}"/>
              </a:ext>
            </a:extLst>
          </p:cNvPr>
          <p:cNvSpPr>
            <a:spLocks noGrp="1"/>
          </p:cNvSpPr>
          <p:nvPr>
            <p:ph type="body" sz="quarter" idx="11"/>
          </p:nvPr>
        </p:nvSpPr>
        <p:spPr>
          <a:xfrm>
            <a:off x="560387" y="2634922"/>
            <a:ext cx="8023225" cy="2275770"/>
          </a:xfrm>
          <a:prstGeom prst="rect">
            <a:avLst/>
          </a:prstGeom>
        </p:spPr>
        <p:txBody>
          <a:bodyPr anchor="ctr"/>
          <a:lstStyle>
            <a:lvl1pPr marL="50800" indent="0" algn="ctr">
              <a:buNone/>
              <a:defRPr sz="4000">
                <a:solidFill>
                  <a:schemeClr val="bg1"/>
                </a:solidFill>
                <a:latin typeface="Calibri" panose="020F0502020204030204" pitchFamily="34" charset="0"/>
                <a:cs typeface="Calibri" panose="020F0502020204030204" pitchFamily="34" charset="0"/>
              </a:defRPr>
            </a:lvl1pPr>
          </a:lstStyle>
          <a:p>
            <a:pPr lvl="0"/>
            <a:endParaRPr lang="es-ES_tradnl" dirty="0"/>
          </a:p>
        </p:txBody>
      </p:sp>
      <p:pic>
        <p:nvPicPr>
          <p:cNvPr id="6" name="Google Shape;12;p2">
            <a:extLst>
              <a:ext uri="{FF2B5EF4-FFF2-40B4-BE49-F238E27FC236}">
                <a16:creationId xmlns:a16="http://schemas.microsoft.com/office/drawing/2014/main" xmlns="" id="{0D343A73-BC54-BF4C-A259-A0C913A07BC0}"/>
              </a:ext>
            </a:extLst>
          </p:cNvPr>
          <p:cNvPicPr preferRelativeResize="0"/>
          <p:nvPr userDrawn="1"/>
        </p:nvPicPr>
        <p:blipFill rotWithShape="1">
          <a:blip r:embed="rId2">
            <a:alphaModFix/>
          </a:blip>
          <a:srcRect/>
          <a:stretch/>
        </p:blipFill>
        <p:spPr>
          <a:xfrm>
            <a:off x="6179349" y="392750"/>
            <a:ext cx="2759037" cy="459625"/>
          </a:xfrm>
          <a:prstGeom prst="rect">
            <a:avLst/>
          </a:prstGeom>
          <a:noFill/>
          <a:ln>
            <a:noFill/>
          </a:ln>
        </p:spPr>
      </p:pic>
      <p:sp>
        <p:nvSpPr>
          <p:cNvPr id="10" name="Marcador de texto 4">
            <a:extLst>
              <a:ext uri="{FF2B5EF4-FFF2-40B4-BE49-F238E27FC236}">
                <a16:creationId xmlns:a16="http://schemas.microsoft.com/office/drawing/2014/main" xmlns="" id="{A2F63D34-FBAE-5442-A997-D0933D828667}"/>
              </a:ext>
            </a:extLst>
          </p:cNvPr>
          <p:cNvSpPr>
            <a:spLocks noGrp="1"/>
          </p:cNvSpPr>
          <p:nvPr>
            <p:ph type="body" sz="quarter" idx="12"/>
          </p:nvPr>
        </p:nvSpPr>
        <p:spPr>
          <a:xfrm>
            <a:off x="560387" y="1632286"/>
            <a:ext cx="8023225" cy="665749"/>
          </a:xfrm>
          <a:prstGeom prst="rect">
            <a:avLst/>
          </a:prstGeom>
          <a:solidFill>
            <a:schemeClr val="accent1"/>
          </a:solidFill>
        </p:spPr>
        <p:txBody>
          <a:bodyPr/>
          <a:lstStyle>
            <a:lvl1pPr marL="50800" indent="0" algn="ctr">
              <a:buNone/>
              <a:defRPr sz="2800">
                <a:solidFill>
                  <a:schemeClr val="bg1"/>
                </a:solidFill>
                <a:latin typeface="Calibri" panose="020F0502020204030204" pitchFamily="34" charset="0"/>
                <a:cs typeface="Calibri" panose="020F0502020204030204" pitchFamily="34" charset="0"/>
              </a:defRPr>
            </a:lvl1pPr>
          </a:lstStyle>
          <a:p>
            <a:pPr lvl="0"/>
            <a:endParaRPr lang="es-ES_tradnl" dirty="0"/>
          </a:p>
        </p:txBody>
      </p:sp>
      <p:sp>
        <p:nvSpPr>
          <p:cNvPr id="11" name="Google Shape;165;p24">
            <a:extLst>
              <a:ext uri="{FF2B5EF4-FFF2-40B4-BE49-F238E27FC236}">
                <a16:creationId xmlns:a16="http://schemas.microsoft.com/office/drawing/2014/main" xmlns="" id="{ED241A5B-D2F8-1D45-8F9D-D1D4B48E7814}"/>
              </a:ext>
            </a:extLst>
          </p:cNvPr>
          <p:cNvSpPr/>
          <p:nvPr userDrawn="1"/>
        </p:nvSpPr>
        <p:spPr>
          <a:xfrm>
            <a:off x="770850" y="212725"/>
            <a:ext cx="903600"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66;p24">
            <a:extLst>
              <a:ext uri="{FF2B5EF4-FFF2-40B4-BE49-F238E27FC236}">
                <a16:creationId xmlns:a16="http://schemas.microsoft.com/office/drawing/2014/main" xmlns="" id="{990F690A-789C-6740-B34D-11153A9BBDDB}"/>
              </a:ext>
            </a:extLst>
          </p:cNvPr>
          <p:cNvSpPr/>
          <p:nvPr userDrawn="1"/>
        </p:nvSpPr>
        <p:spPr>
          <a:xfrm>
            <a:off x="146422" y="212725"/>
            <a:ext cx="903600" cy="813000"/>
          </a:xfrm>
          <a:prstGeom prst="parallelogram">
            <a:avLst>
              <a:gd name="adj" fmla="val 45310"/>
            </a:avLst>
          </a:prstGeom>
          <a:gradFill>
            <a:gsLst>
              <a:gs pos="0">
                <a:schemeClr val="bg2"/>
              </a:gs>
              <a:gs pos="65000">
                <a:schemeClr val="bg1"/>
              </a:gs>
              <a:gs pos="100000">
                <a:schemeClr val="bg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4;p14">
            <a:extLst>
              <a:ext uri="{FF2B5EF4-FFF2-40B4-BE49-F238E27FC236}">
                <a16:creationId xmlns:a16="http://schemas.microsoft.com/office/drawing/2014/main" xmlns="" id="{7FF938C0-C0B1-8543-A7DC-F3B0AA5BE94F}"/>
              </a:ext>
            </a:extLst>
          </p:cNvPr>
          <p:cNvSpPr/>
          <p:nvPr userDrawn="1"/>
        </p:nvSpPr>
        <p:spPr>
          <a:xfrm>
            <a:off x="1372975" y="212725"/>
            <a:ext cx="4806374"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CL" dirty="0">
              <a:latin typeface="Bebas Neue" panose="020B0606020202050201" pitchFamily="34" charset="77"/>
            </a:endParaRPr>
          </a:p>
        </p:txBody>
      </p:sp>
      <p:sp>
        <p:nvSpPr>
          <p:cNvPr id="15" name="Google Shape;87;p14">
            <a:extLst>
              <a:ext uri="{FF2B5EF4-FFF2-40B4-BE49-F238E27FC236}">
                <a16:creationId xmlns:a16="http://schemas.microsoft.com/office/drawing/2014/main" xmlns="" id="{D9228F07-B61E-0645-862B-247F10F5B15E}"/>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solidFill>
                  <a:schemeClr val="accent1"/>
                </a:solidFill>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CL" dirty="0"/>
          </a:p>
        </p:txBody>
      </p:sp>
    </p:spTree>
    <p:extLst>
      <p:ext uri="{BB962C8B-B14F-4D97-AF65-F5344CB8AC3E}">
        <p14:creationId xmlns:p14="http://schemas.microsoft.com/office/powerpoint/2010/main" val="359457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En blanco" type="blank" preserve="1">
  <p:cSld name="1_En blanco">
    <p:spTree>
      <p:nvGrpSpPr>
        <p:cNvPr id="1" name="Shape 205"/>
        <p:cNvGrpSpPr/>
        <p:nvPr/>
      </p:nvGrpSpPr>
      <p:grpSpPr>
        <a:xfrm>
          <a:off x="0" y="0"/>
          <a:ext cx="0" cy="0"/>
          <a:chOff x="0" y="0"/>
          <a:chExt cx="0" cy="0"/>
        </a:xfrm>
      </p:grpSpPr>
      <p:sp>
        <p:nvSpPr>
          <p:cNvPr id="4" name="Google Shape;7;p1">
            <a:extLst>
              <a:ext uri="{FF2B5EF4-FFF2-40B4-BE49-F238E27FC236}">
                <a16:creationId xmlns:a16="http://schemas.microsoft.com/office/drawing/2014/main" xmlns="" id="{FCAE1A83-104E-8B4E-949F-BE3A9ADE6BA0}"/>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977814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294150" y="1218600"/>
            <a:ext cx="8555700" cy="5137800"/>
          </a:xfrm>
          <a:prstGeom prst="rect">
            <a:avLst/>
          </a:prstGeom>
          <a:noFill/>
          <a:ln>
            <a:noFill/>
          </a:ln>
        </p:spPr>
        <p:txBody>
          <a:bodyPr spcFirstLastPara="1" wrap="square" lIns="90000"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Franklin Gothic"/>
                <a:ea typeface="Franklin Gothic"/>
                <a:cs typeface="Franklin Gothic"/>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dirty="0"/>
          </a:p>
        </p:txBody>
      </p:sp>
      <p:sp>
        <p:nvSpPr>
          <p:cNvPr id="7" name="Google Shape;7;p1"/>
          <p:cNvSpPr txBox="1">
            <a:spLocks noGrp="1"/>
          </p:cNvSpPr>
          <p:nvPr>
            <p:ph type="sldNum" idx="12"/>
          </p:nvPr>
        </p:nvSpPr>
        <p:spPr>
          <a:xfrm>
            <a:off x="69151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i="0" u="none" strike="noStrike" cap="none">
                <a:solidFill>
                  <a:srgbClr val="6C7A8A"/>
                </a:solidFill>
                <a:latin typeface="Calibri" panose="020F0502020204030204" pitchFamily="34" charset="0"/>
                <a:ea typeface="Roboto Mono"/>
                <a:cs typeface="Calibri" panose="020F0502020204030204" pitchFamily="34" charset="0"/>
                <a:sym typeface="Roboto Mono"/>
              </a:defRPr>
            </a:lvl1pPr>
            <a:lvl2pPr marL="0" marR="0" lvl="1" indent="0" algn="r" rtl="0">
              <a:spcBef>
                <a:spcPts val="0"/>
              </a:spcBef>
              <a:buNone/>
              <a:defRPr sz="1200" i="0" u="none" strike="noStrike" cap="none">
                <a:solidFill>
                  <a:srgbClr val="6C7A8A"/>
                </a:solidFill>
                <a:latin typeface="Roboto Mono"/>
                <a:ea typeface="Roboto Mono"/>
                <a:cs typeface="Roboto Mono"/>
                <a:sym typeface="Roboto Mono"/>
              </a:defRPr>
            </a:lvl2pPr>
            <a:lvl3pPr marL="0" marR="0" lvl="2" indent="0" algn="r" rtl="0">
              <a:spcBef>
                <a:spcPts val="0"/>
              </a:spcBef>
              <a:buNone/>
              <a:defRPr sz="1200" i="0" u="none" strike="noStrike" cap="none">
                <a:solidFill>
                  <a:srgbClr val="6C7A8A"/>
                </a:solidFill>
                <a:latin typeface="Roboto Mono"/>
                <a:ea typeface="Roboto Mono"/>
                <a:cs typeface="Roboto Mono"/>
                <a:sym typeface="Roboto Mono"/>
              </a:defRPr>
            </a:lvl3pPr>
            <a:lvl4pPr marL="0" marR="0" lvl="3" indent="0" algn="r" rtl="0">
              <a:spcBef>
                <a:spcPts val="0"/>
              </a:spcBef>
              <a:buNone/>
              <a:defRPr sz="1200" i="0" u="none" strike="noStrike" cap="none">
                <a:solidFill>
                  <a:srgbClr val="6C7A8A"/>
                </a:solidFill>
                <a:latin typeface="Roboto Mono"/>
                <a:ea typeface="Roboto Mono"/>
                <a:cs typeface="Roboto Mono"/>
                <a:sym typeface="Roboto Mono"/>
              </a:defRPr>
            </a:lvl4pPr>
            <a:lvl5pPr marL="0" marR="0" lvl="4" indent="0" algn="r" rtl="0">
              <a:spcBef>
                <a:spcPts val="0"/>
              </a:spcBef>
              <a:buNone/>
              <a:defRPr sz="1200" i="0" u="none" strike="noStrike" cap="none">
                <a:solidFill>
                  <a:srgbClr val="6C7A8A"/>
                </a:solidFill>
                <a:latin typeface="Roboto Mono"/>
                <a:ea typeface="Roboto Mono"/>
                <a:cs typeface="Roboto Mono"/>
                <a:sym typeface="Roboto Mono"/>
              </a:defRPr>
            </a:lvl5pPr>
            <a:lvl6pPr marL="0" marR="0" lvl="5" indent="0" algn="r" rtl="0">
              <a:spcBef>
                <a:spcPts val="0"/>
              </a:spcBef>
              <a:buNone/>
              <a:defRPr sz="1200" i="0" u="none" strike="noStrike" cap="none">
                <a:solidFill>
                  <a:srgbClr val="6C7A8A"/>
                </a:solidFill>
                <a:latin typeface="Roboto Mono"/>
                <a:ea typeface="Roboto Mono"/>
                <a:cs typeface="Roboto Mono"/>
                <a:sym typeface="Roboto Mono"/>
              </a:defRPr>
            </a:lvl6pPr>
            <a:lvl7pPr marL="0" marR="0" lvl="6" indent="0" algn="r" rtl="0">
              <a:spcBef>
                <a:spcPts val="0"/>
              </a:spcBef>
              <a:buNone/>
              <a:defRPr sz="1200" i="0" u="none" strike="noStrike" cap="none">
                <a:solidFill>
                  <a:srgbClr val="6C7A8A"/>
                </a:solidFill>
                <a:latin typeface="Roboto Mono"/>
                <a:ea typeface="Roboto Mono"/>
                <a:cs typeface="Roboto Mono"/>
                <a:sym typeface="Roboto Mono"/>
              </a:defRPr>
            </a:lvl7pPr>
            <a:lvl8pPr marL="0" marR="0" lvl="7" indent="0" algn="r" rtl="0">
              <a:spcBef>
                <a:spcPts val="0"/>
              </a:spcBef>
              <a:buNone/>
              <a:defRPr sz="1200" i="0" u="none" strike="noStrike" cap="none">
                <a:solidFill>
                  <a:srgbClr val="6C7A8A"/>
                </a:solidFill>
                <a:latin typeface="Roboto Mono"/>
                <a:ea typeface="Roboto Mono"/>
                <a:cs typeface="Roboto Mono"/>
                <a:sym typeface="Roboto Mono"/>
              </a:defRPr>
            </a:lvl8pPr>
            <a:lvl9pPr marL="0" marR="0" lvl="8" indent="0" algn="r" rtl="0">
              <a:spcBef>
                <a:spcPts val="0"/>
              </a:spcBef>
              <a:buNone/>
              <a:defRPr sz="120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dirty="0"/>
          </a:p>
        </p:txBody>
      </p:sp>
      <p:sp>
        <p:nvSpPr>
          <p:cNvPr id="8" name="Google Shape;8;p1"/>
          <p:cNvSpPr txBox="1">
            <a:spLocks noGrp="1"/>
          </p:cNvSpPr>
          <p:nvPr>
            <p:ph type="title"/>
          </p:nvPr>
        </p:nvSpPr>
        <p:spPr>
          <a:xfrm>
            <a:off x="1763700" y="212725"/>
            <a:ext cx="6751800" cy="81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FFFFFF"/>
              </a:buClr>
              <a:buSzPts val="3000"/>
              <a:buFont typeface="Roboto Condensed"/>
              <a:buNone/>
              <a:defRPr sz="3000" i="0" u="none" strike="noStrike" cap="none">
                <a:solidFill>
                  <a:srgbClr val="FFFFFF"/>
                </a:solidFill>
                <a:latin typeface="Roboto Condensed"/>
                <a:ea typeface="Roboto Condensed"/>
                <a:cs typeface="Roboto Condensed"/>
                <a:sym typeface="Roboto Condensed"/>
              </a:defRPr>
            </a:lvl1pPr>
            <a:lvl2pPr lvl="1"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2pPr>
            <a:lvl3pPr lvl="2"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3pPr>
            <a:lvl4pPr lvl="3"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4pPr>
            <a:lvl5pPr lvl="4"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5pPr>
            <a:lvl6pPr lvl="5"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6pPr>
            <a:lvl7pPr lvl="6"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7pPr>
            <a:lvl8pPr lvl="7"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8pPr>
            <a:lvl9pPr lvl="8"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9pPr>
          </a:lstStyle>
          <a:p>
            <a:endParaRPr lang="es-CL"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79" r:id="rId5"/>
    <p:sldLayoutId id="2147483661" r:id="rId6"/>
    <p:sldLayoutId id="2147483662" r:id="rId7"/>
    <p:sldLayoutId id="2147483678" r:id="rId8"/>
    <p:sldLayoutId id="2147483677"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Roboto" panose="02000000000000000000" pitchFamily="2"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0"/>
          <p:cNvSpPr txBox="1">
            <a:spLocks noGrp="1"/>
          </p:cNvSpPr>
          <p:nvPr>
            <p:ph type="title"/>
          </p:nvPr>
        </p:nvSpPr>
        <p:spPr>
          <a:xfrm>
            <a:off x="2780521" y="2545569"/>
            <a:ext cx="6318801" cy="3126754"/>
          </a:xfrm>
          <a:prstGeom prst="rect">
            <a:avLst/>
          </a:prstGeom>
        </p:spPr>
        <p:txBody>
          <a:bodyPr spcFirstLastPara="1" wrap="square" lIns="91425" tIns="45700" rIns="91425" bIns="45700" anchor="b" anchorCtr="0">
            <a:noAutofit/>
          </a:bodyPr>
          <a:lstStyle/>
          <a:p>
            <a:pPr lvl="0"/>
            <a:r>
              <a:rPr lang="es-CL" sz="5800" b="1" dirty="0"/>
              <a:t>Usando </a:t>
            </a:r>
            <a:br>
              <a:rPr lang="es-CL" sz="5800" b="1" dirty="0"/>
            </a:br>
            <a:r>
              <a:rPr lang="es-CL" sz="5800" b="1" dirty="0"/>
              <a:t>Funciones SQL</a:t>
            </a:r>
            <a:br>
              <a:rPr lang="es-CL" sz="5800" b="1" dirty="0"/>
            </a:br>
            <a:r>
              <a:rPr lang="es-CL" sz="5800" b="1" dirty="0"/>
              <a:t>de una Fila de Conversión y Validar Valores Nulos</a:t>
            </a:r>
          </a:p>
        </p:txBody>
      </p:sp>
      <p:sp>
        <p:nvSpPr>
          <p:cNvPr id="3" name="Google Shape;213;p30">
            <a:extLst>
              <a:ext uri="{FF2B5EF4-FFF2-40B4-BE49-F238E27FC236}">
                <a16:creationId xmlns:a16="http://schemas.microsoft.com/office/drawing/2014/main" xmlns="" id="{A0DC1190-E5A4-4584-A241-46E55458A9A4}"/>
              </a:ext>
            </a:extLst>
          </p:cNvPr>
          <p:cNvSpPr txBox="1">
            <a:spLocks noGrp="1"/>
          </p:cNvSpPr>
          <p:nvPr>
            <p:ph type="subTitle" idx="1"/>
          </p:nvPr>
        </p:nvSpPr>
        <p:spPr>
          <a:xfrm>
            <a:off x="6386512" y="5620875"/>
            <a:ext cx="2502087" cy="873900"/>
          </a:xfrm>
          <a:prstGeom prst="roundRect">
            <a:avLst/>
          </a:prstGeom>
        </p:spPr>
        <p:txBody>
          <a:bodyPr spcFirstLastPara="1" wrap="square" lIns="91425" tIns="0" rIns="182875" bIns="0" anchor="t" anchorCtr="0">
            <a:noAutofit/>
          </a:bodyPr>
          <a:lstStyle/>
          <a:p>
            <a:pPr marL="0" lvl="0" indent="0" algn="ctr"/>
            <a:r>
              <a:rPr lang="en-US" sz="3600" dirty="0"/>
              <a:t>MDY2131</a:t>
            </a:r>
            <a:endParaRPr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a 6">
            <a:extLst>
              <a:ext uri="{FF2B5EF4-FFF2-40B4-BE49-F238E27FC236}">
                <a16:creationId xmlns:a16="http://schemas.microsoft.com/office/drawing/2014/main" xmlns="" id="{FB9E9EC4-1442-454F-96A7-8DBD75B3E084}"/>
              </a:ext>
            </a:extLst>
          </p:cNvPr>
          <p:cNvGraphicFramePr>
            <a:graphicFrameLocks noGrp="1"/>
          </p:cNvGraphicFramePr>
          <p:nvPr/>
        </p:nvGraphicFramePr>
        <p:xfrm>
          <a:off x="428622" y="1668467"/>
          <a:ext cx="8315325" cy="3939090"/>
        </p:xfrm>
        <a:graphic>
          <a:graphicData uri="http://schemas.openxmlformats.org/drawingml/2006/table">
            <a:tbl>
              <a:tblPr firstRow="1" bandRow="1">
                <a:tableStyleId>{073A0DAA-6AF3-43AB-8588-CEC1D06C72B9}</a:tableStyleId>
              </a:tblPr>
              <a:tblGrid>
                <a:gridCol w="1384136">
                  <a:extLst>
                    <a:ext uri="{9D8B030D-6E8A-4147-A177-3AD203B41FA5}">
                      <a16:colId xmlns:a16="http://schemas.microsoft.com/office/drawing/2014/main" xmlns="" val="447460705"/>
                    </a:ext>
                  </a:extLst>
                </a:gridCol>
                <a:gridCol w="3002127">
                  <a:extLst>
                    <a:ext uri="{9D8B030D-6E8A-4147-A177-3AD203B41FA5}">
                      <a16:colId xmlns:a16="http://schemas.microsoft.com/office/drawing/2014/main" xmlns="" val="745656918"/>
                    </a:ext>
                  </a:extLst>
                </a:gridCol>
                <a:gridCol w="3929062">
                  <a:extLst>
                    <a:ext uri="{9D8B030D-6E8A-4147-A177-3AD203B41FA5}">
                      <a16:colId xmlns:a16="http://schemas.microsoft.com/office/drawing/2014/main" xmlns="" val="4006272735"/>
                    </a:ext>
                  </a:extLst>
                </a:gridCol>
              </a:tblGrid>
              <a:tr h="1205362">
                <a:tc>
                  <a:txBody>
                    <a:bodyPr/>
                    <a:lstStyle/>
                    <a:p>
                      <a:pPr algn="ctr"/>
                      <a:r>
                        <a:rPr kumimoji="0" lang="es-ES_tradn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Experiencia</a:t>
                      </a:r>
                      <a:endParaRPr lang="es-CL" dirty="0"/>
                    </a:p>
                  </a:txBody>
                  <a:tcPr anchor="ctr"/>
                </a:tc>
                <a:tc>
                  <a:txBody>
                    <a:bodyPr/>
                    <a:lstStyle/>
                    <a:p>
                      <a:pPr algn="ctr"/>
                      <a:r>
                        <a:rPr kumimoji="0" lang="es-ES_tradn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Nombre</a:t>
                      </a:r>
                      <a:endParaRPr lang="es-CL" dirty="0"/>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Unidad de Competencia Especialidad – Nivel de la Competencia de Empleabilidad</a:t>
                      </a:r>
                      <a:endParaRPr lang="es-CL" dirty="0"/>
                    </a:p>
                  </a:txBody>
                  <a:tcPr anchor="ctr"/>
                </a:tc>
                <a:extLst>
                  <a:ext uri="{0D108BD9-81ED-4DB2-BD59-A6C34878D82A}">
                    <a16:rowId xmlns:a16="http://schemas.microsoft.com/office/drawing/2014/main" xmlns="" val="1379131601"/>
                  </a:ext>
                </a:extLst>
              </a:tr>
              <a:tr h="722048">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_tradnl" sz="1800" b="0" i="0" u="none" strike="noStrike" kern="0" cap="none" spc="0" normalizeH="0" baseline="0" noProof="0" dirty="0" err="1">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Nº</a:t>
                      </a:r>
                      <a:r>
                        <a:rPr kumimoji="0" lang="es-ES_tradnl" sz="1800" b="0" i="0" u="none" strike="noStrike" kern="0" cap="none" spc="0" normalizeH="0" baseline="0" noProof="0" dirty="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 1</a:t>
                      </a:r>
                    </a:p>
                    <a:p>
                      <a:endParaRPr lang="es-CL" dirty="0"/>
                    </a:p>
                  </a:txBody>
                  <a:tcPr anchor="ctr"/>
                </a:tc>
                <a:tc rowSpan="2">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800" b="0" i="0" u="none" strike="noStrike" kern="0" cap="none" spc="0" normalizeH="0" baseline="0" noProof="0" dirty="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Construyendo sentencias simples de recuperación de datos</a:t>
                      </a:r>
                      <a:endParaRPr kumimoji="0" lang="es-ES_tradnl" sz="1800" b="0" i="0" u="none" strike="noStrike" kern="0" cap="none" spc="0" normalizeH="0" baseline="0" noProof="0" dirty="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endParaRPr>
                    </a:p>
                    <a:p>
                      <a:endParaRPr lang="es-CL" dirty="0"/>
                    </a:p>
                  </a:txBody>
                  <a:tcPr anchor="ct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800" b="0" i="0" u="none" strike="noStrike" kern="0" cap="none" spc="0" normalizeH="0" baseline="0" noProof="0" dirty="0">
                          <a:ln>
                            <a:noFill/>
                          </a:ln>
                          <a:solidFill>
                            <a:srgbClr val="172740"/>
                          </a:solidFill>
                          <a:effectLst/>
                          <a:uLnTx/>
                          <a:uFillTx/>
                          <a:latin typeface="Calibri" panose="020F0502020204030204" pitchFamily="34" charset="0"/>
                          <a:ea typeface="+mn-ea"/>
                          <a:cs typeface="Calibri" panose="020F0502020204030204" pitchFamily="34" charset="0"/>
                          <a:sym typeface="Arial"/>
                        </a:rPr>
                        <a:t>Desarrolla operaciones sobre la base de datos que permitan la obtención, actualización, inserción y eliminación de información estableciendo una conexión con una base de datos para cumplir con los requerimientos de la organización.</a:t>
                      </a:r>
                      <a:endParaRPr lang="es-CL" dirty="0"/>
                    </a:p>
                  </a:txBody>
                  <a:tcPr anchor="ctr"/>
                </a:tc>
                <a:extLst>
                  <a:ext uri="{0D108BD9-81ED-4DB2-BD59-A6C34878D82A}">
                    <a16:rowId xmlns:a16="http://schemas.microsoft.com/office/drawing/2014/main" xmlns="" val="3941631869"/>
                  </a:ext>
                </a:extLst>
              </a:tr>
              <a:tr h="722048">
                <a:tc vMerge="1">
                  <a:txBody>
                    <a:bodyPr/>
                    <a:lstStyle/>
                    <a:p>
                      <a:endParaRPr lang="es-CL" dirty="0"/>
                    </a:p>
                  </a:txBody>
                  <a:tcPr anchor="ctr"/>
                </a:tc>
                <a:tc vMerge="1">
                  <a:txBody>
                    <a:bodyPr/>
                    <a:lstStyle/>
                    <a:p>
                      <a:endParaRPr lang="es-CL" dirty="0"/>
                    </a:p>
                  </a:txBody>
                  <a:tcPr anchor="ct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s-MX" sz="1800" dirty="0">
                          <a:effectLst/>
                          <a:latin typeface="Calibri" panose="020F0502020204030204" pitchFamily="34" charset="0"/>
                          <a:ea typeface="Calibri" panose="020F0502020204030204" pitchFamily="34" charset="0"/>
                        </a:rPr>
                        <a:t>Resolución de Problemas (N1)</a:t>
                      </a:r>
                      <a:endParaRPr lang="es-CL" sz="1800" dirty="0"/>
                    </a:p>
                  </a:txBody>
                  <a:tcPr anchor="ctr"/>
                </a:tc>
                <a:extLst>
                  <a:ext uri="{0D108BD9-81ED-4DB2-BD59-A6C34878D82A}">
                    <a16:rowId xmlns:a16="http://schemas.microsoft.com/office/drawing/2014/main" xmlns="" val="2871679439"/>
                  </a:ext>
                </a:extLst>
              </a:tr>
            </a:tbl>
          </a:graphicData>
        </a:graphic>
      </p:graphicFrame>
      <p:sp>
        <p:nvSpPr>
          <p:cNvPr id="11" name="Título 1">
            <a:extLst>
              <a:ext uri="{FF2B5EF4-FFF2-40B4-BE49-F238E27FC236}">
                <a16:creationId xmlns:a16="http://schemas.microsoft.com/office/drawing/2014/main" xmlns="" id="{7573328E-BCD9-4056-AEDD-0C97FCE1A1DC}"/>
              </a:ext>
            </a:extLst>
          </p:cNvPr>
          <p:cNvSpPr>
            <a:spLocks noGrp="1"/>
          </p:cNvSpPr>
          <p:nvPr>
            <p:ph type="title"/>
          </p:nvPr>
        </p:nvSpPr>
        <p:spPr>
          <a:xfrm>
            <a:off x="1606532" y="212725"/>
            <a:ext cx="4594244" cy="813000"/>
          </a:xfrm>
        </p:spPr>
        <p:txBody>
          <a:bodyPr/>
          <a:lstStyle/>
          <a:p>
            <a:r>
              <a:rPr lang="es-ES_tradnl" b="1" dirty="0"/>
              <a:t>Experiencia de Aprendizaje</a:t>
            </a:r>
            <a:br>
              <a:rPr lang="es-ES_tradnl" b="1" dirty="0"/>
            </a:br>
            <a:r>
              <a:rPr lang="es-ES_tradnl" b="1" dirty="0"/>
              <a:t>y Competencia Asociada</a:t>
            </a:r>
          </a:p>
        </p:txBody>
      </p:sp>
    </p:spTree>
    <p:extLst>
      <p:ext uri="{BB962C8B-B14F-4D97-AF65-F5344CB8AC3E}">
        <p14:creationId xmlns:p14="http://schemas.microsoft.com/office/powerpoint/2010/main" val="4066620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xmlns=""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3</a:t>
            </a:fld>
            <a:endParaRPr lang="en-US"/>
          </a:p>
        </p:txBody>
      </p:sp>
      <p:sp>
        <p:nvSpPr>
          <p:cNvPr id="2" name="Título 1">
            <a:extLst>
              <a:ext uri="{FF2B5EF4-FFF2-40B4-BE49-F238E27FC236}">
                <a16:creationId xmlns:a16="http://schemas.microsoft.com/office/drawing/2014/main" xmlns="" id="{9750BC02-FE4E-1148-8346-BA2C94ECC781}"/>
              </a:ext>
            </a:extLst>
          </p:cNvPr>
          <p:cNvSpPr>
            <a:spLocks noGrp="1"/>
          </p:cNvSpPr>
          <p:nvPr>
            <p:ph type="title"/>
          </p:nvPr>
        </p:nvSpPr>
        <p:spPr/>
        <p:txBody>
          <a:bodyPr/>
          <a:lstStyle/>
          <a:p>
            <a:r>
              <a:rPr lang="es-ES_tradnl" b="1" dirty="0"/>
              <a:t>Objetivos de la Clase</a:t>
            </a:r>
          </a:p>
        </p:txBody>
      </p:sp>
      <p:sp>
        <p:nvSpPr>
          <p:cNvPr id="9" name="Marcador de texto 8">
            <a:extLst>
              <a:ext uri="{FF2B5EF4-FFF2-40B4-BE49-F238E27FC236}">
                <a16:creationId xmlns:a16="http://schemas.microsoft.com/office/drawing/2014/main" xmlns="" id="{C0A58EEC-AE91-4A1D-A092-4DC34F040D5C}"/>
              </a:ext>
            </a:extLst>
          </p:cNvPr>
          <p:cNvSpPr>
            <a:spLocks noGrp="1"/>
          </p:cNvSpPr>
          <p:nvPr>
            <p:ph type="body" sz="quarter" idx="11"/>
          </p:nvPr>
        </p:nvSpPr>
        <p:spPr>
          <a:xfrm>
            <a:off x="560387" y="2804252"/>
            <a:ext cx="8023225" cy="2275770"/>
          </a:xfrm>
        </p:spPr>
        <p:txBody>
          <a:bodyPr/>
          <a:lstStyle/>
          <a:p>
            <a:pPr marL="393700" indent="-342900" algn="just">
              <a:buFont typeface="Arial" panose="020B0604020202020204" pitchFamily="34" charset="0"/>
              <a:buChar char="•"/>
            </a:pPr>
            <a:r>
              <a:rPr lang="es-CL" sz="2200" dirty="0"/>
              <a:t>Cómo convertir en forma explícita una fecha a un formato </a:t>
            </a:r>
            <a:r>
              <a:rPr lang="es-CL" sz="2200" dirty="0" err="1"/>
              <a:t>caracter</a:t>
            </a:r>
            <a:r>
              <a:rPr lang="es-CL" sz="2200" dirty="0"/>
              <a:t> en una sentencia SQL.</a:t>
            </a:r>
          </a:p>
          <a:p>
            <a:pPr marL="393700" indent="-342900" algn="just">
              <a:buFont typeface="Arial" panose="020B0604020202020204" pitchFamily="34" charset="0"/>
              <a:buChar char="•"/>
            </a:pPr>
            <a:r>
              <a:rPr lang="es-CL" sz="2200" dirty="0"/>
              <a:t>Cómo convertir en forma explícita un número a un formato </a:t>
            </a:r>
            <a:r>
              <a:rPr lang="es-CL" sz="2200" dirty="0" err="1"/>
              <a:t>caracter</a:t>
            </a:r>
            <a:r>
              <a:rPr lang="es-CL" sz="2200" dirty="0"/>
              <a:t> en una sentencia SQL.</a:t>
            </a:r>
          </a:p>
          <a:p>
            <a:pPr marL="393700" indent="-342900" algn="just">
              <a:buFont typeface="Arial" panose="020B0604020202020204" pitchFamily="34" charset="0"/>
              <a:buChar char="•"/>
            </a:pPr>
            <a:r>
              <a:rPr lang="es-CL" sz="2200" dirty="0"/>
              <a:t>Cómo convertir en forma explícita un </a:t>
            </a:r>
            <a:r>
              <a:rPr lang="es-CL" sz="2200" dirty="0" err="1"/>
              <a:t>caracter</a:t>
            </a:r>
            <a:r>
              <a:rPr lang="es-CL" sz="2200" dirty="0"/>
              <a:t> a una fecha en una sentencia SQL.</a:t>
            </a:r>
          </a:p>
          <a:p>
            <a:pPr marL="393700" indent="-342900" algn="just">
              <a:buFont typeface="Arial" panose="020B0604020202020204" pitchFamily="34" charset="0"/>
              <a:buChar char="•"/>
            </a:pPr>
            <a:r>
              <a:rPr lang="es-CL" sz="2200" dirty="0"/>
              <a:t>Cómo convertir en forma explícita un </a:t>
            </a:r>
            <a:r>
              <a:rPr lang="es-CL" sz="2200" dirty="0" err="1"/>
              <a:t>caracter</a:t>
            </a:r>
            <a:r>
              <a:rPr lang="es-CL" sz="2200" dirty="0"/>
              <a:t> a un número en una sentencia SQL.</a:t>
            </a:r>
          </a:p>
          <a:p>
            <a:pPr marL="393700" indent="-342900" algn="just">
              <a:buFont typeface="Arial" panose="020B0604020202020204" pitchFamily="34" charset="0"/>
              <a:buChar char="•"/>
            </a:pPr>
            <a:r>
              <a:rPr lang="es-CL" sz="2200" dirty="0"/>
              <a:t>Cómo definir un valor cuando alguna expresión es NULA en una sentencia SQL.</a:t>
            </a:r>
          </a:p>
          <a:p>
            <a:pPr marL="393700" indent="-342900" algn="just">
              <a:buFont typeface="Arial" panose="020B0604020202020204" pitchFamily="34" charset="0"/>
              <a:buChar char="•"/>
            </a:pPr>
            <a:r>
              <a:rPr lang="es-CL" sz="2200" dirty="0"/>
              <a:t>Cómo trabajar con Funciones Anidadas en una sentencia SQL.</a:t>
            </a:r>
          </a:p>
          <a:p>
            <a:pPr marL="393700" indent="-342900" algn="just">
              <a:buFont typeface="Arial" panose="020B0604020202020204" pitchFamily="34" charset="0"/>
              <a:buChar char="•"/>
            </a:pPr>
            <a:r>
              <a:rPr lang="es-CL" sz="2200" dirty="0"/>
              <a:t>Cómo implementar una condición lógica IF-THEN-ELSE en una sentencia SQL.</a:t>
            </a:r>
          </a:p>
          <a:p>
            <a:pPr algn="l"/>
            <a:endParaRPr lang="es-CL" sz="2200" dirty="0"/>
          </a:p>
        </p:txBody>
      </p:sp>
    </p:spTree>
    <p:extLst>
      <p:ext uri="{BB962C8B-B14F-4D97-AF65-F5344CB8AC3E}">
        <p14:creationId xmlns:p14="http://schemas.microsoft.com/office/powerpoint/2010/main" val="4278723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2"/>
          <p:cNvSpPr txBox="1">
            <a:spLocks noGrp="1"/>
          </p:cNvSpPr>
          <p:nvPr>
            <p:ph type="title"/>
          </p:nvPr>
        </p:nvSpPr>
        <p:spPr>
          <a:xfrm>
            <a:off x="3004575" y="2646419"/>
            <a:ext cx="5995800" cy="282305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r>
              <a:rPr lang="en-US" sz="4800" b="1" dirty="0" err="1"/>
              <a:t>Funciones</a:t>
            </a:r>
            <a:r>
              <a:rPr lang="en-US" sz="4800" b="1" dirty="0"/>
              <a:t> </a:t>
            </a:r>
            <a:br>
              <a:rPr lang="en-US" sz="4800" b="1" dirty="0"/>
            </a:br>
            <a:r>
              <a:rPr lang="en-US" sz="4800" b="1" dirty="0"/>
              <a:t>de </a:t>
            </a:r>
            <a:r>
              <a:rPr lang="en-US" sz="4800" b="1" dirty="0" err="1"/>
              <a:t>Conversión</a:t>
            </a:r>
            <a:r>
              <a:rPr lang="en-US" sz="4800" b="1" dirty="0"/>
              <a:t> de </a:t>
            </a:r>
            <a:br>
              <a:rPr lang="en-US" sz="4800" b="1" dirty="0"/>
            </a:br>
            <a:r>
              <a:rPr lang="en-US" sz="4800" b="1" dirty="0" err="1"/>
              <a:t>Tipos</a:t>
            </a:r>
            <a:r>
              <a:rPr lang="en-US" sz="4800" b="1" dirty="0"/>
              <a:t> de </a:t>
            </a:r>
            <a:r>
              <a:rPr lang="en-US" sz="4800" b="1" dirty="0" err="1"/>
              <a:t>Datos</a:t>
            </a:r>
            <a:endParaRPr sz="4800" b="1" dirty="0"/>
          </a:p>
        </p:txBody>
      </p:sp>
      <p:sp>
        <p:nvSpPr>
          <p:cNvPr id="3" name="CuadroTexto 1">
            <a:extLst>
              <a:ext uri="{FF2B5EF4-FFF2-40B4-BE49-F238E27FC236}">
                <a16:creationId xmlns:a16="http://schemas.microsoft.com/office/drawing/2014/main" xmlns="" id="{3C32DF58-1F5D-4FFA-BD6F-368E0786B75B}"/>
              </a:ext>
            </a:extLst>
          </p:cNvPr>
          <p:cNvSpPr txBox="1"/>
          <p:nvPr/>
        </p:nvSpPr>
        <p:spPr>
          <a:xfrm>
            <a:off x="1208058" y="6274836"/>
            <a:ext cx="914400" cy="914400"/>
          </a:xfrm>
          <a:prstGeom prst="rect">
            <a:avLst/>
          </a:prstGeom>
          <a:noFill/>
          <a:ln>
            <a:noFill/>
          </a:ln>
        </p:spPr>
        <p:txBody>
          <a:bodyPr spcFirstLastPara="1" wrap="none" lIns="91425" tIns="45700" rIns="91425" bIns="45700" rtl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MX" sz="1600" b="1" dirty="0">
                <a:solidFill>
                  <a:schemeClr val="bg1"/>
                </a:solidFill>
              </a:rPr>
              <a:t>*</a:t>
            </a:r>
            <a:r>
              <a:rPr lang="es-MX" sz="1200" b="1" dirty="0">
                <a:solidFill>
                  <a:schemeClr val="bg1"/>
                </a:solidFill>
              </a:rPr>
              <a:t>Las sentencias de los ejemplos usan las tablas del esquema HR de la Base de Datos Oracle </a:t>
            </a:r>
            <a:endParaRPr lang="es-CL" sz="1200" b="1"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384215" y="258445"/>
            <a:ext cx="4647630" cy="813000"/>
          </a:xfrm>
        </p:spPr>
        <p:txBody>
          <a:bodyPr/>
          <a:lstStyle/>
          <a:p>
            <a:pPr lvl="0" algn="r" defTabSz="457200">
              <a:defRPr/>
            </a:pPr>
            <a:r>
              <a:rPr lang="es-CL" sz="2800" b="1" dirty="0">
                <a:solidFill>
                  <a:prstClr val="white"/>
                </a:solidFill>
                <a:latin typeface="Calibri"/>
              </a:rPr>
              <a:t>Conversión de Tipos de Datos</a:t>
            </a:r>
            <a:endParaRPr lang="es-CL" sz="2800" b="1" kern="1200" dirty="0">
              <a:solidFill>
                <a:prstClr val="white"/>
              </a:solidFill>
              <a:latin typeface="Calibri"/>
            </a:endParaRPr>
          </a:p>
        </p:txBody>
      </p:sp>
      <p:pic>
        <p:nvPicPr>
          <p:cNvPr id="5" name="Imagen 4" descr="Imagen que contiene firmar, captura de pantalla, señal, calle&#10;&#10;Descripción generada automáticamente">
            <a:extLst>
              <a:ext uri="{FF2B5EF4-FFF2-40B4-BE49-F238E27FC236}">
                <a16:creationId xmlns:a16="http://schemas.microsoft.com/office/drawing/2014/main" xmlns="" id="{5C16E141-7BDA-493A-A938-362A3CEF66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261" y="2100428"/>
            <a:ext cx="8911136" cy="3080802"/>
          </a:xfrm>
          <a:prstGeom prst="rect">
            <a:avLst/>
          </a:prstGeom>
        </p:spPr>
      </p:pic>
    </p:spTree>
    <p:extLst>
      <p:ext uri="{BB962C8B-B14F-4D97-AF65-F5344CB8AC3E}">
        <p14:creationId xmlns:p14="http://schemas.microsoft.com/office/powerpoint/2010/main" val="2697317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553545" y="241512"/>
            <a:ext cx="4647630" cy="813000"/>
          </a:xfrm>
        </p:spPr>
        <p:txBody>
          <a:bodyPr/>
          <a:lstStyle/>
          <a:p>
            <a:pPr lvl="0" defTabSz="457200">
              <a:lnSpc>
                <a:spcPct val="100000"/>
              </a:lnSpc>
              <a:buClrTx/>
              <a:buSzTx/>
              <a:defRPr/>
            </a:pPr>
            <a:r>
              <a:rPr lang="es-CL" sz="2800" b="1" kern="1200" dirty="0">
                <a:solidFill>
                  <a:prstClr val="white"/>
                </a:solidFill>
                <a:latin typeface="Calibri"/>
                <a:cs typeface="Arial" panose="020B0604020202020204" pitchFamily="34" charset="0"/>
              </a:rPr>
              <a:t>Conversión de Tipos de Datos Implícita</a:t>
            </a:r>
          </a:p>
        </p:txBody>
      </p:sp>
      <p:sp>
        <p:nvSpPr>
          <p:cNvPr id="10" name="Text Box 5">
            <a:extLst>
              <a:ext uri="{FF2B5EF4-FFF2-40B4-BE49-F238E27FC236}">
                <a16:creationId xmlns:a16="http://schemas.microsoft.com/office/drawing/2014/main" xmlns="" id="{E8198392-1F12-4D1F-AC26-92F04BC01952}"/>
              </a:ext>
            </a:extLst>
          </p:cNvPr>
          <p:cNvSpPr txBox="1">
            <a:spLocks noChangeArrowheads="1"/>
          </p:cNvSpPr>
          <p:nvPr/>
        </p:nvSpPr>
        <p:spPr bwMode="auto">
          <a:xfrm>
            <a:off x="1302475" y="3886100"/>
            <a:ext cx="6293861"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employee_id, hire_date</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WHERE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hire_date</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&gt; '05/03/2008'</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ORDER BY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hire_date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1" name="Rectangle 3">
            <a:extLst>
              <a:ext uri="{FF2B5EF4-FFF2-40B4-BE49-F238E27FC236}">
                <a16:creationId xmlns:a16="http://schemas.microsoft.com/office/drawing/2014/main" xmlns="" id="{1EFFF590-C4A4-474E-8DEA-7CE22C223D80}"/>
              </a:ext>
            </a:extLst>
          </p:cNvPr>
          <p:cNvSpPr txBox="1">
            <a:spLocks noChangeArrowheads="1"/>
          </p:cNvSpPr>
          <p:nvPr/>
        </p:nvSpPr>
        <p:spPr bwMode="auto">
          <a:xfrm>
            <a:off x="611188" y="1460500"/>
            <a:ext cx="7993062"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r>
              <a:rPr lang="es-CL" sz="1800" kern="1200" dirty="0">
                <a:solidFill>
                  <a:prstClr val="black"/>
                </a:solidFill>
                <a:latin typeface="Arial" pitchFamily="34" charset="0"/>
                <a:ea typeface="Arial Unicode MS"/>
                <a:cs typeface="Arial" pitchFamily="34" charset="0"/>
              </a:rPr>
              <a:t>Ejemplo:</a:t>
            </a:r>
          </a:p>
        </p:txBody>
      </p:sp>
      <p:pic>
        <p:nvPicPr>
          <p:cNvPr id="12" name="Imagen 11">
            <a:extLst>
              <a:ext uri="{FF2B5EF4-FFF2-40B4-BE49-F238E27FC236}">
                <a16:creationId xmlns:a16="http://schemas.microsoft.com/office/drawing/2014/main" xmlns="" id="{C13D8158-6CC0-4007-973F-1BC2AA660F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9831" y="5261874"/>
            <a:ext cx="2520281" cy="1248139"/>
          </a:xfrm>
          <a:prstGeom prst="rect">
            <a:avLst/>
          </a:prstGeom>
        </p:spPr>
      </p:pic>
      <p:pic>
        <p:nvPicPr>
          <p:cNvPr id="2" name="Imagen 1">
            <a:extLst>
              <a:ext uri="{FF2B5EF4-FFF2-40B4-BE49-F238E27FC236}">
                <a16:creationId xmlns:a16="http://schemas.microsoft.com/office/drawing/2014/main" xmlns="" id="{FA325BD4-34B9-4D7E-B8CA-A47766F70EAB}"/>
              </a:ext>
            </a:extLst>
          </p:cNvPr>
          <p:cNvPicPr>
            <a:picLocks noChangeAspect="1"/>
          </p:cNvPicPr>
          <p:nvPr/>
        </p:nvPicPr>
        <p:blipFill>
          <a:blip r:embed="rId4"/>
          <a:stretch>
            <a:fillRect/>
          </a:stretch>
        </p:blipFill>
        <p:spPr>
          <a:xfrm>
            <a:off x="1930176" y="1201497"/>
            <a:ext cx="5182049" cy="2152075"/>
          </a:xfrm>
          <a:prstGeom prst="rect">
            <a:avLst/>
          </a:prstGeom>
        </p:spPr>
      </p:pic>
    </p:spTree>
    <p:extLst>
      <p:ext uri="{BB962C8B-B14F-4D97-AF65-F5344CB8AC3E}">
        <p14:creationId xmlns:p14="http://schemas.microsoft.com/office/powerpoint/2010/main" val="1009753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553545" y="241512"/>
            <a:ext cx="4647630" cy="813000"/>
          </a:xfrm>
        </p:spPr>
        <p:txBody>
          <a:bodyPr/>
          <a:lstStyle/>
          <a:p>
            <a:pPr lvl="0" defTabSz="457200">
              <a:lnSpc>
                <a:spcPct val="100000"/>
              </a:lnSpc>
              <a:buClrTx/>
              <a:buSzTx/>
              <a:defRPr/>
            </a:pPr>
            <a:r>
              <a:rPr lang="es-CL" sz="2800" b="1" kern="1200" dirty="0">
                <a:solidFill>
                  <a:prstClr val="white"/>
                </a:solidFill>
                <a:latin typeface="Calibri"/>
                <a:cs typeface="Arial" panose="020B0604020202020204" pitchFamily="34" charset="0"/>
              </a:rPr>
              <a:t>Conversión de Tipos de Datos Explícita</a:t>
            </a:r>
          </a:p>
        </p:txBody>
      </p:sp>
      <p:pic>
        <p:nvPicPr>
          <p:cNvPr id="7" name="Imagen 6" descr="Captura de pantalla de un celular con letras&#10;&#10;Descripción generada automáticamente">
            <a:extLst>
              <a:ext uri="{FF2B5EF4-FFF2-40B4-BE49-F238E27FC236}">
                <a16:creationId xmlns:a16="http://schemas.microsoft.com/office/drawing/2014/main" xmlns="" id="{39A01BEA-79C3-4D34-AEEF-8203D65B9D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816" y="1340768"/>
            <a:ext cx="8892680" cy="1559731"/>
          </a:xfrm>
          <a:prstGeom prst="rect">
            <a:avLst/>
          </a:prstGeom>
        </p:spPr>
      </p:pic>
      <p:pic>
        <p:nvPicPr>
          <p:cNvPr id="8" name="Imagen 7">
            <a:extLst>
              <a:ext uri="{FF2B5EF4-FFF2-40B4-BE49-F238E27FC236}">
                <a16:creationId xmlns:a16="http://schemas.microsoft.com/office/drawing/2014/main" xmlns="" id="{EFD0061E-C9B0-48D6-94F0-5FEF308C3B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27369" y="3186756"/>
            <a:ext cx="5687831" cy="3115628"/>
          </a:xfrm>
          <a:prstGeom prst="rect">
            <a:avLst/>
          </a:prstGeom>
        </p:spPr>
      </p:pic>
    </p:spTree>
    <p:extLst>
      <p:ext uri="{BB962C8B-B14F-4D97-AF65-F5344CB8AC3E}">
        <p14:creationId xmlns:p14="http://schemas.microsoft.com/office/powerpoint/2010/main" val="803534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2">
            <a:extLst>
              <a:ext uri="{FF2B5EF4-FFF2-40B4-BE49-F238E27FC236}">
                <a16:creationId xmlns:a16="http://schemas.microsoft.com/office/drawing/2014/main" xmlns="" id="{38AB855C-FF4B-4FB8-8664-59A9C3DBBC42}"/>
              </a:ext>
            </a:extLst>
          </p:cNvPr>
          <p:cNvSpPr>
            <a:spLocks noGrp="1"/>
          </p:cNvSpPr>
          <p:nvPr>
            <p:ph type="title"/>
          </p:nvPr>
        </p:nvSpPr>
        <p:spPr>
          <a:xfrm>
            <a:off x="1705943" y="258445"/>
            <a:ext cx="4647630" cy="813000"/>
          </a:xfrm>
        </p:spPr>
        <p:txBody>
          <a:bodyPr/>
          <a:lstStyle/>
          <a:p>
            <a:pPr defTabSz="457200">
              <a:defRPr/>
            </a:pPr>
            <a:r>
              <a:rPr lang="es-CL" sz="2800" b="1" dirty="0">
                <a:solidFill>
                  <a:prstClr val="white"/>
                </a:solidFill>
                <a:latin typeface="Calibri"/>
              </a:rPr>
              <a:t>Uso Función TO_CHAR </a:t>
            </a:r>
            <a:br>
              <a:rPr lang="es-CL" sz="2800" b="1" dirty="0">
                <a:solidFill>
                  <a:prstClr val="white"/>
                </a:solidFill>
                <a:latin typeface="Calibri"/>
              </a:rPr>
            </a:br>
            <a:r>
              <a:rPr lang="es-CL" sz="2800" b="1" dirty="0">
                <a:solidFill>
                  <a:prstClr val="white"/>
                </a:solidFill>
                <a:latin typeface="Calibri"/>
              </a:rPr>
              <a:t>con Fechas</a:t>
            </a:r>
          </a:p>
        </p:txBody>
      </p:sp>
      <p:sp>
        <p:nvSpPr>
          <p:cNvPr id="9" name="Marcador de contenido 1">
            <a:extLst>
              <a:ext uri="{FF2B5EF4-FFF2-40B4-BE49-F238E27FC236}">
                <a16:creationId xmlns:a16="http://schemas.microsoft.com/office/drawing/2014/main" xmlns="" id="{217CCBE2-5C78-4B89-980F-123EFBF18370}"/>
              </a:ext>
            </a:extLst>
          </p:cNvPr>
          <p:cNvSpPr txBox="1">
            <a:spLocks/>
          </p:cNvSpPr>
          <p:nvPr/>
        </p:nvSpPr>
        <p:spPr>
          <a:xfrm>
            <a:off x="457200" y="1600202"/>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16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16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Sintaxis: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16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8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Arial Unicode MS"/>
                <a:cs typeface="+mn-cs"/>
              </a:rPr>
              <a:t>Principales elementos de fechas válidos para los formatos de fechas: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Arial Unicode MS"/>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800" b="0" i="0" u="none" strike="noStrike" kern="1200" cap="none" spc="0" normalizeH="0" baseline="0" noProof="0">
              <a:ln>
                <a:noFill/>
              </a:ln>
              <a:solidFill>
                <a:sysClr val="windowText" lastClr="000000"/>
              </a:solidFill>
              <a:effectLst/>
              <a:uLnTx/>
              <a:uFillTx/>
              <a:latin typeface="Calibri"/>
              <a:ea typeface="Arial Unicode MS"/>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Arial Unicode MS"/>
                <a:cs typeface="+mn-cs"/>
              </a:rPr>
              <a:t>Principales elementos de </a:t>
            </a:r>
            <a:r>
              <a:rPr kumimoji="0" lang="es-MX" sz="2000" b="0" i="0" u="none" strike="noStrike" kern="1200" cap="none" spc="0" normalizeH="0" baseline="0" noProof="0">
                <a:ln>
                  <a:noFill/>
                </a:ln>
                <a:solidFill>
                  <a:sysClr val="windowText" lastClr="000000"/>
                </a:solidFill>
                <a:effectLst/>
                <a:uLnTx/>
                <a:uFillTx/>
                <a:latin typeface="Calibri"/>
                <a:ea typeface="+mn-ea"/>
                <a:cs typeface="+mn-cs"/>
              </a:rPr>
              <a:t>horas válidos para los formatos de fechas:</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Arial Unicode MS"/>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2" name="Text Box 5">
            <a:extLst>
              <a:ext uri="{FF2B5EF4-FFF2-40B4-BE49-F238E27FC236}">
                <a16:creationId xmlns:a16="http://schemas.microsoft.com/office/drawing/2014/main" xmlns="" id="{579A355B-FF97-4DE6-B857-2239891390CE}"/>
              </a:ext>
            </a:extLst>
          </p:cNvPr>
          <p:cNvSpPr txBox="1">
            <a:spLocks noChangeArrowheads="1"/>
          </p:cNvSpPr>
          <p:nvPr/>
        </p:nvSpPr>
        <p:spPr bwMode="auto">
          <a:xfrm>
            <a:off x="874540" y="2924944"/>
            <a:ext cx="3909615"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TO_CHAR(</a:t>
            </a:r>
            <a:r>
              <a:rPr kumimoji="0" lang="en-US" sz="1600" b="1" i="1"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fecha</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formato_conversión</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 name="Rectángulo redondeado 4">
            <a:extLst>
              <a:ext uri="{FF2B5EF4-FFF2-40B4-BE49-F238E27FC236}">
                <a16:creationId xmlns:a16="http://schemas.microsoft.com/office/drawing/2014/main" xmlns="" id="{58EC61B0-C329-438D-A403-5A77818F9EC5}"/>
              </a:ext>
            </a:extLst>
          </p:cNvPr>
          <p:cNvSpPr/>
          <p:nvPr/>
        </p:nvSpPr>
        <p:spPr>
          <a:xfrm>
            <a:off x="1835696" y="1218656"/>
            <a:ext cx="5472608" cy="936104"/>
          </a:xfrm>
          <a:prstGeom prst="roundRect">
            <a:avLst/>
          </a:prstGeom>
          <a:solidFill>
            <a:srgbClr val="006666"/>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TO_CHAR puede convertir la fecha desde su formato por defecto a un formato especificado por el usuario</a:t>
            </a:r>
          </a:p>
        </p:txBody>
      </p:sp>
      <p:pic>
        <p:nvPicPr>
          <p:cNvPr id="14" name="Imagen 13">
            <a:extLst>
              <a:ext uri="{FF2B5EF4-FFF2-40B4-BE49-F238E27FC236}">
                <a16:creationId xmlns:a16="http://schemas.microsoft.com/office/drawing/2014/main" xmlns="" id="{AC976924-97C4-495A-BB00-F658A5F253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26" y="5272756"/>
            <a:ext cx="9144000" cy="748532"/>
          </a:xfrm>
          <a:prstGeom prst="rect">
            <a:avLst/>
          </a:prstGeom>
        </p:spPr>
      </p:pic>
      <p:pic>
        <p:nvPicPr>
          <p:cNvPr id="15" name="Imagen 14">
            <a:extLst>
              <a:ext uri="{FF2B5EF4-FFF2-40B4-BE49-F238E27FC236}">
                <a16:creationId xmlns:a16="http://schemas.microsoft.com/office/drawing/2014/main" xmlns="" id="{3053413A-094C-41B8-A40D-80C866FBC8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6017" y="4003110"/>
            <a:ext cx="8879954" cy="835182"/>
          </a:xfrm>
          <a:prstGeom prst="rect">
            <a:avLst/>
          </a:prstGeom>
        </p:spPr>
      </p:pic>
    </p:spTree>
    <p:extLst>
      <p:ext uri="{BB962C8B-B14F-4D97-AF65-F5344CB8AC3E}">
        <p14:creationId xmlns:p14="http://schemas.microsoft.com/office/powerpoint/2010/main" val="2934061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2">
            <a:extLst>
              <a:ext uri="{FF2B5EF4-FFF2-40B4-BE49-F238E27FC236}">
                <a16:creationId xmlns:a16="http://schemas.microsoft.com/office/drawing/2014/main" xmlns="" id="{38AB855C-FF4B-4FB8-8664-59A9C3DBBC42}"/>
              </a:ext>
            </a:extLst>
          </p:cNvPr>
          <p:cNvSpPr>
            <a:spLocks noGrp="1"/>
          </p:cNvSpPr>
          <p:nvPr>
            <p:ph type="title"/>
          </p:nvPr>
        </p:nvSpPr>
        <p:spPr>
          <a:xfrm>
            <a:off x="1705943" y="258445"/>
            <a:ext cx="4647630" cy="813000"/>
          </a:xfrm>
        </p:spPr>
        <p:txBody>
          <a:bodyPr/>
          <a:lstStyle/>
          <a:p>
            <a:pPr defTabSz="457200">
              <a:defRPr/>
            </a:pPr>
            <a:r>
              <a:rPr lang="es-CL" sz="2800" b="1" dirty="0">
                <a:solidFill>
                  <a:prstClr val="white"/>
                </a:solidFill>
                <a:latin typeface="Calibri"/>
              </a:rPr>
              <a:t>Uso Función TO_CHAR </a:t>
            </a:r>
            <a:br>
              <a:rPr lang="es-CL" sz="2800" b="1" dirty="0">
                <a:solidFill>
                  <a:prstClr val="white"/>
                </a:solidFill>
                <a:latin typeface="Calibri"/>
              </a:rPr>
            </a:br>
            <a:r>
              <a:rPr lang="es-CL" sz="2800" b="1" dirty="0">
                <a:solidFill>
                  <a:prstClr val="white"/>
                </a:solidFill>
                <a:latin typeface="Calibri"/>
              </a:rPr>
              <a:t>con Fechas</a:t>
            </a:r>
          </a:p>
        </p:txBody>
      </p:sp>
      <p:sp>
        <p:nvSpPr>
          <p:cNvPr id="21" name="Marcador de contenido 1">
            <a:extLst>
              <a:ext uri="{FF2B5EF4-FFF2-40B4-BE49-F238E27FC236}">
                <a16:creationId xmlns:a16="http://schemas.microsoft.com/office/drawing/2014/main" xmlns="" id="{ACA4B444-864B-4FB8-A147-4574FE52307F}"/>
              </a:ext>
            </a:extLst>
          </p:cNvPr>
          <p:cNvSpPr txBox="1">
            <a:spLocks/>
          </p:cNvSpPr>
          <p:nvPr/>
        </p:nvSpPr>
        <p:spPr>
          <a:xfrm>
            <a:off x="518864" y="1268760"/>
            <a:ext cx="8229600" cy="453465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Arial Unicode MS"/>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22" name="Text Box 5">
            <a:extLst>
              <a:ext uri="{FF2B5EF4-FFF2-40B4-BE49-F238E27FC236}">
                <a16:creationId xmlns:a16="http://schemas.microsoft.com/office/drawing/2014/main" xmlns="" id="{689367F7-12B5-4F72-BF85-C8356A75E7EB}"/>
              </a:ext>
            </a:extLst>
          </p:cNvPr>
          <p:cNvSpPr txBox="1">
            <a:spLocks noChangeArrowheads="1"/>
          </p:cNvSpPr>
          <p:nvPr/>
        </p:nvSpPr>
        <p:spPr bwMode="auto">
          <a:xfrm>
            <a:off x="395537" y="1628800"/>
            <a:ext cx="8352928"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Apellido</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TO_CHAR(</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hire_date</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dd</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/mm/</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yyyy</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Formato</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Fecha</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1",</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00DA"/>
                </a:solidFill>
                <a:effectLst/>
                <a:uLnTx/>
                <a:uFillTx/>
                <a:latin typeface="Calibri"/>
                <a:ea typeface="+mn-ea"/>
                <a:cs typeface="Arial" panose="020B0604020202020204" pitchFamily="34" charset="0"/>
              </a:rPr>
              <a:t>TO_CHAR(</a:t>
            </a:r>
            <a:r>
              <a:rPr kumimoji="0" lang="en-US" sz="1600" b="1" i="0" u="none" strike="noStrike" kern="1200" cap="none" spc="0" normalizeH="0" baseline="0" noProof="0" dirty="0" err="1">
                <a:ln>
                  <a:noFill/>
                </a:ln>
                <a:solidFill>
                  <a:srgbClr val="0000DA"/>
                </a:solidFill>
                <a:effectLst/>
                <a:uLnTx/>
                <a:uFillTx/>
                <a:latin typeface="Calibri"/>
                <a:ea typeface="+mn-ea"/>
                <a:cs typeface="Arial" panose="020B0604020202020204" pitchFamily="34" charset="0"/>
              </a:rPr>
              <a:t>hire_date</a:t>
            </a:r>
            <a:r>
              <a:rPr kumimoji="0" lang="en-US" sz="1600" b="1" i="0" u="none" strike="noStrike" kern="1200" cap="none" spc="0" normalizeH="0" baseline="0" noProof="0" dirty="0">
                <a:ln>
                  <a:noFill/>
                </a:ln>
                <a:solidFill>
                  <a:srgbClr val="0000DA"/>
                </a:solidFill>
                <a:effectLst/>
                <a:uLnTx/>
                <a:uFillTx/>
                <a:latin typeface="Calibri"/>
                <a:ea typeface="+mn-ea"/>
                <a:cs typeface="Arial" panose="020B0604020202020204" pitchFamily="34" charset="0"/>
              </a:rPr>
              <a:t>, 'DD Month YYYY')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Formato</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Fecha</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2",</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660066"/>
                </a:solidFill>
                <a:effectLst/>
                <a:uLnTx/>
                <a:uFillTx/>
                <a:latin typeface="Calibri"/>
                <a:ea typeface="+mn-ea"/>
                <a:cs typeface="Arial" panose="020B0604020202020204" pitchFamily="34" charset="0"/>
              </a:rPr>
              <a:t>TO_CHAR(SYSDATE, '</a:t>
            </a:r>
            <a:r>
              <a:rPr kumimoji="0" lang="en-US" sz="1600" b="1" i="0" u="none" strike="noStrike" kern="1200" cap="none" spc="0" normalizeH="0" baseline="0" noProof="0" dirty="0" err="1">
                <a:ln>
                  <a:noFill/>
                </a:ln>
                <a:solidFill>
                  <a:srgbClr val="660066"/>
                </a:solidFill>
                <a:effectLst/>
                <a:uLnTx/>
                <a:uFillTx/>
                <a:latin typeface="Calibri"/>
                <a:ea typeface="+mn-ea"/>
                <a:cs typeface="Arial" panose="020B0604020202020204" pitchFamily="34" charset="0"/>
              </a:rPr>
              <a:t>dd</a:t>
            </a:r>
            <a:r>
              <a:rPr kumimoji="0" lang="en-US" sz="1600" b="1" i="0" u="none" strike="noStrike" kern="1200" cap="none" spc="0" normalizeH="0" baseline="0" noProof="0" dirty="0">
                <a:ln>
                  <a:noFill/>
                </a:ln>
                <a:solidFill>
                  <a:srgbClr val="660066"/>
                </a:solidFill>
                <a:effectLst/>
                <a:uLnTx/>
                <a:uFillTx/>
                <a:latin typeface="Calibri"/>
                <a:ea typeface="+mn-ea"/>
                <a:cs typeface="Arial" panose="020B0604020202020204" pitchFamily="34" charset="0"/>
              </a:rPr>
              <a:t> "de" MONTH "del" </a:t>
            </a:r>
            <a:r>
              <a:rPr kumimoji="0" lang="en-US" sz="1600" b="1" i="0" u="none" strike="noStrike" kern="1200" cap="none" spc="0" normalizeH="0" baseline="0" noProof="0" dirty="0" err="1">
                <a:ln>
                  <a:noFill/>
                </a:ln>
                <a:solidFill>
                  <a:srgbClr val="660066"/>
                </a:solidFill>
                <a:effectLst/>
                <a:uLnTx/>
                <a:uFillTx/>
                <a:latin typeface="Calibri"/>
                <a:ea typeface="+mn-ea"/>
                <a:cs typeface="Arial" panose="020B0604020202020204" pitchFamily="34" charset="0"/>
              </a:rPr>
              <a:t>yyyy</a:t>
            </a:r>
            <a:r>
              <a:rPr kumimoji="0" lang="en-US" sz="1600" b="1" i="0" u="none" strike="noStrike" kern="1200" cap="none" spc="0" normalizeH="0" baseline="0" noProof="0" dirty="0">
                <a:ln>
                  <a:noFill/>
                </a:ln>
                <a:solidFill>
                  <a:srgbClr val="660066"/>
                </a:solidFill>
                <a:effectLst/>
                <a:uLnTx/>
                <a:uFillTx/>
                <a:latin typeface="Calibri"/>
                <a:ea typeface="+mn-ea"/>
                <a:cs typeface="Arial" panose="020B0604020202020204" pitchFamily="34" charset="0"/>
              </a:rPr>
              <a:t> hh24:mi:ss')</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Fecha</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/Hora Sistema 1",</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TO_CHAR(SYSDATE, '</a:t>
            </a:r>
            <a:r>
              <a:rPr kumimoji="0" lang="en-US" sz="1600" b="1" i="0" u="none" strike="noStrike" kern="1200" cap="none" spc="0" normalizeH="0" baseline="0" noProof="0" dirty="0" err="1">
                <a:ln>
                  <a:noFill/>
                </a:ln>
                <a:solidFill>
                  <a:srgbClr val="008000"/>
                </a:solidFill>
                <a:effectLst/>
                <a:uLnTx/>
                <a:uFillTx/>
                <a:latin typeface="Calibri"/>
                <a:ea typeface="+mn-ea"/>
                <a:cs typeface="Arial" panose="020B0604020202020204" pitchFamily="34" charset="0"/>
              </a:rPr>
              <a:t>dd</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 "de" MONTH "del" </a:t>
            </a:r>
            <a:r>
              <a:rPr kumimoji="0" lang="en-US" sz="1600" b="1" i="0" u="none" strike="noStrike" kern="1200" cap="none" spc="0" normalizeH="0" baseline="0" noProof="0" dirty="0" err="1">
                <a:ln>
                  <a:noFill/>
                </a:ln>
                <a:solidFill>
                  <a:srgbClr val="008000"/>
                </a:solidFill>
                <a:effectLst/>
                <a:uLnTx/>
                <a:uFillTx/>
                <a:latin typeface="Calibri"/>
                <a:ea typeface="+mn-ea"/>
                <a:cs typeface="Arial" panose="020B0604020202020204" pitchFamily="34" charset="0"/>
              </a:rPr>
              <a:t>yyyy</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 hh12:mi:ss AM')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Fecha</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/Hora Sistema 2"</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pic>
        <p:nvPicPr>
          <p:cNvPr id="23" name="Imagen 22">
            <a:extLst>
              <a:ext uri="{FF2B5EF4-FFF2-40B4-BE49-F238E27FC236}">
                <a16:creationId xmlns:a16="http://schemas.microsoft.com/office/drawing/2014/main" xmlns="" id="{1B3B168A-E824-47CE-AEFC-5D3BB54C64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9592" y="3238644"/>
            <a:ext cx="7293497" cy="2992204"/>
          </a:xfrm>
          <a:prstGeom prst="rect">
            <a:avLst/>
          </a:prstGeom>
        </p:spPr>
      </p:pic>
      <p:sp>
        <p:nvSpPr>
          <p:cNvPr id="24" name="Rectangle 42">
            <a:extLst>
              <a:ext uri="{FF2B5EF4-FFF2-40B4-BE49-F238E27FC236}">
                <a16:creationId xmlns:a16="http://schemas.microsoft.com/office/drawing/2014/main" xmlns="" id="{EBD3A570-2CB3-44AC-85EC-8D0FE7777E9A}"/>
              </a:ext>
            </a:extLst>
          </p:cNvPr>
          <p:cNvSpPr>
            <a:spLocks noChangeArrowheads="1"/>
          </p:cNvSpPr>
          <p:nvPr/>
        </p:nvSpPr>
        <p:spPr bwMode="auto">
          <a:xfrm>
            <a:off x="3941344" y="3261657"/>
            <a:ext cx="2001600" cy="2952000"/>
          </a:xfrm>
          <a:prstGeom prst="rect">
            <a:avLst/>
          </a:prstGeom>
          <a:noFill/>
          <a:ln w="31750">
            <a:solidFill>
              <a:srgbClr val="80008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ES" sz="2000" b="1" i="1" u="none" strike="noStrike" kern="1200" cap="none" spc="0" normalizeH="0" baseline="0" noProof="0">
              <a:ln>
                <a:noFill/>
              </a:ln>
              <a:solidFill>
                <a:prstClr val="black"/>
              </a:solidFill>
              <a:effectLst/>
              <a:uLnTx/>
              <a:uFillTx/>
              <a:latin typeface="Times New Roman" pitchFamily="18" charset="0"/>
              <a:ea typeface="+mn-ea"/>
              <a:cs typeface="Arial" panose="020B0604020202020204" pitchFamily="34" charset="0"/>
            </a:endParaRPr>
          </a:p>
        </p:txBody>
      </p:sp>
      <p:sp>
        <p:nvSpPr>
          <p:cNvPr id="25" name="Rectangle 42">
            <a:extLst>
              <a:ext uri="{FF2B5EF4-FFF2-40B4-BE49-F238E27FC236}">
                <a16:creationId xmlns:a16="http://schemas.microsoft.com/office/drawing/2014/main" xmlns="" id="{DDF6C8AC-9157-4D0A-8C7C-AF51F2FECBEC}"/>
              </a:ext>
            </a:extLst>
          </p:cNvPr>
          <p:cNvSpPr>
            <a:spLocks noChangeArrowheads="1"/>
          </p:cNvSpPr>
          <p:nvPr/>
        </p:nvSpPr>
        <p:spPr bwMode="auto">
          <a:xfrm>
            <a:off x="2843553" y="3261657"/>
            <a:ext cx="1080000" cy="2952000"/>
          </a:xfrm>
          <a:prstGeom prst="rect">
            <a:avLst/>
          </a:prstGeom>
          <a:noFill/>
          <a:ln w="31750">
            <a:solidFill>
              <a:srgbClr val="0000FF"/>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ES" sz="2000" b="1" i="1" u="none" strike="noStrike" kern="1200" cap="none" spc="0" normalizeH="0" baseline="0" noProof="0">
              <a:ln>
                <a:noFill/>
              </a:ln>
              <a:solidFill>
                <a:prstClr val="black"/>
              </a:solidFill>
              <a:effectLst/>
              <a:uLnTx/>
              <a:uFillTx/>
              <a:latin typeface="Times New Roman" pitchFamily="18" charset="0"/>
              <a:ea typeface="+mn-ea"/>
              <a:cs typeface="Arial" panose="020B0604020202020204" pitchFamily="34" charset="0"/>
            </a:endParaRPr>
          </a:p>
        </p:txBody>
      </p:sp>
      <p:sp>
        <p:nvSpPr>
          <p:cNvPr id="26" name="Rectangle 42">
            <a:extLst>
              <a:ext uri="{FF2B5EF4-FFF2-40B4-BE49-F238E27FC236}">
                <a16:creationId xmlns:a16="http://schemas.microsoft.com/office/drawing/2014/main" xmlns="" id="{00B3D5A7-E219-4207-875E-8A157DB45E23}"/>
              </a:ext>
            </a:extLst>
          </p:cNvPr>
          <p:cNvSpPr>
            <a:spLocks noChangeArrowheads="1"/>
          </p:cNvSpPr>
          <p:nvPr/>
        </p:nvSpPr>
        <p:spPr bwMode="auto">
          <a:xfrm>
            <a:off x="1993360" y="3261657"/>
            <a:ext cx="828000" cy="2952000"/>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
        <p:nvSpPr>
          <p:cNvPr id="27" name="Rectangle 42">
            <a:extLst>
              <a:ext uri="{FF2B5EF4-FFF2-40B4-BE49-F238E27FC236}">
                <a16:creationId xmlns:a16="http://schemas.microsoft.com/office/drawing/2014/main" xmlns="" id="{088C06F3-361C-4CE8-9B29-FE546F08FAFB}"/>
              </a:ext>
            </a:extLst>
          </p:cNvPr>
          <p:cNvSpPr>
            <a:spLocks noChangeArrowheads="1"/>
          </p:cNvSpPr>
          <p:nvPr/>
        </p:nvSpPr>
        <p:spPr bwMode="auto">
          <a:xfrm>
            <a:off x="5957567" y="3258016"/>
            <a:ext cx="2235521" cy="2952000"/>
          </a:xfrm>
          <a:prstGeom prst="rect">
            <a:avLst/>
          </a:prstGeom>
          <a:noFill/>
          <a:ln w="31750">
            <a:solidFill>
              <a:srgbClr val="008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Tree>
    <p:extLst>
      <p:ext uri="{BB962C8B-B14F-4D97-AF65-F5344CB8AC3E}">
        <p14:creationId xmlns:p14="http://schemas.microsoft.com/office/powerpoint/2010/main" val="4291264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2">
            <a:extLst>
              <a:ext uri="{FF2B5EF4-FFF2-40B4-BE49-F238E27FC236}">
                <a16:creationId xmlns:a16="http://schemas.microsoft.com/office/drawing/2014/main" xmlns="" id="{38AB855C-FF4B-4FB8-8664-59A9C3DBBC42}"/>
              </a:ext>
            </a:extLst>
          </p:cNvPr>
          <p:cNvSpPr>
            <a:spLocks noGrp="1"/>
          </p:cNvSpPr>
          <p:nvPr>
            <p:ph type="title"/>
          </p:nvPr>
        </p:nvSpPr>
        <p:spPr>
          <a:xfrm>
            <a:off x="1705943" y="258445"/>
            <a:ext cx="4647630" cy="813000"/>
          </a:xfrm>
        </p:spPr>
        <p:txBody>
          <a:bodyPr/>
          <a:lstStyle/>
          <a:p>
            <a:pPr defTabSz="457200">
              <a:defRPr/>
            </a:pPr>
            <a:r>
              <a:rPr lang="es-CL" sz="2800" b="1" dirty="0">
                <a:solidFill>
                  <a:prstClr val="white"/>
                </a:solidFill>
                <a:latin typeface="Calibri"/>
              </a:rPr>
              <a:t>Uso Función TO_CHAR </a:t>
            </a:r>
            <a:br>
              <a:rPr lang="es-CL" sz="2800" b="1" dirty="0">
                <a:solidFill>
                  <a:prstClr val="white"/>
                </a:solidFill>
                <a:latin typeface="Calibri"/>
              </a:rPr>
            </a:br>
            <a:r>
              <a:rPr lang="es-CL" sz="2800" b="1" dirty="0">
                <a:solidFill>
                  <a:prstClr val="white"/>
                </a:solidFill>
                <a:latin typeface="Calibri"/>
              </a:rPr>
              <a:t>con Fechas</a:t>
            </a:r>
          </a:p>
        </p:txBody>
      </p:sp>
      <p:pic>
        <p:nvPicPr>
          <p:cNvPr id="19" name="Imagen 18" descr="Imagen que contiene equipaje, pantalla, grande, apilados&#10;&#10;Descripción generada automáticamente">
            <a:extLst>
              <a:ext uri="{FF2B5EF4-FFF2-40B4-BE49-F238E27FC236}">
                <a16:creationId xmlns:a16="http://schemas.microsoft.com/office/drawing/2014/main" xmlns="" id="{1FA27890-2A1D-40AD-BF7A-B7850C66E4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021" y="3508470"/>
            <a:ext cx="8777071" cy="2952000"/>
          </a:xfrm>
          <a:prstGeom prst="rect">
            <a:avLst/>
          </a:prstGeom>
        </p:spPr>
      </p:pic>
      <p:sp>
        <p:nvSpPr>
          <p:cNvPr id="20" name="Marcador de contenido 1">
            <a:extLst>
              <a:ext uri="{FF2B5EF4-FFF2-40B4-BE49-F238E27FC236}">
                <a16:creationId xmlns:a16="http://schemas.microsoft.com/office/drawing/2014/main" xmlns="" id="{5E8806FA-7EED-4DF8-9984-CFB73A28FA8E}"/>
              </a:ext>
            </a:extLst>
          </p:cNvPr>
          <p:cNvSpPr txBox="1">
            <a:spLocks/>
          </p:cNvSpPr>
          <p:nvPr/>
        </p:nvSpPr>
        <p:spPr>
          <a:xfrm>
            <a:off x="518864" y="1268760"/>
            <a:ext cx="8229600" cy="453465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Arial Unicode MS"/>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28" name="Text Box 5">
            <a:extLst>
              <a:ext uri="{FF2B5EF4-FFF2-40B4-BE49-F238E27FC236}">
                <a16:creationId xmlns:a16="http://schemas.microsoft.com/office/drawing/2014/main" xmlns="" id="{5E412343-996F-4608-BB46-3250D48D8CE2}"/>
              </a:ext>
            </a:extLst>
          </p:cNvPr>
          <p:cNvSpPr txBox="1">
            <a:spLocks noChangeArrowheads="1"/>
          </p:cNvSpPr>
          <p:nvPr/>
        </p:nvSpPr>
        <p:spPr bwMode="auto">
          <a:xfrm>
            <a:off x="395536" y="1628800"/>
            <a:ext cx="8619733" cy="1815882"/>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Apellido</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TO_CHAR(</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hire_date</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dd</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/mm/</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yyyy</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Formato</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Fecha</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1",</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00DA"/>
                </a:solidFill>
                <a:effectLst/>
                <a:uLnTx/>
                <a:uFillTx/>
                <a:latin typeface="Calibri"/>
                <a:ea typeface="+mn-ea"/>
                <a:cs typeface="Arial" panose="020B0604020202020204" pitchFamily="34" charset="0"/>
              </a:rPr>
              <a:t>TO_CHAR(</a:t>
            </a:r>
            <a:r>
              <a:rPr kumimoji="0" lang="en-US" sz="1600" b="1" i="0" u="none" strike="noStrike" kern="1200" cap="none" spc="0" normalizeH="0" baseline="0" noProof="0" dirty="0" err="1">
                <a:ln>
                  <a:noFill/>
                </a:ln>
                <a:solidFill>
                  <a:srgbClr val="0000DA"/>
                </a:solidFill>
                <a:effectLst/>
                <a:uLnTx/>
                <a:uFillTx/>
                <a:latin typeface="Calibri"/>
                <a:ea typeface="+mn-ea"/>
                <a:cs typeface="Arial" panose="020B0604020202020204" pitchFamily="34" charset="0"/>
              </a:rPr>
              <a:t>hire_date</a:t>
            </a:r>
            <a:r>
              <a:rPr kumimoji="0" lang="en-US" sz="1600" b="1" i="0" u="none" strike="noStrike" kern="1200" cap="none" spc="0" normalizeH="0" baseline="0" noProof="0" dirty="0">
                <a:ln>
                  <a:noFill/>
                </a:ln>
                <a:solidFill>
                  <a:srgbClr val="0000DA"/>
                </a:solidFill>
                <a:effectLst/>
                <a:uLnTx/>
                <a:uFillTx/>
                <a:latin typeface="Calibri"/>
                <a:ea typeface="+mn-ea"/>
                <a:cs typeface="Arial" panose="020B0604020202020204" pitchFamily="34" charset="0"/>
              </a:rPr>
              <a:t>, 'DD Month YYYY')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Formato</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Fecha</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2",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FF0066"/>
                </a:solidFill>
                <a:effectLst/>
                <a:uLnTx/>
                <a:uFillTx/>
                <a:latin typeface="Calibri"/>
                <a:ea typeface="+mn-ea"/>
                <a:cs typeface="Arial" panose="020B0604020202020204" pitchFamily="34" charset="0"/>
              </a:rPr>
              <a:t>TO_CHAR(</a:t>
            </a:r>
            <a:r>
              <a:rPr kumimoji="0" lang="en-US" sz="1600" b="1" i="0" u="none" strike="noStrike" kern="1200" cap="none" spc="0" normalizeH="0" baseline="0" noProof="0" dirty="0" err="1">
                <a:ln>
                  <a:noFill/>
                </a:ln>
                <a:solidFill>
                  <a:srgbClr val="FF0066"/>
                </a:solidFill>
                <a:effectLst/>
                <a:uLnTx/>
                <a:uFillTx/>
                <a:latin typeface="Calibri"/>
                <a:ea typeface="+mn-ea"/>
                <a:cs typeface="Arial" panose="020B0604020202020204" pitchFamily="34" charset="0"/>
              </a:rPr>
              <a:t>hire_date,'Q</a:t>
            </a:r>
            <a:r>
              <a:rPr kumimoji="0" lang="en-US" sz="1600" b="1" i="0" u="none" strike="noStrike" kern="1200" cap="none" spc="0" normalizeH="0" baseline="0" noProof="0" dirty="0">
                <a:ln>
                  <a:noFill/>
                </a:ln>
                <a:solidFill>
                  <a:srgbClr val="FF0066"/>
                </a:solidFill>
                <a:effectLst/>
                <a:uLnTx/>
                <a:uFillTx/>
                <a:latin typeface="Calibri"/>
                <a:ea typeface="+mn-ea"/>
                <a:cs typeface="Arial" panose="020B0604020202020204" pitchFamily="34" charset="0"/>
              </a:rPr>
              <a:t>')</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Trimestre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660066"/>
                </a:solidFill>
                <a:effectLst/>
                <a:uLnTx/>
                <a:uFillTx/>
                <a:latin typeface="Calibri"/>
                <a:ea typeface="+mn-ea"/>
                <a:cs typeface="Arial" panose="020B0604020202020204" pitchFamily="34" charset="0"/>
              </a:rPr>
              <a:t>TO_CHAR(SYSDATE, '</a:t>
            </a:r>
            <a:r>
              <a:rPr kumimoji="0" lang="en-US" sz="1600" b="1" i="0" u="none" strike="noStrike" kern="1200" cap="none" spc="0" normalizeH="0" baseline="0" noProof="0" dirty="0" err="1">
                <a:ln>
                  <a:noFill/>
                </a:ln>
                <a:solidFill>
                  <a:srgbClr val="660066"/>
                </a:solidFill>
                <a:effectLst/>
                <a:uLnTx/>
                <a:uFillTx/>
                <a:latin typeface="Calibri"/>
                <a:ea typeface="+mn-ea"/>
                <a:cs typeface="Arial" panose="020B0604020202020204" pitchFamily="34" charset="0"/>
              </a:rPr>
              <a:t>dd</a:t>
            </a:r>
            <a:r>
              <a:rPr kumimoji="0" lang="en-US" sz="1600" b="1" i="0" u="none" strike="noStrike" kern="1200" cap="none" spc="0" normalizeH="0" baseline="0" noProof="0" dirty="0">
                <a:ln>
                  <a:noFill/>
                </a:ln>
                <a:solidFill>
                  <a:srgbClr val="660066"/>
                </a:solidFill>
                <a:effectLst/>
                <a:uLnTx/>
                <a:uFillTx/>
                <a:latin typeface="Calibri"/>
                <a:ea typeface="+mn-ea"/>
                <a:cs typeface="Arial" panose="020B0604020202020204" pitchFamily="34" charset="0"/>
              </a:rPr>
              <a:t> "de" MONTH "del" </a:t>
            </a:r>
            <a:r>
              <a:rPr kumimoji="0" lang="en-US" sz="1600" b="1" i="0" u="none" strike="noStrike" kern="1200" cap="none" spc="0" normalizeH="0" baseline="0" noProof="0" dirty="0" err="1">
                <a:ln>
                  <a:noFill/>
                </a:ln>
                <a:solidFill>
                  <a:srgbClr val="660066"/>
                </a:solidFill>
                <a:effectLst/>
                <a:uLnTx/>
                <a:uFillTx/>
                <a:latin typeface="Calibri"/>
                <a:ea typeface="+mn-ea"/>
                <a:cs typeface="Arial" panose="020B0604020202020204" pitchFamily="34" charset="0"/>
              </a:rPr>
              <a:t>yyyy</a:t>
            </a:r>
            <a:r>
              <a:rPr kumimoji="0" lang="en-US" sz="1600" b="1" i="0" u="none" strike="noStrike" kern="1200" cap="none" spc="0" normalizeH="0" baseline="0" noProof="0" dirty="0">
                <a:ln>
                  <a:noFill/>
                </a:ln>
                <a:solidFill>
                  <a:srgbClr val="660066"/>
                </a:solidFill>
                <a:effectLst/>
                <a:uLnTx/>
                <a:uFillTx/>
                <a:latin typeface="Calibri"/>
                <a:ea typeface="+mn-ea"/>
                <a:cs typeface="Arial" panose="020B0604020202020204" pitchFamily="34" charset="0"/>
              </a:rPr>
              <a:t> hh24:mi:ss')</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Fecha</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/Hora Sistema 1",</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TO_CHAR(SYSDATE, '</a:t>
            </a:r>
            <a:r>
              <a:rPr kumimoji="0" lang="en-US" sz="1600" b="1" i="0" u="none" strike="noStrike" kern="1200" cap="none" spc="0" normalizeH="0" baseline="0" noProof="0" dirty="0" err="1">
                <a:ln>
                  <a:noFill/>
                </a:ln>
                <a:solidFill>
                  <a:srgbClr val="008000"/>
                </a:solidFill>
                <a:effectLst/>
                <a:uLnTx/>
                <a:uFillTx/>
                <a:latin typeface="Calibri"/>
                <a:ea typeface="+mn-ea"/>
                <a:cs typeface="Arial" panose="020B0604020202020204" pitchFamily="34" charset="0"/>
              </a:rPr>
              <a:t>dd</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 "de" MONTH "del" </a:t>
            </a:r>
            <a:r>
              <a:rPr kumimoji="0" lang="en-US" sz="1600" b="1" i="0" u="none" strike="noStrike" kern="1200" cap="none" spc="0" normalizeH="0" baseline="0" noProof="0" dirty="0" err="1">
                <a:ln>
                  <a:noFill/>
                </a:ln>
                <a:solidFill>
                  <a:srgbClr val="008000"/>
                </a:solidFill>
                <a:effectLst/>
                <a:uLnTx/>
                <a:uFillTx/>
                <a:latin typeface="Calibri"/>
                <a:ea typeface="+mn-ea"/>
                <a:cs typeface="Arial" panose="020B0604020202020204" pitchFamily="34" charset="0"/>
              </a:rPr>
              <a:t>yyyy</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 hh12:mi:ss AM')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Fecha</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/Hora Sistema 2"</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29" name="Rectangle 42">
            <a:extLst>
              <a:ext uri="{FF2B5EF4-FFF2-40B4-BE49-F238E27FC236}">
                <a16:creationId xmlns:a16="http://schemas.microsoft.com/office/drawing/2014/main" xmlns="" id="{6BBDB30E-49A7-485E-B189-951145BEB500}"/>
              </a:ext>
            </a:extLst>
          </p:cNvPr>
          <p:cNvSpPr>
            <a:spLocks noChangeArrowheads="1"/>
          </p:cNvSpPr>
          <p:nvPr/>
        </p:nvSpPr>
        <p:spPr bwMode="auto">
          <a:xfrm>
            <a:off x="4298036" y="3566455"/>
            <a:ext cx="2239200" cy="2844000"/>
          </a:xfrm>
          <a:prstGeom prst="rect">
            <a:avLst/>
          </a:prstGeom>
          <a:noFill/>
          <a:ln w="31750">
            <a:solidFill>
              <a:srgbClr val="80008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ES" sz="2000" b="1" i="1" u="none" strike="noStrike" kern="1200" cap="none" spc="0" normalizeH="0" baseline="0" noProof="0">
              <a:ln>
                <a:noFill/>
              </a:ln>
              <a:solidFill>
                <a:prstClr val="black"/>
              </a:solidFill>
              <a:effectLst/>
              <a:uLnTx/>
              <a:uFillTx/>
              <a:latin typeface="Times New Roman" pitchFamily="18" charset="0"/>
              <a:ea typeface="+mn-ea"/>
              <a:cs typeface="Arial" panose="020B0604020202020204" pitchFamily="34" charset="0"/>
            </a:endParaRPr>
          </a:p>
        </p:txBody>
      </p:sp>
      <p:sp>
        <p:nvSpPr>
          <p:cNvPr id="30" name="Rectangle 42">
            <a:extLst>
              <a:ext uri="{FF2B5EF4-FFF2-40B4-BE49-F238E27FC236}">
                <a16:creationId xmlns:a16="http://schemas.microsoft.com/office/drawing/2014/main" xmlns="" id="{25E3C29D-636D-4287-AD73-E78EED7B171F}"/>
              </a:ext>
            </a:extLst>
          </p:cNvPr>
          <p:cNvSpPr>
            <a:spLocks noChangeArrowheads="1"/>
          </p:cNvSpPr>
          <p:nvPr/>
        </p:nvSpPr>
        <p:spPr bwMode="auto">
          <a:xfrm>
            <a:off x="2333308" y="3566455"/>
            <a:ext cx="1224000" cy="2844000"/>
          </a:xfrm>
          <a:prstGeom prst="rect">
            <a:avLst/>
          </a:prstGeom>
          <a:noFill/>
          <a:ln w="31750">
            <a:solidFill>
              <a:srgbClr val="0000FF"/>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ES" sz="2000" b="1" i="1" u="none" strike="noStrike" kern="1200" cap="none" spc="0" normalizeH="0" baseline="0" noProof="0">
              <a:ln>
                <a:noFill/>
              </a:ln>
              <a:solidFill>
                <a:prstClr val="black"/>
              </a:solidFill>
              <a:effectLst/>
              <a:uLnTx/>
              <a:uFillTx/>
              <a:latin typeface="Times New Roman" pitchFamily="18" charset="0"/>
              <a:ea typeface="+mn-ea"/>
              <a:cs typeface="Arial" panose="020B0604020202020204" pitchFamily="34" charset="0"/>
            </a:endParaRPr>
          </a:p>
        </p:txBody>
      </p:sp>
      <p:sp>
        <p:nvSpPr>
          <p:cNvPr id="31" name="Rectangle 42">
            <a:extLst>
              <a:ext uri="{FF2B5EF4-FFF2-40B4-BE49-F238E27FC236}">
                <a16:creationId xmlns:a16="http://schemas.microsoft.com/office/drawing/2014/main" xmlns="" id="{C67185AE-212A-4770-BF18-F3FA74969D64}"/>
              </a:ext>
            </a:extLst>
          </p:cNvPr>
          <p:cNvSpPr>
            <a:spLocks noChangeArrowheads="1"/>
          </p:cNvSpPr>
          <p:nvPr/>
        </p:nvSpPr>
        <p:spPr bwMode="auto">
          <a:xfrm>
            <a:off x="1301672" y="3566455"/>
            <a:ext cx="982800" cy="2844000"/>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
        <p:nvSpPr>
          <p:cNvPr id="32" name="Rectangle 42">
            <a:extLst>
              <a:ext uri="{FF2B5EF4-FFF2-40B4-BE49-F238E27FC236}">
                <a16:creationId xmlns:a16="http://schemas.microsoft.com/office/drawing/2014/main" xmlns="" id="{AB81D322-5543-4143-BC85-2CF5F4BB1481}"/>
              </a:ext>
            </a:extLst>
          </p:cNvPr>
          <p:cNvSpPr>
            <a:spLocks noChangeArrowheads="1"/>
          </p:cNvSpPr>
          <p:nvPr/>
        </p:nvSpPr>
        <p:spPr bwMode="auto">
          <a:xfrm>
            <a:off x="6587892" y="3566455"/>
            <a:ext cx="2379200" cy="2844000"/>
          </a:xfrm>
          <a:prstGeom prst="rect">
            <a:avLst/>
          </a:prstGeom>
          <a:noFill/>
          <a:ln w="31750">
            <a:solidFill>
              <a:srgbClr val="008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
        <p:nvSpPr>
          <p:cNvPr id="33" name="Rectangle 42">
            <a:extLst>
              <a:ext uri="{FF2B5EF4-FFF2-40B4-BE49-F238E27FC236}">
                <a16:creationId xmlns:a16="http://schemas.microsoft.com/office/drawing/2014/main" xmlns="" id="{EE5FB2E8-0352-48C9-8752-5EE822BD2264}"/>
              </a:ext>
            </a:extLst>
          </p:cNvPr>
          <p:cNvSpPr>
            <a:spLocks noChangeArrowheads="1"/>
          </p:cNvSpPr>
          <p:nvPr/>
        </p:nvSpPr>
        <p:spPr bwMode="auto">
          <a:xfrm>
            <a:off x="3604430" y="3566455"/>
            <a:ext cx="637200" cy="2844000"/>
          </a:xfrm>
          <a:prstGeom prst="rect">
            <a:avLst/>
          </a:prstGeom>
          <a:noFill/>
          <a:ln w="31750">
            <a:solidFill>
              <a:srgbClr val="FF0066"/>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Tree>
    <p:extLst>
      <p:ext uri="{BB962C8B-B14F-4D97-AF65-F5344CB8AC3E}">
        <p14:creationId xmlns:p14="http://schemas.microsoft.com/office/powerpoint/2010/main" val="1693507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2">
            <a:extLst>
              <a:ext uri="{FF2B5EF4-FFF2-40B4-BE49-F238E27FC236}">
                <a16:creationId xmlns:a16="http://schemas.microsoft.com/office/drawing/2014/main" xmlns="" id="{38AB855C-FF4B-4FB8-8664-59A9C3DBBC42}"/>
              </a:ext>
            </a:extLst>
          </p:cNvPr>
          <p:cNvSpPr>
            <a:spLocks noGrp="1"/>
          </p:cNvSpPr>
          <p:nvPr>
            <p:ph type="title"/>
          </p:nvPr>
        </p:nvSpPr>
        <p:spPr>
          <a:xfrm>
            <a:off x="1705943" y="258445"/>
            <a:ext cx="4647630" cy="813000"/>
          </a:xfrm>
        </p:spPr>
        <p:txBody>
          <a:bodyPr/>
          <a:lstStyle/>
          <a:p>
            <a:pPr defTabSz="457200">
              <a:defRPr/>
            </a:pPr>
            <a:r>
              <a:rPr lang="es-CL" sz="2800" b="1" dirty="0">
                <a:solidFill>
                  <a:prstClr val="white"/>
                </a:solidFill>
                <a:latin typeface="Calibri"/>
              </a:rPr>
              <a:t>Uso Función TO_CHAR </a:t>
            </a:r>
            <a:br>
              <a:rPr lang="es-CL" sz="2800" b="1" dirty="0">
                <a:solidFill>
                  <a:prstClr val="white"/>
                </a:solidFill>
                <a:latin typeface="Calibri"/>
              </a:rPr>
            </a:br>
            <a:r>
              <a:rPr lang="es-CL" sz="2800" b="1" dirty="0">
                <a:solidFill>
                  <a:prstClr val="white"/>
                </a:solidFill>
                <a:latin typeface="Calibri"/>
              </a:rPr>
              <a:t>con Números</a:t>
            </a:r>
          </a:p>
        </p:txBody>
      </p:sp>
      <p:sp>
        <p:nvSpPr>
          <p:cNvPr id="15" name="Marcador de contenido 1">
            <a:extLst>
              <a:ext uri="{FF2B5EF4-FFF2-40B4-BE49-F238E27FC236}">
                <a16:creationId xmlns:a16="http://schemas.microsoft.com/office/drawing/2014/main" xmlns="" id="{556F920B-3E22-492B-A0BA-AA525A38D289}"/>
              </a:ext>
            </a:extLst>
          </p:cNvPr>
          <p:cNvSpPr txBox="1">
            <a:spLocks/>
          </p:cNvSpPr>
          <p:nvPr/>
        </p:nvSpPr>
        <p:spPr>
          <a:xfrm>
            <a:off x="457200" y="1600202"/>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16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16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1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Sintaxis: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16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8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8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Arial Unicode MS"/>
                <a:cs typeface="+mn-cs"/>
              </a:rPr>
              <a:t>Principales elementos de formatos de números válidos: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Arial Unicode MS"/>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800" b="0" i="0" u="none" strike="noStrike" kern="1200" cap="none" spc="0" normalizeH="0" baseline="0" noProof="0">
              <a:ln>
                <a:noFill/>
              </a:ln>
              <a:solidFill>
                <a:sysClr val="windowText" lastClr="000000"/>
              </a:solidFill>
              <a:effectLst/>
              <a:uLnTx/>
              <a:uFillTx/>
              <a:latin typeface="Calibri"/>
              <a:ea typeface="Arial Unicode MS"/>
              <a:cs typeface="+mn-cs"/>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Arial Unicode MS"/>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6" name="Text Box 5">
            <a:extLst>
              <a:ext uri="{FF2B5EF4-FFF2-40B4-BE49-F238E27FC236}">
                <a16:creationId xmlns:a16="http://schemas.microsoft.com/office/drawing/2014/main" xmlns="" id="{CEA15C9D-65A1-4331-A738-919F0C816518}"/>
              </a:ext>
            </a:extLst>
          </p:cNvPr>
          <p:cNvSpPr txBox="1">
            <a:spLocks noChangeArrowheads="1"/>
          </p:cNvSpPr>
          <p:nvPr/>
        </p:nvSpPr>
        <p:spPr bwMode="auto">
          <a:xfrm>
            <a:off x="874540" y="3132257"/>
            <a:ext cx="3909615"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TO_CHAR(</a:t>
            </a:r>
            <a:r>
              <a:rPr kumimoji="0" lang="en-US" sz="1600" b="1" i="1"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número</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formato_conversión</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7" name="Rectángulo redondeado 4">
            <a:extLst>
              <a:ext uri="{FF2B5EF4-FFF2-40B4-BE49-F238E27FC236}">
                <a16:creationId xmlns:a16="http://schemas.microsoft.com/office/drawing/2014/main" xmlns="" id="{306B6FD4-BBCC-4780-84E4-288CBA60DEC5}"/>
              </a:ext>
            </a:extLst>
          </p:cNvPr>
          <p:cNvSpPr/>
          <p:nvPr/>
        </p:nvSpPr>
        <p:spPr>
          <a:xfrm>
            <a:off x="1691680" y="1484784"/>
            <a:ext cx="5976664" cy="936104"/>
          </a:xfrm>
          <a:prstGeom prst="roundRect">
            <a:avLst/>
          </a:prstGeom>
          <a:solidFill>
            <a:srgbClr val="006666"/>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TO_CHAR puede convertir los valores numéricos a una cadena de caracteres en un formato especificado por el usuario</a:t>
            </a:r>
          </a:p>
        </p:txBody>
      </p:sp>
      <p:pic>
        <p:nvPicPr>
          <p:cNvPr id="5" name="Imagen 4">
            <a:extLst>
              <a:ext uri="{FF2B5EF4-FFF2-40B4-BE49-F238E27FC236}">
                <a16:creationId xmlns:a16="http://schemas.microsoft.com/office/drawing/2014/main" xmlns="" id="{0FC8141B-DBF6-44AF-918E-846F3C43221B}"/>
              </a:ext>
            </a:extLst>
          </p:cNvPr>
          <p:cNvPicPr>
            <a:picLocks noChangeAspect="1"/>
          </p:cNvPicPr>
          <p:nvPr/>
        </p:nvPicPr>
        <p:blipFill>
          <a:blip r:embed="rId3"/>
          <a:stretch>
            <a:fillRect/>
          </a:stretch>
        </p:blipFill>
        <p:spPr>
          <a:xfrm>
            <a:off x="1234520" y="4530359"/>
            <a:ext cx="5590476" cy="1685714"/>
          </a:xfrm>
          <a:prstGeom prst="rect">
            <a:avLst/>
          </a:prstGeom>
        </p:spPr>
      </p:pic>
    </p:spTree>
    <p:extLst>
      <p:ext uri="{BB962C8B-B14F-4D97-AF65-F5344CB8AC3E}">
        <p14:creationId xmlns:p14="http://schemas.microsoft.com/office/powerpoint/2010/main" val="3138629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2">
            <a:extLst>
              <a:ext uri="{FF2B5EF4-FFF2-40B4-BE49-F238E27FC236}">
                <a16:creationId xmlns:a16="http://schemas.microsoft.com/office/drawing/2014/main" xmlns="" id="{38AB855C-FF4B-4FB8-8664-59A9C3DBBC42}"/>
              </a:ext>
            </a:extLst>
          </p:cNvPr>
          <p:cNvSpPr>
            <a:spLocks noGrp="1"/>
          </p:cNvSpPr>
          <p:nvPr>
            <p:ph type="title"/>
          </p:nvPr>
        </p:nvSpPr>
        <p:spPr>
          <a:xfrm>
            <a:off x="1705943" y="258445"/>
            <a:ext cx="4647630" cy="813000"/>
          </a:xfrm>
        </p:spPr>
        <p:txBody>
          <a:bodyPr/>
          <a:lstStyle/>
          <a:p>
            <a:pPr defTabSz="457200">
              <a:defRPr/>
            </a:pPr>
            <a:r>
              <a:rPr lang="es-CL" sz="2800" b="1" dirty="0">
                <a:solidFill>
                  <a:prstClr val="white"/>
                </a:solidFill>
                <a:latin typeface="Calibri"/>
              </a:rPr>
              <a:t>Uso Función TO_CHAR </a:t>
            </a:r>
            <a:br>
              <a:rPr lang="es-CL" sz="2800" b="1" dirty="0">
                <a:solidFill>
                  <a:prstClr val="white"/>
                </a:solidFill>
                <a:latin typeface="Calibri"/>
              </a:rPr>
            </a:br>
            <a:r>
              <a:rPr lang="es-CL" sz="2800" b="1" dirty="0">
                <a:solidFill>
                  <a:prstClr val="white"/>
                </a:solidFill>
                <a:latin typeface="Calibri"/>
              </a:rPr>
              <a:t>con Números</a:t>
            </a:r>
          </a:p>
        </p:txBody>
      </p:sp>
      <p:pic>
        <p:nvPicPr>
          <p:cNvPr id="23" name="Imagen 22">
            <a:extLst>
              <a:ext uri="{FF2B5EF4-FFF2-40B4-BE49-F238E27FC236}">
                <a16:creationId xmlns:a16="http://schemas.microsoft.com/office/drawing/2014/main" xmlns="" id="{66F0DBB5-21BD-4C74-9C91-393B96E6C8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5486" y="3145982"/>
            <a:ext cx="4291979" cy="457016"/>
          </a:xfrm>
          <a:prstGeom prst="rect">
            <a:avLst/>
          </a:prstGeom>
        </p:spPr>
      </p:pic>
      <p:sp>
        <p:nvSpPr>
          <p:cNvPr id="24" name="Rectangle 3">
            <a:extLst>
              <a:ext uri="{FF2B5EF4-FFF2-40B4-BE49-F238E27FC236}">
                <a16:creationId xmlns:a16="http://schemas.microsoft.com/office/drawing/2014/main" xmlns="" id="{0F34F9F5-059C-4AD6-BE9A-D80A0347D651}"/>
              </a:ext>
            </a:extLst>
          </p:cNvPr>
          <p:cNvSpPr txBox="1">
            <a:spLocks noChangeArrowheads="1"/>
          </p:cNvSpPr>
          <p:nvPr/>
        </p:nvSpPr>
        <p:spPr bwMode="auto">
          <a:xfrm>
            <a:off x="560389" y="1196752"/>
            <a:ext cx="2493962" cy="407988"/>
          </a:xfrm>
          <a:prstGeom prst="rect">
            <a:avLst/>
          </a:prstGeom>
          <a:noFill/>
          <a:ln w="9525">
            <a:noFill/>
            <a:miter lim="800000"/>
            <a:headEnd/>
            <a:tailEnd/>
          </a:ln>
        </p:spPr>
        <p:txBody>
          <a:bodyPr/>
          <a:lstStyle/>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Arial" pitchFamily="34" charset="0"/>
              </a:rPr>
              <a:t>Ejemplo:</a:t>
            </a: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800" kern="1200" dirty="0">
              <a:solidFill>
                <a:prstClr val="black"/>
              </a:solidFill>
              <a:latin typeface="Calibri"/>
              <a:ea typeface="Arial Unicode MS"/>
              <a:cs typeface="Arial" panose="020B0604020202020204" pitchFamily="34"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endParaRPr lang="es-CL" kern="1200" dirty="0">
              <a:solidFill>
                <a:prstClr val="black"/>
              </a:solidFill>
              <a:latin typeface="Calibri"/>
              <a:ea typeface="Arial Unicode MS"/>
              <a:cs typeface="Arial" pitchFamily="34"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Arial" pitchFamily="34" charset="0"/>
              </a:rPr>
              <a:t>Ejemplo:</a:t>
            </a:r>
          </a:p>
        </p:txBody>
      </p:sp>
      <p:sp>
        <p:nvSpPr>
          <p:cNvPr id="25" name="Rectangle 82">
            <a:extLst>
              <a:ext uri="{FF2B5EF4-FFF2-40B4-BE49-F238E27FC236}">
                <a16:creationId xmlns:a16="http://schemas.microsoft.com/office/drawing/2014/main" xmlns="" id="{1DFC707E-0C06-4313-9876-046F20131F8F}"/>
              </a:ext>
            </a:extLst>
          </p:cNvPr>
          <p:cNvSpPr>
            <a:spLocks noChangeArrowheads="1"/>
          </p:cNvSpPr>
          <p:nvPr/>
        </p:nvSpPr>
        <p:spPr bwMode="auto">
          <a:xfrm>
            <a:off x="3224670" y="3140968"/>
            <a:ext cx="720000" cy="468000"/>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
        <p:nvSpPr>
          <p:cNvPr id="26" name="Rectangle 83">
            <a:extLst>
              <a:ext uri="{FF2B5EF4-FFF2-40B4-BE49-F238E27FC236}">
                <a16:creationId xmlns:a16="http://schemas.microsoft.com/office/drawing/2014/main" xmlns="" id="{48CB30A6-4D34-4FCF-BEA4-E1017F91C303}"/>
              </a:ext>
            </a:extLst>
          </p:cNvPr>
          <p:cNvSpPr>
            <a:spLocks noChangeArrowheads="1"/>
          </p:cNvSpPr>
          <p:nvPr/>
        </p:nvSpPr>
        <p:spPr bwMode="auto">
          <a:xfrm>
            <a:off x="3984396" y="3140968"/>
            <a:ext cx="684000" cy="468000"/>
          </a:xfrm>
          <a:prstGeom prst="rect">
            <a:avLst/>
          </a:prstGeom>
          <a:noFill/>
          <a:ln w="31750">
            <a:solidFill>
              <a:srgbClr val="0033CC"/>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
        <p:nvSpPr>
          <p:cNvPr id="27" name="Rectangle 84">
            <a:extLst>
              <a:ext uri="{FF2B5EF4-FFF2-40B4-BE49-F238E27FC236}">
                <a16:creationId xmlns:a16="http://schemas.microsoft.com/office/drawing/2014/main" xmlns="" id="{62171370-4D24-46D2-97ED-7B6C1CA0E80E}"/>
              </a:ext>
            </a:extLst>
          </p:cNvPr>
          <p:cNvSpPr>
            <a:spLocks noChangeArrowheads="1"/>
          </p:cNvSpPr>
          <p:nvPr/>
        </p:nvSpPr>
        <p:spPr bwMode="auto">
          <a:xfrm>
            <a:off x="4693718" y="3140968"/>
            <a:ext cx="720000" cy="468000"/>
          </a:xfrm>
          <a:prstGeom prst="rect">
            <a:avLst/>
          </a:prstGeom>
          <a:noFill/>
          <a:ln w="31750">
            <a:solidFill>
              <a:srgbClr val="993366"/>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
        <p:nvSpPr>
          <p:cNvPr id="28" name="Text Box 5">
            <a:extLst>
              <a:ext uri="{FF2B5EF4-FFF2-40B4-BE49-F238E27FC236}">
                <a16:creationId xmlns:a16="http://schemas.microsoft.com/office/drawing/2014/main" xmlns="" id="{8ABB002E-B72E-43D3-AA1E-A6262D71E928}"/>
              </a:ext>
            </a:extLst>
          </p:cNvPr>
          <p:cNvSpPr txBox="1">
            <a:spLocks noChangeArrowheads="1"/>
          </p:cNvSpPr>
          <p:nvPr/>
        </p:nvSpPr>
        <p:spPr bwMode="auto">
          <a:xfrm>
            <a:off x="889817" y="1487320"/>
            <a:ext cx="7919590"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salary,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TO_CHAR(salary, '9999999')</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Formato1,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00DA"/>
                </a:solidFill>
                <a:effectLst/>
                <a:uLnTx/>
                <a:uFillTx/>
                <a:latin typeface="Calibri"/>
                <a:ea typeface="+mn-ea"/>
                <a:cs typeface="Arial" panose="020B0604020202020204" pitchFamily="34" charset="0"/>
              </a:rPr>
              <a:t>TO_CHAR(salary, '0000000')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Formato2, </a:t>
            </a: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TO_CHAR(salary, '$999G999')</a:t>
            </a:r>
            <a:r>
              <a:rPr kumimoji="0" lang="en-US" sz="1600" b="1" i="0" u="none" strike="noStrike" kern="1200" cap="none" spc="0" normalizeH="0" baseline="0" noProof="0" dirty="0">
                <a:ln>
                  <a:noFill/>
                </a:ln>
                <a:solidFill>
                  <a:srgbClr val="660066"/>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Formato3,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TO_CHAR(salary, 'L99,999.00')</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Formato4</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WHERE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'Ernst';</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p:txBody>
      </p:sp>
      <p:sp>
        <p:nvSpPr>
          <p:cNvPr id="29" name="Text Box 5">
            <a:extLst>
              <a:ext uri="{FF2B5EF4-FFF2-40B4-BE49-F238E27FC236}">
                <a16:creationId xmlns:a16="http://schemas.microsoft.com/office/drawing/2014/main" xmlns="" id="{DC138FD0-E3BA-4CA3-A5F5-0AA925327965}"/>
              </a:ext>
            </a:extLst>
          </p:cNvPr>
          <p:cNvSpPr txBox="1">
            <a:spLocks noChangeArrowheads="1"/>
          </p:cNvSpPr>
          <p:nvPr/>
        </p:nvSpPr>
        <p:spPr bwMode="auto">
          <a:xfrm>
            <a:off x="897277" y="4275338"/>
            <a:ext cx="7919590"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salary,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TO_CHAR(salary, '$0099,999.00')</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Formato1,</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00DA"/>
                </a:solidFill>
                <a:effectLst/>
                <a:uLnTx/>
                <a:uFillTx/>
                <a:latin typeface="Calibri"/>
                <a:ea typeface="+mn-ea"/>
                <a:cs typeface="Arial" panose="020B0604020202020204" pitchFamily="34" charset="0"/>
              </a:rPr>
              <a:t>TO_CHAR(salary, '$99G999D00')</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Formato2, </a:t>
            </a: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O_CHAR(salary, '99999V900')</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Formato3</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WHERE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'King’;</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p:txBody>
      </p:sp>
      <p:sp>
        <p:nvSpPr>
          <p:cNvPr id="30" name="Rectangle 84">
            <a:extLst>
              <a:ext uri="{FF2B5EF4-FFF2-40B4-BE49-F238E27FC236}">
                <a16:creationId xmlns:a16="http://schemas.microsoft.com/office/drawing/2014/main" xmlns="" id="{B7D3274E-D18B-4C24-91F6-70D743311545}"/>
              </a:ext>
            </a:extLst>
          </p:cNvPr>
          <p:cNvSpPr>
            <a:spLocks noChangeArrowheads="1"/>
          </p:cNvSpPr>
          <p:nvPr/>
        </p:nvSpPr>
        <p:spPr bwMode="auto">
          <a:xfrm>
            <a:off x="5453531" y="3140968"/>
            <a:ext cx="1404000" cy="468000"/>
          </a:xfrm>
          <a:prstGeom prst="rect">
            <a:avLst/>
          </a:prstGeom>
          <a:noFill/>
          <a:ln w="31750">
            <a:solidFill>
              <a:srgbClr val="008000"/>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pic>
        <p:nvPicPr>
          <p:cNvPr id="31" name="Imagen 30" descr="Captura de pantalla de un celular&#10;&#10;Descripción generada automáticamente">
            <a:extLst>
              <a:ext uri="{FF2B5EF4-FFF2-40B4-BE49-F238E27FC236}">
                <a16:creationId xmlns:a16="http://schemas.microsoft.com/office/drawing/2014/main" xmlns="" id="{48484B86-4198-44F8-B69C-2CE8B5EC00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2783" y="5686062"/>
            <a:ext cx="3215319" cy="692689"/>
          </a:xfrm>
          <a:prstGeom prst="rect">
            <a:avLst/>
          </a:prstGeom>
        </p:spPr>
      </p:pic>
      <p:sp>
        <p:nvSpPr>
          <p:cNvPr id="32" name="Rectangle 82">
            <a:extLst>
              <a:ext uri="{FF2B5EF4-FFF2-40B4-BE49-F238E27FC236}">
                <a16:creationId xmlns:a16="http://schemas.microsoft.com/office/drawing/2014/main" xmlns="" id="{45F91E1C-DA4C-40B7-9444-BE324FC8B940}"/>
              </a:ext>
            </a:extLst>
          </p:cNvPr>
          <p:cNvSpPr>
            <a:spLocks noChangeArrowheads="1"/>
          </p:cNvSpPr>
          <p:nvPr/>
        </p:nvSpPr>
        <p:spPr bwMode="auto">
          <a:xfrm>
            <a:off x="3830097" y="5693522"/>
            <a:ext cx="936000" cy="648000"/>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
        <p:nvSpPr>
          <p:cNvPr id="33" name="Rectangle 83">
            <a:extLst>
              <a:ext uri="{FF2B5EF4-FFF2-40B4-BE49-F238E27FC236}">
                <a16:creationId xmlns:a16="http://schemas.microsoft.com/office/drawing/2014/main" xmlns="" id="{C2BB2223-AA38-49B1-91C7-09A8E6649B67}"/>
              </a:ext>
            </a:extLst>
          </p:cNvPr>
          <p:cNvSpPr>
            <a:spLocks noChangeArrowheads="1"/>
          </p:cNvSpPr>
          <p:nvPr/>
        </p:nvSpPr>
        <p:spPr bwMode="auto">
          <a:xfrm>
            <a:off x="4816337" y="5693522"/>
            <a:ext cx="792000" cy="648000"/>
          </a:xfrm>
          <a:prstGeom prst="rect">
            <a:avLst/>
          </a:prstGeom>
          <a:noFill/>
          <a:ln w="31750">
            <a:solidFill>
              <a:srgbClr val="0033CC"/>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
        <p:nvSpPr>
          <p:cNvPr id="34" name="Rectangle 84">
            <a:extLst>
              <a:ext uri="{FF2B5EF4-FFF2-40B4-BE49-F238E27FC236}">
                <a16:creationId xmlns:a16="http://schemas.microsoft.com/office/drawing/2014/main" xmlns="" id="{EFD60AC4-6116-41BC-BA97-C11BF664DDED}"/>
              </a:ext>
            </a:extLst>
          </p:cNvPr>
          <p:cNvSpPr>
            <a:spLocks noChangeArrowheads="1"/>
          </p:cNvSpPr>
          <p:nvPr/>
        </p:nvSpPr>
        <p:spPr bwMode="auto">
          <a:xfrm>
            <a:off x="5651893" y="5693522"/>
            <a:ext cx="756000" cy="648000"/>
          </a:xfrm>
          <a:prstGeom prst="rect">
            <a:avLst/>
          </a:prstGeom>
          <a:noFill/>
          <a:ln w="31750">
            <a:solidFill>
              <a:srgbClr val="993366"/>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19485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2">
            <a:extLst>
              <a:ext uri="{FF2B5EF4-FFF2-40B4-BE49-F238E27FC236}">
                <a16:creationId xmlns:a16="http://schemas.microsoft.com/office/drawing/2014/main" xmlns="" id="{38AB855C-FF4B-4FB8-8664-59A9C3DBBC42}"/>
              </a:ext>
            </a:extLst>
          </p:cNvPr>
          <p:cNvSpPr>
            <a:spLocks noGrp="1"/>
          </p:cNvSpPr>
          <p:nvPr>
            <p:ph type="title"/>
          </p:nvPr>
        </p:nvSpPr>
        <p:spPr>
          <a:xfrm>
            <a:off x="1621278" y="258445"/>
            <a:ext cx="4647630" cy="813000"/>
          </a:xfrm>
        </p:spPr>
        <p:txBody>
          <a:bodyPr/>
          <a:lstStyle/>
          <a:p>
            <a:pPr defTabSz="457200">
              <a:defRPr/>
            </a:pPr>
            <a:r>
              <a:rPr lang="es-CL" sz="2800" b="1" dirty="0">
                <a:solidFill>
                  <a:prstClr val="white"/>
                </a:solidFill>
                <a:latin typeface="Calibri"/>
              </a:rPr>
              <a:t>Uso de Función TO_NUMBER con Caracteres </a:t>
            </a:r>
          </a:p>
        </p:txBody>
      </p:sp>
      <p:sp>
        <p:nvSpPr>
          <p:cNvPr id="20" name="Marcador de contenido 1">
            <a:extLst>
              <a:ext uri="{FF2B5EF4-FFF2-40B4-BE49-F238E27FC236}">
                <a16:creationId xmlns:a16="http://schemas.microsoft.com/office/drawing/2014/main" xmlns="" id="{A2C9F34D-DBCB-4D5A-B6BF-A4563CB0DF0B}"/>
              </a:ext>
            </a:extLst>
          </p:cNvPr>
          <p:cNvSpPr txBox="1">
            <a:spLocks/>
          </p:cNvSpPr>
          <p:nvPr/>
        </p:nvSpPr>
        <p:spPr>
          <a:xfrm>
            <a:off x="457200" y="1667934"/>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16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16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Sintaxis: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1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16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800" b="0" i="0" u="none" strike="noStrike" kern="1200" cap="none" spc="0" normalizeH="0" baseline="0" noProof="0">
              <a:ln>
                <a:noFill/>
              </a:ln>
              <a:solidFill>
                <a:sysClr val="windowText" lastClr="000000"/>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Arial Unicode MS"/>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21" name="Text Box 5">
            <a:extLst>
              <a:ext uri="{FF2B5EF4-FFF2-40B4-BE49-F238E27FC236}">
                <a16:creationId xmlns:a16="http://schemas.microsoft.com/office/drawing/2014/main" xmlns="" id="{AF68CE08-3F9B-4FF0-94D7-3AAF7BC61D47}"/>
              </a:ext>
            </a:extLst>
          </p:cNvPr>
          <p:cNvSpPr txBox="1">
            <a:spLocks noChangeArrowheads="1"/>
          </p:cNvSpPr>
          <p:nvPr/>
        </p:nvSpPr>
        <p:spPr bwMode="auto">
          <a:xfrm>
            <a:off x="874540" y="4288820"/>
            <a:ext cx="5530560"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'1234,56'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caracter</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TO_NUMBER('1234,56')</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numero</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dual;</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2" name="Rectángulo redondeado 4">
            <a:extLst>
              <a:ext uri="{FF2B5EF4-FFF2-40B4-BE49-F238E27FC236}">
                <a16:creationId xmlns:a16="http://schemas.microsoft.com/office/drawing/2014/main" xmlns="" id="{6BD0A3F8-0C9F-4D0B-B069-A684282F85D6}"/>
              </a:ext>
            </a:extLst>
          </p:cNvPr>
          <p:cNvSpPr/>
          <p:nvPr/>
        </p:nvSpPr>
        <p:spPr>
          <a:xfrm>
            <a:off x="1835696" y="1336492"/>
            <a:ext cx="5472608" cy="936104"/>
          </a:xfrm>
          <a:prstGeom prst="roundRect">
            <a:avLst/>
          </a:prstGeom>
          <a:solidFill>
            <a:srgbClr val="006666"/>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TO_NUMBER puede convertir un </a:t>
            </a:r>
            <a:r>
              <a:rPr kumimoji="0" lang="es-CL" sz="1800" b="1" i="0" u="none" strike="noStrike" kern="1200" cap="none" spc="0" normalizeH="0" baseline="0" noProof="0" dirty="0" err="1">
                <a:ln>
                  <a:noFill/>
                </a:ln>
                <a:solidFill>
                  <a:srgbClr val="FFFFFF"/>
                </a:solidFill>
                <a:effectLst/>
                <a:uLnTx/>
                <a:uFillTx/>
                <a:latin typeface="Calibri"/>
                <a:ea typeface="+mn-ea"/>
                <a:cs typeface="Arial" panose="020B0604020202020204" pitchFamily="34" charset="0"/>
              </a:rPr>
              <a:t>caracter</a:t>
            </a: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 a un </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formato número</a:t>
            </a:r>
          </a:p>
        </p:txBody>
      </p:sp>
      <p:sp>
        <p:nvSpPr>
          <p:cNvPr id="35" name="Text Box 5">
            <a:extLst>
              <a:ext uri="{FF2B5EF4-FFF2-40B4-BE49-F238E27FC236}">
                <a16:creationId xmlns:a16="http://schemas.microsoft.com/office/drawing/2014/main" xmlns="" id="{16CDB4EF-FBE1-49EC-9FE3-4CCA3FF45F41}"/>
              </a:ext>
            </a:extLst>
          </p:cNvPr>
          <p:cNvSpPr txBox="1">
            <a:spLocks noChangeArrowheads="1"/>
          </p:cNvSpPr>
          <p:nvPr/>
        </p:nvSpPr>
        <p:spPr bwMode="auto">
          <a:xfrm>
            <a:off x="899592" y="2992676"/>
            <a:ext cx="4464496"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TO_NUMBER(</a:t>
            </a:r>
            <a:r>
              <a:rPr kumimoji="0" lang="en-US" sz="1600" b="1" i="1"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caracter</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formato_conversión</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pic>
        <p:nvPicPr>
          <p:cNvPr id="36" name="Imagen 35">
            <a:extLst>
              <a:ext uri="{FF2B5EF4-FFF2-40B4-BE49-F238E27FC236}">
                <a16:creationId xmlns:a16="http://schemas.microsoft.com/office/drawing/2014/main" xmlns="" id="{C91B31DE-3624-47B5-8BCA-FC1E5B1DD5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0340" y="5224924"/>
            <a:ext cx="2281700" cy="549519"/>
          </a:xfrm>
          <a:prstGeom prst="rect">
            <a:avLst/>
          </a:prstGeom>
        </p:spPr>
      </p:pic>
    </p:spTree>
    <p:extLst>
      <p:ext uri="{BB962C8B-B14F-4D97-AF65-F5344CB8AC3E}">
        <p14:creationId xmlns:p14="http://schemas.microsoft.com/office/powerpoint/2010/main" val="35091536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2">
            <a:extLst>
              <a:ext uri="{FF2B5EF4-FFF2-40B4-BE49-F238E27FC236}">
                <a16:creationId xmlns:a16="http://schemas.microsoft.com/office/drawing/2014/main" xmlns="" id="{38AB855C-FF4B-4FB8-8664-59A9C3DBBC42}"/>
              </a:ext>
            </a:extLst>
          </p:cNvPr>
          <p:cNvSpPr>
            <a:spLocks noGrp="1"/>
          </p:cNvSpPr>
          <p:nvPr>
            <p:ph type="title"/>
          </p:nvPr>
        </p:nvSpPr>
        <p:spPr>
          <a:xfrm>
            <a:off x="1621278" y="258445"/>
            <a:ext cx="4647630" cy="813000"/>
          </a:xfrm>
        </p:spPr>
        <p:txBody>
          <a:bodyPr/>
          <a:lstStyle/>
          <a:p>
            <a:pPr defTabSz="457200">
              <a:defRPr/>
            </a:pPr>
            <a:r>
              <a:rPr lang="es-CL" sz="2800" b="1" dirty="0">
                <a:solidFill>
                  <a:prstClr val="white"/>
                </a:solidFill>
                <a:latin typeface="Calibri"/>
              </a:rPr>
              <a:t>Uso de Función TO_DATE </a:t>
            </a:r>
            <a:br>
              <a:rPr lang="es-CL" sz="2800" b="1" dirty="0">
                <a:solidFill>
                  <a:prstClr val="white"/>
                </a:solidFill>
                <a:latin typeface="Calibri"/>
              </a:rPr>
            </a:br>
            <a:r>
              <a:rPr lang="es-CL" sz="2800" b="1" dirty="0">
                <a:solidFill>
                  <a:prstClr val="white"/>
                </a:solidFill>
                <a:latin typeface="Calibri"/>
              </a:rPr>
              <a:t>con Caracteres </a:t>
            </a:r>
          </a:p>
        </p:txBody>
      </p:sp>
      <p:sp>
        <p:nvSpPr>
          <p:cNvPr id="16" name="Marcador de contenido 1">
            <a:extLst>
              <a:ext uri="{FF2B5EF4-FFF2-40B4-BE49-F238E27FC236}">
                <a16:creationId xmlns:a16="http://schemas.microsoft.com/office/drawing/2014/main" xmlns="" id="{EB075E21-6553-4225-B2FC-1058B6212D43}"/>
              </a:ext>
            </a:extLst>
          </p:cNvPr>
          <p:cNvSpPr txBox="1">
            <a:spLocks/>
          </p:cNvSpPr>
          <p:nvPr/>
        </p:nvSpPr>
        <p:spPr>
          <a:xfrm>
            <a:off x="457200" y="1600202"/>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16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16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Sintaxis:</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1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16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800" b="0" i="0" u="none" strike="noStrike" kern="1200" cap="none" spc="0" normalizeH="0" baseline="0" noProof="0">
              <a:ln>
                <a:noFill/>
              </a:ln>
              <a:solidFill>
                <a:sysClr val="windowText" lastClr="000000"/>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Arial Unicode MS"/>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7" name="Text Box 5">
            <a:extLst>
              <a:ext uri="{FF2B5EF4-FFF2-40B4-BE49-F238E27FC236}">
                <a16:creationId xmlns:a16="http://schemas.microsoft.com/office/drawing/2014/main" xmlns="" id="{CFD16AE4-1DD7-4649-8FB3-0F7812C1B0D2}"/>
              </a:ext>
            </a:extLst>
          </p:cNvPr>
          <p:cNvSpPr txBox="1">
            <a:spLocks noChangeArrowheads="1"/>
          </p:cNvSpPr>
          <p:nvPr/>
        </p:nvSpPr>
        <p:spPr bwMode="auto">
          <a:xfrm>
            <a:off x="874540" y="4221088"/>
            <a:ext cx="4057500"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to_date</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('2007/05/31')</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dual;</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 name="Rectángulo redondeado 4">
            <a:extLst>
              <a:ext uri="{FF2B5EF4-FFF2-40B4-BE49-F238E27FC236}">
                <a16:creationId xmlns:a16="http://schemas.microsoft.com/office/drawing/2014/main" xmlns="" id="{4EBE0F9A-FE5A-4051-B4DD-A4E107EA126F}"/>
              </a:ext>
            </a:extLst>
          </p:cNvPr>
          <p:cNvSpPr/>
          <p:nvPr/>
        </p:nvSpPr>
        <p:spPr>
          <a:xfrm>
            <a:off x="1835696" y="1268760"/>
            <a:ext cx="5472608" cy="936104"/>
          </a:xfrm>
          <a:prstGeom prst="roundRect">
            <a:avLst/>
          </a:prstGeom>
          <a:solidFill>
            <a:srgbClr val="006666"/>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TO_DATE puede convertir un </a:t>
            </a:r>
            <a:r>
              <a:rPr kumimoji="0" lang="es-CL" sz="1800" b="1" i="0" u="none" strike="noStrike" kern="1200" cap="none" spc="0" normalizeH="0" baseline="0" noProof="0" dirty="0" err="1">
                <a:ln>
                  <a:noFill/>
                </a:ln>
                <a:solidFill>
                  <a:srgbClr val="FFFFFF"/>
                </a:solidFill>
                <a:effectLst/>
                <a:uLnTx/>
                <a:uFillTx/>
                <a:latin typeface="Calibri"/>
                <a:ea typeface="+mn-ea"/>
                <a:cs typeface="Arial" panose="020B0604020202020204" pitchFamily="34" charset="0"/>
              </a:rPr>
              <a:t>caracter</a:t>
            </a: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 a un </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formato de fecha </a:t>
            </a:r>
          </a:p>
        </p:txBody>
      </p:sp>
      <p:sp>
        <p:nvSpPr>
          <p:cNvPr id="19" name="Text Box 5">
            <a:extLst>
              <a:ext uri="{FF2B5EF4-FFF2-40B4-BE49-F238E27FC236}">
                <a16:creationId xmlns:a16="http://schemas.microsoft.com/office/drawing/2014/main" xmlns="" id="{AC9E74A5-27F7-4F53-BA6A-C1AB71640A8D}"/>
              </a:ext>
            </a:extLst>
          </p:cNvPr>
          <p:cNvSpPr txBox="1">
            <a:spLocks noChangeArrowheads="1"/>
          </p:cNvSpPr>
          <p:nvPr/>
        </p:nvSpPr>
        <p:spPr bwMode="auto">
          <a:xfrm>
            <a:off x="899592" y="2924944"/>
            <a:ext cx="4032448"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TO_DATE(</a:t>
            </a:r>
            <a:r>
              <a:rPr kumimoji="0" lang="en-US" sz="1600" b="1" i="1"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caracter</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formato_conversión</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23" name="Text Box 5">
            <a:extLst>
              <a:ext uri="{FF2B5EF4-FFF2-40B4-BE49-F238E27FC236}">
                <a16:creationId xmlns:a16="http://schemas.microsoft.com/office/drawing/2014/main" xmlns="" id="{FC88B249-4026-4947-8AF4-16C0A8C03B94}"/>
              </a:ext>
            </a:extLst>
          </p:cNvPr>
          <p:cNvSpPr txBox="1">
            <a:spLocks noChangeArrowheads="1"/>
          </p:cNvSpPr>
          <p:nvPr/>
        </p:nvSpPr>
        <p:spPr bwMode="auto">
          <a:xfrm>
            <a:off x="874540" y="5445224"/>
            <a:ext cx="5209628"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to_date</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('2007/05/31','YYYY/MM/DD')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dual;</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24" name="Imagen 23">
            <a:extLst>
              <a:ext uri="{FF2B5EF4-FFF2-40B4-BE49-F238E27FC236}">
                <a16:creationId xmlns:a16="http://schemas.microsoft.com/office/drawing/2014/main" xmlns="" id="{30DF031E-18B5-4194-AA8C-E3A87D07E0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1961" y="5546317"/>
            <a:ext cx="2510770" cy="543195"/>
          </a:xfrm>
          <a:prstGeom prst="rect">
            <a:avLst/>
          </a:prstGeom>
        </p:spPr>
      </p:pic>
      <p:pic>
        <p:nvPicPr>
          <p:cNvPr id="25" name="Imagen 24">
            <a:extLst>
              <a:ext uri="{FF2B5EF4-FFF2-40B4-BE49-F238E27FC236}">
                <a16:creationId xmlns:a16="http://schemas.microsoft.com/office/drawing/2014/main" xmlns="" id="{CAD54FFE-BA06-4C18-ADE4-BAB5DC393B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8064" y="4210635"/>
            <a:ext cx="3533333" cy="1047619"/>
          </a:xfrm>
          <a:prstGeom prst="rect">
            <a:avLst/>
          </a:prstGeom>
        </p:spPr>
      </p:pic>
    </p:spTree>
    <p:extLst>
      <p:ext uri="{BB962C8B-B14F-4D97-AF65-F5344CB8AC3E}">
        <p14:creationId xmlns:p14="http://schemas.microsoft.com/office/powerpoint/2010/main" val="3418139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2">
            <a:extLst>
              <a:ext uri="{FF2B5EF4-FFF2-40B4-BE49-F238E27FC236}">
                <a16:creationId xmlns:a16="http://schemas.microsoft.com/office/drawing/2014/main" xmlns="" id="{38AB855C-FF4B-4FB8-8664-59A9C3DBBC42}"/>
              </a:ext>
            </a:extLst>
          </p:cNvPr>
          <p:cNvSpPr>
            <a:spLocks noGrp="1"/>
          </p:cNvSpPr>
          <p:nvPr>
            <p:ph type="title"/>
          </p:nvPr>
        </p:nvSpPr>
        <p:spPr>
          <a:xfrm>
            <a:off x="1621278" y="258445"/>
            <a:ext cx="4647630" cy="813000"/>
          </a:xfrm>
        </p:spPr>
        <p:txBody>
          <a:bodyPr/>
          <a:lstStyle/>
          <a:p>
            <a:pPr defTabSz="457200">
              <a:defRPr/>
            </a:pPr>
            <a:r>
              <a:rPr lang="es-CL" sz="2800" b="1" dirty="0">
                <a:solidFill>
                  <a:prstClr val="white"/>
                </a:solidFill>
                <a:latin typeface="Calibri"/>
              </a:rPr>
              <a:t>Uso de Función TO_DATE </a:t>
            </a:r>
            <a:br>
              <a:rPr lang="es-CL" sz="2800" b="1" dirty="0">
                <a:solidFill>
                  <a:prstClr val="white"/>
                </a:solidFill>
                <a:latin typeface="Calibri"/>
              </a:rPr>
            </a:br>
            <a:r>
              <a:rPr lang="es-CL" sz="2800" b="1" dirty="0">
                <a:solidFill>
                  <a:prstClr val="white"/>
                </a:solidFill>
                <a:latin typeface="Calibri"/>
              </a:rPr>
              <a:t>con Caracteres </a:t>
            </a:r>
          </a:p>
        </p:txBody>
      </p:sp>
      <p:sp>
        <p:nvSpPr>
          <p:cNvPr id="20" name="Marcador de contenido 1">
            <a:extLst>
              <a:ext uri="{FF2B5EF4-FFF2-40B4-BE49-F238E27FC236}">
                <a16:creationId xmlns:a16="http://schemas.microsoft.com/office/drawing/2014/main" xmlns="" id="{96BB1C31-9C8A-4071-9B1F-26281F28FC07}"/>
              </a:ext>
            </a:extLst>
          </p:cNvPr>
          <p:cNvSpPr txBox="1">
            <a:spLocks/>
          </p:cNvSpPr>
          <p:nvPr/>
        </p:nvSpPr>
        <p:spPr>
          <a:xfrm>
            <a:off x="518864" y="1268760"/>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16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800" b="0" i="0" u="none" strike="noStrike" kern="1200" cap="none" spc="0" normalizeH="0" baseline="0" noProof="0">
              <a:ln>
                <a:noFill/>
              </a:ln>
              <a:solidFill>
                <a:sysClr val="windowText" lastClr="000000"/>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Arial Unicode MS"/>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21" name="Text Box 5">
            <a:extLst>
              <a:ext uri="{FF2B5EF4-FFF2-40B4-BE49-F238E27FC236}">
                <a16:creationId xmlns:a16="http://schemas.microsoft.com/office/drawing/2014/main" xmlns="" id="{709AD118-3848-432E-8783-8D4DB4B289E8}"/>
              </a:ext>
            </a:extLst>
          </p:cNvPr>
          <p:cNvSpPr txBox="1">
            <a:spLocks noChangeArrowheads="1"/>
          </p:cNvSpPr>
          <p:nvPr/>
        </p:nvSpPr>
        <p:spPr bwMode="auto">
          <a:xfrm>
            <a:off x="874540" y="4077072"/>
            <a:ext cx="7585892"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TO_CHAR(</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TO_DATE('01/08/2019')</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,'YYYY') "USO TO_DATE CON CARACTERES"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dual;</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22" name="Imagen 21">
            <a:extLst>
              <a:ext uri="{FF2B5EF4-FFF2-40B4-BE49-F238E27FC236}">
                <a16:creationId xmlns:a16="http://schemas.microsoft.com/office/drawing/2014/main" xmlns="" id="{49EC8E10-AE2B-45A5-B1E5-D9355EFD08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3540" y="4941168"/>
            <a:ext cx="2183680" cy="587010"/>
          </a:xfrm>
          <a:prstGeom prst="rect">
            <a:avLst/>
          </a:prstGeom>
        </p:spPr>
      </p:pic>
      <p:sp>
        <p:nvSpPr>
          <p:cNvPr id="26" name="Text Box 5">
            <a:extLst>
              <a:ext uri="{FF2B5EF4-FFF2-40B4-BE49-F238E27FC236}">
                <a16:creationId xmlns:a16="http://schemas.microsoft.com/office/drawing/2014/main" xmlns="" id="{EDC9EBA1-D8E8-4667-BAFE-7009F5AC5D0F}"/>
              </a:ext>
            </a:extLst>
          </p:cNvPr>
          <p:cNvSpPr txBox="1">
            <a:spLocks noChangeArrowheads="1"/>
          </p:cNvSpPr>
          <p:nvPr/>
        </p:nvSpPr>
        <p:spPr bwMode="auto">
          <a:xfrm>
            <a:off x="899592" y="2060848"/>
            <a:ext cx="7585892"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TO_CHAR('01/08/2019','YYYY') "USO TO_DATE CON CARACTERES"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dual;</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27" name="Imagen 26">
            <a:extLst>
              <a:ext uri="{FF2B5EF4-FFF2-40B4-BE49-F238E27FC236}">
                <a16:creationId xmlns:a16="http://schemas.microsoft.com/office/drawing/2014/main" xmlns="" id="{AC600678-ABE3-4B78-BD15-348C182F15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6244" y="2996952"/>
            <a:ext cx="2599459" cy="781003"/>
          </a:xfrm>
          <a:prstGeom prst="rect">
            <a:avLst/>
          </a:prstGeom>
        </p:spPr>
      </p:pic>
    </p:spTree>
    <p:extLst>
      <p:ext uri="{BB962C8B-B14F-4D97-AF65-F5344CB8AC3E}">
        <p14:creationId xmlns:p14="http://schemas.microsoft.com/office/powerpoint/2010/main" val="1199670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xmlns="" id="{548035E2-9379-2346-A89D-675F58CEB28A}"/>
              </a:ext>
            </a:extLst>
          </p:cNvPr>
          <p:cNvSpPr>
            <a:spLocks noGrp="1"/>
          </p:cNvSpPr>
          <p:nvPr>
            <p:ph type="title"/>
          </p:nvPr>
        </p:nvSpPr>
        <p:spPr>
          <a:xfrm>
            <a:off x="3004575" y="3429000"/>
            <a:ext cx="5995800" cy="1955797"/>
          </a:xfrm>
        </p:spPr>
        <p:txBody>
          <a:bodyPr anchor="ctr" anchorCtr="0"/>
          <a:lstStyle/>
          <a:p>
            <a:r>
              <a:rPr lang="es-ES_tradnl" sz="4800" b="1" dirty="0"/>
              <a:t>Funciones  para validar valores Nulos</a:t>
            </a:r>
          </a:p>
        </p:txBody>
      </p:sp>
    </p:spTree>
    <p:extLst>
      <p:ext uri="{BB962C8B-B14F-4D97-AF65-F5344CB8AC3E}">
        <p14:creationId xmlns:p14="http://schemas.microsoft.com/office/powerpoint/2010/main" val="1679846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26671" y="212725"/>
            <a:ext cx="4685691" cy="813000"/>
          </a:xfrm>
        </p:spPr>
        <p:txBody>
          <a:bodyPr/>
          <a:lstStyle/>
          <a:p>
            <a:pPr lvl="0" defTabSz="457200">
              <a:lnSpc>
                <a:spcPct val="100000"/>
              </a:lnSpc>
              <a:buClrTx/>
              <a:buSzTx/>
              <a:defRPr/>
            </a:pPr>
            <a:r>
              <a:rPr lang="es-CL" sz="2800" b="1" kern="1200" dirty="0">
                <a:solidFill>
                  <a:prstClr val="white"/>
                </a:solidFill>
                <a:latin typeface="Calibri"/>
                <a:cs typeface="Arial" panose="020B0604020202020204" pitchFamily="34" charset="0"/>
              </a:rPr>
              <a:t>Funciones Generales</a:t>
            </a:r>
          </a:p>
        </p:txBody>
      </p:sp>
      <p:sp>
        <p:nvSpPr>
          <p:cNvPr id="9" name="Rectángulo redondeado 4">
            <a:extLst>
              <a:ext uri="{FF2B5EF4-FFF2-40B4-BE49-F238E27FC236}">
                <a16:creationId xmlns:a16="http://schemas.microsoft.com/office/drawing/2014/main" xmlns="" id="{7F21E482-CAAF-4412-8624-FF413F8B3781}"/>
              </a:ext>
            </a:extLst>
          </p:cNvPr>
          <p:cNvSpPr/>
          <p:nvPr/>
        </p:nvSpPr>
        <p:spPr>
          <a:xfrm>
            <a:off x="1410123" y="1484784"/>
            <a:ext cx="6696744" cy="936104"/>
          </a:xfrm>
          <a:prstGeom prst="roundRect">
            <a:avLst/>
          </a:prstGeom>
          <a:solidFill>
            <a:srgbClr val="FF9900"/>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Trabajan con cualquier tipo de dato y permiten definir valores a utilizar en el caso de que las expresiones tengan valor nulo.</a:t>
            </a:r>
          </a:p>
        </p:txBody>
      </p:sp>
      <p:pic>
        <p:nvPicPr>
          <p:cNvPr id="10" name="Imagen 9" descr="Captura de pantalla de un celular con letras&#10;&#10;Descripción generada automáticamente">
            <a:extLst>
              <a:ext uri="{FF2B5EF4-FFF2-40B4-BE49-F238E27FC236}">
                <a16:creationId xmlns:a16="http://schemas.microsoft.com/office/drawing/2014/main" xmlns="" id="{6B6B54E2-A61B-4FE5-8454-4D358B8EF4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678" y="2920038"/>
            <a:ext cx="8405439" cy="2237154"/>
          </a:xfrm>
          <a:prstGeom prst="rect">
            <a:avLst/>
          </a:prstGeom>
        </p:spPr>
      </p:pic>
    </p:spTree>
    <p:extLst>
      <p:ext uri="{BB962C8B-B14F-4D97-AF65-F5344CB8AC3E}">
        <p14:creationId xmlns:p14="http://schemas.microsoft.com/office/powerpoint/2010/main" val="38281270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26671" y="212725"/>
            <a:ext cx="4685691" cy="813000"/>
          </a:xfrm>
        </p:spPr>
        <p:txBody>
          <a:bodyPr/>
          <a:lstStyle/>
          <a:p>
            <a:pPr lvl="0" defTabSz="457200">
              <a:lnSpc>
                <a:spcPct val="100000"/>
              </a:lnSpc>
              <a:buClrTx/>
              <a:buSzTx/>
              <a:defRPr/>
            </a:pPr>
            <a:r>
              <a:rPr lang="es-CL" sz="2800" b="1" kern="1200" dirty="0">
                <a:solidFill>
                  <a:prstClr val="white"/>
                </a:solidFill>
                <a:latin typeface="Calibri"/>
                <a:cs typeface="Arial" panose="020B0604020202020204" pitchFamily="34" charset="0"/>
              </a:rPr>
              <a:t>Funciones Generales: NVL</a:t>
            </a:r>
          </a:p>
        </p:txBody>
      </p:sp>
      <p:sp>
        <p:nvSpPr>
          <p:cNvPr id="18" name="Rectangle 3">
            <a:extLst>
              <a:ext uri="{FF2B5EF4-FFF2-40B4-BE49-F238E27FC236}">
                <a16:creationId xmlns:a16="http://schemas.microsoft.com/office/drawing/2014/main" xmlns="" id="{614056FD-F41B-4AB5-A353-B6731B71D3B5}"/>
              </a:ext>
            </a:extLst>
          </p:cNvPr>
          <p:cNvSpPr txBox="1">
            <a:spLocks noChangeArrowheads="1"/>
          </p:cNvSpPr>
          <p:nvPr/>
        </p:nvSpPr>
        <p:spPr bwMode="auto">
          <a:xfrm>
            <a:off x="611188" y="1196752"/>
            <a:ext cx="2493962"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400" kern="1200" dirty="0">
              <a:solidFill>
                <a:prstClr val="black"/>
              </a:solidFill>
              <a:latin typeface="Calibri"/>
              <a:ea typeface="Arial Unicode MS"/>
              <a:cs typeface="Arial" panose="020B0604020202020204" pitchFamily="34"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Arial" pitchFamily="34" charset="0"/>
              </a:rPr>
              <a:t>Sintaxis:</a:t>
            </a: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1000" kern="1200" dirty="0">
              <a:solidFill>
                <a:prstClr val="black"/>
              </a:solidFill>
              <a:latin typeface="Calibri"/>
              <a:ea typeface="Arial Unicode MS"/>
              <a:cs typeface="Arial" panose="020B0604020202020204" pitchFamily="34"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Arial" pitchFamily="34" charset="0"/>
              </a:rPr>
              <a:t>Ejemplo:</a:t>
            </a:r>
          </a:p>
        </p:txBody>
      </p:sp>
      <p:sp>
        <p:nvSpPr>
          <p:cNvPr id="19" name="Rectángulo redondeado 4">
            <a:extLst>
              <a:ext uri="{FF2B5EF4-FFF2-40B4-BE49-F238E27FC236}">
                <a16:creationId xmlns:a16="http://schemas.microsoft.com/office/drawing/2014/main" xmlns="" id="{87CAB100-341F-4470-B5FC-3B69603B53F4}"/>
              </a:ext>
            </a:extLst>
          </p:cNvPr>
          <p:cNvSpPr/>
          <p:nvPr/>
        </p:nvSpPr>
        <p:spPr>
          <a:xfrm>
            <a:off x="1331640" y="1229026"/>
            <a:ext cx="6696744" cy="936104"/>
          </a:xfrm>
          <a:prstGeom prst="roundRect">
            <a:avLst/>
          </a:prstGeom>
          <a:solidFill>
            <a:srgbClr val="FF9900"/>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Si expr1 es nula retorna el valor de expr2. Si expr1 no es nula la función retorna el valor de expr1. </a:t>
            </a:r>
          </a:p>
        </p:txBody>
      </p:sp>
      <p:sp>
        <p:nvSpPr>
          <p:cNvPr id="20" name="Text Box 5">
            <a:extLst>
              <a:ext uri="{FF2B5EF4-FFF2-40B4-BE49-F238E27FC236}">
                <a16:creationId xmlns:a16="http://schemas.microsoft.com/office/drawing/2014/main" xmlns="" id="{F61E95E5-E4E7-470A-81A0-23BF1005D534}"/>
              </a:ext>
            </a:extLst>
          </p:cNvPr>
          <p:cNvSpPr txBox="1">
            <a:spLocks noChangeArrowheads="1"/>
          </p:cNvSpPr>
          <p:nvPr/>
        </p:nvSpPr>
        <p:spPr bwMode="auto">
          <a:xfrm>
            <a:off x="2267744" y="2348880"/>
            <a:ext cx="2181423"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NVL(</a:t>
            </a:r>
            <a:r>
              <a:rPr kumimoji="0" lang="en-US" sz="1600" b="1" i="1"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expr1</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1"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expr2</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 name="Text Box 5">
            <a:extLst>
              <a:ext uri="{FF2B5EF4-FFF2-40B4-BE49-F238E27FC236}">
                <a16:creationId xmlns:a16="http://schemas.microsoft.com/office/drawing/2014/main" xmlns="" id="{0E6DB1BB-096C-4E76-A9ED-99A538F63D47}"/>
              </a:ext>
            </a:extLst>
          </p:cNvPr>
          <p:cNvSpPr txBox="1">
            <a:spLocks noChangeArrowheads="1"/>
          </p:cNvSpPr>
          <p:nvPr/>
        </p:nvSpPr>
        <p:spPr bwMode="auto">
          <a:xfrm>
            <a:off x="1061825" y="3555013"/>
            <a:ext cx="5166359" cy="95410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manager_id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NVL(manager_id,0)</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JEFE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employees;</a:t>
            </a:r>
            <a:endParaRPr kumimoji="0" lang="en-US" sz="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pic>
        <p:nvPicPr>
          <p:cNvPr id="22" name="Imagen 21" descr="Imagen que contiene computadora&#10;&#10;Descripción generada automáticamente">
            <a:extLst>
              <a:ext uri="{FF2B5EF4-FFF2-40B4-BE49-F238E27FC236}">
                <a16:creationId xmlns:a16="http://schemas.microsoft.com/office/drawing/2014/main" xmlns="" id="{B88AB4A0-4FFE-4F9A-865D-F264979A01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0192" y="3351318"/>
            <a:ext cx="2526747" cy="3449484"/>
          </a:xfrm>
          <a:prstGeom prst="rect">
            <a:avLst/>
          </a:prstGeom>
        </p:spPr>
      </p:pic>
      <p:sp>
        <p:nvSpPr>
          <p:cNvPr id="23" name="Rectangle 82">
            <a:extLst>
              <a:ext uri="{FF2B5EF4-FFF2-40B4-BE49-F238E27FC236}">
                <a16:creationId xmlns:a16="http://schemas.microsoft.com/office/drawing/2014/main" xmlns="" id="{46866F16-3110-4A74-9B72-CF935A4A7CE6}"/>
              </a:ext>
            </a:extLst>
          </p:cNvPr>
          <p:cNvSpPr>
            <a:spLocks noChangeArrowheads="1"/>
          </p:cNvSpPr>
          <p:nvPr/>
        </p:nvSpPr>
        <p:spPr bwMode="auto">
          <a:xfrm>
            <a:off x="8413624" y="3420688"/>
            <a:ext cx="413315" cy="3312000"/>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7040468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26671" y="212725"/>
            <a:ext cx="4685691" cy="813000"/>
          </a:xfrm>
        </p:spPr>
        <p:txBody>
          <a:bodyPr/>
          <a:lstStyle/>
          <a:p>
            <a:pPr lvl="0" defTabSz="457200">
              <a:lnSpc>
                <a:spcPct val="100000"/>
              </a:lnSpc>
              <a:buClrTx/>
              <a:buSzTx/>
              <a:defRPr/>
            </a:pPr>
            <a:r>
              <a:rPr lang="es-CL" sz="2800" b="1" kern="1200" dirty="0">
                <a:solidFill>
                  <a:prstClr val="white"/>
                </a:solidFill>
                <a:latin typeface="Calibri"/>
                <a:cs typeface="Arial" panose="020B0604020202020204" pitchFamily="34" charset="0"/>
              </a:rPr>
              <a:t>Funciones Generales: NVL</a:t>
            </a:r>
          </a:p>
        </p:txBody>
      </p:sp>
      <p:pic>
        <p:nvPicPr>
          <p:cNvPr id="16" name="Imagen 15">
            <a:extLst>
              <a:ext uri="{FF2B5EF4-FFF2-40B4-BE49-F238E27FC236}">
                <a16:creationId xmlns:a16="http://schemas.microsoft.com/office/drawing/2014/main" xmlns="" id="{BD5D68AB-82B8-46FA-8D92-DB794BD7EA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630" y="3207639"/>
            <a:ext cx="7147238" cy="3268252"/>
          </a:xfrm>
          <a:prstGeom prst="rect">
            <a:avLst/>
          </a:prstGeom>
        </p:spPr>
      </p:pic>
      <p:sp>
        <p:nvSpPr>
          <p:cNvPr id="17" name="Rectangle 3">
            <a:extLst>
              <a:ext uri="{FF2B5EF4-FFF2-40B4-BE49-F238E27FC236}">
                <a16:creationId xmlns:a16="http://schemas.microsoft.com/office/drawing/2014/main" xmlns="" id="{D6D0ABC4-299E-4C36-B4A1-47D966BE340F}"/>
              </a:ext>
            </a:extLst>
          </p:cNvPr>
          <p:cNvSpPr txBox="1">
            <a:spLocks noChangeArrowheads="1"/>
          </p:cNvSpPr>
          <p:nvPr/>
        </p:nvSpPr>
        <p:spPr bwMode="auto">
          <a:xfrm>
            <a:off x="611188" y="1292820"/>
            <a:ext cx="2493962" cy="407988"/>
          </a:xfrm>
          <a:prstGeom prst="rect">
            <a:avLst/>
          </a:prstGeom>
          <a:noFill/>
          <a:ln w="9525">
            <a:noFill/>
            <a:miter lim="800000"/>
            <a:headEnd/>
            <a:tailEnd/>
          </a:ln>
        </p:spPr>
        <p:txBody>
          <a:bodyPr/>
          <a:lstStyle/>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Arial" pitchFamily="34" charset="0"/>
              </a:rPr>
              <a:t>Ejemplo:</a:t>
            </a:r>
          </a:p>
        </p:txBody>
      </p:sp>
      <p:sp>
        <p:nvSpPr>
          <p:cNvPr id="24" name="Text Box 5">
            <a:extLst>
              <a:ext uri="{FF2B5EF4-FFF2-40B4-BE49-F238E27FC236}">
                <a16:creationId xmlns:a16="http://schemas.microsoft.com/office/drawing/2014/main" xmlns="" id="{88CE9178-8046-417C-BEC6-FF5A3A3086B9}"/>
              </a:ext>
            </a:extLst>
          </p:cNvPr>
          <p:cNvSpPr txBox="1">
            <a:spLocks noChangeArrowheads="1"/>
          </p:cNvSpPr>
          <p:nvPr/>
        </p:nvSpPr>
        <p:spPr bwMode="auto">
          <a:xfrm>
            <a:off x="987424" y="1582066"/>
            <a:ext cx="7473008"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salary,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commission_pct</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"PORC. COMISION SIN VNL",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00DA"/>
                </a:solidFill>
                <a:effectLst/>
                <a:uLnTx/>
                <a:uFillTx/>
                <a:latin typeface="Calibri"/>
                <a:ea typeface="+mn-ea"/>
                <a:cs typeface="Arial" panose="020B0604020202020204" pitchFamily="34" charset="0"/>
              </a:rPr>
              <a:t>(salary*12) + (salary*12*</a:t>
            </a:r>
            <a:r>
              <a:rPr kumimoji="0" lang="en-US" sz="1600" b="1" i="0" u="none" strike="noStrike" kern="1200" cap="none" spc="0" normalizeH="0" baseline="0" noProof="0" dirty="0" err="1">
                <a:ln>
                  <a:noFill/>
                </a:ln>
                <a:solidFill>
                  <a:srgbClr val="0000DA"/>
                </a:solidFill>
                <a:effectLst/>
                <a:uLnTx/>
                <a:uFillTx/>
                <a:latin typeface="Calibri"/>
                <a:ea typeface="+mn-ea"/>
                <a:cs typeface="Arial" panose="020B0604020202020204" pitchFamily="34" charset="0"/>
              </a:rPr>
              <a:t>commission_pct</a:t>
            </a:r>
            <a:r>
              <a:rPr kumimoji="0" lang="en-US" sz="1600" b="1" i="0" u="none" strike="noStrike" kern="1200" cap="none" spc="0" normalizeH="0" baseline="0" noProof="0" dirty="0">
                <a:ln>
                  <a:noFill/>
                </a:ln>
                <a:solidFill>
                  <a:srgbClr val="0000DA"/>
                </a:solidFill>
                <a:effectLst/>
                <a:uLnTx/>
                <a:uFillTx/>
                <a:latin typeface="Calibri"/>
                <a:ea typeface="+mn-ea"/>
                <a:cs typeface="Arial" panose="020B0604020202020204" pitchFamily="34" charset="0"/>
              </a:rPr>
              <a:t>)</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"SALARIO ANUAL SIN NVL"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NVL(</a:t>
            </a:r>
            <a:r>
              <a:rPr kumimoji="0" lang="en-US" sz="1600" b="1" i="0" u="none" strike="noStrike" kern="1200" cap="none" spc="0" normalizeH="0" baseline="0" noProof="0" dirty="0" err="1">
                <a:ln>
                  <a:noFill/>
                </a:ln>
                <a:solidFill>
                  <a:srgbClr val="800080"/>
                </a:solidFill>
                <a:effectLst/>
                <a:uLnTx/>
                <a:uFillTx/>
                <a:latin typeface="Calibri"/>
                <a:ea typeface="+mn-ea"/>
                <a:cs typeface="Arial" panose="020B0604020202020204" pitchFamily="34" charset="0"/>
              </a:rPr>
              <a:t>commission_pct</a:t>
            </a: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 0)</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"PORC. COMISION CON NVL",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(salary*12) + (salary*12*NVL(commission_pct,0))</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"SALARIO ANUAL CON NVL"</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employees;</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p:txBody>
      </p:sp>
      <p:sp>
        <p:nvSpPr>
          <p:cNvPr id="25" name="Rectangle 42">
            <a:extLst>
              <a:ext uri="{FF2B5EF4-FFF2-40B4-BE49-F238E27FC236}">
                <a16:creationId xmlns:a16="http://schemas.microsoft.com/office/drawing/2014/main" xmlns="" id="{16E993B1-5731-412D-B13D-56DD121C90AB}"/>
              </a:ext>
            </a:extLst>
          </p:cNvPr>
          <p:cNvSpPr>
            <a:spLocks noChangeArrowheads="1"/>
          </p:cNvSpPr>
          <p:nvPr/>
        </p:nvSpPr>
        <p:spPr bwMode="auto">
          <a:xfrm>
            <a:off x="5558596" y="3255783"/>
            <a:ext cx="1350000" cy="3204000"/>
          </a:xfrm>
          <a:prstGeom prst="rect">
            <a:avLst/>
          </a:prstGeom>
          <a:noFill/>
          <a:ln w="31750">
            <a:solidFill>
              <a:srgbClr val="80008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
        <p:nvSpPr>
          <p:cNvPr id="26" name="Rectangle 42">
            <a:extLst>
              <a:ext uri="{FF2B5EF4-FFF2-40B4-BE49-F238E27FC236}">
                <a16:creationId xmlns:a16="http://schemas.microsoft.com/office/drawing/2014/main" xmlns="" id="{22ACC2B8-131B-4E5D-B25F-A9C9CF5FA377}"/>
              </a:ext>
            </a:extLst>
          </p:cNvPr>
          <p:cNvSpPr>
            <a:spLocks noChangeArrowheads="1"/>
          </p:cNvSpPr>
          <p:nvPr/>
        </p:nvSpPr>
        <p:spPr bwMode="auto">
          <a:xfrm>
            <a:off x="2890718" y="3255783"/>
            <a:ext cx="1332000" cy="3204000"/>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
        <p:nvSpPr>
          <p:cNvPr id="27" name="Rectangle 42">
            <a:extLst>
              <a:ext uri="{FF2B5EF4-FFF2-40B4-BE49-F238E27FC236}">
                <a16:creationId xmlns:a16="http://schemas.microsoft.com/office/drawing/2014/main" xmlns="" id="{D8287366-F31A-48EF-A983-1BE5130B882A}"/>
              </a:ext>
            </a:extLst>
          </p:cNvPr>
          <p:cNvSpPr>
            <a:spLocks noChangeArrowheads="1"/>
          </p:cNvSpPr>
          <p:nvPr/>
        </p:nvSpPr>
        <p:spPr bwMode="auto">
          <a:xfrm>
            <a:off x="4269620" y="3255783"/>
            <a:ext cx="1242000" cy="3204000"/>
          </a:xfrm>
          <a:prstGeom prst="rect">
            <a:avLst/>
          </a:prstGeom>
          <a:noFill/>
          <a:ln w="31750">
            <a:solidFill>
              <a:srgbClr val="0000FF"/>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ES" sz="2000" b="1" i="1" u="none" strike="noStrike" kern="1200" cap="none" spc="0" normalizeH="0" baseline="0" noProof="0">
              <a:ln>
                <a:noFill/>
              </a:ln>
              <a:solidFill>
                <a:prstClr val="black"/>
              </a:solidFill>
              <a:effectLst/>
              <a:uLnTx/>
              <a:uFillTx/>
              <a:latin typeface="Times New Roman" pitchFamily="18" charset="0"/>
              <a:ea typeface="+mn-ea"/>
              <a:cs typeface="Arial" panose="020B0604020202020204" pitchFamily="34" charset="0"/>
            </a:endParaRPr>
          </a:p>
        </p:txBody>
      </p:sp>
      <p:sp>
        <p:nvSpPr>
          <p:cNvPr id="28" name="Rectangle 42">
            <a:extLst>
              <a:ext uri="{FF2B5EF4-FFF2-40B4-BE49-F238E27FC236}">
                <a16:creationId xmlns:a16="http://schemas.microsoft.com/office/drawing/2014/main" xmlns="" id="{3806C746-C80B-4CA9-BFC4-016402EACB1B}"/>
              </a:ext>
            </a:extLst>
          </p:cNvPr>
          <p:cNvSpPr>
            <a:spLocks noChangeArrowheads="1"/>
          </p:cNvSpPr>
          <p:nvPr/>
        </p:nvSpPr>
        <p:spPr bwMode="auto">
          <a:xfrm>
            <a:off x="6960074" y="3255783"/>
            <a:ext cx="1278000" cy="3204000"/>
          </a:xfrm>
          <a:prstGeom prst="rect">
            <a:avLst/>
          </a:prstGeom>
          <a:noFill/>
          <a:ln w="31750">
            <a:solidFill>
              <a:srgbClr val="008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Tree>
    <p:extLst>
      <p:ext uri="{BB962C8B-B14F-4D97-AF65-F5344CB8AC3E}">
        <p14:creationId xmlns:p14="http://schemas.microsoft.com/office/powerpoint/2010/main" val="26107906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26671" y="212725"/>
            <a:ext cx="4685691" cy="813000"/>
          </a:xfrm>
        </p:spPr>
        <p:txBody>
          <a:bodyPr/>
          <a:lstStyle/>
          <a:p>
            <a:pPr lvl="0" defTabSz="457200">
              <a:lnSpc>
                <a:spcPct val="100000"/>
              </a:lnSpc>
              <a:buClrTx/>
              <a:buSzTx/>
              <a:defRPr/>
            </a:pPr>
            <a:r>
              <a:rPr lang="es-CL" sz="2800" b="1" kern="1200" dirty="0">
                <a:solidFill>
                  <a:prstClr val="white"/>
                </a:solidFill>
                <a:latin typeface="Calibri"/>
                <a:cs typeface="Arial" panose="020B0604020202020204" pitchFamily="34" charset="0"/>
              </a:rPr>
              <a:t>Funciones Generales: NVL2</a:t>
            </a:r>
          </a:p>
        </p:txBody>
      </p:sp>
      <p:sp>
        <p:nvSpPr>
          <p:cNvPr id="18" name="Rectangle 3">
            <a:extLst>
              <a:ext uri="{FF2B5EF4-FFF2-40B4-BE49-F238E27FC236}">
                <a16:creationId xmlns:a16="http://schemas.microsoft.com/office/drawing/2014/main" xmlns="" id="{6302CB19-42CE-4B3F-A2B7-850352DA2D52}"/>
              </a:ext>
            </a:extLst>
          </p:cNvPr>
          <p:cNvSpPr txBox="1">
            <a:spLocks noChangeArrowheads="1"/>
          </p:cNvSpPr>
          <p:nvPr/>
        </p:nvSpPr>
        <p:spPr bwMode="auto">
          <a:xfrm>
            <a:off x="611188" y="1196752"/>
            <a:ext cx="2493962"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3200" kern="1200" dirty="0">
              <a:solidFill>
                <a:prstClr val="black"/>
              </a:solidFill>
              <a:latin typeface="Calibri"/>
              <a:ea typeface="Arial Unicode MS"/>
              <a:cs typeface="Arial" panose="020B0604020202020204" pitchFamily="34"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Arial" pitchFamily="34" charset="0"/>
              </a:rPr>
              <a:t>Sintaxis:</a:t>
            </a: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1000" kern="1200" dirty="0">
              <a:solidFill>
                <a:prstClr val="black"/>
              </a:solidFill>
              <a:latin typeface="Calibri"/>
              <a:ea typeface="Arial Unicode MS"/>
              <a:cs typeface="Arial" panose="020B0604020202020204" pitchFamily="34"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Arial" pitchFamily="34" charset="0"/>
              </a:rPr>
              <a:t>Ejemplo:</a:t>
            </a:r>
          </a:p>
        </p:txBody>
      </p:sp>
      <p:sp>
        <p:nvSpPr>
          <p:cNvPr id="19" name="Rectángulo redondeado 4">
            <a:extLst>
              <a:ext uri="{FF2B5EF4-FFF2-40B4-BE49-F238E27FC236}">
                <a16:creationId xmlns:a16="http://schemas.microsoft.com/office/drawing/2014/main" xmlns="" id="{3C54442D-9D1D-4623-A593-DA81F11FD478}"/>
              </a:ext>
            </a:extLst>
          </p:cNvPr>
          <p:cNvSpPr/>
          <p:nvPr/>
        </p:nvSpPr>
        <p:spPr>
          <a:xfrm>
            <a:off x="1979712" y="1268760"/>
            <a:ext cx="5616624" cy="936104"/>
          </a:xfrm>
          <a:prstGeom prst="roundRect">
            <a:avLst/>
          </a:prstGeom>
          <a:solidFill>
            <a:srgbClr val="FF9900"/>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Evalúa expr1. Si ésta no es Nula la función retorna expr2. Si expr1 es nula entonces la función retorna la expr3. </a:t>
            </a:r>
          </a:p>
        </p:txBody>
      </p:sp>
      <p:sp>
        <p:nvSpPr>
          <p:cNvPr id="20" name="Text Box 5">
            <a:extLst>
              <a:ext uri="{FF2B5EF4-FFF2-40B4-BE49-F238E27FC236}">
                <a16:creationId xmlns:a16="http://schemas.microsoft.com/office/drawing/2014/main" xmlns="" id="{1E529D47-244E-4A56-AA97-81C4085D46BC}"/>
              </a:ext>
            </a:extLst>
          </p:cNvPr>
          <p:cNvSpPr txBox="1">
            <a:spLocks noChangeArrowheads="1"/>
          </p:cNvSpPr>
          <p:nvPr/>
        </p:nvSpPr>
        <p:spPr bwMode="auto">
          <a:xfrm>
            <a:off x="2019446" y="2513161"/>
            <a:ext cx="2448272"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NVL2(</a:t>
            </a:r>
            <a:r>
              <a:rPr kumimoji="0" lang="en-US" sz="1600" b="1" i="1"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expr1</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1"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expr2</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1"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expr3</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 name="Text Box 5">
            <a:extLst>
              <a:ext uri="{FF2B5EF4-FFF2-40B4-BE49-F238E27FC236}">
                <a16:creationId xmlns:a16="http://schemas.microsoft.com/office/drawing/2014/main" xmlns="" id="{80B75AAA-4798-47D0-940E-018913735145}"/>
              </a:ext>
            </a:extLst>
          </p:cNvPr>
          <p:cNvSpPr txBox="1">
            <a:spLocks noChangeArrowheads="1"/>
          </p:cNvSpPr>
          <p:nvPr/>
        </p:nvSpPr>
        <p:spPr bwMode="auto">
          <a:xfrm>
            <a:off x="1032850" y="3659540"/>
            <a:ext cx="7200800"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employee_id,  salary, commission_pct,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NVL2(commission_pct, 'SALARIO+COMISION', 'SOLO SALARIO')</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AS  "SALARIO MENSUAL CORRESPONDE A"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WHERE employee_id IN(100, 101, 114, 147,148, 149);</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p:txBody>
      </p:sp>
      <p:pic>
        <p:nvPicPr>
          <p:cNvPr id="22" name="Imagen 21" descr="Imagen que contiene computadora, hecho de madera, laptop, tabla&#10;&#10;Descripción generada automáticamente">
            <a:extLst>
              <a:ext uri="{FF2B5EF4-FFF2-40B4-BE49-F238E27FC236}">
                <a16:creationId xmlns:a16="http://schemas.microsoft.com/office/drawing/2014/main" xmlns="" id="{E5C98DF5-D956-4062-8F42-D226E2B8E8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2050" y="5289439"/>
            <a:ext cx="4809524" cy="1390476"/>
          </a:xfrm>
          <a:prstGeom prst="rect">
            <a:avLst/>
          </a:prstGeom>
        </p:spPr>
      </p:pic>
      <p:sp>
        <p:nvSpPr>
          <p:cNvPr id="23" name="Rectangle 82">
            <a:extLst>
              <a:ext uri="{FF2B5EF4-FFF2-40B4-BE49-F238E27FC236}">
                <a16:creationId xmlns:a16="http://schemas.microsoft.com/office/drawing/2014/main" xmlns="" id="{880DB763-67EB-4AD3-9364-B599AEE0B4A4}"/>
              </a:ext>
            </a:extLst>
          </p:cNvPr>
          <p:cNvSpPr>
            <a:spLocks noChangeArrowheads="1"/>
          </p:cNvSpPr>
          <p:nvPr/>
        </p:nvSpPr>
        <p:spPr bwMode="auto">
          <a:xfrm>
            <a:off x="4921612" y="5298120"/>
            <a:ext cx="1939962" cy="1381796"/>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3287488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26671" y="212725"/>
            <a:ext cx="4685691" cy="813000"/>
          </a:xfrm>
        </p:spPr>
        <p:txBody>
          <a:bodyPr/>
          <a:lstStyle/>
          <a:p>
            <a:pPr lvl="0" defTabSz="457200">
              <a:lnSpc>
                <a:spcPct val="100000"/>
              </a:lnSpc>
              <a:buClrTx/>
              <a:buSzTx/>
              <a:defRPr/>
            </a:pPr>
            <a:r>
              <a:rPr lang="es-CL" sz="2800" b="1" kern="1200" dirty="0">
                <a:solidFill>
                  <a:prstClr val="white"/>
                </a:solidFill>
                <a:latin typeface="Calibri"/>
                <a:cs typeface="Arial" panose="020B0604020202020204" pitchFamily="34" charset="0"/>
              </a:rPr>
              <a:t>Funciones Generales: </a:t>
            </a:r>
            <a:r>
              <a:rPr lang="es-CL" sz="2800" b="1" dirty="0">
                <a:solidFill>
                  <a:prstClr val="white"/>
                </a:solidFill>
                <a:latin typeface="Calibri"/>
              </a:rPr>
              <a:t>NULLIF</a:t>
            </a:r>
            <a:endParaRPr lang="es-CL" sz="2800" b="1" kern="1200" dirty="0">
              <a:solidFill>
                <a:prstClr val="white"/>
              </a:solidFill>
              <a:latin typeface="Calibri"/>
              <a:cs typeface="Arial" panose="020B0604020202020204" pitchFamily="34" charset="0"/>
            </a:endParaRPr>
          </a:p>
        </p:txBody>
      </p:sp>
      <p:sp>
        <p:nvSpPr>
          <p:cNvPr id="15" name="Rectangle 3">
            <a:extLst>
              <a:ext uri="{FF2B5EF4-FFF2-40B4-BE49-F238E27FC236}">
                <a16:creationId xmlns:a16="http://schemas.microsoft.com/office/drawing/2014/main" xmlns="" id="{787C7C61-E155-4E79-B161-1EA755D9A19C}"/>
              </a:ext>
            </a:extLst>
          </p:cNvPr>
          <p:cNvSpPr txBox="1">
            <a:spLocks noChangeArrowheads="1"/>
          </p:cNvSpPr>
          <p:nvPr/>
        </p:nvSpPr>
        <p:spPr bwMode="auto">
          <a:xfrm>
            <a:off x="611188" y="1196752"/>
            <a:ext cx="2493962"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3200" kern="1200" dirty="0">
              <a:solidFill>
                <a:prstClr val="black"/>
              </a:solidFill>
              <a:latin typeface="Calibri"/>
              <a:ea typeface="Arial Unicode MS"/>
              <a:cs typeface="Arial" panose="020B0604020202020204" pitchFamily="34"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Arial" pitchFamily="34" charset="0"/>
              </a:rPr>
              <a:t>Sintaxis:</a:t>
            </a: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1000" kern="1200" dirty="0">
              <a:solidFill>
                <a:prstClr val="black"/>
              </a:solidFill>
              <a:latin typeface="Calibri"/>
              <a:ea typeface="Arial Unicode MS"/>
              <a:cs typeface="Arial" panose="020B0604020202020204" pitchFamily="34"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Arial" pitchFamily="34" charset="0"/>
              </a:rPr>
              <a:t>Ejemplo:</a:t>
            </a:r>
          </a:p>
        </p:txBody>
      </p:sp>
      <p:sp>
        <p:nvSpPr>
          <p:cNvPr id="16" name="Rectángulo redondeado 4">
            <a:extLst>
              <a:ext uri="{FF2B5EF4-FFF2-40B4-BE49-F238E27FC236}">
                <a16:creationId xmlns:a16="http://schemas.microsoft.com/office/drawing/2014/main" xmlns="" id="{2F76E2F9-71F1-472C-BE08-1F05552B9CFD}"/>
              </a:ext>
            </a:extLst>
          </p:cNvPr>
          <p:cNvSpPr/>
          <p:nvPr/>
        </p:nvSpPr>
        <p:spPr>
          <a:xfrm>
            <a:off x="1979712" y="1268760"/>
            <a:ext cx="5616624" cy="936104"/>
          </a:xfrm>
          <a:prstGeom prst="roundRect">
            <a:avLst/>
          </a:prstGeom>
          <a:solidFill>
            <a:srgbClr val="FF9900"/>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Compara dos expresiones (expr1 y expr2 ). Si son iguales, la función retorna Nulo</a:t>
            </a:r>
          </a:p>
        </p:txBody>
      </p:sp>
      <p:sp>
        <p:nvSpPr>
          <p:cNvPr id="17" name="Text Box 5">
            <a:extLst>
              <a:ext uri="{FF2B5EF4-FFF2-40B4-BE49-F238E27FC236}">
                <a16:creationId xmlns:a16="http://schemas.microsoft.com/office/drawing/2014/main" xmlns="" id="{07B948F7-7A9F-478A-A30B-546901C4FE8D}"/>
              </a:ext>
            </a:extLst>
          </p:cNvPr>
          <p:cNvSpPr txBox="1">
            <a:spLocks noChangeArrowheads="1"/>
          </p:cNvSpPr>
          <p:nvPr/>
        </p:nvSpPr>
        <p:spPr bwMode="auto">
          <a:xfrm>
            <a:off x="2019446" y="2513161"/>
            <a:ext cx="2448272"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NULLIF(</a:t>
            </a:r>
            <a:r>
              <a:rPr kumimoji="0" lang="en-US" sz="1600" b="1" i="1"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expr1</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1"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expr2</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 name="Text Box 5">
            <a:extLst>
              <a:ext uri="{FF2B5EF4-FFF2-40B4-BE49-F238E27FC236}">
                <a16:creationId xmlns:a16="http://schemas.microsoft.com/office/drawing/2014/main" xmlns="" id="{7EAFAB28-4873-472A-969C-C4A8DE6503EA}"/>
              </a:ext>
            </a:extLst>
          </p:cNvPr>
          <p:cNvSpPr txBox="1">
            <a:spLocks noChangeArrowheads="1"/>
          </p:cNvSpPr>
          <p:nvPr/>
        </p:nvSpPr>
        <p:spPr bwMode="auto">
          <a:xfrm>
            <a:off x="1032850" y="3659540"/>
            <a:ext cx="7200800"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first_name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salary,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commission_pct</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salary*NVL(commission_pct,0) "VALOR COMISION",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NULLIF(salary*NVL(commission_pct,0),0)</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"RESULTADO FUNCION NULLIF"</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WHERE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IN(100, 104, 106, 110, 166, 167);</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p:txBody>
      </p:sp>
      <p:pic>
        <p:nvPicPr>
          <p:cNvPr id="25" name="Imagen 24" descr="Captura de pantalla de un celular&#10;&#10;Descripción generada automáticamente">
            <a:extLst>
              <a:ext uri="{FF2B5EF4-FFF2-40B4-BE49-F238E27FC236}">
                <a16:creationId xmlns:a16="http://schemas.microsoft.com/office/drawing/2014/main" xmlns="" id="{5D6C3A39-4056-4932-911A-7B0028692F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8194" y="5295104"/>
            <a:ext cx="5419048" cy="1380952"/>
          </a:xfrm>
          <a:prstGeom prst="rect">
            <a:avLst/>
          </a:prstGeom>
        </p:spPr>
      </p:pic>
      <p:sp>
        <p:nvSpPr>
          <p:cNvPr id="26" name="Rectangle 82">
            <a:extLst>
              <a:ext uri="{FF2B5EF4-FFF2-40B4-BE49-F238E27FC236}">
                <a16:creationId xmlns:a16="http://schemas.microsoft.com/office/drawing/2014/main" xmlns="" id="{83D91479-FD2C-4A14-A4E5-6576F87B7EE9}"/>
              </a:ext>
            </a:extLst>
          </p:cNvPr>
          <p:cNvSpPr>
            <a:spLocks noChangeArrowheads="1"/>
          </p:cNvSpPr>
          <p:nvPr/>
        </p:nvSpPr>
        <p:spPr bwMode="auto">
          <a:xfrm>
            <a:off x="5595124" y="5290450"/>
            <a:ext cx="1582118" cy="1381796"/>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136825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26671" y="212725"/>
            <a:ext cx="4685691" cy="813000"/>
          </a:xfrm>
        </p:spPr>
        <p:txBody>
          <a:bodyPr/>
          <a:lstStyle/>
          <a:p>
            <a:pPr lvl="0" defTabSz="457200">
              <a:lnSpc>
                <a:spcPct val="100000"/>
              </a:lnSpc>
              <a:buClrTx/>
              <a:buSzTx/>
              <a:defRPr/>
            </a:pPr>
            <a:r>
              <a:rPr lang="es-CL" sz="2800" b="1" kern="1200" dirty="0">
                <a:solidFill>
                  <a:prstClr val="white"/>
                </a:solidFill>
                <a:latin typeface="Calibri"/>
                <a:cs typeface="Arial" panose="020B0604020202020204" pitchFamily="34" charset="0"/>
              </a:rPr>
              <a:t>Funciones Generales: </a:t>
            </a:r>
            <a:r>
              <a:rPr lang="es-CL" sz="2800" b="1" dirty="0">
                <a:solidFill>
                  <a:prstClr val="white"/>
                </a:solidFill>
                <a:latin typeface="Calibri"/>
              </a:rPr>
              <a:t>COALESCE</a:t>
            </a:r>
            <a:endParaRPr lang="es-CL" sz="2800" b="1" kern="1200" dirty="0">
              <a:solidFill>
                <a:prstClr val="white"/>
              </a:solidFill>
              <a:latin typeface="Calibri"/>
              <a:cs typeface="Arial" panose="020B0604020202020204" pitchFamily="34" charset="0"/>
            </a:endParaRPr>
          </a:p>
        </p:txBody>
      </p:sp>
      <p:sp>
        <p:nvSpPr>
          <p:cNvPr id="18" name="Rectangle 3">
            <a:extLst>
              <a:ext uri="{FF2B5EF4-FFF2-40B4-BE49-F238E27FC236}">
                <a16:creationId xmlns:a16="http://schemas.microsoft.com/office/drawing/2014/main" xmlns="" id="{C4B4E7FC-6750-479A-B7CF-EAEF130895CB}"/>
              </a:ext>
            </a:extLst>
          </p:cNvPr>
          <p:cNvSpPr txBox="1">
            <a:spLocks noChangeArrowheads="1"/>
          </p:cNvSpPr>
          <p:nvPr/>
        </p:nvSpPr>
        <p:spPr bwMode="auto">
          <a:xfrm>
            <a:off x="611188" y="1196752"/>
            <a:ext cx="2493962"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800" kern="1200" dirty="0">
              <a:solidFill>
                <a:prstClr val="black"/>
              </a:solidFill>
              <a:latin typeface="Calibri"/>
              <a:ea typeface="Arial Unicode MS"/>
              <a:cs typeface="Arial" panose="020B0604020202020204"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800" kern="1200" dirty="0">
              <a:solidFill>
                <a:prstClr val="black"/>
              </a:solidFill>
              <a:latin typeface="Calibri"/>
              <a:ea typeface="Arial Unicode MS"/>
              <a:cs typeface="Arial" panose="020B0604020202020204" pitchFamily="34"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Arial" pitchFamily="34" charset="0"/>
              </a:rPr>
              <a:t>Sintaxis:</a:t>
            </a: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1000" kern="1200" dirty="0">
              <a:solidFill>
                <a:prstClr val="black"/>
              </a:solidFill>
              <a:latin typeface="Calibri"/>
              <a:ea typeface="Arial Unicode MS"/>
              <a:cs typeface="Arial" panose="020B0604020202020204" pitchFamily="34"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Arial" pitchFamily="34" charset="0"/>
              </a:rPr>
              <a:t>Ejemplo:</a:t>
            </a:r>
          </a:p>
        </p:txBody>
      </p:sp>
      <p:sp>
        <p:nvSpPr>
          <p:cNvPr id="19" name="Rectángulo redondeado 4">
            <a:extLst>
              <a:ext uri="{FF2B5EF4-FFF2-40B4-BE49-F238E27FC236}">
                <a16:creationId xmlns:a16="http://schemas.microsoft.com/office/drawing/2014/main" xmlns="" id="{C23B75B2-78BE-47CF-BEE3-4CDCE05C720E}"/>
              </a:ext>
            </a:extLst>
          </p:cNvPr>
          <p:cNvSpPr/>
          <p:nvPr/>
        </p:nvSpPr>
        <p:spPr>
          <a:xfrm>
            <a:off x="1979712" y="1268760"/>
            <a:ext cx="5616624" cy="682797"/>
          </a:xfrm>
          <a:prstGeom prst="roundRect">
            <a:avLst/>
          </a:prstGeom>
          <a:solidFill>
            <a:srgbClr val="FF9900"/>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Retorna la primera expresión no nula de la lista</a:t>
            </a:r>
          </a:p>
        </p:txBody>
      </p:sp>
      <p:sp>
        <p:nvSpPr>
          <p:cNvPr id="20" name="Text Box 5">
            <a:extLst>
              <a:ext uri="{FF2B5EF4-FFF2-40B4-BE49-F238E27FC236}">
                <a16:creationId xmlns:a16="http://schemas.microsoft.com/office/drawing/2014/main" xmlns="" id="{6FADA235-8127-4C44-8E21-9B9F33947021}"/>
              </a:ext>
            </a:extLst>
          </p:cNvPr>
          <p:cNvSpPr txBox="1">
            <a:spLocks noChangeArrowheads="1"/>
          </p:cNvSpPr>
          <p:nvPr/>
        </p:nvSpPr>
        <p:spPr bwMode="auto">
          <a:xfrm>
            <a:off x="2123728" y="2276872"/>
            <a:ext cx="3200626"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COALESCE(expr1, expr2, …,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exprn</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21" name="Text Box 5">
            <a:extLst>
              <a:ext uri="{FF2B5EF4-FFF2-40B4-BE49-F238E27FC236}">
                <a16:creationId xmlns:a16="http://schemas.microsoft.com/office/drawing/2014/main" xmlns="" id="{DD3018DE-E296-4D7A-BFC8-11A6AA73A6D8}"/>
              </a:ext>
            </a:extLst>
          </p:cNvPr>
          <p:cNvSpPr txBox="1">
            <a:spLocks noChangeArrowheads="1"/>
          </p:cNvSpPr>
          <p:nvPr/>
        </p:nvSpPr>
        <p:spPr bwMode="auto">
          <a:xfrm>
            <a:off x="1032850" y="3429000"/>
            <a:ext cx="7787622"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commission_pct</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manager_id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COALESCE(</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commission_pct</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manager_id</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9999)</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"RESULTADO FUNCION COALESCE"</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WHERE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IN(10, 20, 90);</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p:txBody>
      </p:sp>
      <p:pic>
        <p:nvPicPr>
          <p:cNvPr id="22" name="Imagen 21" descr="Captura de pantalla de un celular&#10;&#10;Descripción generada automáticamente">
            <a:extLst>
              <a:ext uri="{FF2B5EF4-FFF2-40B4-BE49-F238E27FC236}">
                <a16:creationId xmlns:a16="http://schemas.microsoft.com/office/drawing/2014/main" xmlns="" id="{F6678AC5-5C06-4C4B-83F4-120BDEBCC4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7744" y="4826336"/>
            <a:ext cx="4790476" cy="1390476"/>
          </a:xfrm>
          <a:prstGeom prst="rect">
            <a:avLst/>
          </a:prstGeom>
        </p:spPr>
      </p:pic>
      <p:sp>
        <p:nvSpPr>
          <p:cNvPr id="23" name="Rectangle 82">
            <a:extLst>
              <a:ext uri="{FF2B5EF4-FFF2-40B4-BE49-F238E27FC236}">
                <a16:creationId xmlns:a16="http://schemas.microsoft.com/office/drawing/2014/main" xmlns="" id="{BE86D6A7-2B74-4088-A67D-4297F6DE6F06}"/>
              </a:ext>
            </a:extLst>
          </p:cNvPr>
          <p:cNvSpPr>
            <a:spLocks noChangeArrowheads="1"/>
          </p:cNvSpPr>
          <p:nvPr/>
        </p:nvSpPr>
        <p:spPr bwMode="auto">
          <a:xfrm>
            <a:off x="5324354" y="4834000"/>
            <a:ext cx="1733866" cy="1381796"/>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580341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26671" y="212725"/>
            <a:ext cx="4685691" cy="813000"/>
          </a:xfrm>
        </p:spPr>
        <p:txBody>
          <a:bodyPr/>
          <a:lstStyle/>
          <a:p>
            <a:pPr lvl="0" defTabSz="457200">
              <a:lnSpc>
                <a:spcPct val="100000"/>
              </a:lnSpc>
              <a:buClrTx/>
              <a:buSzTx/>
              <a:defRPr/>
            </a:pPr>
            <a:r>
              <a:rPr lang="es-CL" sz="2800" b="1" kern="1200" dirty="0">
                <a:solidFill>
                  <a:prstClr val="white"/>
                </a:solidFill>
                <a:latin typeface="Calibri"/>
                <a:cs typeface="Arial" panose="020B0604020202020204" pitchFamily="34" charset="0"/>
              </a:rPr>
              <a:t>Funciones Anidadas</a:t>
            </a:r>
          </a:p>
        </p:txBody>
      </p:sp>
      <p:sp>
        <p:nvSpPr>
          <p:cNvPr id="23" name="Text Box 5">
            <a:extLst>
              <a:ext uri="{FF2B5EF4-FFF2-40B4-BE49-F238E27FC236}">
                <a16:creationId xmlns:a16="http://schemas.microsoft.com/office/drawing/2014/main" xmlns="" id="{261B036E-0EDB-4443-83A3-321C38189E3D}"/>
              </a:ext>
            </a:extLst>
          </p:cNvPr>
          <p:cNvSpPr txBox="1">
            <a:spLocks noChangeArrowheads="1"/>
          </p:cNvSpPr>
          <p:nvPr/>
        </p:nvSpPr>
        <p:spPr bwMode="auto">
          <a:xfrm>
            <a:off x="2748492" y="2226633"/>
            <a:ext cx="3911740" cy="646331"/>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CC3300"/>
                </a:solidFill>
                <a:effectLst/>
                <a:uLnTx/>
                <a:uFillTx/>
                <a:latin typeface="Calibri"/>
                <a:ea typeface="+mn-ea"/>
                <a:cs typeface="Arial" panose="020B0604020202020204" pitchFamily="34" charset="0"/>
              </a:rPr>
              <a:t>F3(</a:t>
            </a:r>
            <a:r>
              <a:rPr kumimoji="0" lang="en-US" sz="2000" b="1" i="0" u="none" strike="noStrike" kern="1200" cap="none" spc="0" normalizeH="0" baseline="0" noProof="0" dirty="0">
                <a:ln>
                  <a:noFill/>
                </a:ln>
                <a:solidFill>
                  <a:srgbClr val="DA1000"/>
                </a:solidFill>
                <a:effectLst/>
                <a:uLnTx/>
                <a:uFillTx/>
                <a:latin typeface="Calibri"/>
                <a:ea typeface="+mn-ea"/>
                <a:cs typeface="Arial" panose="020B0604020202020204" pitchFamily="34" charset="0"/>
              </a:rPr>
              <a:t> </a:t>
            </a:r>
            <a:r>
              <a:rPr kumimoji="0" lang="en-US" sz="2000" b="1" i="0" u="none" strike="noStrike" kern="1200" cap="none" spc="0" normalizeH="0" baseline="0" noProof="0" dirty="0">
                <a:ln>
                  <a:noFill/>
                </a:ln>
                <a:solidFill>
                  <a:srgbClr val="0000DA"/>
                </a:solidFill>
                <a:effectLst/>
                <a:uLnTx/>
                <a:uFillTx/>
                <a:latin typeface="Calibri"/>
                <a:ea typeface="+mn-ea"/>
                <a:cs typeface="Arial" panose="020B0604020202020204" pitchFamily="34" charset="0"/>
              </a:rPr>
              <a:t>F2</a:t>
            </a:r>
            <a:r>
              <a:rPr kumimoji="0" lang="en-US" sz="2000" b="1" i="0" u="none" strike="noStrike" kern="1200" cap="none" spc="0" normalizeH="0" baseline="0" noProof="0" dirty="0">
                <a:ln>
                  <a:noFill/>
                </a:ln>
                <a:solidFill>
                  <a:srgbClr val="0000FF"/>
                </a:solidFill>
                <a:effectLst/>
                <a:uLnTx/>
                <a:uFillTx/>
                <a:latin typeface="Calibri"/>
                <a:ea typeface="+mn-ea"/>
                <a:cs typeface="Arial" panose="020B0604020202020204" pitchFamily="34" charset="0"/>
              </a:rPr>
              <a:t>( </a:t>
            </a:r>
            <a:r>
              <a:rPr kumimoji="0" lang="en-US" sz="20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F1(col,arg1)</a:t>
            </a:r>
            <a:r>
              <a:rPr kumimoji="0" lang="en-US" sz="2000" b="1" i="0" u="none" strike="noStrike" kern="1200" cap="none" spc="0" normalizeH="0" baseline="0" noProof="0" dirty="0">
                <a:ln>
                  <a:noFill/>
                </a:ln>
                <a:solidFill>
                  <a:srgbClr val="0000FF"/>
                </a:solidFill>
                <a:effectLst/>
                <a:uLnTx/>
                <a:uFillTx/>
                <a:latin typeface="Calibri"/>
                <a:ea typeface="+mn-ea"/>
                <a:cs typeface="Arial" panose="020B0604020202020204" pitchFamily="34" charset="0"/>
              </a:rPr>
              <a:t>, </a:t>
            </a:r>
            <a:r>
              <a:rPr kumimoji="0" lang="en-US" sz="2000" b="1" i="0" u="none" strike="noStrike" kern="1200" cap="none" spc="0" normalizeH="0" baseline="0" noProof="0" dirty="0">
                <a:ln>
                  <a:noFill/>
                </a:ln>
                <a:solidFill>
                  <a:srgbClr val="0000DA"/>
                </a:solidFill>
                <a:effectLst/>
                <a:uLnTx/>
                <a:uFillTx/>
                <a:latin typeface="Calibri"/>
                <a:ea typeface="+mn-ea"/>
                <a:cs typeface="Arial" panose="020B0604020202020204" pitchFamily="34" charset="0"/>
              </a:rPr>
              <a:t>arg2</a:t>
            </a:r>
            <a:r>
              <a:rPr kumimoji="0" lang="en-US" sz="2000" b="1" i="0" u="none" strike="noStrike" kern="1200" cap="none" spc="0" normalizeH="0" baseline="0" noProof="0" dirty="0">
                <a:ln>
                  <a:noFill/>
                </a:ln>
                <a:solidFill>
                  <a:srgbClr val="CC3300"/>
                </a:solidFill>
                <a:effectLst/>
                <a:uLnTx/>
                <a:uFillTx/>
                <a:latin typeface="Calibri"/>
                <a:ea typeface="+mn-ea"/>
                <a:cs typeface="Arial" panose="020B0604020202020204" pitchFamily="34" charset="0"/>
              </a:rPr>
              <a:t>), arg3)</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srgbClr val="DA1000"/>
              </a:solidFill>
              <a:effectLst/>
              <a:uLnTx/>
              <a:uFillTx/>
              <a:latin typeface="Calibri"/>
              <a:ea typeface="+mn-ea"/>
              <a:cs typeface="Arial" panose="020B0604020202020204" pitchFamily="34" charset="0"/>
            </a:endParaRPr>
          </a:p>
        </p:txBody>
      </p:sp>
      <p:sp>
        <p:nvSpPr>
          <p:cNvPr id="24" name="Line 14">
            <a:extLst>
              <a:ext uri="{FF2B5EF4-FFF2-40B4-BE49-F238E27FC236}">
                <a16:creationId xmlns:a16="http://schemas.microsoft.com/office/drawing/2014/main" xmlns="" id="{10561EA5-134F-4565-889F-6A800AA115AD}"/>
              </a:ext>
            </a:extLst>
          </p:cNvPr>
          <p:cNvSpPr>
            <a:spLocks noChangeShapeType="1"/>
          </p:cNvSpPr>
          <p:nvPr/>
        </p:nvSpPr>
        <p:spPr bwMode="auto">
          <a:xfrm flipV="1">
            <a:off x="3153445" y="2658795"/>
            <a:ext cx="0" cy="648000"/>
          </a:xfrm>
          <a:prstGeom prst="line">
            <a:avLst/>
          </a:prstGeom>
          <a:noFill/>
          <a:ln w="47625">
            <a:solidFill>
              <a:srgbClr val="C00000"/>
            </a:solidFill>
            <a:round/>
            <a:headEnd/>
            <a:tailEnd type="triangle" w="med" len="med"/>
          </a:ln>
        </p:spPr>
        <p:txBody>
          <a:bodyPr/>
          <a:lstStyle/>
          <a:p>
            <a:pPr algn="ctr" fontAlgn="base">
              <a:spcBef>
                <a:spcPct val="0"/>
              </a:spcBef>
              <a:spcAft>
                <a:spcPct val="0"/>
              </a:spcAft>
              <a:buClrTx/>
              <a:buFontTx/>
              <a:buNone/>
            </a:pPr>
            <a:endParaRPr lang="es-CL" sz="1800" kern="1200">
              <a:solidFill>
                <a:prstClr val="black"/>
              </a:solidFill>
              <a:latin typeface="Arial" panose="020B0604020202020204" pitchFamily="34" charset="0"/>
              <a:ea typeface="+mn-ea"/>
              <a:cs typeface="Arial" panose="020B0604020202020204" pitchFamily="34" charset="0"/>
            </a:endParaRPr>
          </a:p>
        </p:txBody>
      </p:sp>
      <p:sp>
        <p:nvSpPr>
          <p:cNvPr id="25" name="Line 15">
            <a:extLst>
              <a:ext uri="{FF2B5EF4-FFF2-40B4-BE49-F238E27FC236}">
                <a16:creationId xmlns:a16="http://schemas.microsoft.com/office/drawing/2014/main" xmlns="" id="{9C4E857A-8C3F-4989-A398-CE6E8FFB2564}"/>
              </a:ext>
            </a:extLst>
          </p:cNvPr>
          <p:cNvSpPr>
            <a:spLocks noChangeShapeType="1"/>
          </p:cNvSpPr>
          <p:nvPr/>
        </p:nvSpPr>
        <p:spPr bwMode="auto">
          <a:xfrm>
            <a:off x="3136185" y="3307478"/>
            <a:ext cx="2916000" cy="10430"/>
          </a:xfrm>
          <a:prstGeom prst="line">
            <a:avLst/>
          </a:prstGeom>
          <a:noFill/>
          <a:ln w="47625">
            <a:solidFill>
              <a:srgbClr val="C00000"/>
            </a:solidFill>
            <a:round/>
            <a:headEnd/>
            <a:tailEnd/>
          </a:ln>
        </p:spPr>
        <p:txBody>
          <a:bodyPr/>
          <a:lstStyle/>
          <a:p>
            <a:pPr algn="ctr" fontAlgn="base">
              <a:spcBef>
                <a:spcPct val="0"/>
              </a:spcBef>
              <a:spcAft>
                <a:spcPct val="0"/>
              </a:spcAft>
              <a:buClrTx/>
              <a:buFontTx/>
              <a:buNone/>
            </a:pPr>
            <a:endParaRPr lang="es-CL" sz="1800" kern="1200" dirty="0">
              <a:solidFill>
                <a:prstClr val="black"/>
              </a:solidFill>
              <a:latin typeface="Arial" panose="020B0604020202020204" pitchFamily="34" charset="0"/>
              <a:ea typeface="+mn-ea"/>
              <a:cs typeface="Arial" panose="020B0604020202020204" pitchFamily="34" charset="0"/>
            </a:endParaRPr>
          </a:p>
        </p:txBody>
      </p:sp>
      <p:sp>
        <p:nvSpPr>
          <p:cNvPr id="26" name="Line 19">
            <a:extLst>
              <a:ext uri="{FF2B5EF4-FFF2-40B4-BE49-F238E27FC236}">
                <a16:creationId xmlns:a16="http://schemas.microsoft.com/office/drawing/2014/main" xmlns="" id="{F2DA34F7-B8BD-41A1-8B1A-A95E685BB97A}"/>
              </a:ext>
            </a:extLst>
          </p:cNvPr>
          <p:cNvSpPr>
            <a:spLocks noChangeShapeType="1"/>
          </p:cNvSpPr>
          <p:nvPr/>
        </p:nvSpPr>
        <p:spPr bwMode="auto">
          <a:xfrm>
            <a:off x="3513693" y="3184978"/>
            <a:ext cx="1854000" cy="0"/>
          </a:xfrm>
          <a:prstGeom prst="line">
            <a:avLst/>
          </a:prstGeom>
          <a:noFill/>
          <a:ln w="47625">
            <a:solidFill>
              <a:srgbClr val="0000DA"/>
            </a:solidFill>
            <a:round/>
            <a:headEnd/>
            <a:tailEnd/>
          </a:ln>
        </p:spPr>
        <p:txBody>
          <a:bodyPr/>
          <a:lstStyle/>
          <a:p>
            <a:pPr algn="ctr" fontAlgn="base">
              <a:spcBef>
                <a:spcPct val="0"/>
              </a:spcBef>
              <a:spcAft>
                <a:spcPct val="0"/>
              </a:spcAft>
              <a:buClrTx/>
              <a:buFontTx/>
              <a:buNone/>
            </a:pPr>
            <a:endParaRPr lang="es-CL" sz="1800" kern="1200">
              <a:solidFill>
                <a:prstClr val="black"/>
              </a:solidFill>
              <a:latin typeface="Arial" panose="020B0604020202020204" pitchFamily="34" charset="0"/>
              <a:ea typeface="+mn-ea"/>
              <a:cs typeface="Arial" panose="020B0604020202020204" pitchFamily="34" charset="0"/>
            </a:endParaRPr>
          </a:p>
        </p:txBody>
      </p:sp>
      <p:sp>
        <p:nvSpPr>
          <p:cNvPr id="27" name="Line 23">
            <a:extLst>
              <a:ext uri="{FF2B5EF4-FFF2-40B4-BE49-F238E27FC236}">
                <a16:creationId xmlns:a16="http://schemas.microsoft.com/office/drawing/2014/main" xmlns="" id="{AD070DB7-B47F-4A80-AA35-E4E74455FD84}"/>
              </a:ext>
            </a:extLst>
          </p:cNvPr>
          <p:cNvSpPr>
            <a:spLocks noChangeShapeType="1"/>
          </p:cNvSpPr>
          <p:nvPr/>
        </p:nvSpPr>
        <p:spPr bwMode="auto">
          <a:xfrm flipV="1">
            <a:off x="3526364" y="2658795"/>
            <a:ext cx="0" cy="504000"/>
          </a:xfrm>
          <a:prstGeom prst="line">
            <a:avLst/>
          </a:prstGeom>
          <a:noFill/>
          <a:ln w="47625">
            <a:solidFill>
              <a:srgbClr val="0000DA"/>
            </a:solidFill>
            <a:round/>
            <a:headEnd/>
            <a:tailEnd type="triangle" w="med" len="med"/>
          </a:ln>
        </p:spPr>
        <p:txBody>
          <a:bodyPr/>
          <a:lstStyle/>
          <a:p>
            <a:pPr algn="ctr" fontAlgn="base">
              <a:spcBef>
                <a:spcPct val="0"/>
              </a:spcBef>
              <a:spcAft>
                <a:spcPct val="0"/>
              </a:spcAft>
              <a:buClrTx/>
              <a:buFontTx/>
              <a:buNone/>
            </a:pPr>
            <a:endParaRPr lang="es-CL" sz="1800" kern="1200">
              <a:solidFill>
                <a:prstClr val="black"/>
              </a:solidFill>
              <a:latin typeface="Arial" panose="020B0604020202020204" pitchFamily="34" charset="0"/>
              <a:ea typeface="+mn-ea"/>
              <a:cs typeface="Arial" panose="020B0604020202020204" pitchFamily="34" charset="0"/>
            </a:endParaRPr>
          </a:p>
        </p:txBody>
      </p:sp>
      <p:sp>
        <p:nvSpPr>
          <p:cNvPr id="28" name="Line 24">
            <a:extLst>
              <a:ext uri="{FF2B5EF4-FFF2-40B4-BE49-F238E27FC236}">
                <a16:creationId xmlns:a16="http://schemas.microsoft.com/office/drawing/2014/main" xmlns="" id="{1F8BDAE3-9D78-49F6-8EC0-DDBDDA4FC8C3}"/>
              </a:ext>
            </a:extLst>
          </p:cNvPr>
          <p:cNvSpPr>
            <a:spLocks noChangeShapeType="1"/>
          </p:cNvSpPr>
          <p:nvPr/>
        </p:nvSpPr>
        <p:spPr bwMode="auto">
          <a:xfrm flipV="1">
            <a:off x="5345132" y="2658795"/>
            <a:ext cx="0" cy="504000"/>
          </a:xfrm>
          <a:prstGeom prst="line">
            <a:avLst/>
          </a:prstGeom>
          <a:noFill/>
          <a:ln w="47625">
            <a:solidFill>
              <a:srgbClr val="0000DA"/>
            </a:solidFill>
            <a:round/>
            <a:headEnd/>
            <a:tailEnd type="triangle" w="med" len="med"/>
          </a:ln>
        </p:spPr>
        <p:txBody>
          <a:bodyPr/>
          <a:lstStyle/>
          <a:p>
            <a:pPr algn="ctr" fontAlgn="base">
              <a:spcBef>
                <a:spcPct val="0"/>
              </a:spcBef>
              <a:spcAft>
                <a:spcPct val="0"/>
              </a:spcAft>
              <a:buClrTx/>
              <a:buFontTx/>
              <a:buNone/>
            </a:pPr>
            <a:endParaRPr lang="es-CL" sz="1800" kern="1200">
              <a:solidFill>
                <a:prstClr val="black"/>
              </a:solidFill>
              <a:latin typeface="Arial" panose="020B0604020202020204" pitchFamily="34" charset="0"/>
              <a:ea typeface="+mn-ea"/>
              <a:cs typeface="Arial" panose="020B0604020202020204" pitchFamily="34" charset="0"/>
            </a:endParaRPr>
          </a:p>
        </p:txBody>
      </p:sp>
      <p:sp>
        <p:nvSpPr>
          <p:cNvPr id="29" name="Line 19">
            <a:extLst>
              <a:ext uri="{FF2B5EF4-FFF2-40B4-BE49-F238E27FC236}">
                <a16:creationId xmlns:a16="http://schemas.microsoft.com/office/drawing/2014/main" xmlns="" id="{13BB0454-1DB7-45DF-8CA7-EF1DAE6CEDAA}"/>
              </a:ext>
            </a:extLst>
          </p:cNvPr>
          <p:cNvSpPr>
            <a:spLocks noChangeShapeType="1"/>
          </p:cNvSpPr>
          <p:nvPr/>
        </p:nvSpPr>
        <p:spPr bwMode="auto">
          <a:xfrm>
            <a:off x="3882889" y="3051720"/>
            <a:ext cx="763200" cy="0"/>
          </a:xfrm>
          <a:prstGeom prst="line">
            <a:avLst/>
          </a:prstGeom>
          <a:noFill/>
          <a:ln w="47625">
            <a:solidFill>
              <a:srgbClr val="800080"/>
            </a:solidFill>
            <a:round/>
            <a:headEnd/>
            <a:tailEn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CL"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0" name="Line 23">
            <a:extLst>
              <a:ext uri="{FF2B5EF4-FFF2-40B4-BE49-F238E27FC236}">
                <a16:creationId xmlns:a16="http://schemas.microsoft.com/office/drawing/2014/main" xmlns="" id="{DEA9D7D1-451E-49AE-BFE5-2E4AE9832002}"/>
              </a:ext>
            </a:extLst>
          </p:cNvPr>
          <p:cNvSpPr>
            <a:spLocks noChangeShapeType="1"/>
          </p:cNvSpPr>
          <p:nvPr/>
        </p:nvSpPr>
        <p:spPr bwMode="auto">
          <a:xfrm flipV="1">
            <a:off x="3905293" y="2663558"/>
            <a:ext cx="0" cy="396000"/>
          </a:xfrm>
          <a:prstGeom prst="line">
            <a:avLst/>
          </a:prstGeom>
          <a:noFill/>
          <a:ln w="47625">
            <a:solidFill>
              <a:srgbClr val="800080"/>
            </a:solidFill>
            <a:round/>
            <a:headEnd/>
            <a:tailEnd type="triangle" w="med" len="me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CL"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 name="Line 24">
            <a:extLst>
              <a:ext uri="{FF2B5EF4-FFF2-40B4-BE49-F238E27FC236}">
                <a16:creationId xmlns:a16="http://schemas.microsoft.com/office/drawing/2014/main" xmlns="" id="{B10D2033-EF8A-45E7-86E1-0D57CE91CE7C}"/>
              </a:ext>
            </a:extLst>
          </p:cNvPr>
          <p:cNvSpPr>
            <a:spLocks noChangeShapeType="1"/>
          </p:cNvSpPr>
          <p:nvPr/>
        </p:nvSpPr>
        <p:spPr bwMode="auto">
          <a:xfrm flipV="1">
            <a:off x="4632524" y="2663558"/>
            <a:ext cx="0" cy="396000"/>
          </a:xfrm>
          <a:prstGeom prst="line">
            <a:avLst/>
          </a:prstGeom>
          <a:noFill/>
          <a:ln w="47625">
            <a:solidFill>
              <a:srgbClr val="800080"/>
            </a:solidFill>
            <a:round/>
            <a:headEnd/>
            <a:tailEnd type="triangle" w="med" len="med"/>
          </a:ln>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CL"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2" name="Line 14">
            <a:extLst>
              <a:ext uri="{FF2B5EF4-FFF2-40B4-BE49-F238E27FC236}">
                <a16:creationId xmlns:a16="http://schemas.microsoft.com/office/drawing/2014/main" xmlns="" id="{E0CC7337-A2A0-420B-9BF9-96BA090E05B0}"/>
              </a:ext>
            </a:extLst>
          </p:cNvPr>
          <p:cNvSpPr>
            <a:spLocks noChangeShapeType="1"/>
          </p:cNvSpPr>
          <p:nvPr/>
        </p:nvSpPr>
        <p:spPr bwMode="auto">
          <a:xfrm flipV="1">
            <a:off x="6033765" y="2658795"/>
            <a:ext cx="0" cy="648000"/>
          </a:xfrm>
          <a:prstGeom prst="line">
            <a:avLst/>
          </a:prstGeom>
          <a:noFill/>
          <a:ln w="47625">
            <a:solidFill>
              <a:srgbClr val="C00000"/>
            </a:solidFill>
            <a:round/>
            <a:headEnd/>
            <a:tailEnd type="triangle" w="med" len="med"/>
          </a:ln>
        </p:spPr>
        <p:txBody>
          <a:bodyPr/>
          <a:lstStyle/>
          <a:p>
            <a:pPr algn="ctr" fontAlgn="base">
              <a:spcBef>
                <a:spcPct val="0"/>
              </a:spcBef>
              <a:spcAft>
                <a:spcPct val="0"/>
              </a:spcAft>
              <a:buClrTx/>
              <a:buFontTx/>
              <a:buNone/>
            </a:pPr>
            <a:endParaRPr lang="es-CL" sz="1800" kern="1200">
              <a:solidFill>
                <a:prstClr val="black"/>
              </a:solidFill>
              <a:latin typeface="Arial" panose="020B0604020202020204" pitchFamily="34" charset="0"/>
              <a:ea typeface="+mn-ea"/>
              <a:cs typeface="Arial" panose="020B0604020202020204" pitchFamily="34" charset="0"/>
            </a:endParaRPr>
          </a:p>
        </p:txBody>
      </p:sp>
      <p:sp>
        <p:nvSpPr>
          <p:cNvPr id="33" name="Rectangle 3">
            <a:extLst>
              <a:ext uri="{FF2B5EF4-FFF2-40B4-BE49-F238E27FC236}">
                <a16:creationId xmlns:a16="http://schemas.microsoft.com/office/drawing/2014/main" xmlns="" id="{056E5543-BDAF-40E5-B3EE-30A6DAAC236D}"/>
              </a:ext>
            </a:extLst>
          </p:cNvPr>
          <p:cNvSpPr txBox="1">
            <a:spLocks noChangeArrowheads="1"/>
          </p:cNvSpPr>
          <p:nvPr/>
        </p:nvSpPr>
        <p:spPr bwMode="auto">
          <a:xfrm>
            <a:off x="611188" y="1129020"/>
            <a:ext cx="2493962"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800" kern="1200" dirty="0">
              <a:solidFill>
                <a:prstClr val="black"/>
              </a:solidFill>
              <a:latin typeface="Calibri"/>
              <a:ea typeface="Arial Unicode MS"/>
              <a:cs typeface="Arial" panose="020B0604020202020204"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800" kern="1200" dirty="0">
              <a:solidFill>
                <a:prstClr val="black"/>
              </a:solidFill>
              <a:latin typeface="Calibri"/>
              <a:ea typeface="Arial Unicode MS"/>
              <a:cs typeface="Arial" panose="020B0604020202020204" pitchFamily="34" charset="0"/>
            </a:endParaRPr>
          </a:p>
          <a:p>
            <a:pPr algn="just" defTabSz="457200" fontAlgn="base">
              <a:lnSpc>
                <a:spcPct val="80000"/>
              </a:lnSpc>
              <a:spcBef>
                <a:spcPct val="20000"/>
              </a:spcBef>
              <a:spcAft>
                <a:spcPct val="0"/>
              </a:spcAft>
              <a:buClrTx/>
              <a:buFontTx/>
              <a:buNone/>
            </a:pPr>
            <a:endParaRPr lang="es-CL" sz="2000" kern="1200" dirty="0">
              <a:solidFill>
                <a:prstClr val="black"/>
              </a:solidFill>
              <a:latin typeface="Calibri"/>
              <a:ea typeface="Arial Unicode MS"/>
              <a:cs typeface="Arial" panose="020B0604020202020204" pitchFamily="34" charset="0"/>
            </a:endParaRPr>
          </a:p>
          <a:p>
            <a:pPr algn="just" defTabSz="457200" fontAlgn="base">
              <a:lnSpc>
                <a:spcPct val="80000"/>
              </a:lnSpc>
              <a:spcBef>
                <a:spcPct val="20000"/>
              </a:spcBef>
              <a:spcAft>
                <a:spcPct val="0"/>
              </a:spcAft>
              <a:buClrTx/>
              <a:buFontTx/>
              <a:buNone/>
            </a:pPr>
            <a:endParaRPr lang="es-CL" sz="2000" kern="1200" dirty="0">
              <a:solidFill>
                <a:prstClr val="black"/>
              </a:solidFill>
              <a:latin typeface="Calibri"/>
              <a:ea typeface="Arial Unicode MS"/>
              <a:cs typeface="Arial" panose="020B0604020202020204" pitchFamily="34" charset="0"/>
            </a:endParaRPr>
          </a:p>
          <a:p>
            <a:pPr algn="just" defTabSz="457200" fontAlgn="base">
              <a:lnSpc>
                <a:spcPct val="80000"/>
              </a:lnSpc>
              <a:spcBef>
                <a:spcPct val="20000"/>
              </a:spcBef>
              <a:spcAft>
                <a:spcPct val="0"/>
              </a:spcAft>
              <a:buClrTx/>
              <a:buFontTx/>
              <a:buNone/>
            </a:pPr>
            <a:endParaRPr lang="es-CL" sz="2000" kern="1200" dirty="0">
              <a:solidFill>
                <a:prstClr val="black"/>
              </a:solidFill>
              <a:latin typeface="Calibri"/>
              <a:ea typeface="Arial Unicode MS"/>
              <a:cs typeface="Arial" panose="020B0604020202020204" pitchFamily="34" charset="0"/>
            </a:endParaRPr>
          </a:p>
          <a:p>
            <a:pPr algn="just" defTabSz="457200" fontAlgn="base">
              <a:lnSpc>
                <a:spcPct val="80000"/>
              </a:lnSpc>
              <a:spcBef>
                <a:spcPct val="20000"/>
              </a:spcBef>
              <a:spcAft>
                <a:spcPct val="0"/>
              </a:spcAft>
              <a:buClrTx/>
              <a:buFontTx/>
              <a:buNone/>
            </a:pPr>
            <a:endParaRPr lang="es-CL" sz="1600" kern="1200" dirty="0">
              <a:solidFill>
                <a:prstClr val="black"/>
              </a:solidFill>
              <a:latin typeface="Calibri"/>
              <a:ea typeface="Arial Unicode MS"/>
              <a:cs typeface="Arial" panose="020B0604020202020204" pitchFamily="34" charset="0"/>
            </a:endParaRPr>
          </a:p>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Arial" pitchFamily="34" charset="0"/>
              </a:rPr>
              <a:t>Ejemplo:</a:t>
            </a:r>
          </a:p>
        </p:txBody>
      </p:sp>
      <p:sp>
        <p:nvSpPr>
          <p:cNvPr id="34" name="Text Box 5">
            <a:extLst>
              <a:ext uri="{FF2B5EF4-FFF2-40B4-BE49-F238E27FC236}">
                <a16:creationId xmlns:a16="http://schemas.microsoft.com/office/drawing/2014/main" xmlns="" id="{3B0C84E1-94F7-4EA2-B47D-06DAF06DB8E0}"/>
              </a:ext>
            </a:extLst>
          </p:cNvPr>
          <p:cNvSpPr txBox="1">
            <a:spLocks noChangeArrowheads="1"/>
          </p:cNvSpPr>
          <p:nvPr/>
        </p:nvSpPr>
        <p:spPr bwMode="auto">
          <a:xfrm>
            <a:off x="312770" y="3771800"/>
            <a:ext cx="8568952"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manager_id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LPAD(</a:t>
            </a:r>
            <a:r>
              <a:rPr kumimoji="0" lang="en-US" sz="1600" b="1" i="0" u="none" strike="noStrike" kern="1200" cap="none" spc="0" normalizeH="0" baseline="0" noProof="0" dirty="0">
                <a:ln>
                  <a:noFill/>
                </a:ln>
                <a:solidFill>
                  <a:srgbClr val="0000DA"/>
                </a:solidFill>
                <a:effectLst/>
                <a:uLnTx/>
                <a:uFillTx/>
                <a:latin typeface="Calibri"/>
                <a:ea typeface="+mn-ea"/>
                <a:cs typeface="Arial" panose="020B0604020202020204" pitchFamily="34" charset="0"/>
              </a:rPr>
              <a:t>NVL(</a:t>
            </a: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TO_CHAR(</a:t>
            </a:r>
            <a:r>
              <a:rPr kumimoji="0" lang="en-US" sz="1600" b="1" i="0" u="none" strike="noStrike" kern="1200" cap="none" spc="0" normalizeH="0" baseline="0" noProof="0" dirty="0" err="1">
                <a:ln>
                  <a:noFill/>
                </a:ln>
                <a:solidFill>
                  <a:srgbClr val="800080"/>
                </a:solidFill>
                <a:effectLst/>
                <a:uLnTx/>
                <a:uFillTx/>
                <a:latin typeface="Calibri"/>
                <a:ea typeface="+mn-ea"/>
                <a:cs typeface="Arial" panose="020B0604020202020204" pitchFamily="34" charset="0"/>
              </a:rPr>
              <a:t>manager_id</a:t>
            </a: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r>
              <a:rPr kumimoji="0" lang="en-US" sz="1600" b="1" i="0" u="none" strike="noStrike" kern="1200" cap="none" spc="0" normalizeH="0" baseline="0" noProof="0" dirty="0">
                <a:ln>
                  <a:noFill/>
                </a:ln>
                <a:solidFill>
                  <a:srgbClr val="0000DA"/>
                </a:solidFill>
                <a:effectLst/>
                <a:uLnTx/>
                <a:uFillTx/>
                <a:latin typeface="Calibri"/>
                <a:ea typeface="+mn-ea"/>
                <a:cs typeface="Arial" panose="020B0604020202020204" pitchFamily="34" charset="0"/>
              </a:rPr>
              <a:t>'NO POSEE JEFE')</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,13,'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mensaje</a:t>
            </a:r>
            <a:endPar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employees;</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35" name="Rectángulo redondeado 4">
            <a:extLst>
              <a:ext uri="{FF2B5EF4-FFF2-40B4-BE49-F238E27FC236}">
                <a16:creationId xmlns:a16="http://schemas.microsoft.com/office/drawing/2014/main" xmlns="" id="{BB4264C0-BBBB-4DA3-9058-336B1AFA7927}"/>
              </a:ext>
            </a:extLst>
          </p:cNvPr>
          <p:cNvSpPr/>
          <p:nvPr/>
        </p:nvSpPr>
        <p:spPr>
          <a:xfrm>
            <a:off x="1238116" y="1147238"/>
            <a:ext cx="6768752" cy="936104"/>
          </a:xfrm>
          <a:prstGeom prst="roundRect">
            <a:avLst/>
          </a:prstGeom>
          <a:solidFill>
            <a:srgbClr val="385525"/>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Las funciones que operan sobre un fila se pueden anidar sin límites.</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Se evalúan desde el nivel más interno hasta el nivel más externo.</a:t>
            </a:r>
          </a:p>
        </p:txBody>
      </p:sp>
      <p:pic>
        <p:nvPicPr>
          <p:cNvPr id="36" name="Imagen 35" descr="Captura de pantalla de un celular con letras&#10;&#10;Descripción generada automáticamente">
            <a:extLst>
              <a:ext uri="{FF2B5EF4-FFF2-40B4-BE49-F238E27FC236}">
                <a16:creationId xmlns:a16="http://schemas.microsoft.com/office/drawing/2014/main" xmlns="" id="{98C427DC-E6F0-4DA3-B823-707757E383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5246" y="4626971"/>
            <a:ext cx="2887138" cy="2163297"/>
          </a:xfrm>
          <a:prstGeom prst="rect">
            <a:avLst/>
          </a:prstGeom>
        </p:spPr>
      </p:pic>
    </p:spTree>
    <p:extLst>
      <p:ext uri="{BB962C8B-B14F-4D97-AF65-F5344CB8AC3E}">
        <p14:creationId xmlns:p14="http://schemas.microsoft.com/office/powerpoint/2010/main" val="38235121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26671" y="212725"/>
            <a:ext cx="4685691" cy="813000"/>
          </a:xfrm>
        </p:spPr>
        <p:txBody>
          <a:bodyPr/>
          <a:lstStyle/>
          <a:p>
            <a:pPr lvl="0" defTabSz="457200">
              <a:lnSpc>
                <a:spcPct val="100000"/>
              </a:lnSpc>
              <a:buClrTx/>
              <a:buSzTx/>
              <a:defRPr/>
            </a:pPr>
            <a:r>
              <a:rPr lang="es-CL" sz="2800" b="1" kern="1200" dirty="0">
                <a:solidFill>
                  <a:prstClr val="white"/>
                </a:solidFill>
                <a:latin typeface="Calibri"/>
                <a:cs typeface="Arial" panose="020B0604020202020204" pitchFamily="34" charset="0"/>
              </a:rPr>
              <a:t>Funciones Anidadas</a:t>
            </a:r>
          </a:p>
        </p:txBody>
      </p:sp>
      <p:sp>
        <p:nvSpPr>
          <p:cNvPr id="20" name="Rectangle 3">
            <a:extLst>
              <a:ext uri="{FF2B5EF4-FFF2-40B4-BE49-F238E27FC236}">
                <a16:creationId xmlns:a16="http://schemas.microsoft.com/office/drawing/2014/main" xmlns="" id="{47D11CDF-2F25-45C3-9A2C-1DF26A793DDE}"/>
              </a:ext>
            </a:extLst>
          </p:cNvPr>
          <p:cNvSpPr txBox="1">
            <a:spLocks noChangeArrowheads="1"/>
          </p:cNvSpPr>
          <p:nvPr/>
        </p:nvSpPr>
        <p:spPr bwMode="auto">
          <a:xfrm>
            <a:off x="611188" y="1292820"/>
            <a:ext cx="2493962" cy="407988"/>
          </a:xfrm>
          <a:prstGeom prst="rect">
            <a:avLst/>
          </a:prstGeom>
          <a:noFill/>
          <a:ln w="9525">
            <a:noFill/>
            <a:miter lim="800000"/>
            <a:headEnd/>
            <a:tailEnd/>
          </a:ln>
        </p:spPr>
        <p:txBody>
          <a:bodyPr/>
          <a:lstStyle/>
          <a:p>
            <a:pPr marL="342900" indent="-342900" algn="just" defTabSz="457200" fontAlgn="base">
              <a:lnSpc>
                <a:spcPct val="80000"/>
              </a:lnSpc>
              <a:spcBef>
                <a:spcPct val="20000"/>
              </a:spcBef>
              <a:spcAft>
                <a:spcPct val="0"/>
              </a:spcAft>
              <a:buClrTx/>
              <a:buFont typeface="Arial" panose="020B0604020202020204" pitchFamily="34" charset="0"/>
              <a:buChar char="•"/>
            </a:pPr>
            <a:r>
              <a:rPr lang="es-CL" sz="2000" kern="1200" dirty="0">
                <a:solidFill>
                  <a:prstClr val="black"/>
                </a:solidFill>
                <a:latin typeface="Calibri"/>
                <a:ea typeface="Arial Unicode MS"/>
                <a:cs typeface="Arial" pitchFamily="34" charset="0"/>
              </a:rPr>
              <a:t>Ejemplo:</a:t>
            </a:r>
          </a:p>
        </p:txBody>
      </p:sp>
      <p:sp>
        <p:nvSpPr>
          <p:cNvPr id="21" name="Text Box 5">
            <a:extLst>
              <a:ext uri="{FF2B5EF4-FFF2-40B4-BE49-F238E27FC236}">
                <a16:creationId xmlns:a16="http://schemas.microsoft.com/office/drawing/2014/main" xmlns="" id="{335CB34D-C1B3-4F87-9449-6506FFA4D939}"/>
              </a:ext>
            </a:extLst>
          </p:cNvPr>
          <p:cNvSpPr txBox="1">
            <a:spLocks noChangeArrowheads="1"/>
          </p:cNvSpPr>
          <p:nvPr/>
        </p:nvSpPr>
        <p:spPr bwMode="auto">
          <a:xfrm>
            <a:off x="995934" y="1596526"/>
            <a:ext cx="7536506"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DA1000"/>
                </a:solidFill>
                <a:effectLst/>
                <a:uLnTx/>
                <a:uFillTx/>
                <a:latin typeface="Calibri"/>
                <a:ea typeface="+mn-ea"/>
                <a:cs typeface="Arial" panose="020B0604020202020204" pitchFamily="34" charset="0"/>
              </a:rPr>
              <a:t>             UPPER(</a:t>
            </a:r>
            <a:r>
              <a:rPr kumimoji="0" lang="en-US" sz="1600" b="1" i="0" u="none" strike="noStrike" kern="1200" cap="none" spc="0" normalizeH="0" baseline="0" noProof="0" dirty="0">
                <a:ln>
                  <a:noFill/>
                </a:ln>
                <a:solidFill>
                  <a:srgbClr val="0000DA"/>
                </a:solidFill>
                <a:effectLst/>
                <a:uLnTx/>
                <a:uFillTx/>
                <a:latin typeface="Calibri"/>
                <a:ea typeface="+mn-ea"/>
                <a:cs typeface="Arial" panose="020B0604020202020204" pitchFamily="34" charset="0"/>
              </a:rPr>
              <a:t>CONCAT</a:t>
            </a:r>
            <a:r>
              <a:rPr kumimoji="0" lang="en-US" sz="1600" b="1" i="0" u="none" strike="noStrike" kern="1200" cap="none" spc="0" normalizeH="0" baseline="0" noProof="0" dirty="0">
                <a:ln>
                  <a:noFill/>
                </a:ln>
                <a:solidFill>
                  <a:srgbClr val="0000FF"/>
                </a:solidFill>
                <a:effectLst/>
                <a:uLnTx/>
                <a:uFillTx/>
                <a:latin typeface="Calibri"/>
                <a:ea typeface="+mn-ea"/>
                <a:cs typeface="Arial" panose="020B0604020202020204" pitchFamily="34" charset="0"/>
              </a:rPr>
              <a:t>(</a:t>
            </a: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SUBSTR(</a:t>
            </a:r>
            <a:r>
              <a:rPr kumimoji="0" lang="en-US" sz="1600" b="1" i="0" u="none" strike="noStrike" kern="1200" cap="none" spc="0" normalizeH="0" baseline="0" noProof="0" dirty="0" err="1">
                <a:ln>
                  <a:noFill/>
                </a:ln>
                <a:solidFill>
                  <a:srgbClr val="800080"/>
                </a:solidFill>
                <a:effectLst/>
                <a:uLnTx/>
                <a:uFillTx/>
                <a:latin typeface="Calibri"/>
                <a:ea typeface="+mn-ea"/>
                <a:cs typeface="Arial" panose="020B0604020202020204" pitchFamily="34" charset="0"/>
              </a:rPr>
              <a:t>last_name</a:t>
            </a: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 1, 6)</a:t>
            </a:r>
            <a:r>
              <a:rPr kumimoji="0" lang="en-US" sz="1600" b="1" i="0" u="none" strike="noStrike" kern="1200" cap="none" spc="0" normalizeH="0" baseline="0" noProof="0" dirty="0">
                <a:ln>
                  <a:noFill/>
                </a:ln>
                <a:solidFill>
                  <a:srgbClr val="0000FF"/>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00DA"/>
                </a:solidFill>
                <a:effectLst/>
                <a:uLnTx/>
                <a:uFillTx/>
                <a:latin typeface="Calibri"/>
                <a:ea typeface="+mn-ea"/>
                <a:cs typeface="Arial" panose="020B0604020202020204" pitchFamily="34" charset="0"/>
              </a:rPr>
              <a:t>'_</a:t>
            </a:r>
            <a:r>
              <a:rPr kumimoji="0" lang="en-US" sz="1600" b="1" i="0" u="none" strike="noStrike" kern="1200" cap="none" spc="0" normalizeH="0" baseline="0" noProof="0" dirty="0" err="1">
                <a:ln>
                  <a:noFill/>
                </a:ln>
                <a:solidFill>
                  <a:srgbClr val="0000DA"/>
                </a:solidFill>
                <a:effectLst/>
                <a:uLnTx/>
                <a:uFillTx/>
                <a:latin typeface="Calibri"/>
                <a:ea typeface="+mn-ea"/>
                <a:cs typeface="Arial" panose="020B0604020202020204" pitchFamily="34" charset="0"/>
              </a:rPr>
              <a:t>chile</a:t>
            </a:r>
            <a:r>
              <a:rPr kumimoji="0" lang="en-US" sz="1600" b="1" i="0" u="none" strike="noStrike" kern="1200" cap="none" spc="0" normalizeH="0" baseline="0" noProof="0" dirty="0">
                <a:ln>
                  <a:noFill/>
                </a:ln>
                <a:solidFill>
                  <a:srgbClr val="0000DA"/>
                </a:solidFill>
                <a:effectLst/>
                <a:uLnTx/>
                <a:uFillTx/>
                <a:latin typeface="Arial" panose="020B0604020202020204" pitchFamily="34" charset="0"/>
                <a:ea typeface="+mn-ea"/>
                <a:cs typeface="Arial" panose="020B0604020202020204" pitchFamily="34" charset="0"/>
              </a:rPr>
              <a:t>'</a:t>
            </a:r>
            <a:r>
              <a:rPr kumimoji="0" lang="en-US" sz="1600" b="1" i="0" u="none" strike="noStrike" kern="1200" cap="none" spc="0" normalizeH="0" baseline="0" noProof="0" dirty="0">
                <a:ln>
                  <a:noFill/>
                </a:ln>
                <a:solidFill>
                  <a:srgbClr val="0000DA"/>
                </a:solidFill>
                <a:effectLst/>
                <a:uLnTx/>
                <a:uFillTx/>
                <a:latin typeface="Calibri"/>
                <a:ea typeface="+mn-ea"/>
                <a:cs typeface="Arial" panose="020B0604020202020204" pitchFamily="34" charset="0"/>
              </a:rPr>
              <a:t>)</a:t>
            </a:r>
            <a:r>
              <a:rPr kumimoji="0" lang="en-US" sz="1600" b="1" i="0" u="none" strike="noStrike" kern="1200" cap="none" spc="0" normalizeH="0" baseline="0" noProof="0" dirty="0">
                <a:ln>
                  <a:noFill/>
                </a:ln>
                <a:solidFill>
                  <a:srgbClr val="DA1000"/>
                </a:solidFill>
                <a:effectLst/>
                <a:uLnTx/>
                <a:uFillTx/>
                <a:latin typeface="Calibri"/>
                <a:ea typeface="+mn-ea"/>
                <a:cs typeface="Arial" panose="020B0604020202020204" pitchFamily="34" charset="0"/>
              </a:rPr>
              <a:t>)</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resultado</a:t>
            </a:r>
            <a:endParaRPr kumimoji="0" lang="en-US" sz="1600" b="1" i="0" u="none" strike="noStrike" kern="1200" cap="none" spc="0" normalizeH="0" baseline="0" noProof="0" dirty="0">
              <a:ln>
                <a:noFill/>
              </a:ln>
              <a:solidFill>
                <a:srgbClr val="DA1000"/>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WHERE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between 10 AND 40;</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pic>
        <p:nvPicPr>
          <p:cNvPr id="22" name="Imagen 21" descr="Imagen que contiene computadora&#10;&#10;Descripción generada automáticamente">
            <a:extLst>
              <a:ext uri="{FF2B5EF4-FFF2-40B4-BE49-F238E27FC236}">
                <a16:creationId xmlns:a16="http://schemas.microsoft.com/office/drawing/2014/main" xmlns="" id="{2E5B7DB5-159D-4420-836E-3201C04DCD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1800" y="3051382"/>
            <a:ext cx="3281525" cy="2321834"/>
          </a:xfrm>
          <a:prstGeom prst="rect">
            <a:avLst/>
          </a:prstGeom>
        </p:spPr>
      </p:pic>
    </p:spTree>
    <p:extLst>
      <p:ext uri="{BB962C8B-B14F-4D97-AF65-F5344CB8AC3E}">
        <p14:creationId xmlns:p14="http://schemas.microsoft.com/office/powerpoint/2010/main" val="1624754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xmlns="" id="{548035E2-9379-2346-A89D-675F58CEB28A}"/>
              </a:ext>
            </a:extLst>
          </p:cNvPr>
          <p:cNvSpPr>
            <a:spLocks noGrp="1"/>
          </p:cNvSpPr>
          <p:nvPr>
            <p:ph type="title"/>
          </p:nvPr>
        </p:nvSpPr>
        <p:spPr>
          <a:xfrm>
            <a:off x="2556587" y="3817646"/>
            <a:ext cx="6499771" cy="2024354"/>
          </a:xfrm>
        </p:spPr>
        <p:txBody>
          <a:bodyPr/>
          <a:lstStyle/>
          <a:p>
            <a:r>
              <a:rPr lang="es-ES_tradnl" sz="4800" b="1" dirty="0"/>
              <a:t>Implementar Condición Lógica en Sentencias SQL</a:t>
            </a:r>
          </a:p>
        </p:txBody>
      </p:sp>
    </p:spTree>
    <p:extLst>
      <p:ext uri="{BB962C8B-B14F-4D97-AF65-F5344CB8AC3E}">
        <p14:creationId xmlns:p14="http://schemas.microsoft.com/office/powerpoint/2010/main" val="37265670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Expresiones Condicionales</a:t>
            </a:r>
          </a:p>
        </p:txBody>
      </p:sp>
      <p:sp>
        <p:nvSpPr>
          <p:cNvPr id="16" name="Rectángulo redondeado 4">
            <a:extLst>
              <a:ext uri="{FF2B5EF4-FFF2-40B4-BE49-F238E27FC236}">
                <a16:creationId xmlns:a16="http://schemas.microsoft.com/office/drawing/2014/main" xmlns="" id="{55A54BD7-F2ED-400B-8A2A-B3F26D7B9C34}"/>
              </a:ext>
            </a:extLst>
          </p:cNvPr>
          <p:cNvSpPr/>
          <p:nvPr/>
        </p:nvSpPr>
        <p:spPr>
          <a:xfrm>
            <a:off x="1979712" y="1450059"/>
            <a:ext cx="5616624" cy="682797"/>
          </a:xfrm>
          <a:prstGeom prst="roundRect">
            <a:avLst/>
          </a:prstGeom>
          <a:solidFill>
            <a:srgbClr val="006666"/>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tIns="0" rIns="0" bIns="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Permiten implementar una condición lógica IF-THEN-ELSE en una sentencia SQL</a:t>
            </a:r>
          </a:p>
        </p:txBody>
      </p:sp>
      <p:pic>
        <p:nvPicPr>
          <p:cNvPr id="17" name="Imagen 16" descr="Captura de pantalla de un celular con letras&#10;&#10;Descripción generada automáticamente">
            <a:extLst>
              <a:ext uri="{FF2B5EF4-FFF2-40B4-BE49-F238E27FC236}">
                <a16:creationId xmlns:a16="http://schemas.microsoft.com/office/drawing/2014/main" xmlns="" id="{9F935818-8F10-4E56-BC13-2DBE55BA6E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816" y="2875802"/>
            <a:ext cx="7884368" cy="2641430"/>
          </a:xfrm>
          <a:prstGeom prst="rect">
            <a:avLst/>
          </a:prstGeom>
        </p:spPr>
      </p:pic>
    </p:spTree>
    <p:extLst>
      <p:ext uri="{BB962C8B-B14F-4D97-AF65-F5344CB8AC3E}">
        <p14:creationId xmlns:p14="http://schemas.microsoft.com/office/powerpoint/2010/main" val="39555208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Expresiones Condicionales: CASE</a:t>
            </a:r>
          </a:p>
        </p:txBody>
      </p:sp>
      <p:sp>
        <p:nvSpPr>
          <p:cNvPr id="8" name="Rectangle 3">
            <a:extLst>
              <a:ext uri="{FF2B5EF4-FFF2-40B4-BE49-F238E27FC236}">
                <a16:creationId xmlns:a16="http://schemas.microsoft.com/office/drawing/2014/main" xmlns="" id="{DCDC09EE-840B-41FF-B6C6-200958C38BFB}"/>
              </a:ext>
            </a:extLst>
          </p:cNvPr>
          <p:cNvSpPr txBox="1">
            <a:spLocks noChangeArrowheads="1"/>
          </p:cNvSpPr>
          <p:nvPr/>
        </p:nvSpPr>
        <p:spPr bwMode="auto">
          <a:xfrm>
            <a:off x="611188" y="1196752"/>
            <a:ext cx="2493962"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Arial" pitchFamily="34" charset="0"/>
              </a:rPr>
              <a:t>Sintaxis 1:</a:t>
            </a: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Arial" pitchFamily="34" charset="0"/>
              </a:rPr>
              <a:t>Sintaxis 2:</a:t>
            </a:r>
          </a:p>
        </p:txBody>
      </p:sp>
      <p:sp>
        <p:nvSpPr>
          <p:cNvPr id="9" name="Text Box 5">
            <a:extLst>
              <a:ext uri="{FF2B5EF4-FFF2-40B4-BE49-F238E27FC236}">
                <a16:creationId xmlns:a16="http://schemas.microsoft.com/office/drawing/2014/main" xmlns="" id="{075F9EEB-2441-40F8-8D11-F9B39766F99B}"/>
              </a:ext>
            </a:extLst>
          </p:cNvPr>
          <p:cNvSpPr txBox="1">
            <a:spLocks noChangeArrowheads="1"/>
          </p:cNvSpPr>
          <p:nvPr/>
        </p:nvSpPr>
        <p:spPr bwMode="auto">
          <a:xfrm>
            <a:off x="1331640" y="1484784"/>
            <a:ext cx="6624735"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CASE </a:t>
            </a:r>
            <a:r>
              <a:rPr kumimoji="0" lang="es-ES" sz="1600" b="1" i="1"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expr</a:t>
            </a:r>
            <a:r>
              <a:rPr kumimoji="0" lang="es-ES" sz="1600" b="1" i="1"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a:t>
            </a:r>
            <a:r>
              <a:rPr kumimoji="0" lang="es-ES" sz="1600" b="1" i="1"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WHEN </a:t>
            </a:r>
            <a:r>
              <a:rPr kumimoji="0" lang="es-ES" sz="1600" b="1" i="1" u="none" strike="noStrike" kern="1200" cap="none" spc="0" normalizeH="0" baseline="0" noProof="0" dirty="0">
                <a:ln>
                  <a:noFill/>
                </a:ln>
                <a:solidFill>
                  <a:srgbClr val="0000DA"/>
                </a:solidFill>
                <a:effectLst/>
                <a:uLnTx/>
                <a:uFillTx/>
                <a:latin typeface="Calibri"/>
                <a:ea typeface="+mn-ea"/>
                <a:cs typeface="Arial" panose="020B0604020202020204" pitchFamily="34" charset="0"/>
              </a:rPr>
              <a:t>expr1_comparación</a:t>
            </a:r>
            <a:r>
              <a:rPr kumimoji="0" lang="es-ES" sz="1600" b="1" i="1"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THEN </a:t>
            </a:r>
            <a:r>
              <a:rPr kumimoji="0" lang="es-ES" sz="1600" b="1" i="1" u="none" strike="noStrike" kern="1200" cap="none" spc="0" normalizeH="0" baseline="0" noProof="0" dirty="0">
                <a:ln>
                  <a:noFill/>
                </a:ln>
                <a:solidFill>
                  <a:srgbClr val="990099"/>
                </a:solidFill>
                <a:effectLst/>
                <a:uLnTx/>
                <a:uFillTx/>
                <a:latin typeface="Calibri"/>
                <a:ea typeface="+mn-ea"/>
                <a:cs typeface="Arial" panose="020B0604020202020204" pitchFamily="34" charset="0"/>
              </a:rPr>
              <a:t>expr1_resultado</a:t>
            </a:r>
            <a:r>
              <a:rPr kumimoji="0" lang="es-ES" sz="1600" b="1" i="1"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endPar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 WHEN </a:t>
            </a:r>
            <a:r>
              <a:rPr kumimoji="0" lang="es-ES" sz="1600" b="1" i="1" u="none" strike="noStrike" kern="1200" cap="none" spc="0" normalizeH="0" baseline="0" noProof="0" dirty="0">
                <a:ln>
                  <a:noFill/>
                </a:ln>
                <a:solidFill>
                  <a:srgbClr val="0000DA"/>
                </a:solidFill>
                <a:effectLst/>
                <a:uLnTx/>
                <a:uFillTx/>
                <a:latin typeface="Calibri"/>
                <a:ea typeface="+mn-ea"/>
                <a:cs typeface="Arial" panose="020B0604020202020204" pitchFamily="34" charset="0"/>
              </a:rPr>
              <a:t>expr2_comparación</a:t>
            </a:r>
            <a:r>
              <a:rPr kumimoji="0" lang="es-ES" sz="1600" b="1" i="1"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THEN </a:t>
            </a:r>
            <a:r>
              <a:rPr kumimoji="0" lang="es-ES" sz="1600" b="1" i="1" u="none" strike="noStrike" kern="1200" cap="none" spc="0" normalizeH="0" baseline="0" noProof="0" dirty="0">
                <a:ln>
                  <a:noFill/>
                </a:ln>
                <a:solidFill>
                  <a:srgbClr val="990099"/>
                </a:solidFill>
                <a:effectLst/>
                <a:uLnTx/>
                <a:uFillTx/>
                <a:latin typeface="Calibri"/>
                <a:ea typeface="+mn-ea"/>
                <a:cs typeface="Arial" panose="020B0604020202020204" pitchFamily="34" charset="0"/>
              </a:rPr>
              <a:t>expr2_resultado</a:t>
            </a:r>
            <a:r>
              <a:rPr kumimoji="0" lang="es-ES" sz="1600" b="1" i="1"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endPar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WHEN </a:t>
            </a:r>
            <a:r>
              <a:rPr kumimoji="0" lang="es-ES" sz="1600" b="1" i="1" u="none" strike="noStrike" kern="1200" cap="none" spc="0" normalizeH="0" baseline="0" noProof="0" dirty="0" err="1">
                <a:ln>
                  <a:noFill/>
                </a:ln>
                <a:solidFill>
                  <a:srgbClr val="0000CC"/>
                </a:solidFill>
                <a:effectLst/>
                <a:uLnTx/>
                <a:uFillTx/>
                <a:latin typeface="Calibri"/>
                <a:ea typeface="+mn-ea"/>
                <a:cs typeface="Arial" panose="020B0604020202020204" pitchFamily="34" charset="0"/>
              </a:rPr>
              <a:t>exprN_comparación</a:t>
            </a:r>
            <a:r>
              <a:rPr kumimoji="0" lang="es-ES" sz="1600" b="1" i="1"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THEN </a:t>
            </a:r>
            <a:r>
              <a:rPr kumimoji="0" lang="es-ES" sz="1600" b="1" i="1" u="none" strike="noStrike" kern="1200" cap="none" spc="0" normalizeH="0" baseline="0" noProof="0" dirty="0" err="1">
                <a:ln>
                  <a:noFill/>
                </a:ln>
                <a:solidFill>
                  <a:srgbClr val="800080"/>
                </a:solidFill>
                <a:effectLst/>
                <a:uLnTx/>
                <a:uFillTx/>
                <a:latin typeface="Calibri"/>
                <a:ea typeface="+mn-ea"/>
                <a:cs typeface="Arial" panose="020B0604020202020204" pitchFamily="34" charset="0"/>
              </a:rPr>
              <a:t>exprN_resultado</a:t>
            </a:r>
            <a:endParaRPr kumimoji="0" lang="es-E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ELSE </a:t>
            </a:r>
            <a:r>
              <a:rPr kumimoji="0" lang="es-ES" sz="1600" b="1" i="1" u="none" strike="noStrike" kern="1200" cap="none" spc="0" normalizeH="0" baseline="0" noProof="0" dirty="0" err="1">
                <a:ln>
                  <a:noFill/>
                </a:ln>
                <a:solidFill>
                  <a:srgbClr val="800080"/>
                </a:solidFill>
                <a:effectLst/>
                <a:uLnTx/>
                <a:uFillTx/>
                <a:latin typeface="Calibri"/>
                <a:ea typeface="+mn-ea"/>
                <a:cs typeface="Arial" panose="020B0604020202020204" pitchFamily="34" charset="0"/>
              </a:rPr>
              <a:t>expr_else</a:t>
            </a:r>
            <a:r>
              <a:rPr kumimoji="0" lang="es-ES" sz="1600" b="1" i="1"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 resultado</a:t>
            </a:r>
            <a:r>
              <a:rPr kumimoji="0" lang="es-ES" sz="1600" b="1" i="1"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END</a:t>
            </a:r>
            <a:r>
              <a:rPr kumimoji="0" lang="es-ES" sz="1600" b="1" i="1"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0" name="Text Box 5">
            <a:extLst>
              <a:ext uri="{FF2B5EF4-FFF2-40B4-BE49-F238E27FC236}">
                <a16:creationId xmlns:a16="http://schemas.microsoft.com/office/drawing/2014/main" xmlns="" id="{1D0A306B-E10E-420F-939B-28B0CBF694C0}"/>
              </a:ext>
            </a:extLst>
          </p:cNvPr>
          <p:cNvSpPr txBox="1">
            <a:spLocks noChangeArrowheads="1"/>
          </p:cNvSpPr>
          <p:nvPr/>
        </p:nvSpPr>
        <p:spPr bwMode="auto">
          <a:xfrm>
            <a:off x="1331641" y="3947572"/>
            <a:ext cx="6624735"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CASE </a:t>
            </a:r>
            <a:r>
              <a:rPr kumimoji="0" lang="es-ES" sz="1600" b="1" i="1"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WHEN </a:t>
            </a:r>
            <a:r>
              <a:rPr kumimoji="0" lang="es-ES" sz="1600" b="1" i="1"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expr1</a:t>
            </a:r>
            <a:r>
              <a:rPr kumimoji="0" lang="es-E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a:t>
            </a:r>
            <a:r>
              <a:rPr kumimoji="0" lang="es-ES" sz="1600" b="1" i="1" u="none" strike="noStrike" kern="1200" cap="none" spc="0" normalizeH="0" baseline="0" noProof="0" dirty="0">
                <a:ln>
                  <a:noFill/>
                </a:ln>
                <a:solidFill>
                  <a:srgbClr val="0000CC"/>
                </a:solidFill>
                <a:effectLst/>
                <a:uLnTx/>
                <a:uFillTx/>
                <a:latin typeface="Calibri"/>
                <a:ea typeface="+mn-ea"/>
                <a:cs typeface="Arial" panose="020B0604020202020204" pitchFamily="34" charset="0"/>
              </a:rPr>
              <a:t>expr1_comparación</a:t>
            </a:r>
            <a:r>
              <a:rPr kumimoji="0" lang="es-ES" sz="1600" b="1" i="1"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THEN </a:t>
            </a:r>
            <a:r>
              <a:rPr kumimoji="0" lang="es-ES" sz="1600" b="1" i="1" u="none" strike="noStrike" kern="1200" cap="none" spc="0" normalizeH="0" baseline="0" noProof="0" dirty="0">
                <a:ln>
                  <a:noFill/>
                </a:ln>
                <a:solidFill>
                  <a:srgbClr val="990099"/>
                </a:solidFill>
                <a:effectLst/>
                <a:uLnTx/>
                <a:uFillTx/>
                <a:latin typeface="Calibri"/>
                <a:ea typeface="+mn-ea"/>
                <a:cs typeface="Arial" panose="020B0604020202020204" pitchFamily="34" charset="0"/>
              </a:rPr>
              <a:t>expr1_resultado</a:t>
            </a:r>
            <a:r>
              <a:rPr kumimoji="0" lang="es-ES" sz="1600" b="1" i="1"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endPar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 WHEN </a:t>
            </a:r>
            <a:r>
              <a:rPr kumimoji="0" lang="es-ES" sz="1600" b="1" i="1"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expr2 </a:t>
            </a:r>
            <a:r>
              <a:rPr kumimoji="0" lang="es-ES" sz="1600" b="1" i="1" u="none" strike="noStrike" kern="1200" cap="none" spc="0" normalizeH="0" baseline="0" noProof="0" dirty="0">
                <a:ln>
                  <a:noFill/>
                </a:ln>
                <a:solidFill>
                  <a:srgbClr val="0000CC"/>
                </a:solidFill>
                <a:effectLst/>
                <a:uLnTx/>
                <a:uFillTx/>
                <a:latin typeface="Calibri"/>
                <a:ea typeface="+mn-ea"/>
                <a:cs typeface="Arial" panose="020B0604020202020204" pitchFamily="34" charset="0"/>
              </a:rPr>
              <a:t>expr2_comparación</a:t>
            </a:r>
            <a:r>
              <a:rPr kumimoji="0" lang="es-ES" sz="1600" b="1" i="1"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THEN </a:t>
            </a:r>
            <a:r>
              <a:rPr kumimoji="0" lang="es-ES" sz="1600" b="1" i="1" u="none" strike="noStrike" kern="1200" cap="none" spc="0" normalizeH="0" baseline="0" noProof="0" dirty="0">
                <a:ln>
                  <a:noFill/>
                </a:ln>
                <a:solidFill>
                  <a:srgbClr val="990099"/>
                </a:solidFill>
                <a:effectLst/>
                <a:uLnTx/>
                <a:uFillTx/>
                <a:latin typeface="Calibri"/>
                <a:ea typeface="+mn-ea"/>
                <a:cs typeface="Arial" panose="020B0604020202020204" pitchFamily="34" charset="0"/>
              </a:rPr>
              <a:t>expr2_resultado</a:t>
            </a:r>
            <a:r>
              <a:rPr kumimoji="0" lang="es-ES" sz="1600" b="1" i="1"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endPar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WHEN </a:t>
            </a:r>
            <a:r>
              <a:rPr kumimoji="0" lang="es-ES" sz="1600" b="1" i="1"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exprN</a:t>
            </a:r>
            <a:r>
              <a:rPr kumimoji="0" lang="es-ES" sz="1600" b="1" i="1"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a:t>
            </a:r>
            <a:r>
              <a:rPr kumimoji="0" lang="es-ES" sz="1600" b="1" i="1" u="none" strike="noStrike" kern="1200" cap="none" spc="0" normalizeH="0" baseline="0" noProof="0" dirty="0" err="1">
                <a:ln>
                  <a:noFill/>
                </a:ln>
                <a:solidFill>
                  <a:srgbClr val="0000CC"/>
                </a:solidFill>
                <a:effectLst/>
                <a:uLnTx/>
                <a:uFillTx/>
                <a:latin typeface="Calibri"/>
                <a:ea typeface="+mn-ea"/>
                <a:cs typeface="Arial" panose="020B0604020202020204" pitchFamily="34" charset="0"/>
              </a:rPr>
              <a:t>exprN_comparación</a:t>
            </a:r>
            <a:r>
              <a:rPr kumimoji="0" lang="es-ES" sz="1600" b="1" i="1"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THEN </a:t>
            </a:r>
            <a:r>
              <a:rPr kumimoji="0" lang="es-ES" sz="1600" b="1" i="1" u="none" strike="noStrike" kern="1200" cap="none" spc="0" normalizeH="0" baseline="0" noProof="0" dirty="0" err="1">
                <a:ln>
                  <a:noFill/>
                </a:ln>
                <a:solidFill>
                  <a:srgbClr val="800080"/>
                </a:solidFill>
                <a:effectLst/>
                <a:uLnTx/>
                <a:uFillTx/>
                <a:latin typeface="Calibri"/>
                <a:ea typeface="+mn-ea"/>
                <a:cs typeface="Arial" panose="020B0604020202020204" pitchFamily="34" charset="0"/>
              </a:rPr>
              <a:t>exprN_resultado</a:t>
            </a:r>
            <a:endParaRPr kumimoji="0" lang="es-E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ELSE </a:t>
            </a:r>
            <a:r>
              <a:rPr kumimoji="0" lang="es-ES" sz="1600" b="1" i="1" u="none" strike="noStrike" kern="1200" cap="none" spc="0" normalizeH="0" baseline="0" noProof="0" dirty="0" err="1">
                <a:ln>
                  <a:noFill/>
                </a:ln>
                <a:solidFill>
                  <a:srgbClr val="800080"/>
                </a:solidFill>
                <a:effectLst/>
                <a:uLnTx/>
                <a:uFillTx/>
                <a:latin typeface="Calibri"/>
                <a:ea typeface="+mn-ea"/>
                <a:cs typeface="Arial" panose="020B0604020202020204" pitchFamily="34" charset="0"/>
              </a:rPr>
              <a:t>expr_else</a:t>
            </a:r>
            <a:r>
              <a:rPr kumimoji="0" lang="es-ES" sz="1600" b="1" i="1"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 resultado</a:t>
            </a:r>
            <a:r>
              <a:rPr kumimoji="0" lang="es-ES" sz="1600" b="1" i="1"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s-ES" sz="16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END</a:t>
            </a:r>
            <a:r>
              <a:rPr kumimoji="0" lang="es-ES" sz="1600" b="1" i="1"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2150585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Expresiones Condicionales: CASE</a:t>
            </a:r>
          </a:p>
        </p:txBody>
      </p:sp>
      <p:sp>
        <p:nvSpPr>
          <p:cNvPr id="13" name="Rectangle 3">
            <a:extLst>
              <a:ext uri="{FF2B5EF4-FFF2-40B4-BE49-F238E27FC236}">
                <a16:creationId xmlns:a16="http://schemas.microsoft.com/office/drawing/2014/main" xmlns="" id="{A1BE8137-A689-4D2B-BF45-AC14F4A8AF4A}"/>
              </a:ext>
            </a:extLst>
          </p:cNvPr>
          <p:cNvSpPr txBox="1">
            <a:spLocks noChangeArrowheads="1"/>
          </p:cNvSpPr>
          <p:nvPr/>
        </p:nvSpPr>
        <p:spPr bwMode="auto">
          <a:xfrm>
            <a:off x="611188" y="1292820"/>
            <a:ext cx="2493962"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Arial" pitchFamily="34" charset="0"/>
              </a:rPr>
              <a:t>Ejemplo:</a:t>
            </a:r>
          </a:p>
        </p:txBody>
      </p:sp>
      <p:sp>
        <p:nvSpPr>
          <p:cNvPr id="14" name="Text Box 5">
            <a:extLst>
              <a:ext uri="{FF2B5EF4-FFF2-40B4-BE49-F238E27FC236}">
                <a16:creationId xmlns:a16="http://schemas.microsoft.com/office/drawing/2014/main" xmlns="" id="{17FC3992-2CF1-4ED5-83F0-0952D939322F}"/>
              </a:ext>
            </a:extLst>
          </p:cNvPr>
          <p:cNvSpPr txBox="1">
            <a:spLocks noChangeArrowheads="1"/>
          </p:cNvSpPr>
          <p:nvPr/>
        </p:nvSpPr>
        <p:spPr bwMode="auto">
          <a:xfrm>
            <a:off x="1286869" y="1613118"/>
            <a:ext cx="6453483" cy="1815882"/>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SELECT employee_id, job_id, department_id, salary,</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itchFamily="34" charset="0"/>
              </a:rPr>
              <a:t>CASE  job_id  WHEN 'PR_REP' THEN 1.15*salary</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pitchFamily="34" charset="0"/>
              </a:rPr>
              <a:t>                                        WHEN 'MK_MAN' THEN 1.20*salary</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pitchFamily="34" charset="0"/>
              </a:rPr>
              <a:t>                ELSE salary END </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"Salario </a:t>
            </a:r>
            <a:r>
              <a:rPr kumimoji="0" lang="en-US" sz="1600" b="1" i="0" u="none" strike="noStrike" kern="1200" cap="none" spc="0" normalizeH="0" baseline="0" noProof="0" dirty="0" err="1">
                <a:ln>
                  <a:noFill/>
                </a:ln>
                <a:solidFill>
                  <a:sysClr val="windowText" lastClr="000000"/>
                </a:solidFill>
                <a:effectLst/>
                <a:uLnTx/>
                <a:uFillTx/>
                <a:latin typeface="Calibri"/>
                <a:ea typeface="+mn-ea"/>
                <a:cs typeface="Arial" pitchFamily="34" charset="0"/>
              </a:rPr>
              <a:t>Incrementado</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WHERE department_id IN(70, 20, 110);</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itchFamily="34" charset="0"/>
            </a:endParaRPr>
          </a:p>
        </p:txBody>
      </p:sp>
      <p:pic>
        <p:nvPicPr>
          <p:cNvPr id="15" name="Imagen 14">
            <a:extLst>
              <a:ext uri="{FF2B5EF4-FFF2-40B4-BE49-F238E27FC236}">
                <a16:creationId xmlns:a16="http://schemas.microsoft.com/office/drawing/2014/main" xmlns="" id="{666C60F2-9C02-4E85-9D3F-45994A8C96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9712" y="3593772"/>
            <a:ext cx="5346117" cy="1347395"/>
          </a:xfrm>
          <a:prstGeom prst="rect">
            <a:avLst/>
          </a:prstGeom>
        </p:spPr>
      </p:pic>
      <p:sp>
        <p:nvSpPr>
          <p:cNvPr id="16" name="Rectangle 42">
            <a:extLst>
              <a:ext uri="{FF2B5EF4-FFF2-40B4-BE49-F238E27FC236}">
                <a16:creationId xmlns:a16="http://schemas.microsoft.com/office/drawing/2014/main" xmlns="" id="{C58B4B7A-DEDE-4B9F-B9CA-B1C5B514218E}"/>
              </a:ext>
            </a:extLst>
          </p:cNvPr>
          <p:cNvSpPr>
            <a:spLocks noChangeArrowheads="1"/>
          </p:cNvSpPr>
          <p:nvPr/>
        </p:nvSpPr>
        <p:spPr bwMode="auto">
          <a:xfrm>
            <a:off x="5998060" y="3573016"/>
            <a:ext cx="1327769" cy="1368151"/>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Tree>
    <p:extLst>
      <p:ext uri="{BB962C8B-B14F-4D97-AF65-F5344CB8AC3E}">
        <p14:creationId xmlns:p14="http://schemas.microsoft.com/office/powerpoint/2010/main" val="36685981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Expresiones Condicionales: CASE</a:t>
            </a:r>
          </a:p>
        </p:txBody>
      </p:sp>
      <p:sp>
        <p:nvSpPr>
          <p:cNvPr id="11" name="Rectangle 3">
            <a:extLst>
              <a:ext uri="{FF2B5EF4-FFF2-40B4-BE49-F238E27FC236}">
                <a16:creationId xmlns:a16="http://schemas.microsoft.com/office/drawing/2014/main" xmlns="" id="{D6081CD2-2A67-4BA9-AFF8-9E986F108BAF}"/>
              </a:ext>
            </a:extLst>
          </p:cNvPr>
          <p:cNvSpPr txBox="1">
            <a:spLocks noChangeArrowheads="1"/>
          </p:cNvSpPr>
          <p:nvPr/>
        </p:nvSpPr>
        <p:spPr bwMode="auto">
          <a:xfrm>
            <a:off x="611188" y="1292820"/>
            <a:ext cx="2493962"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Arial" pitchFamily="34" charset="0"/>
              </a:rPr>
              <a:t>Ejemplo:</a:t>
            </a:r>
          </a:p>
        </p:txBody>
      </p:sp>
      <p:sp>
        <p:nvSpPr>
          <p:cNvPr id="12" name="Text Box 5">
            <a:extLst>
              <a:ext uri="{FF2B5EF4-FFF2-40B4-BE49-F238E27FC236}">
                <a16:creationId xmlns:a16="http://schemas.microsoft.com/office/drawing/2014/main" xmlns="" id="{7889B628-6948-4293-8504-4EEDBC1F5874}"/>
              </a:ext>
            </a:extLst>
          </p:cNvPr>
          <p:cNvSpPr txBox="1">
            <a:spLocks noChangeArrowheads="1"/>
          </p:cNvSpPr>
          <p:nvPr/>
        </p:nvSpPr>
        <p:spPr bwMode="auto">
          <a:xfrm>
            <a:off x="1280124" y="1628800"/>
            <a:ext cx="6604244" cy="2308324"/>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SELECT last_name, salary,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itchFamily="34" charset="0"/>
              </a:rPr>
              <a:t>(CASE WHEN salary &lt;= 5000 THEN '</a:t>
            </a:r>
            <a:r>
              <a:rPr kumimoji="0" lang="en-US" sz="1600" b="1" i="0" u="none" strike="noStrike" kern="1200" cap="none" spc="0" normalizeH="0" baseline="0" noProof="0" dirty="0" err="1">
                <a:ln>
                  <a:noFill/>
                </a:ln>
                <a:solidFill>
                  <a:srgbClr val="C00000"/>
                </a:solidFill>
                <a:effectLst/>
                <a:uLnTx/>
                <a:uFillTx/>
                <a:latin typeface="Calibri"/>
                <a:ea typeface="+mn-ea"/>
                <a:cs typeface="Arial" pitchFamily="34" charset="0"/>
              </a:rPr>
              <a:t>Bajo</a:t>
            </a:r>
            <a:r>
              <a:rPr kumimoji="0" lang="en-US" sz="1600" b="1" i="0" u="none" strike="noStrike" kern="1200" cap="none" spc="0" normalizeH="0" baseline="0" noProof="0" dirty="0">
                <a:ln>
                  <a:noFill/>
                </a:ln>
                <a:solidFill>
                  <a:srgbClr val="C00000"/>
                </a:solidFill>
                <a:effectLst/>
                <a:uLnTx/>
                <a:uFillTx/>
                <a:latin typeface="Calibri"/>
                <a:ea typeface="+mn-ea"/>
                <a:cs typeface="Arial"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pitchFamily="34" charset="0"/>
              </a:rPr>
              <a:t>                           WHEN salary &lt;= 10000 THEN '</a:t>
            </a:r>
            <a:r>
              <a:rPr kumimoji="0" lang="en-US" sz="1600" b="1" i="0" u="none" strike="noStrike" kern="1200" cap="none" spc="0" normalizeH="0" baseline="0" noProof="0" dirty="0" err="1">
                <a:ln>
                  <a:noFill/>
                </a:ln>
                <a:solidFill>
                  <a:srgbClr val="C00000"/>
                </a:solidFill>
                <a:effectLst/>
                <a:uLnTx/>
                <a:uFillTx/>
                <a:latin typeface="Calibri"/>
                <a:ea typeface="+mn-ea"/>
                <a:cs typeface="Arial" pitchFamily="34" charset="0"/>
              </a:rPr>
              <a:t>Medio</a:t>
            </a:r>
            <a:r>
              <a:rPr kumimoji="0" lang="en-US" sz="1600" b="1" i="0" u="none" strike="noStrike" kern="1200" cap="none" spc="0" normalizeH="0" baseline="0" noProof="0" dirty="0">
                <a:ln>
                  <a:noFill/>
                </a:ln>
                <a:solidFill>
                  <a:srgbClr val="C00000"/>
                </a:solidFill>
                <a:effectLst/>
                <a:uLnTx/>
                <a:uFillTx/>
                <a:latin typeface="Calibri"/>
                <a:ea typeface="+mn-ea"/>
                <a:cs typeface="Arial"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pitchFamily="34" charset="0"/>
              </a:rPr>
              <a:t>                           WHEN salary &lt;= 20000 THEN '</a:t>
            </a:r>
            <a:r>
              <a:rPr kumimoji="0" lang="en-US" sz="1600" b="1" i="0" u="none" strike="noStrike" kern="1200" cap="none" spc="0" normalizeH="0" baseline="0" noProof="0" dirty="0" err="1">
                <a:ln>
                  <a:noFill/>
                </a:ln>
                <a:solidFill>
                  <a:srgbClr val="C00000"/>
                </a:solidFill>
                <a:effectLst/>
                <a:uLnTx/>
                <a:uFillTx/>
                <a:latin typeface="Calibri"/>
                <a:ea typeface="+mn-ea"/>
                <a:cs typeface="Arial" pitchFamily="34" charset="0"/>
              </a:rPr>
              <a:t>Bueno</a:t>
            </a:r>
            <a:r>
              <a:rPr kumimoji="0" lang="en-US" sz="1600" b="1" i="0" u="none" strike="noStrike" kern="1200" cap="none" spc="0" normalizeH="0" baseline="0" noProof="0" dirty="0">
                <a:ln>
                  <a:noFill/>
                </a:ln>
                <a:solidFill>
                  <a:srgbClr val="C00000"/>
                </a:solidFill>
                <a:effectLst/>
                <a:uLnTx/>
                <a:uFillTx/>
                <a:latin typeface="Calibri"/>
                <a:ea typeface="+mn-ea"/>
                <a:cs typeface="Arial"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pitchFamily="34" charset="0"/>
              </a:rPr>
              <a:t>                ELSE '</a:t>
            </a:r>
            <a:r>
              <a:rPr kumimoji="0" lang="en-US" sz="1600" b="1" i="0" u="none" strike="noStrike" kern="1200" cap="none" spc="0" normalizeH="0" baseline="0" noProof="0" dirty="0" err="1">
                <a:ln>
                  <a:noFill/>
                </a:ln>
                <a:solidFill>
                  <a:srgbClr val="C00000"/>
                </a:solidFill>
                <a:effectLst/>
                <a:uLnTx/>
                <a:uFillTx/>
                <a:latin typeface="Calibri"/>
                <a:ea typeface="+mn-ea"/>
                <a:cs typeface="Arial" pitchFamily="34" charset="0"/>
              </a:rPr>
              <a:t>Excelente</a:t>
            </a:r>
            <a:r>
              <a:rPr kumimoji="0" lang="en-US" sz="1600" b="1" i="0" u="none" strike="noStrike" kern="1200" cap="none" spc="0" normalizeH="0" baseline="0" noProof="0" dirty="0">
                <a:ln>
                  <a:noFill/>
                </a:ln>
                <a:solidFill>
                  <a:srgbClr val="C00000"/>
                </a:solidFill>
                <a:effectLst/>
                <a:uLnTx/>
                <a:uFillTx/>
                <a:latin typeface="Calibri"/>
                <a:ea typeface="+mn-ea"/>
                <a:cs typeface="Arial" pitchFamily="34" charset="0"/>
              </a:rPr>
              <a:t>' END)</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 "</a:t>
            </a:r>
            <a:r>
              <a:rPr kumimoji="0" lang="en-US" sz="1600" b="1" i="0" u="none" strike="noStrike" kern="1200" cap="none" spc="0" normalizeH="0" baseline="0" noProof="0" dirty="0" err="1">
                <a:ln>
                  <a:noFill/>
                </a:ln>
                <a:solidFill>
                  <a:sysClr val="windowText" lastClr="000000"/>
                </a:solidFill>
                <a:effectLst/>
                <a:uLnTx/>
                <a:uFillTx/>
                <a:latin typeface="Calibri"/>
                <a:ea typeface="+mn-ea"/>
                <a:cs typeface="Arial" pitchFamily="34" charset="0"/>
              </a:rPr>
              <a:t>Calificación</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 del Salario"</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WHERE department_id IN(60,90)</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ORDER BY salary DESC;</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pic>
        <p:nvPicPr>
          <p:cNvPr id="17" name="Imagen 16">
            <a:extLst>
              <a:ext uri="{FF2B5EF4-FFF2-40B4-BE49-F238E27FC236}">
                <a16:creationId xmlns:a16="http://schemas.microsoft.com/office/drawing/2014/main" xmlns="" id="{89E698B3-3F4C-41FE-8BF4-E7376B334C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3808" y="4077072"/>
            <a:ext cx="3268780" cy="1939834"/>
          </a:xfrm>
          <a:prstGeom prst="rect">
            <a:avLst/>
          </a:prstGeom>
        </p:spPr>
      </p:pic>
      <p:sp>
        <p:nvSpPr>
          <p:cNvPr id="18" name="Rectangle 42">
            <a:extLst>
              <a:ext uri="{FF2B5EF4-FFF2-40B4-BE49-F238E27FC236}">
                <a16:creationId xmlns:a16="http://schemas.microsoft.com/office/drawing/2014/main" xmlns="" id="{072B0181-58DE-413D-8E10-67C53D704C0A}"/>
              </a:ext>
            </a:extLst>
          </p:cNvPr>
          <p:cNvSpPr>
            <a:spLocks noChangeArrowheads="1"/>
          </p:cNvSpPr>
          <p:nvPr/>
        </p:nvSpPr>
        <p:spPr bwMode="auto">
          <a:xfrm>
            <a:off x="4766508" y="4058854"/>
            <a:ext cx="1327769" cy="1958052"/>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Tree>
    <p:extLst>
      <p:ext uri="{BB962C8B-B14F-4D97-AF65-F5344CB8AC3E}">
        <p14:creationId xmlns:p14="http://schemas.microsoft.com/office/powerpoint/2010/main" val="3035056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Expresiones Condicionales: DECODE</a:t>
            </a:r>
          </a:p>
        </p:txBody>
      </p:sp>
      <p:sp>
        <p:nvSpPr>
          <p:cNvPr id="14" name="Rectangle 3">
            <a:extLst>
              <a:ext uri="{FF2B5EF4-FFF2-40B4-BE49-F238E27FC236}">
                <a16:creationId xmlns:a16="http://schemas.microsoft.com/office/drawing/2014/main" xmlns="" id="{FAB3838F-0EC5-4138-B374-D401AC1EE309}"/>
              </a:ext>
            </a:extLst>
          </p:cNvPr>
          <p:cNvSpPr txBox="1">
            <a:spLocks noChangeArrowheads="1"/>
          </p:cNvSpPr>
          <p:nvPr/>
        </p:nvSpPr>
        <p:spPr bwMode="auto">
          <a:xfrm>
            <a:off x="611188" y="1196752"/>
            <a:ext cx="2493962"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Arial" pitchFamily="34" charset="0"/>
              </a:rPr>
              <a:t>Sintaxis:</a:t>
            </a: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Arial" pitchFamily="34" charset="0"/>
            </a:endParaRPr>
          </a:p>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Arial" pitchFamily="34" charset="0"/>
              </a:rPr>
              <a:t>Ejemplo:</a:t>
            </a:r>
          </a:p>
        </p:txBody>
      </p:sp>
      <p:sp>
        <p:nvSpPr>
          <p:cNvPr id="15" name="Text Box 5">
            <a:extLst>
              <a:ext uri="{FF2B5EF4-FFF2-40B4-BE49-F238E27FC236}">
                <a16:creationId xmlns:a16="http://schemas.microsoft.com/office/drawing/2014/main" xmlns="" id="{E1DEC158-7325-4B1B-BA06-B41DFE2CA8CF}"/>
              </a:ext>
            </a:extLst>
          </p:cNvPr>
          <p:cNvSpPr txBox="1">
            <a:spLocks noChangeArrowheads="1"/>
          </p:cNvSpPr>
          <p:nvPr/>
        </p:nvSpPr>
        <p:spPr bwMode="auto">
          <a:xfrm>
            <a:off x="1331640" y="1484784"/>
            <a:ext cx="6624735"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DECODE(</a:t>
            </a:r>
            <a:r>
              <a:rPr kumimoji="0" lang="en-US" sz="1600" b="1" i="0" u="none" strike="noStrike" kern="1200" cap="none" spc="0" normalizeH="0" baseline="0" noProof="0" dirty="0" err="1">
                <a:ln>
                  <a:noFill/>
                </a:ln>
                <a:solidFill>
                  <a:srgbClr val="C00000"/>
                </a:solidFill>
                <a:effectLst/>
                <a:uLnTx/>
                <a:uFillTx/>
                <a:latin typeface="Calibri"/>
                <a:ea typeface="+mn-ea"/>
                <a:cs typeface="Arial" pitchFamily="34" charset="0"/>
              </a:rPr>
              <a:t>columna|expresión</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 </a:t>
            </a:r>
            <a:r>
              <a:rPr kumimoji="0" lang="en-US" sz="1600" b="1" i="1" u="none" strike="noStrike" kern="1200" cap="none" spc="0" normalizeH="0" baseline="0" noProof="0" dirty="0">
                <a:ln>
                  <a:noFill/>
                </a:ln>
                <a:solidFill>
                  <a:srgbClr val="0000DA"/>
                </a:solidFill>
                <a:effectLst/>
                <a:uLnTx/>
                <a:uFillTx/>
                <a:latin typeface="Calibri"/>
                <a:ea typeface="+mn-ea"/>
                <a:cs typeface="Arial" pitchFamily="34" charset="0"/>
              </a:rPr>
              <a:t>búsqueda1</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 </a:t>
            </a:r>
            <a:r>
              <a:rPr kumimoji="0" lang="en-US" sz="1600" b="1" i="1" u="none" strike="noStrike" kern="1200" cap="none" spc="0" normalizeH="0" baseline="0" noProof="0" dirty="0">
                <a:ln>
                  <a:noFill/>
                </a:ln>
                <a:solidFill>
                  <a:srgbClr val="800080"/>
                </a:solidFill>
                <a:effectLst/>
                <a:uLnTx/>
                <a:uFillTx/>
                <a:latin typeface="Calibri"/>
                <a:ea typeface="+mn-ea"/>
                <a:cs typeface="Arial" pitchFamily="34" charset="0"/>
              </a:rPr>
              <a:t>resultado1</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                                                   [, </a:t>
            </a:r>
            <a:r>
              <a:rPr kumimoji="0" lang="en-US" sz="1600" b="1" i="1" u="none" strike="noStrike" kern="1200" cap="none" spc="0" normalizeH="0" baseline="0" noProof="0" dirty="0">
                <a:ln>
                  <a:noFill/>
                </a:ln>
                <a:solidFill>
                  <a:srgbClr val="0000DA"/>
                </a:solidFill>
                <a:effectLst/>
                <a:uLnTx/>
                <a:uFillTx/>
                <a:latin typeface="Calibri"/>
                <a:ea typeface="+mn-ea"/>
                <a:cs typeface="Arial" pitchFamily="34" charset="0"/>
              </a:rPr>
              <a:t>búsqueda2</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 </a:t>
            </a:r>
            <a:r>
              <a:rPr kumimoji="0" lang="en-US" sz="1600" b="1" i="1" u="none" strike="noStrike" kern="1200" cap="none" spc="0" normalizeH="0" baseline="0" noProof="0" dirty="0">
                <a:ln>
                  <a:noFill/>
                </a:ln>
                <a:solidFill>
                  <a:srgbClr val="800080"/>
                </a:solidFill>
                <a:effectLst/>
                <a:uLnTx/>
                <a:uFillTx/>
                <a:latin typeface="Calibri"/>
                <a:ea typeface="+mn-ea"/>
                <a:cs typeface="Arial" pitchFamily="34" charset="0"/>
              </a:rPr>
              <a:t>resultado2</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 … , ]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                                                   [</a:t>
            </a:r>
            <a:r>
              <a:rPr kumimoji="0" lang="en-US" sz="1600" b="1" i="1" u="none" strike="noStrike" kern="1200" cap="none" spc="0" normalizeH="0" baseline="0" noProof="0" dirty="0" err="1">
                <a:ln>
                  <a:noFill/>
                </a:ln>
                <a:solidFill>
                  <a:srgbClr val="800080"/>
                </a:solidFill>
                <a:effectLst/>
                <a:uLnTx/>
                <a:uFillTx/>
                <a:latin typeface="Calibri"/>
                <a:ea typeface="+mn-ea"/>
                <a:cs typeface="Arial" pitchFamily="34" charset="0"/>
              </a:rPr>
              <a:t>resultado</a:t>
            </a:r>
            <a:r>
              <a:rPr kumimoji="0" lang="en-US" sz="1600" b="1" i="1" u="none" strike="noStrike" kern="1200" cap="none" spc="0" normalizeH="0" baseline="0" noProof="0" dirty="0">
                <a:ln>
                  <a:noFill/>
                </a:ln>
                <a:solidFill>
                  <a:srgbClr val="800080"/>
                </a:solidFill>
                <a:effectLst/>
                <a:uLnTx/>
                <a:uFillTx/>
                <a:latin typeface="Calibri"/>
                <a:ea typeface="+mn-ea"/>
                <a:cs typeface="Arial" pitchFamily="34" charset="0"/>
              </a:rPr>
              <a:t> </a:t>
            </a:r>
            <a:r>
              <a:rPr kumimoji="0" lang="en-US" sz="1600" b="1" i="1" u="none" strike="noStrike" kern="1200" cap="none" spc="0" normalizeH="0" baseline="0" noProof="0" dirty="0" err="1">
                <a:ln>
                  <a:noFill/>
                </a:ln>
                <a:solidFill>
                  <a:srgbClr val="800080"/>
                </a:solidFill>
                <a:effectLst/>
                <a:uLnTx/>
                <a:uFillTx/>
                <a:latin typeface="Calibri"/>
                <a:ea typeface="+mn-ea"/>
                <a:cs typeface="Arial" pitchFamily="34" charset="0"/>
              </a:rPr>
              <a:t>por</a:t>
            </a:r>
            <a:r>
              <a:rPr kumimoji="0" lang="en-US" sz="1600" b="1" i="1" u="none" strike="noStrike" kern="1200" cap="none" spc="0" normalizeH="0" baseline="0" noProof="0" dirty="0">
                <a:ln>
                  <a:noFill/>
                </a:ln>
                <a:solidFill>
                  <a:srgbClr val="800080"/>
                </a:solidFill>
                <a:effectLst/>
                <a:uLnTx/>
                <a:uFillTx/>
                <a:latin typeface="Calibri"/>
                <a:ea typeface="+mn-ea"/>
                <a:cs typeface="Arial" pitchFamily="34" charset="0"/>
              </a:rPr>
              <a:t> </a:t>
            </a:r>
            <a:r>
              <a:rPr kumimoji="0" lang="en-US" sz="1600" b="1" i="1" u="none" strike="noStrike" kern="1200" cap="none" spc="0" normalizeH="0" baseline="0" noProof="0" dirty="0" err="1">
                <a:ln>
                  <a:noFill/>
                </a:ln>
                <a:solidFill>
                  <a:srgbClr val="800080"/>
                </a:solidFill>
                <a:effectLst/>
                <a:uLnTx/>
                <a:uFillTx/>
                <a:latin typeface="Calibri"/>
                <a:ea typeface="+mn-ea"/>
                <a:cs typeface="Arial" pitchFamily="34" charset="0"/>
              </a:rPr>
              <a:t>defecto</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Text Box 5">
            <a:extLst>
              <a:ext uri="{FF2B5EF4-FFF2-40B4-BE49-F238E27FC236}">
                <a16:creationId xmlns:a16="http://schemas.microsoft.com/office/drawing/2014/main" xmlns="" id="{9B85DD9D-5267-4D10-90FE-8B183750E30D}"/>
              </a:ext>
            </a:extLst>
          </p:cNvPr>
          <p:cNvSpPr txBox="1">
            <a:spLocks noChangeArrowheads="1"/>
          </p:cNvSpPr>
          <p:nvPr/>
        </p:nvSpPr>
        <p:spPr bwMode="auto">
          <a:xfrm>
            <a:off x="1259632" y="3356992"/>
            <a:ext cx="7128792" cy="1815882"/>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SELECT employee_id, job_id, department_id, salary,</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pitchFamily="34" charset="0"/>
              </a:rPr>
              <a:t>                DECODE (job_id, 'PR_REP', 1.15*salary,</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pitchFamily="34" charset="0"/>
              </a:rPr>
              <a:t>                                                'MK_MAN', 1.20*salary,</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pitchFamily="34" charset="0"/>
              </a:rPr>
              <a:t>                salary)</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 "Salario </a:t>
            </a:r>
            <a:r>
              <a:rPr kumimoji="0" lang="en-US" sz="1600" b="1" i="0" u="none" strike="noStrike" kern="1200" cap="none" spc="0" normalizeH="0" baseline="0" noProof="0" dirty="0" err="1">
                <a:ln>
                  <a:noFill/>
                </a:ln>
                <a:solidFill>
                  <a:sysClr val="windowText" lastClr="000000"/>
                </a:solidFill>
                <a:effectLst/>
                <a:uLnTx/>
                <a:uFillTx/>
                <a:latin typeface="Calibri"/>
                <a:ea typeface="+mn-ea"/>
                <a:cs typeface="Arial" pitchFamily="34" charset="0"/>
              </a:rPr>
              <a:t>Incrementado</a:t>
            </a: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ysClr val="windowText" lastClr="000000"/>
                </a:solidFill>
                <a:effectLst/>
                <a:uLnTx/>
                <a:uFillTx/>
                <a:latin typeface="Calibri"/>
                <a:ea typeface="+mn-ea"/>
                <a:cs typeface="Arial" pitchFamily="34" charset="0"/>
              </a:rPr>
              <a:t>WHERE department_id IN(70, 20, 110);</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pic>
        <p:nvPicPr>
          <p:cNvPr id="19" name="Imagen 18">
            <a:extLst>
              <a:ext uri="{FF2B5EF4-FFF2-40B4-BE49-F238E27FC236}">
                <a16:creationId xmlns:a16="http://schemas.microsoft.com/office/drawing/2014/main" xmlns="" id="{C44A8773-3BBE-4E4C-AACE-8718A78669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3728" y="5253335"/>
            <a:ext cx="4752528" cy="1222079"/>
          </a:xfrm>
          <a:prstGeom prst="rect">
            <a:avLst/>
          </a:prstGeom>
        </p:spPr>
      </p:pic>
      <p:sp>
        <p:nvSpPr>
          <p:cNvPr id="20" name="Rectangle 42">
            <a:extLst>
              <a:ext uri="{FF2B5EF4-FFF2-40B4-BE49-F238E27FC236}">
                <a16:creationId xmlns:a16="http://schemas.microsoft.com/office/drawing/2014/main" xmlns="" id="{644B3154-2C0D-453A-86AB-72C49DA6D8CF}"/>
              </a:ext>
            </a:extLst>
          </p:cNvPr>
          <p:cNvSpPr>
            <a:spLocks noChangeArrowheads="1"/>
          </p:cNvSpPr>
          <p:nvPr/>
        </p:nvSpPr>
        <p:spPr bwMode="auto">
          <a:xfrm>
            <a:off x="5713498" y="5253336"/>
            <a:ext cx="1184274" cy="1222078"/>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b="1" i="1" kern="1200">
              <a:solidFill>
                <a:prstClr val="black"/>
              </a:solidFill>
              <a:latin typeface="Times New Roman" pitchFamily="18" charset="0"/>
              <a:ea typeface="+mn-ea"/>
              <a:cs typeface="Arial" panose="020B0604020202020204" pitchFamily="34" charset="0"/>
            </a:endParaRPr>
          </a:p>
        </p:txBody>
      </p:sp>
    </p:spTree>
    <p:extLst>
      <p:ext uri="{BB962C8B-B14F-4D97-AF65-F5344CB8AC3E}">
        <p14:creationId xmlns:p14="http://schemas.microsoft.com/office/powerpoint/2010/main" val="42081212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xmlns=""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31</a:t>
            </a:fld>
            <a:endParaRPr lang="en-US"/>
          </a:p>
        </p:txBody>
      </p:sp>
      <p:sp>
        <p:nvSpPr>
          <p:cNvPr id="2" name="Título 1">
            <a:extLst>
              <a:ext uri="{FF2B5EF4-FFF2-40B4-BE49-F238E27FC236}">
                <a16:creationId xmlns:a16="http://schemas.microsoft.com/office/drawing/2014/main" xmlns="" id="{9750BC02-FE4E-1148-8346-BA2C94ECC781}"/>
              </a:ext>
            </a:extLst>
          </p:cNvPr>
          <p:cNvSpPr>
            <a:spLocks noGrp="1"/>
          </p:cNvSpPr>
          <p:nvPr>
            <p:ph type="title"/>
          </p:nvPr>
        </p:nvSpPr>
        <p:spPr/>
        <p:txBody>
          <a:bodyPr/>
          <a:lstStyle/>
          <a:p>
            <a:r>
              <a:rPr lang="es-ES_tradnl" b="1" dirty="0"/>
              <a:t>Resumen de la Clase</a:t>
            </a:r>
          </a:p>
        </p:txBody>
      </p:sp>
      <p:sp>
        <p:nvSpPr>
          <p:cNvPr id="9" name="Marcador de texto 8">
            <a:extLst>
              <a:ext uri="{FF2B5EF4-FFF2-40B4-BE49-F238E27FC236}">
                <a16:creationId xmlns:a16="http://schemas.microsoft.com/office/drawing/2014/main" xmlns="" id="{C0A58EEC-AE91-4A1D-A092-4DC34F040D5C}"/>
              </a:ext>
            </a:extLst>
          </p:cNvPr>
          <p:cNvSpPr>
            <a:spLocks noGrp="1"/>
          </p:cNvSpPr>
          <p:nvPr>
            <p:ph type="body" sz="quarter" idx="11"/>
          </p:nvPr>
        </p:nvSpPr>
        <p:spPr>
          <a:xfrm>
            <a:off x="560387" y="2804253"/>
            <a:ext cx="8023225" cy="2275770"/>
          </a:xfrm>
        </p:spPr>
        <p:txBody>
          <a:bodyPr/>
          <a:lstStyle/>
          <a:p>
            <a:pPr marL="393700" indent="-342900" algn="just">
              <a:buFont typeface="Arial" panose="020B0604020202020204" pitchFamily="34" charset="0"/>
              <a:buChar char="•"/>
            </a:pPr>
            <a:r>
              <a:rPr lang="es-CL" sz="2200" dirty="0"/>
              <a:t>Se explicó cómo convertir en forma explícita un tipo de dato numérico a carácter en una sentencia SQL.</a:t>
            </a:r>
          </a:p>
          <a:p>
            <a:pPr marL="393700" indent="-342900" algn="just">
              <a:buFont typeface="Arial" panose="020B0604020202020204" pitchFamily="34" charset="0"/>
              <a:buChar char="•"/>
            </a:pPr>
            <a:r>
              <a:rPr lang="es-CL" sz="2200" dirty="0"/>
              <a:t>Se explicó cómo convertir en forma explícita un tipo de dato </a:t>
            </a:r>
            <a:r>
              <a:rPr lang="es-CL" sz="2200" dirty="0" err="1"/>
              <a:t>caracter</a:t>
            </a:r>
            <a:r>
              <a:rPr lang="es-CL" sz="2200" dirty="0"/>
              <a:t> a número en una sentencia SQL.</a:t>
            </a:r>
          </a:p>
          <a:p>
            <a:pPr marL="393700" indent="-342900" algn="just">
              <a:buFont typeface="Arial" panose="020B0604020202020204" pitchFamily="34" charset="0"/>
              <a:buChar char="•"/>
            </a:pPr>
            <a:r>
              <a:rPr lang="es-CL" sz="2200" dirty="0"/>
              <a:t>Se explicó cómo convertir en forma explícita un tipo de dato fecha a </a:t>
            </a:r>
            <a:r>
              <a:rPr lang="es-CL" sz="2200" dirty="0" err="1"/>
              <a:t>caracter</a:t>
            </a:r>
            <a:r>
              <a:rPr lang="es-CL" sz="2200" dirty="0"/>
              <a:t> en una sentencia SQL.</a:t>
            </a:r>
          </a:p>
          <a:p>
            <a:pPr marL="393700" indent="-342900" algn="just">
              <a:buFont typeface="Arial" panose="020B0604020202020204" pitchFamily="34" charset="0"/>
              <a:buChar char="•"/>
            </a:pPr>
            <a:r>
              <a:rPr lang="es-CL" sz="2200" dirty="0"/>
              <a:t>Se explicó cómo convertir en forma explícita un tipo de dato </a:t>
            </a:r>
            <a:r>
              <a:rPr lang="es-CL" sz="2200" dirty="0" err="1"/>
              <a:t>caracter</a:t>
            </a:r>
            <a:r>
              <a:rPr lang="es-CL" sz="2200" dirty="0"/>
              <a:t> a fecha en una sentencia SQL.</a:t>
            </a:r>
          </a:p>
          <a:p>
            <a:pPr marL="393700" indent="-342900" algn="just">
              <a:buFont typeface="Arial" panose="020B0604020202020204" pitchFamily="34" charset="0"/>
              <a:buChar char="•"/>
            </a:pPr>
            <a:r>
              <a:rPr lang="es-CL" sz="2200" dirty="0"/>
              <a:t>Se explicó cómo definir un valor cuando alguna expresión es NULA en una sentencia SQL.</a:t>
            </a:r>
          </a:p>
          <a:p>
            <a:pPr marL="393700" indent="-342900" algn="just">
              <a:buFont typeface="Arial" panose="020B0604020202020204" pitchFamily="34" charset="0"/>
              <a:buChar char="•"/>
            </a:pPr>
            <a:r>
              <a:rPr lang="es-CL" sz="2200" dirty="0"/>
              <a:t>Se explicó cómo trabajar con Funciones Anidadas en una sentencia SQL.</a:t>
            </a:r>
          </a:p>
          <a:p>
            <a:pPr marL="393700" indent="-342900" algn="just">
              <a:buFont typeface="Arial" panose="020B0604020202020204" pitchFamily="34" charset="0"/>
              <a:buChar char="•"/>
            </a:pPr>
            <a:r>
              <a:rPr lang="es-CL" sz="2200" dirty="0"/>
              <a:t>Se explicó cómo implementar una condición lógica IF-THEN-ELSE en una sentencia SQL.</a:t>
            </a:r>
          </a:p>
          <a:p>
            <a:pPr algn="l"/>
            <a:endParaRPr lang="es-CL" sz="2200" dirty="0"/>
          </a:p>
        </p:txBody>
      </p:sp>
    </p:spTree>
    <p:extLst>
      <p:ext uri="{BB962C8B-B14F-4D97-AF65-F5344CB8AC3E}">
        <p14:creationId xmlns:p14="http://schemas.microsoft.com/office/powerpoint/2010/main" val="540675517"/>
      </p:ext>
    </p:extLst>
  </p:cSld>
  <p:clrMapOvr>
    <a:masterClrMapping/>
  </p:clrMapOvr>
</p:sld>
</file>

<file path=ppt/theme/theme1.xml><?xml version="1.0" encoding="utf-8"?>
<a:theme xmlns:a="http://schemas.openxmlformats.org/drawingml/2006/main" name="Tema de Office">
  <a:themeElements>
    <a:clrScheme name="DUOC 2">
      <a:dk1>
        <a:srgbClr val="17274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Autofit/>
      </a:bodyPr>
      <a:lstStyle>
        <a:defPPr algn="l">
          <a:defRPr sz="2400" dirty="0"/>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2652</TotalTime>
  <Words>4718</Words>
  <Application>Microsoft Office PowerPoint</Application>
  <PresentationFormat>Presentación en pantalla (4:3)</PresentationFormat>
  <Paragraphs>567</Paragraphs>
  <Slides>31</Slides>
  <Notes>28</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31</vt:i4>
      </vt:variant>
    </vt:vector>
  </HeadingPairs>
  <TitlesOfParts>
    <vt:vector size="42" baseType="lpstr">
      <vt:lpstr>Calibri</vt:lpstr>
      <vt:lpstr>Roboto</vt:lpstr>
      <vt:lpstr>Roboto Condensed</vt:lpstr>
      <vt:lpstr>Times New Roman</vt:lpstr>
      <vt:lpstr>Roboto Mono</vt:lpstr>
      <vt:lpstr>Franklin Gothic</vt:lpstr>
      <vt:lpstr>Arial Unicode MS</vt:lpstr>
      <vt:lpstr>Arial</vt:lpstr>
      <vt:lpstr>Bebas Neue</vt:lpstr>
      <vt:lpstr>Arial Black</vt:lpstr>
      <vt:lpstr>Tema de Office</vt:lpstr>
      <vt:lpstr>Usando  Funciones SQL de una Fila de Conversión y Validar Valores Nulos</vt:lpstr>
      <vt:lpstr>Experiencia de Aprendizaje y Competencia Asociada</vt:lpstr>
      <vt:lpstr>Objetivos de la Clase</vt:lpstr>
      <vt:lpstr>Funciones  de Conversión de  Tipos de Datos</vt:lpstr>
      <vt:lpstr>Conversión de Tipos de Datos</vt:lpstr>
      <vt:lpstr>Conversión de Tipos de Datos Implícita</vt:lpstr>
      <vt:lpstr>Conversión de Tipos de Datos Explícita</vt:lpstr>
      <vt:lpstr>Uso Función TO_CHAR  con Fechas</vt:lpstr>
      <vt:lpstr>Uso Función TO_CHAR  con Fechas</vt:lpstr>
      <vt:lpstr>Uso Función TO_CHAR  con Fechas</vt:lpstr>
      <vt:lpstr>Uso Función TO_CHAR  con Números</vt:lpstr>
      <vt:lpstr>Uso Función TO_CHAR  con Números</vt:lpstr>
      <vt:lpstr>Uso de Función TO_NUMBER con Caracteres </vt:lpstr>
      <vt:lpstr>Uso de Función TO_DATE  con Caracteres </vt:lpstr>
      <vt:lpstr>Uso de Función TO_DATE  con Caracteres </vt:lpstr>
      <vt:lpstr>Funciones  para validar valores Nulos</vt:lpstr>
      <vt:lpstr>Funciones Generales</vt:lpstr>
      <vt:lpstr>Funciones Generales: NVL</vt:lpstr>
      <vt:lpstr>Funciones Generales: NVL</vt:lpstr>
      <vt:lpstr>Funciones Generales: NVL2</vt:lpstr>
      <vt:lpstr>Funciones Generales: NULLIF</vt:lpstr>
      <vt:lpstr>Funciones Generales: COALESCE</vt:lpstr>
      <vt:lpstr>Funciones Anidadas</vt:lpstr>
      <vt:lpstr>Funciones Anidadas</vt:lpstr>
      <vt:lpstr>Implementar Condición Lógica en Sentencias SQL</vt:lpstr>
      <vt:lpstr>Expresiones Condicionales</vt:lpstr>
      <vt:lpstr>Expresiones Condicionales: CASE</vt:lpstr>
      <vt:lpstr>Expresiones Condicionales: CASE</vt:lpstr>
      <vt:lpstr>Expresiones Condicionales: CASE</vt:lpstr>
      <vt:lpstr>Expresiones Condicionales: DECODE</vt:lpstr>
      <vt:lpstr>Resumen de la Clase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Y GESTIÓN DE REQUISITOS</dc:title>
  <dc:creator>Alejandra Gajardo</dc:creator>
  <cp:lastModifiedBy>Usuario de Windows</cp:lastModifiedBy>
  <cp:revision>388</cp:revision>
  <dcterms:modified xsi:type="dcterms:W3CDTF">2020-06-24T16:07:45Z</dcterms:modified>
</cp:coreProperties>
</file>