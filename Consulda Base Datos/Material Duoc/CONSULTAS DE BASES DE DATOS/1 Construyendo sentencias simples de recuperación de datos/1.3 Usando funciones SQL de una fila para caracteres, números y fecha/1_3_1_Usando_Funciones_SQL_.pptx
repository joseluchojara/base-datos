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2"/>
  </p:notesMasterIdLst>
  <p:sldIdLst>
    <p:sldId id="256" r:id="rId2"/>
    <p:sldId id="257" r:id="rId3"/>
    <p:sldId id="263" r:id="rId4"/>
    <p:sldId id="258" r:id="rId5"/>
    <p:sldId id="315" r:id="rId6"/>
    <p:sldId id="316" r:id="rId7"/>
    <p:sldId id="353" r:id="rId8"/>
    <p:sldId id="317" r:id="rId9"/>
    <p:sldId id="268" r:id="rId10"/>
    <p:sldId id="279" r:id="rId11"/>
    <p:sldId id="354" r:id="rId12"/>
    <p:sldId id="320" r:id="rId13"/>
    <p:sldId id="355" r:id="rId14"/>
    <p:sldId id="356" r:id="rId15"/>
    <p:sldId id="357" r:id="rId16"/>
    <p:sldId id="269" r:id="rId17"/>
    <p:sldId id="304" r:id="rId18"/>
    <p:sldId id="342" r:id="rId19"/>
    <p:sldId id="358" r:id="rId20"/>
    <p:sldId id="343" r:id="rId21"/>
    <p:sldId id="270" r:id="rId22"/>
    <p:sldId id="281" r:id="rId23"/>
    <p:sldId id="359" r:id="rId24"/>
    <p:sldId id="360" r:id="rId25"/>
    <p:sldId id="361" r:id="rId26"/>
    <p:sldId id="362" r:id="rId27"/>
    <p:sldId id="363" r:id="rId28"/>
    <p:sldId id="364" r:id="rId29"/>
    <p:sldId id="365" r:id="rId30"/>
    <p:sldId id="314" r:id="rId31"/>
  </p:sldIdLst>
  <p:sldSz cx="9144000" cy="6858000" type="screen4x3"/>
  <p:notesSz cx="6858000" cy="9144000"/>
  <p:embeddedFontLst>
    <p:embeddedFont>
      <p:font typeface="Roboto Mono" panose="020B0604020202020204" charset="0"/>
      <p:regular r:id="rId33"/>
      <p:bold r:id="rId34"/>
      <p:italic r:id="rId35"/>
      <p:boldItalic r:id="rId36"/>
    </p:embeddedFont>
    <p:embeddedFont>
      <p:font typeface="Bebas Neue" panose="020B0604020202020204" charset="0"/>
      <p:regular r:id="rId37"/>
    </p:embeddedFont>
    <p:embeddedFont>
      <p:font typeface="Franklin Gothic" panose="020B0604020202020204" charset="0"/>
      <p:regular r:id="rId38"/>
      <p:bold r:id="rId39"/>
      <p:italic r:id="rId40"/>
      <p:boldItalic r:id="rId41"/>
    </p:embeddedFont>
    <p:embeddedFont>
      <p:font typeface="Arial Unicode MS" panose="020B0604020202020204" pitchFamily="34" charset="-128"/>
      <p:regular r:id="rId42"/>
    </p:embeddedFont>
    <p:embeddedFont>
      <p:font typeface="ＭＳ Ｐゴシック" panose="020B0600070205080204" pitchFamily="34" charset="-128"/>
      <p:regular r:id="rId43"/>
    </p:embeddedFont>
    <p:embeddedFont>
      <p:font typeface="Arial Black" panose="020B0A04020102020204" pitchFamily="34" charset="0"/>
      <p:bold r:id="rId44"/>
    </p:embeddedFont>
    <p:embeddedFont>
      <p:font typeface="Roboto Condensed" panose="020B0604020202020204" charset="0"/>
      <p:regular r:id="rId45"/>
      <p:bold r:id="rId46"/>
      <p:italic r:id="rId47"/>
      <p:boldItalic r:id="rId48"/>
    </p:embeddedFont>
    <p:embeddedFont>
      <p:font typeface="Calibri" panose="020F050202020403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8850" autoAdjust="0"/>
  </p:normalViewPr>
  <p:slideViewPr>
    <p:cSldViewPr snapToGrid="0" snapToObjects="1">
      <p:cViewPr varScale="1">
        <p:scale>
          <a:sx n="59" d="100"/>
          <a:sy n="59" d="100"/>
        </p:scale>
        <p:origin x="168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339709a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6339709a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631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326131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SQL</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90000"/>
              </a:lnSpc>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son una característica muy poderosa del SQL. A partir de parámetros que requiere (cuando se requiera) para realizar una acción y entregar un resultado.</a:t>
            </a:r>
          </a:p>
          <a:p>
            <a:pPr marL="0" indent="0" algn="just" eaLnBrk="1" hangingPunct="1">
              <a:lnSpc>
                <a:spcPct val="90000"/>
              </a:lnSpc>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pueden ser usadas para:</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Realizar cálculos sobre los datos.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Modificar datos individuales.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Manipular la salida para grupos de filas.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Formatear fechas y números para ser visualizadas.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Convertir tipos de datos de columnas.</a:t>
            </a:r>
          </a:p>
          <a:p>
            <a:pPr marL="0" indent="0" algn="just" eaLnBrk="1" hangingPunct="1">
              <a:lnSpc>
                <a:spcPct val="90000"/>
              </a:lnSpc>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pueden opcionalmente recibir argumentos (valores) como entrada, pero SIEMPRE retornan un valor.</a:t>
            </a:r>
          </a:p>
        </p:txBody>
      </p:sp>
    </p:spTree>
    <p:extLst>
      <p:ext uri="{BB962C8B-B14F-4D97-AF65-F5344CB8AC3E}">
        <p14:creationId xmlns:p14="http://schemas.microsoft.com/office/powerpoint/2010/main" val="4133068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80000"/>
              </a:lnSpc>
              <a:spcBef>
                <a:spcPct val="0"/>
              </a:spcBef>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SQL</a:t>
            </a:r>
          </a:p>
          <a:p>
            <a:pPr marL="0" indent="0" eaLnBrk="1" hangingPunct="1">
              <a:lnSpc>
                <a:spcPct val="8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que operan con una fila (single-</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row</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Operan sobre cada una de las fila y retornan un resultado por cada una de ellas.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Existen diferentes funciones de: caracteres, numéricas, fechas, conversión y general.</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que operan con múltiples filas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multiple-row</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 pueden manipular grupos de filas.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Entregan un resultado por grupo de filas.</a:t>
            </a:r>
            <a:endParaRPr lang="es-MX" sz="1200" dirty="0">
              <a:latin typeface="Calibri" panose="020F0502020204030204" pitchFamily="34" charset="0"/>
              <a:cs typeface="Calibri" panose="020F0502020204030204" pitchFamily="34" charset="0"/>
            </a:endParaRPr>
          </a:p>
          <a:p>
            <a:pPr marL="0" indent="0" algn="just">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50250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SQL de una Fila</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CL" sz="1200" b="0" i="0" u="none" strike="noStrike" cap="none" dirty="0">
                <a:solidFill>
                  <a:schemeClr val="bg1"/>
                </a:solidFill>
                <a:latin typeface="Calibri" panose="020F0502020204030204" pitchFamily="34" charset="0"/>
                <a:ea typeface="Arial"/>
                <a:cs typeface="Calibri" panose="020F0502020204030204" pitchFamily="34" charset="0"/>
                <a:sym typeface="Arial"/>
              </a:rPr>
              <a:t>Se pueden usar en las cláusulas SELECT, WHERE y ORDER BY.</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ES" sz="1200" b="0" i="0" u="none" strike="noStrike" cap="none" dirty="0">
                <a:solidFill>
                  <a:schemeClr val="bg1"/>
                </a:solidFill>
                <a:latin typeface="Calibri" panose="020F0502020204030204" pitchFamily="34" charset="0"/>
                <a:ea typeface="Arial"/>
                <a:cs typeface="Calibri" panose="020F0502020204030204" pitchFamily="34" charset="0"/>
                <a:sym typeface="Arial"/>
              </a:rPr>
              <a:t>En un sentencias UPDATE se puede usar en la cláusula SET.</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CL" sz="1200" b="0" i="0" u="none" strike="noStrike" cap="none" dirty="0">
                <a:solidFill>
                  <a:schemeClr val="bg1"/>
                </a:solidFill>
                <a:latin typeface="Calibri" panose="020F0502020204030204" pitchFamily="34" charset="0"/>
                <a:ea typeface="Arial"/>
                <a:cs typeface="Calibri" panose="020F0502020204030204" pitchFamily="34" charset="0"/>
                <a:sym typeface="Arial"/>
              </a:rPr>
              <a:t>Actúan sobre cada fila afectada por una sentencia SELECT, INSERT o UPDATE y por cada una de las filas entrega un resultado.</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CL" sz="1200" b="0" i="0" u="none" strike="noStrike" cap="none" dirty="0">
                <a:solidFill>
                  <a:schemeClr val="bg1"/>
                </a:solidFill>
                <a:latin typeface="Calibri" panose="020F0502020204030204" pitchFamily="34" charset="0"/>
                <a:ea typeface="Arial"/>
                <a:cs typeface="Calibri" panose="020F0502020204030204" pitchFamily="34" charset="0"/>
                <a:sym typeface="Arial"/>
              </a:rPr>
              <a:t>Aceptan argumentos que pueden ser: un valore constante, una variable, el nombre de una columna o una expresión.</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CL" sz="1200" b="0" i="0" u="none" strike="noStrike" cap="none" dirty="0">
                <a:solidFill>
                  <a:srgbClr val="FFFFFF"/>
                </a:solidFill>
                <a:latin typeface="Calibri" panose="020F0502020204030204" pitchFamily="34" charset="0"/>
                <a:ea typeface="Arial"/>
                <a:cs typeface="Calibri" panose="020F0502020204030204" pitchFamily="34" charset="0"/>
                <a:sym typeface="Arial"/>
              </a:rPr>
              <a:t>Manipulan datos y pueden modificar el tipo de datos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lang="es-CL" sz="1200" b="0" i="0" u="none" strike="noStrike" cap="none" dirty="0">
                <a:solidFill>
                  <a:srgbClr val="FFFFFF"/>
                </a:solidFill>
                <a:latin typeface="Calibri" panose="020F0502020204030204" pitchFamily="34" charset="0"/>
                <a:ea typeface="Arial"/>
                <a:cs typeface="Calibri" panose="020F0502020204030204" pitchFamily="34" charset="0"/>
                <a:sym typeface="Arial"/>
              </a:rPr>
              <a:t>Se pueden usar en forma anidada. No hay límite del número de funciones anidadas. El resultado de una función es el argumento para la otra.</a:t>
            </a:r>
          </a:p>
          <a:p>
            <a:pPr marL="0" marR="0" lvl="0" indent="0" algn="l" defTabSz="914400" rtl="0" eaLnBrk="1" fontAlgn="base" latinLnBrk="0" hangingPunct="1">
              <a:lnSpc>
                <a:spcPct val="80000"/>
              </a:lnSpc>
              <a:spcBef>
                <a:spcPct val="0"/>
              </a:spcBef>
              <a:spcAft>
                <a:spcPct val="0"/>
              </a:spcAft>
              <a:buClrTx/>
              <a:buSzTx/>
              <a:buFont typeface="Arial" panose="020B0604020202020204" pitchFamily="34" charset="0"/>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Sintaxis:</a:t>
            </a:r>
          </a:p>
          <a:p>
            <a:pPr marL="171450" indent="-171450" eaLnBrk="1" hangingPunct="1">
              <a:lnSpc>
                <a:spcPct val="80000"/>
              </a:lnSpc>
              <a:spcBef>
                <a:spcPct val="0"/>
              </a:spcBef>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nombre_función</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la función SQL que se va a utilizar</a:t>
            </a:r>
          </a:p>
          <a:p>
            <a:pPr marL="171450" indent="-171450" eaLnBrk="1" hangingPunct="1">
              <a:lnSpc>
                <a:spcPct val="80000"/>
              </a:lnSpc>
              <a:spcBef>
                <a:spcPct val="0"/>
              </a:spcBef>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argumentoN</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 el valor que requiere la función para realizar una acción y retornar un resultado. Pueden ser constantes proporcionadas por el usuario, valores variables, nombre de columnas y expresiones.</a:t>
            </a:r>
          </a:p>
          <a:p>
            <a:pPr marL="0" marR="0" lvl="0" indent="0" algn="l" defTabSz="914400" rtl="0" eaLnBrk="1" fontAlgn="base" latinLnBrk="0" hangingPunct="1">
              <a:lnSpc>
                <a:spcPct val="80000"/>
              </a:lnSpc>
              <a:spcBef>
                <a:spcPct val="0"/>
              </a:spcBef>
              <a:spcAft>
                <a:spcPct val="0"/>
              </a:spcAft>
              <a:buClrTx/>
              <a:buSzTx/>
              <a:buFont typeface="Arial" panose="020B0604020202020204" pitchFamily="34" charset="0"/>
              <a:buNone/>
              <a:tabLst/>
              <a:defRPr/>
            </a:pPr>
            <a:endParaRPr lang="es-CL" sz="1200" b="0" i="0" u="none" strike="noStrike" cap="none" dirty="0">
              <a:solidFill>
                <a:schemeClr val="bg1"/>
              </a:solidFill>
              <a:latin typeface="Arial"/>
              <a:ea typeface="Arial"/>
              <a:cs typeface="Arial"/>
              <a:sym typeface="Arial"/>
            </a:endParaRPr>
          </a:p>
          <a:p>
            <a:pPr marL="0" indent="0" algn="just">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350826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80000"/>
              </a:lnSpc>
              <a:spcBef>
                <a:spcPct val="0"/>
              </a:spcBef>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SQL de una Fila</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caracteres: aceptan un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caracter</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como argumento o parámetro de entrada y retorna un valor de tipo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caracter</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y número. </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numéricas: aceptan como entrada un número y retornan un número. </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fechas: operan sobre valores de tipo fecha (DATE). Todas las funciones de fechas retornan una fecha excepto la función MONTHS_BETWEEN que retorna un número.</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Conversión: transforman un valor de un tipo a otro.</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Generales: validan una columna o expresión para retornar un valor.</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9460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07011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eaLnBrk="1" hangingPunct="1">
              <a:lnSpc>
                <a:spcPct val="90000"/>
              </a:lnSpc>
              <a:spcBef>
                <a:spcPct val="0"/>
              </a:spcBef>
              <a:buFontTx/>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Caracteres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eaLnBrk="1" hangingPunct="1">
              <a:lnSpc>
                <a:spcPct val="90000"/>
              </a:lnSpc>
              <a:spcBef>
                <a:spcPct val="0"/>
              </a:spcBef>
              <a:buFontTx/>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de caracteres se dividen en:</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Transformación o Manipulación.</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Conversión de texto en minúscula o mayúscula.</a:t>
            </a:r>
          </a:p>
          <a:p>
            <a:pPr marL="0" indent="0" eaLnBrk="1" hangingPunct="1">
              <a:lnSpc>
                <a:spcPct val="90000"/>
              </a:lnSpc>
              <a:spcBef>
                <a:spcPct val="0"/>
              </a:spcBef>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NOTA: Las funciones que se mencionan a continuación son algunas de las más utilizadas en SQL.</a:t>
            </a:r>
          </a:p>
        </p:txBody>
      </p:sp>
    </p:spTree>
    <p:extLst>
      <p:ext uri="{BB962C8B-B14F-4D97-AF65-F5344CB8AC3E}">
        <p14:creationId xmlns:p14="http://schemas.microsoft.com/office/powerpoint/2010/main" val="1947518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spcBef>
                <a:spcPct val="0"/>
              </a:spcBef>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Caracteres</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spcBef>
                <a:spcPct val="0"/>
              </a:spcBef>
              <a:buNone/>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Funciones de conversión del texto a mayúsculas y minúsculas:</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LOWER:</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Convierte el texto a minúsculas</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UPPER:</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Convierte el texto a mayúsculas</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INITCAP:</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Coloca la primera letra de cada palabra en mayúscula.</a:t>
            </a:r>
          </a:p>
          <a:p>
            <a:pPr marL="0" marR="0" lvl="0" indent="0" algn="just" defTabSz="914400" rtl="0" eaLnBrk="1" fontAlgn="base" latinLnBrk="0" hangingPunct="1">
              <a:lnSpc>
                <a:spcPct val="100000"/>
              </a:lnSpc>
              <a:spcBef>
                <a:spcPct val="0"/>
              </a:spcBef>
              <a:spcAft>
                <a:spcPct val="0"/>
              </a:spcAft>
              <a:buClrTx/>
              <a:buSzTx/>
              <a:buFont typeface="Arial" pitchFamily="34" charset="0"/>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reemplazo o</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manipulación de caracteres:</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CONCAT: </a:t>
            </a:r>
            <a:r>
              <a:rPr lang="es-MX"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c</a:t>
            </a:r>
            <a:r>
              <a:rPr lang="es-CL"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oncatena</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el valor del primer </a:t>
            </a:r>
            <a:r>
              <a:rPr lang="es-CL"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caracter</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con el valor del segundo </a:t>
            </a:r>
            <a:r>
              <a:rPr lang="es-CL"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caracter</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Equivalente al operador de concatenación ||.</a:t>
            </a:r>
          </a:p>
          <a:p>
            <a:pPr marL="0" marR="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SUBSTR: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obtiene los n siguientes caracteres de la columna o texto a partir de la posición m.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Si no se indica n, se recuperan los caracteres desde la posición m hasta el final.</a:t>
            </a:r>
          </a:p>
          <a:p>
            <a:pPr marL="0" marR="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LENGTH: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obtiene el número de caracteres o largo de la expresión.</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RTRIM–LTRIM:</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Elimina los espacios en blanco a la derecha </a:t>
            </a: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(RTRIM) </a:t>
            </a:r>
            <a:r>
              <a:rPr kumimoji="0" lang="es-CL" sz="1200" b="0" i="0" u="none" strike="noStrike" cap="none" normalizeH="0" baseline="0" dirty="0" err="1">
                <a:ln>
                  <a:noFill/>
                </a:ln>
                <a:solidFill>
                  <a:schemeClr val="tx1"/>
                </a:solidFill>
                <a:effectLst/>
                <a:latin typeface="Calibri" panose="020F0502020204030204" pitchFamily="34" charset="0"/>
                <a:ea typeface="Arial"/>
                <a:cs typeface="Calibri" panose="020F0502020204030204" pitchFamily="34" charset="0"/>
                <a:sym typeface="Arial"/>
              </a:rPr>
              <a:t>ó</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a la izquierda </a:t>
            </a: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(LTRIM)</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de la columna o expresión.</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  </a:t>
            </a: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REPLACE: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busca el texto especificado en la columna o expresión y lo cambia por el texto indicado como reemplazo.</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lang="es-CL"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TRIM:</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Elimina los espacios en blanco a la izquierda y a la derecha del texto o columna.</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a:t>
            </a: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LPAD-RPAD: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rellena el texto a la izquierda </a:t>
            </a:r>
            <a:r>
              <a:rPr lang="es-CL"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(LPAD)</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lang="es-CL"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ó</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 la derecha </a:t>
            </a:r>
            <a:r>
              <a:rPr lang="es-CL"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(RPAD)</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n posiciones con el </a:t>
            </a:r>
            <a:r>
              <a:rPr lang="es-CL"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caracter</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indicado.</a:t>
            </a:r>
          </a:p>
          <a:p>
            <a:pPr marL="0" marR="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a:t>
            </a:r>
            <a:r>
              <a:rPr lang="es-MX" sz="1200" b="1"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INSTR: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obtiene la posición en la se encuentra el texto buscado en la columna  o expresión.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Opcionalmente se puede indicar la posición inicial </a:t>
            </a:r>
            <a:r>
              <a:rPr kumimoji="0" lang="es-CL" sz="1200" b="1" i="1"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(m)</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desde donde se desea comenzar la búsqueda y la ocurrencia o número de posición </a:t>
            </a:r>
            <a:r>
              <a:rPr kumimoji="0" lang="es-CL" sz="1200" b="1" i="1"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(n)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del texto buscado. Por defecto ambas posiciones es 1.</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defRP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  </a:t>
            </a:r>
            <a:r>
              <a:rPr kumimoji="0" lang="es-MX"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TRIM(</a:t>
            </a:r>
            <a:r>
              <a:rPr kumimoji="0" lang="es-MX" sz="1200" b="1" i="1"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a:t>
            </a:r>
            <a:r>
              <a:rPr kumimoji="0" lang="es-MX" sz="1200" b="1" i="1" u="none" strike="noStrike" cap="none" normalizeH="0" baseline="0" dirty="0" err="1">
                <a:ln>
                  <a:noFill/>
                </a:ln>
                <a:solidFill>
                  <a:schemeClr val="tx1"/>
                </a:solidFill>
                <a:effectLst/>
                <a:latin typeface="Calibri" panose="020F0502020204030204" pitchFamily="34" charset="0"/>
                <a:ea typeface="Arial"/>
                <a:cs typeface="Calibri" panose="020F0502020204030204" pitchFamily="34" charset="0"/>
                <a:sym typeface="Arial"/>
              </a:rPr>
              <a:t>caracter</a:t>
            </a:r>
            <a:r>
              <a:rPr kumimoji="0" lang="es-MX" sz="1200" b="1" i="1"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a:t>
            </a:r>
            <a:r>
              <a:rPr kumimoji="0" lang="es-MX"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FROM</a:t>
            </a:r>
            <a:r>
              <a:rPr kumimoji="0" lang="es-MX" sz="1200" b="1" i="1"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a:t>
            </a:r>
            <a:r>
              <a:rPr kumimoji="0" lang="es-MX" sz="1200" b="1" i="1" u="none" strike="noStrike" cap="none" normalizeH="0" baseline="0" dirty="0" err="1">
                <a:ln>
                  <a:noFill/>
                </a:ln>
                <a:solidFill>
                  <a:schemeClr val="tx1"/>
                </a:solidFill>
                <a:effectLst/>
                <a:latin typeface="Calibri" panose="020F0502020204030204" pitchFamily="34" charset="0"/>
                <a:ea typeface="Arial"/>
                <a:cs typeface="Calibri" panose="020F0502020204030204" pitchFamily="34" charset="0"/>
                <a:sym typeface="Arial"/>
              </a:rPr>
              <a:t>columna|expresión</a:t>
            </a:r>
            <a:r>
              <a:rPr kumimoji="0" lang="es-MX"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 </a:t>
            </a: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Elimina el carácter especificado de la derecha e izquierda de la columna o expresión.</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eaLnBrk="1" hangingPunct="1">
              <a:lnSpc>
                <a:spcPct val="90000"/>
              </a:lnSpc>
              <a:spcBef>
                <a:spcPct val="0"/>
              </a:spcBef>
              <a:buFontTx/>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570900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Caracteres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sentencia del ejemplo, la función UPPER muestra el apellido del empleado en mayúscula, la función LOWER muestra la identificación del trabajo en minúscula y la función INITCAP muestra en mayúscula las primeras letras de la identificación del trabajo.</a:t>
            </a:r>
          </a:p>
        </p:txBody>
      </p:sp>
    </p:spTree>
    <p:extLst>
      <p:ext uri="{BB962C8B-B14F-4D97-AF65-F5344CB8AC3E}">
        <p14:creationId xmlns:p14="http://schemas.microsoft.com/office/powerpoint/2010/main" val="2152519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Caracteres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la función CONCAT muestra el texto Su salario es unido al valor del salario, SUBSRT a partir de la segunda letra del apellido muestra tres caracteres del apellido, LENGTH muestra el largo del apellido e INSTR muestra la posición en la se encuentra la primera letra a en el apellido de cada empleado.</a:t>
            </a:r>
          </a:p>
        </p:txBody>
      </p:sp>
    </p:spTree>
    <p:extLst>
      <p:ext uri="{BB962C8B-B14F-4D97-AF65-F5344CB8AC3E}">
        <p14:creationId xmlns:p14="http://schemas.microsoft.com/office/powerpoint/2010/main" val="3881432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Funciones de Caracteres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la función INSTR muestra la posición donde se encuentra la segunda letra “e” en el apellido (la búsqueda comienza desde la posición 1), la función SUBSTR muestra desde la penúltima posición del apellido dos caracteres, la primera función TRIM muestra el apellido del empleado eliminando desde la izquierda y la derecha la letra B y la segunda función TRIM muestra el salario sin el número 1 en la derecha y la izquierda. La información se visualiza para los empleados cuyo salario esté entre los 9500 y los 10000 y ordenada en forma ascendente por apellido.</a:t>
            </a:r>
          </a:p>
        </p:txBody>
      </p:sp>
    </p:spTree>
    <p:extLst>
      <p:ext uri="{BB962C8B-B14F-4D97-AF65-F5344CB8AC3E}">
        <p14:creationId xmlns:p14="http://schemas.microsoft.com/office/powerpoint/2010/main" val="1682331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Funciones de Caracteres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la función REPLACE reemplaza el apellido la letra A por la palabra Hola, LPAD muestra el salario con un largo fijo de 10 caracteres rellenando a la izquierda con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asterístico</a:t>
            </a:r>
            <a:r>
              <a:rPr kumimoji="0" lang="es-CL" sz="1200" b="0" i="0" u="none" strike="noStrike" kern="1200" cap="none" spc="0" normalizeH="0" baseline="0" noProof="0" dirty="0">
                <a:ln>
                  <a:noFill/>
                </a:ln>
                <a:solidFill>
                  <a:prstClr val="black"/>
                </a:solidFill>
                <a:effectLst/>
                <a:uLnTx/>
                <a:uFillTx/>
                <a:latin typeface="Calibri"/>
                <a:ea typeface="+mn-ea"/>
                <a:cs typeface="+mn-cs"/>
              </a:rPr>
              <a:t> para completar los 10 caracteres. La función RPAD muestra el salario con un largo fijo de 10 caracteres rellenando a la derecha con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asterístico</a:t>
            </a:r>
            <a:r>
              <a:rPr kumimoji="0" lang="es-CL" sz="1200" b="0" i="0" u="none" strike="noStrike" kern="1200" cap="none" spc="0" normalizeH="0" baseline="0" noProof="0" dirty="0">
                <a:ln>
                  <a:noFill/>
                </a:ln>
                <a:solidFill>
                  <a:prstClr val="black"/>
                </a:solidFill>
                <a:effectLst/>
                <a:uLnTx/>
                <a:uFillTx/>
                <a:latin typeface="Calibri"/>
                <a:ea typeface="+mn-ea"/>
                <a:cs typeface="+mn-cs"/>
              </a:rPr>
              <a:t> para completar los 10 caracteres.</a:t>
            </a: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249616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Números</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ROUND: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redondea la columna, expresión o valor a n posiciones decimales. . Si no se especifica n o su valor es cero, el valor se redondea al valor entero. Si n es negativo, los números a la izquierda del punto decimal se redondean a decenas, centenas etc.</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TRUNC: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Trunca la columna, expresión o valor a n posiciones decimales. Si no se especifica n decimales el valor es 0, por lo tanto se trunca el valor sólo en su parte entera. Por defecto en cero. Si n es negativo trunca hacia la izquierda del punto decimal (coloca cero).</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MOD: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Devuelve el resto que resulta de dividir m por n.</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las funciones ROUND y TRUNC se utilizan para redondear y truncar el valor 1234.5678 de diferentes formas (recordar que en Oracle el punto corresponde a decimales). La primera función ROUND redondea el valor en dos decimales, la segunda función ROUND redondea al valor entero (sin decimales, esto es similar a ROUND(1234.5678,0), la tercera función ROUND redondeado el valor en su parte entera a la décima más cercana a 35, la primera función TRUNC muestra el valor truncado a dos decimales, la segunda función TRUNC muestra el valor truncado solo en su valor entero (esto es similar a TRUNC(1234.5678,0) y la última función TRUNC muestra el valor truncado en su parte entera y reemplazada los dos últimos números por ceros.</a:t>
            </a:r>
          </a:p>
        </p:txBody>
      </p:sp>
    </p:spTree>
    <p:extLst>
      <p:ext uri="{BB962C8B-B14F-4D97-AF65-F5344CB8AC3E}">
        <p14:creationId xmlns:p14="http://schemas.microsoft.com/office/powerpoint/2010/main" val="101313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Funciones de Números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las sentencia muestra la identificación del empleado, el nombre y apellido, el 2,3% de su salario, el 2,3% de su salario redondeado a entero y el 2,3% de su salario truncado a entero. </a:t>
            </a:r>
          </a:p>
        </p:txBody>
      </p:sp>
    </p:spTree>
    <p:extLst>
      <p:ext uri="{BB962C8B-B14F-4D97-AF65-F5344CB8AC3E}">
        <p14:creationId xmlns:p14="http://schemas.microsoft.com/office/powerpoint/2010/main" val="2825272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Funciones de Números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La sentencia del ejemplo muestra la identificación del empleado, el 76,3%  del valor de la comisión sin redondear y el</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76,3%  del valor de la comisión redondeado a entero de los empleados que poseen porcentaje de comisión.</a:t>
            </a:r>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7607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Funciones de Números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la sentencia del ejemplo, se muestra el apellido, salario y el resto de la división del salario por 5000 de los empleados que poseen el trabajo ST_MAN.</a:t>
            </a:r>
          </a:p>
          <a:p>
            <a:pPr marL="0" indent="0">
              <a:buNone/>
            </a:pPr>
            <a:endParaRPr lang="es-CL" dirty="0"/>
          </a:p>
        </p:txBody>
      </p:sp>
    </p:spTree>
    <p:extLst>
      <p:ext uri="{BB962C8B-B14F-4D97-AF65-F5344CB8AC3E}">
        <p14:creationId xmlns:p14="http://schemas.microsoft.com/office/powerpoint/2010/main" val="50687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2935308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a:t>
            </a:r>
          </a:p>
          <a:p>
            <a:pPr marL="0" marR="0" lvl="0" indent="0" algn="l" defTabSz="914400" rtl="0" eaLnBrk="1" fontAlgn="base" latinLnBrk="0" hangingPunct="1">
              <a:lnSpc>
                <a:spcPct val="90000"/>
              </a:lnSpc>
              <a:spcBef>
                <a:spcPct val="0"/>
              </a:spcBef>
              <a:spcAft>
                <a:spcPct val="0"/>
              </a:spcAft>
              <a:buClrTx/>
              <a:buSzTx/>
              <a:buFontTx/>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La Base de Datos Oracle almacena las fechas en un formato numérico interno: siglo, año, mes, día, horas, minutos y segundos.</a:t>
            </a:r>
          </a:p>
          <a:p>
            <a:pPr marL="0" marR="0" lvl="0" indent="0" algn="l" defTabSz="914400" rtl="0" eaLnBrk="1" fontAlgn="base" latinLnBrk="0" hangingPunct="1">
              <a:lnSpc>
                <a:spcPct val="90000"/>
              </a:lnSpc>
              <a:spcBef>
                <a:spcPct val="0"/>
              </a:spcBef>
              <a:spcAft>
                <a:spcPct val="0"/>
              </a:spcAft>
              <a:buClrTx/>
              <a:buSzTx/>
              <a:buFontTx/>
              <a:buChar char="•"/>
              <a:tabLst/>
              <a:defRPr/>
            </a:pPr>
            <a:r>
              <a:rPr kumimoji="0" lang="es-ES" sz="1200" b="0"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El formato por defecto de visualización de las fechas es :DD-MON-RR, donde DD corresponde al día, MON al mes en 3 letras y RR al año en 2 dígitos según el siglo.</a:t>
            </a:r>
            <a:r>
              <a:rPr kumimoji="0" lang="es-ES" sz="1200" b="0" i="0" u="none" strike="noStrike" kern="1200" cap="none" spc="0" normalizeH="0" baseline="0" noProof="0" dirty="0">
                <a:ln>
                  <a:noFill/>
                </a:ln>
                <a:solidFill>
                  <a:prstClr val="black"/>
                </a:solidFill>
                <a:effectLst/>
                <a:uLnTx/>
                <a:uFillTx/>
                <a:latin typeface="Calibri"/>
                <a:ea typeface="+mn-ea"/>
                <a:cs typeface="Arial" pitchFamily="34" charset="0"/>
              </a:rPr>
              <a:t> </a:t>
            </a:r>
          </a:p>
          <a:p>
            <a:pPr marL="0" marR="0" lvl="0" indent="0" algn="l" defTabSz="914400" rtl="0" eaLnBrk="1" fontAlgn="base" latinLnBrk="0" hangingPunct="1">
              <a:lnSpc>
                <a:spcPct val="90000"/>
              </a:lnSpc>
              <a:spcBef>
                <a:spcPct val="0"/>
              </a:spcBef>
              <a:spcAft>
                <a:spcPct val="0"/>
              </a:spcAft>
              <a:buClrTx/>
              <a:buSzTx/>
              <a:buFontTx/>
              <a:buChar char="•"/>
              <a:tabLst/>
              <a:defRPr/>
            </a:pPr>
            <a:r>
              <a:rPr kumimoji="0" lang="es-ES" sz="1200" b="0"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Cuando se desea generar una condición por una fecha en particular, ésta debe ir entre comillas simples.</a:t>
            </a:r>
          </a:p>
          <a:p>
            <a:pPr marL="0" marR="0" lvl="0" indent="0" algn="l" defTabSz="914400" rtl="0" eaLnBrk="1" fontAlgn="base" latinLnBrk="0" hangingPunct="1">
              <a:lnSpc>
                <a:spcPct val="90000"/>
              </a:lnSpc>
              <a:spcBef>
                <a:spcPct val="0"/>
              </a:spcBef>
              <a:spcAft>
                <a:spcPct val="0"/>
              </a:spcAft>
              <a:buClrTx/>
              <a:buSzTx/>
              <a:buFontTx/>
              <a:buChar char="•"/>
              <a:tabLst/>
              <a:defRPr/>
            </a:pPr>
            <a:r>
              <a:rPr kumimoji="0" lang="es-MX" sz="1200" b="0" i="0" u="none" strike="noStrike" kern="1200" cap="none" spc="0" normalizeH="0" baseline="0" noProof="0" dirty="0">
                <a:ln>
                  <a:noFill/>
                </a:ln>
                <a:solidFill>
                  <a:srgbClr val="FFFFFF"/>
                </a:solidFill>
                <a:effectLst/>
                <a:uLnTx/>
                <a:uFillTx/>
                <a:latin typeface="Calibri"/>
                <a:ea typeface="+mn-ea"/>
                <a:cs typeface="Arial" pitchFamily="34" charset="0"/>
              </a:rPr>
              <a:t> </a:t>
            </a:r>
            <a:r>
              <a:rPr kumimoji="0" lang="es-CL" sz="12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Las fechas en la Base de Datos se almacenan como números, por lo tanto se pueden realizar cálculos usando operadores aritméticos.</a:t>
            </a:r>
          </a:p>
        </p:txBody>
      </p:sp>
    </p:spTree>
    <p:extLst>
      <p:ext uri="{BB962C8B-B14F-4D97-AF65-F5344CB8AC3E}">
        <p14:creationId xmlns:p14="http://schemas.microsoft.com/office/powerpoint/2010/main" val="1066576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Fechas</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SYSDATE:</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retorna la fecha y hora actual de la Base de Datos</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MONTHS_BETWEEN:</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obtiene la diferencia en meses entre las dos fechas. El resultado puede ser positivo o negativo. Si fecha1 es posterior a fecha2, el resultado es positivo, si fecha1 es anterior a fecha2, el resultado es negativo. La parte no entera del resultado representa una porción de la mes.</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ADD_MONTHS:</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añade a la fecha el número de meses indicado por n. El valor de n debe ser un número entero y puede ser negativo. Si es negativo significa que está restando meses a la fecha.</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NEXT_DAY:</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retorna la fecha del día de la semana del argumento busca y que es posterior a la fecha entregada. El día puede ser el nombre del día (inglés o español según como esté configurada la Base de Datos) o el número del día de la semana 1=Lunes, 2=Martes etc.</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LAST_DAY: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obtiene el último día del mes de la fecha especificada.</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ROUND: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redondea la fecha al formato indicado. El formato puede ser: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 </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YEAR: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redondea la fecha al año.</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 </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MONTH:</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redondea la fecha al mes.</a:t>
            </a:r>
          </a:p>
          <a:p>
            <a:pPr marL="171450" marR="0" lvl="0" indent="-1714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TRUNC:</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trunca la fecha al formato indicado. El formato es el mismo al usado por ROUND.</a:t>
            </a: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algn="just" defTabSz="914400" rtl="0" eaLnBrk="1" fontAlgn="base" latinLnBrk="0" hangingPunct="1">
              <a:lnSpc>
                <a:spcPct val="80000"/>
              </a:lnSpc>
              <a:spcBef>
                <a:spcPct val="0"/>
              </a:spcBef>
              <a:spcAft>
                <a:spcPct val="0"/>
              </a:spcAft>
              <a:buClrTx/>
              <a:buSzTx/>
              <a:buFontTx/>
              <a:buNone/>
              <a:tabLst/>
              <a:defRPr/>
            </a:pPr>
            <a:endParaRPr kumimoji="0" lang="es-CL" sz="12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825156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el primer ejemplo, la función MONTHS_BETWEEN muestra cuántos meses existen entre el 01 de enero del 2019 y el 01 de octubre del 2018 (dependiendo de las fechas comparadas, la función puede retornar un valor entero o con decimales), la función ADD_MONTHS muestra la fecha que corresponde al sumar 6 meses a la fecha 20 de septiembre del 2019, la función NEXT_DAY muestra la fecha que corresponde al día domingo posterior al 11 de marzo del 2019 y la función LAST_DAY  muestra el último día de febrero del 2019.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el segundo ejemplo, al utilizar las funciones ROUND y TRUNC con fechas el resultado estará basado en redondear las fechas al mes o al año y mostrar el primer día del mes o del año. La primera función redondea la fecha 10/10/2019 al mes y como el día es menor a 16 el resultado es 01/10/2019, si el día fuera mayor a 15 entonces el resultado sería 01/11/2019. La segunda función redondea la fecha al año y como el mes es 10 el resultado es 01/01/2020, si el mes fuera menor a 7 el resultado sería 01/01/2019. La tercera función trunca la fecha al mes (muestra el primer día del mes) por eso el resultado es el primer día del mes de octubre. La última función trunca la fecha al año (mostrar el primer día del año) por esta razón muestra el primer día del año 2019.</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0733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la sentencia del ejemplo, se muestra la identificación del empleado, el nombre concatenado con el apellido y los años que cada empleado lleva trabajando en la empresa (SYSDATE corresponde a 10/10/2019). Esta función es la más óptima para calcular años ya que se usa la fecha completa para obtener los meses.</a:t>
            </a:r>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3048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la sentencia del ejemplo, se muestra la identificación del empleado, el nombre concatenado con el apellido, los años que cada empleado lleva trabajando en la empresa (SYSDATE corresponde a 10/10/2019) y el porcentaje del salario de acuerdo a los años trabajados.</a:t>
            </a:r>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63071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Arial" pitchFamily="34" charset="0"/>
              </a:rPr>
              <a:t>Las fechas en la Base de Datos se almacenan como números, por lo tanto se pueden realizar cálculos usando operadores aritméticos: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Número:</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una fecha. Suma un número de días a la fecha.</a:t>
            </a:r>
            <a:endParaRPr kumimoji="0" lang="es-ES"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Número:</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una fecha. Resta un número de días desde la fecha.</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Fecha:</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el número de días. Resta una fecha desde otra.</a:t>
            </a:r>
            <a:endPar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el ejemplo, la sentencia  muestra el apellido del empleado, la fecha de contrato, el </a:t>
            </a:r>
            <a:r>
              <a:rPr kumimoji="0" lang="es-MX" sz="1200" b="0" i="0" u="none" strike="noStrike" kern="1200" cap="none" spc="0" normalizeH="0" baseline="0" noProof="0" dirty="0">
                <a:ln>
                  <a:noFill/>
                </a:ln>
                <a:solidFill>
                  <a:srgbClr val="0000FF"/>
                </a:solidFill>
                <a:effectLst/>
                <a:uLnTx/>
                <a:uFillTx/>
                <a:latin typeface="Calibri"/>
                <a:ea typeface="ＭＳ Ｐゴシック" pitchFamily="34" charset="-128"/>
                <a:cs typeface="Arial" pitchFamily="34" charset="0"/>
              </a:rPr>
              <a:t>número de semanas (entre la fecha actual y la fecha) de contrato que lleva contratado,  la fecha resultante al restar 2 días a la fecha de contrato y la fecha resultante al sumar 10 días a la fecha de contrato días de </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cada empleado del departamento 90. Considerar que el SYSDATE retornó 10/10/2019.</a:t>
            </a:r>
            <a:endParaRPr kumimoji="0" lang="es-ES"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ES"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21865918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Funciones de Fechas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Arial" pitchFamily="34" charset="0"/>
              </a:rPr>
              <a:t>Las fechas en la Base de Datos se almacenan como números, por lo tanto se pueden realizar cálculos usando operadores aritméticos: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Número:</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una fecha. Suma un número de días a la fecha.</a:t>
            </a:r>
            <a:endParaRPr kumimoji="0" lang="es-ES"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Número:</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una fecha. Resta un número de días desde la fecha.</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Fecha - Fecha:</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retorna el número de días. Resta una fecha desde otra.</a:t>
            </a:r>
            <a:endPar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el ejemplo, la sentencia  muestra el apellido del empleado, la fecha de contrato, el </a:t>
            </a:r>
            <a:r>
              <a:rPr kumimoji="0" lang="es-MX" sz="1200" b="0" i="0" u="none" strike="noStrike" kern="1200" cap="none" spc="0" normalizeH="0" baseline="0" noProof="0" dirty="0">
                <a:ln>
                  <a:noFill/>
                </a:ln>
                <a:solidFill>
                  <a:srgbClr val="0000FF"/>
                </a:solidFill>
                <a:effectLst/>
                <a:uLnTx/>
                <a:uFillTx/>
                <a:latin typeface="Calibri"/>
                <a:ea typeface="ＭＳ Ｐゴシック" pitchFamily="34" charset="-128"/>
                <a:cs typeface="Arial" pitchFamily="34" charset="0"/>
              </a:rPr>
              <a:t>número de semanas (entre la fecha actual y la fecha) de contrato que lleva contratado,  la fecha resultante al restar 2 días a la fecha de contrato y la fecha resultante al sumar 10 días a la fecha de contrato días de </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cada empleado del departamento 90. Considerar que el SYSDATE retornó 10/10/2019.</a:t>
            </a:r>
            <a:endParaRPr kumimoji="0" lang="es-ES"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s-ES"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2298101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Función EXTRACT para trabajar con Fechas</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tabLst/>
              <a:defRPr/>
            </a:pPr>
            <a:r>
              <a:rPr kumimoji="0" lang="es-ES"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se obtiene un listado de la fecha en se contrató cada empleado. Se usa la función EXTRACT para obtener el día, mes y año de la fecha de contrato de empleado. La función EXTRACT retorna un número, es por esta razón que los días (menores a 10) y los meses(menores a 10)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no aparecen con un cero a la izquierda.</a:t>
            </a:r>
            <a:endParaRPr kumimoji="0" lang="en-US"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37114383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cabezado de sección 4">
  <p:cSld name="Encabezado de sección 4">
    <p:bg>
      <p:bgPr>
        <a:solidFill>
          <a:schemeClr val="accent3"/>
        </a:solidFill>
        <a:effectLst/>
      </p:bgPr>
    </p:bg>
    <p:spTree>
      <p:nvGrpSpPr>
        <p:cNvPr id="1" name="Shape 35"/>
        <p:cNvGrpSpPr/>
        <p:nvPr/>
      </p:nvGrpSpPr>
      <p:grpSpPr>
        <a:xfrm>
          <a:off x="0" y="0"/>
          <a:ext cx="0" cy="0"/>
          <a:chOff x="0" y="0"/>
          <a:chExt cx="0" cy="0"/>
        </a:xfrm>
      </p:grpSpPr>
      <p:sp>
        <p:nvSpPr>
          <p:cNvPr id="36" name="Google Shape;36;p6"/>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7" name="Google Shape;37;p6"/>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8" name="Google Shape;38;p6" descr="Imagen que contiene persona, foto, hombre, mujer&#10;&#10;Descripción generada automáticamente"/>
          <p:cNvPicPr preferRelativeResize="0"/>
          <p:nvPr/>
        </p:nvPicPr>
        <p:blipFill rotWithShape="1">
          <a:blip r:embed="rId3">
            <a:alphaModFix/>
          </a:blip>
          <a:srcRect r="1635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40" name="Google Shape;40;p6"/>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extLst>
      <p:ext uri="{BB962C8B-B14F-4D97-AF65-F5344CB8AC3E}">
        <p14:creationId xmlns:p14="http://schemas.microsoft.com/office/powerpoint/2010/main" val="174628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4" userDrawn="1">
  <p:cSld name="Título y objetos 4">
    <p:spTree>
      <p:nvGrpSpPr>
        <p:cNvPr id="1" name="Shape 107"/>
        <p:cNvGrpSpPr/>
        <p:nvPr/>
      </p:nvGrpSpPr>
      <p:grpSpPr>
        <a:xfrm>
          <a:off x="0" y="0"/>
          <a:ext cx="0" cy="0"/>
          <a:chOff x="0" y="0"/>
          <a:chExt cx="0" cy="0"/>
        </a:xfrm>
      </p:grpSpPr>
      <p:sp>
        <p:nvSpPr>
          <p:cNvPr id="109" name="Google Shape;109;p17"/>
          <p:cNvSpPr/>
          <p:nvPr/>
        </p:nvSpPr>
        <p:spPr>
          <a:xfrm>
            <a:off x="770850" y="212725"/>
            <a:ext cx="903600" cy="813000"/>
          </a:xfrm>
          <a:prstGeom prst="parallelogram">
            <a:avLst>
              <a:gd name="adj" fmla="val 45310"/>
            </a:avLst>
          </a:prstGeom>
          <a:solidFill>
            <a:srgbClr val="BED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146422" y="212725"/>
            <a:ext cx="903600" cy="813000"/>
          </a:xfrm>
          <a:prstGeom prst="parallelogram">
            <a:avLst>
              <a:gd name="adj" fmla="val 45310"/>
            </a:avLst>
          </a:prstGeom>
          <a:gradFill>
            <a:gsLst>
              <a:gs pos="0">
                <a:srgbClr val="FFFFFF"/>
              </a:gs>
              <a:gs pos="65000">
                <a:schemeClr val="accent3"/>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17"/>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14" name="Google Shape;114;p17"/>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a:p>
        </p:txBody>
      </p:sp>
      <p:sp>
        <p:nvSpPr>
          <p:cNvPr id="9" name="Google Shape;84;p14">
            <a:extLst>
              <a:ext uri="{FF2B5EF4-FFF2-40B4-BE49-F238E27FC236}">
                <a16:creationId xmlns:a16="http://schemas.microsoft.com/office/drawing/2014/main" xmlns="" id="{66000D04-C10D-E74D-BD69-F15BCBCB23CB}"/>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CFC8E6A0-23C5-B947-94E4-E744F76CED42}"/>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
        <p:nvSpPr>
          <p:cNvPr id="11" name="Google Shape;7;p1">
            <a:extLst>
              <a:ext uri="{FF2B5EF4-FFF2-40B4-BE49-F238E27FC236}">
                <a16:creationId xmlns:a16="http://schemas.microsoft.com/office/drawing/2014/main" xmlns="" id="{7597FF83-28B2-D447-8C51-BAB390C7D7B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351748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 id="2147483680" r:id="rId10"/>
    <p:sldLayoutId id="214748368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2780521" y="2173037"/>
            <a:ext cx="6318801" cy="3126754"/>
          </a:xfrm>
          <a:prstGeom prst="rect">
            <a:avLst/>
          </a:prstGeom>
        </p:spPr>
        <p:txBody>
          <a:bodyPr spcFirstLastPara="1" wrap="square" lIns="91425" tIns="45700" rIns="91425" bIns="45700" anchor="b" anchorCtr="0">
            <a:noAutofit/>
          </a:bodyPr>
          <a:lstStyle/>
          <a:p>
            <a:pPr lvl="0"/>
            <a:r>
              <a:rPr lang="es-CL" sz="5800" b="1" dirty="0"/>
              <a:t>Usando </a:t>
            </a:r>
            <a:br>
              <a:rPr lang="es-CL" sz="5800" b="1" dirty="0"/>
            </a:br>
            <a:r>
              <a:rPr lang="es-CL" sz="5800" b="1" dirty="0"/>
              <a:t>Funciones SQL</a:t>
            </a:r>
            <a:br>
              <a:rPr lang="es-CL" sz="5800" b="1" dirty="0"/>
            </a:br>
            <a:r>
              <a:rPr lang="es-CL" sz="5800" b="1" dirty="0"/>
              <a:t>de una Fila de Caracteres, Números y Fechas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7"/>
        <p:cNvGrpSpPr/>
        <p:nvPr/>
      </p:nvGrpSpPr>
      <p:grpSpPr>
        <a:xfrm>
          <a:off x="0" y="0"/>
          <a:ext cx="0" cy="0"/>
          <a:chOff x="0" y="0"/>
          <a:chExt cx="0" cy="0"/>
        </a:xfrm>
      </p:grpSpPr>
      <p:pic>
        <p:nvPicPr>
          <p:cNvPr id="3" name="Imagen 2" descr="Imagen que contiene libro, estante, cuarto, biblioteca&#10;&#10;Descripción generada automáticamente">
            <a:extLst>
              <a:ext uri="{FF2B5EF4-FFF2-40B4-BE49-F238E27FC236}">
                <a16:creationId xmlns:a16="http://schemas.microsoft.com/office/drawing/2014/main" xmlns="" id="{5A1B416D-DB06-1044-A7D7-9CB67D117EC4}"/>
              </a:ext>
            </a:extLst>
          </p:cNvPr>
          <p:cNvPicPr>
            <a:picLocks noChangeAspect="1"/>
          </p:cNvPicPr>
          <p:nvPr/>
        </p:nvPicPr>
        <p:blipFill rotWithShape="1">
          <a:blip r:embed="rId3">
            <a:alphaModFix amt="29000"/>
          </a:blip>
          <a:srcRect l="5510" r="5510"/>
          <a:stretch/>
        </p:blipFill>
        <p:spPr>
          <a:xfrm>
            <a:off x="-1" y="0"/>
            <a:ext cx="9144001" cy="6858000"/>
          </a:xfrm>
          <a:prstGeom prst="rect">
            <a:avLst/>
          </a:prstGeom>
        </p:spPr>
      </p:pic>
      <p:sp>
        <p:nvSpPr>
          <p:cNvPr id="219" name="Google Shape;219;p31"/>
          <p:cNvSpPr txBox="1"/>
          <p:nvPr/>
        </p:nvSpPr>
        <p:spPr>
          <a:xfrm>
            <a:off x="602900" y="3862775"/>
            <a:ext cx="7938200" cy="63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solidFill>
                  <a:schemeClr val="bg1"/>
                </a:solidFill>
                <a:latin typeface="Franklin Gothic"/>
                <a:ea typeface="Franklin Gothic"/>
                <a:cs typeface="Franklin Gothic"/>
                <a:sym typeface="Franklin Gothic"/>
              </a:rPr>
              <a:t>Alejandra Gajardo San Martín</a:t>
            </a:r>
            <a:endParaRPr sz="3600" dirty="0">
              <a:solidFill>
                <a:schemeClr val="bg1"/>
              </a:solidFill>
              <a:latin typeface="Franklin Gothic"/>
              <a:ea typeface="Franklin Gothic"/>
              <a:cs typeface="Franklin Gothic"/>
              <a:sym typeface="Franklin Gothic"/>
            </a:endParaRPr>
          </a:p>
        </p:txBody>
      </p:sp>
      <p:sp>
        <p:nvSpPr>
          <p:cNvPr id="220" name="Google Shape;220;p31"/>
          <p:cNvSpPr txBox="1"/>
          <p:nvPr/>
        </p:nvSpPr>
        <p:spPr>
          <a:xfrm>
            <a:off x="602899" y="4420425"/>
            <a:ext cx="7938199" cy="63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000" dirty="0">
                <a:solidFill>
                  <a:schemeClr val="bg1"/>
                </a:solidFill>
                <a:latin typeface="Franklin Gothic"/>
                <a:ea typeface="Franklin Gothic"/>
                <a:cs typeface="Franklin Gothic"/>
                <a:sym typeface="Franklin Gothic"/>
              </a:rPr>
              <a:t>ale.gajardo@professor.duoc.cl</a:t>
            </a:r>
            <a:endParaRPr sz="3000" dirty="0">
              <a:solidFill>
                <a:schemeClr val="bg1"/>
              </a:solidFill>
              <a:latin typeface="Franklin Gothic"/>
              <a:ea typeface="Franklin Gothic"/>
              <a:cs typeface="Franklin Gothic"/>
              <a:sym typeface="Franklin Gothic"/>
            </a:endParaRPr>
          </a:p>
        </p:txBody>
      </p:sp>
      <p:sp>
        <p:nvSpPr>
          <p:cNvPr id="4" name="Marcador de número de diapositiva 3">
            <a:extLst>
              <a:ext uri="{FF2B5EF4-FFF2-40B4-BE49-F238E27FC236}">
                <a16:creationId xmlns:a16="http://schemas.microsoft.com/office/drawing/2014/main" xmlns="" id="{33043ABA-A441-AF49-86F2-AD630E090C18}"/>
              </a:ext>
            </a:extLst>
          </p:cNvPr>
          <p:cNvSpPr>
            <a:spLocks noGrp="1"/>
          </p:cNvSpPr>
          <p:nvPr>
            <p:ph type="sldNum" idx="4294967295"/>
          </p:nvPr>
        </p:nvSpPr>
        <p:spPr>
          <a:xfrm>
            <a:off x="6457950" y="6356351"/>
            <a:ext cx="2057400" cy="365100"/>
          </a:xfrm>
          <a:prstGeom prst="rect">
            <a:avLst/>
          </a:prstGeom>
        </p:spPr>
        <p:txBody>
          <a:bodyPr/>
          <a:lstStyle/>
          <a:p>
            <a:pPr marL="0" lvl="0" indent="0" algn="r" rtl="0">
              <a:spcBef>
                <a:spcPts val="0"/>
              </a:spcBef>
              <a:spcAft>
                <a:spcPts val="0"/>
              </a:spcAft>
              <a:buNone/>
            </a:pPr>
            <a:fld id="{00000000-1234-1234-1234-123412341234}" type="slidenum">
              <a:rPr lang="en-US" smtClean="0">
                <a:solidFill>
                  <a:schemeClr val="bg1"/>
                </a:solidFill>
              </a:r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Describir las características generales de las Funciones SQL.</a:t>
            </a:r>
          </a:p>
          <a:p>
            <a:pPr marL="393700" indent="-342900" algn="just">
              <a:buFont typeface="Arial" panose="020B0604020202020204" pitchFamily="34" charset="0"/>
              <a:buChar char="•"/>
            </a:pPr>
            <a:r>
              <a:rPr lang="es-CL" sz="2200" dirty="0"/>
              <a:t>Describir las características de las Funciones SQL que operan con una fila.</a:t>
            </a:r>
          </a:p>
          <a:p>
            <a:pPr marL="393700" indent="-342900" algn="just">
              <a:buFont typeface="Arial" panose="020B0604020202020204" pitchFamily="34" charset="0"/>
              <a:buChar char="•"/>
            </a:pPr>
            <a:r>
              <a:rPr lang="es-CL" sz="2200" dirty="0"/>
              <a:t>Describir los tipos de Funciones que operan con una sola fila: de caracteres, números,  fechas, conversión y generales. </a:t>
            </a:r>
          </a:p>
          <a:p>
            <a:pPr marL="393700" indent="-342900" algn="just">
              <a:buFont typeface="Arial" panose="020B0604020202020204" pitchFamily="34" charset="0"/>
              <a:buChar char="•"/>
            </a:pPr>
            <a:r>
              <a:rPr lang="es-CL" sz="2200" dirty="0"/>
              <a:t>Cómo convertir, reemplazar o manipular caracteres en sentencias SQL</a:t>
            </a:r>
          </a:p>
          <a:p>
            <a:pPr marL="393700" indent="-342900" algn="just">
              <a:buFont typeface="Arial" panose="020B0604020202020204" pitchFamily="34" charset="0"/>
              <a:buChar char="•"/>
            </a:pPr>
            <a:r>
              <a:rPr lang="es-CL" sz="2200" dirty="0"/>
              <a:t>Cómo manipular números en sentencias SQL.</a:t>
            </a:r>
          </a:p>
          <a:p>
            <a:pPr marL="393700" indent="-342900" algn="just">
              <a:buFont typeface="Arial" panose="020B0604020202020204" pitchFamily="34" charset="0"/>
              <a:buChar char="•"/>
            </a:pPr>
            <a:r>
              <a:rPr lang="es-CL" sz="2200" dirty="0"/>
              <a:t>Cómo efectuar operaciones con fechas en sentencias SQL.</a:t>
            </a:r>
          </a:p>
          <a:p>
            <a:pPr algn="l"/>
            <a:endParaRPr lang="es-CL" sz="2200" dirty="0"/>
          </a:p>
        </p:txBody>
      </p:sp>
    </p:spTree>
    <p:extLst>
      <p:ext uri="{BB962C8B-B14F-4D97-AF65-F5344CB8AC3E}">
        <p14:creationId xmlns:p14="http://schemas.microsoft.com/office/powerpoint/2010/main" val="427872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04575" y="3476150"/>
            <a:ext cx="5995800" cy="160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n-US" sz="4800" b="1" dirty="0" err="1"/>
              <a:t>Funciones</a:t>
            </a:r>
            <a:r>
              <a:rPr lang="en-US" sz="4800" b="1" dirty="0"/>
              <a:t> SQL</a:t>
            </a:r>
            <a:endParaRPr sz="4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Funciones SQL</a:t>
            </a:r>
          </a:p>
        </p:txBody>
      </p:sp>
      <p:pic>
        <p:nvPicPr>
          <p:cNvPr id="4" name="Imagen 3" descr="Captura de pantalla de un celular con letras&#10;&#10;Descripción generada automáticamente">
            <a:extLst>
              <a:ext uri="{FF2B5EF4-FFF2-40B4-BE49-F238E27FC236}">
                <a16:creationId xmlns:a16="http://schemas.microsoft.com/office/drawing/2014/main" xmlns="" id="{5541A294-A362-473E-A1A8-85BA7FED23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00" y="1788534"/>
            <a:ext cx="8800000" cy="4304762"/>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Funciones SQL</a:t>
            </a:r>
          </a:p>
        </p:txBody>
      </p:sp>
      <p:pic>
        <p:nvPicPr>
          <p:cNvPr id="11" name="Imagen 10" descr="Imagen que contiene dibujo, señal&#10;&#10;Descripción generada automáticamente">
            <a:extLst>
              <a:ext uri="{FF2B5EF4-FFF2-40B4-BE49-F238E27FC236}">
                <a16:creationId xmlns:a16="http://schemas.microsoft.com/office/drawing/2014/main" xmlns="" id="{F99DAA9F-2A17-4DF9-8601-270E20A31C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49" y="1668556"/>
            <a:ext cx="8949247" cy="3533276"/>
          </a:xfrm>
          <a:prstGeom prst="rect">
            <a:avLst/>
          </a:prstGeom>
        </p:spPr>
      </p:pic>
    </p:spTree>
    <p:extLst>
      <p:ext uri="{BB962C8B-B14F-4D97-AF65-F5344CB8AC3E}">
        <p14:creationId xmlns:p14="http://schemas.microsoft.com/office/powerpoint/2010/main" val="293406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Funciones SQL de una Fila</a:t>
            </a:r>
          </a:p>
        </p:txBody>
      </p:sp>
      <p:sp>
        <p:nvSpPr>
          <p:cNvPr id="9" name="Marcador de contenido 1">
            <a:extLst>
              <a:ext uri="{FF2B5EF4-FFF2-40B4-BE49-F238E27FC236}">
                <a16:creationId xmlns:a16="http://schemas.microsoft.com/office/drawing/2014/main" xmlns="" id="{9D127B6A-B465-4658-8B16-BC4721761D2C}"/>
              </a:ext>
            </a:extLst>
          </p:cNvPr>
          <p:cNvSpPr txBox="1">
            <a:spLocks/>
          </p:cNvSpPr>
          <p:nvPr/>
        </p:nvSpPr>
        <p:spPr>
          <a:xfrm>
            <a:off x="457200" y="1659836"/>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Sintaxis</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2" name="Rectángulo redondeado 4">
            <a:extLst>
              <a:ext uri="{FF2B5EF4-FFF2-40B4-BE49-F238E27FC236}">
                <a16:creationId xmlns:a16="http://schemas.microsoft.com/office/drawing/2014/main" xmlns="" id="{ED6D60B7-E422-47AB-8272-80C74C54F641}"/>
              </a:ext>
            </a:extLst>
          </p:cNvPr>
          <p:cNvSpPr/>
          <p:nvPr/>
        </p:nvSpPr>
        <p:spPr>
          <a:xfrm>
            <a:off x="3472688" y="1580682"/>
            <a:ext cx="2232000" cy="216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Realizan una acción por cada fila que se selecciona, actualiza o inserta y por cada una de ellas entrega un resultado</a:t>
            </a:r>
          </a:p>
        </p:txBody>
      </p:sp>
      <p:sp>
        <p:nvSpPr>
          <p:cNvPr id="13" name="Rectángulo redondeado 4">
            <a:extLst>
              <a:ext uri="{FF2B5EF4-FFF2-40B4-BE49-F238E27FC236}">
                <a16:creationId xmlns:a16="http://schemas.microsoft.com/office/drawing/2014/main" xmlns="" id="{3198BE2A-7C58-49FE-AD9F-CD2FD71E0577}"/>
              </a:ext>
            </a:extLst>
          </p:cNvPr>
          <p:cNvSpPr/>
          <p:nvPr/>
        </p:nvSpPr>
        <p:spPr>
          <a:xfrm>
            <a:off x="5962248" y="1580682"/>
            <a:ext cx="2232000" cy="2160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Aceptan uno o más argumentos (constante, variable, columna, expresión) y se puede usar en forma anidada</a:t>
            </a:r>
          </a:p>
        </p:txBody>
      </p:sp>
      <p:sp>
        <p:nvSpPr>
          <p:cNvPr id="14" name="Rectángulo redondeado 4">
            <a:extLst>
              <a:ext uri="{FF2B5EF4-FFF2-40B4-BE49-F238E27FC236}">
                <a16:creationId xmlns:a16="http://schemas.microsoft.com/office/drawing/2014/main" xmlns="" id="{E9CC0097-FD7D-4010-84C1-12459937D8E6}"/>
              </a:ext>
            </a:extLst>
          </p:cNvPr>
          <p:cNvSpPr/>
          <p:nvPr/>
        </p:nvSpPr>
        <p:spPr>
          <a:xfrm>
            <a:off x="971840" y="1580682"/>
            <a:ext cx="2232000" cy="2160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Se pueden usar en las cláusulas SELECT, WHERE, ORDER BY y SET de una sentencia SQL</a:t>
            </a:r>
          </a:p>
        </p:txBody>
      </p:sp>
      <p:sp>
        <p:nvSpPr>
          <p:cNvPr id="15" name="Text Box 5">
            <a:extLst>
              <a:ext uri="{FF2B5EF4-FFF2-40B4-BE49-F238E27FC236}">
                <a16:creationId xmlns:a16="http://schemas.microsoft.com/office/drawing/2014/main" xmlns="" id="{23A970BB-9DAE-424A-8139-FA36C98AAE69}"/>
              </a:ext>
            </a:extLst>
          </p:cNvPr>
          <p:cNvSpPr txBox="1">
            <a:spLocks noChangeArrowheads="1"/>
          </p:cNvSpPr>
          <p:nvPr/>
        </p:nvSpPr>
        <p:spPr bwMode="auto">
          <a:xfrm>
            <a:off x="899592" y="4640762"/>
            <a:ext cx="6624736" cy="61555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nombre_función</a:t>
            </a: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argumento1</a:t>
            </a: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argumento2</a:t>
            </a:r>
            <a:r>
              <a:rPr kumimoji="0" lang="en-US"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55666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Funciones SQL de una Fila</a:t>
            </a:r>
          </a:p>
        </p:txBody>
      </p:sp>
      <p:pic>
        <p:nvPicPr>
          <p:cNvPr id="14" name="Imagen 13" descr="Imagen que contiene texto, señal, reloj&#10;&#10;Descripción generada automáticamente">
            <a:extLst>
              <a:ext uri="{FF2B5EF4-FFF2-40B4-BE49-F238E27FC236}">
                <a16:creationId xmlns:a16="http://schemas.microsoft.com/office/drawing/2014/main" xmlns="" id="{4C37EA13-BE13-4B85-B3CA-79899FE5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525" y="1451112"/>
            <a:ext cx="8716783" cy="4591877"/>
          </a:xfrm>
          <a:prstGeom prst="rect">
            <a:avLst/>
          </a:prstGeom>
        </p:spPr>
      </p:pic>
    </p:spTree>
    <p:extLst>
      <p:ext uri="{BB962C8B-B14F-4D97-AF65-F5344CB8AC3E}">
        <p14:creationId xmlns:p14="http://schemas.microsoft.com/office/powerpoint/2010/main" val="1587763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29000"/>
            <a:ext cx="5995800" cy="1955797"/>
          </a:xfrm>
        </p:spPr>
        <p:txBody>
          <a:bodyPr anchor="ctr" anchorCtr="0"/>
          <a:lstStyle/>
          <a:p>
            <a:r>
              <a:rPr lang="es-ES_tradnl" sz="4800" b="1" dirty="0"/>
              <a:t>Funciones  para trabajar con Caracteres</a:t>
            </a:r>
          </a:p>
        </p:txBody>
      </p:sp>
    </p:spTree>
    <p:extLst>
      <p:ext uri="{BB962C8B-B14F-4D97-AF65-F5344CB8AC3E}">
        <p14:creationId xmlns:p14="http://schemas.microsoft.com/office/powerpoint/2010/main" val="167984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sp>
        <p:nvSpPr>
          <p:cNvPr id="6" name="Rectángulo redondeado 4">
            <a:extLst>
              <a:ext uri="{FF2B5EF4-FFF2-40B4-BE49-F238E27FC236}">
                <a16:creationId xmlns:a16="http://schemas.microsoft.com/office/drawing/2014/main" xmlns="" id="{8A65D6F0-B741-4BC0-BA24-C289F0272357}"/>
              </a:ext>
            </a:extLst>
          </p:cNvPr>
          <p:cNvSpPr/>
          <p:nvPr/>
        </p:nvSpPr>
        <p:spPr>
          <a:xfrm>
            <a:off x="1852940" y="1348272"/>
            <a:ext cx="5472608" cy="936104"/>
          </a:xfrm>
          <a:prstGeom prst="roundRect">
            <a:avLst/>
          </a:prstGeom>
          <a:solidFill>
            <a:srgbClr val="DA10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Aceptan como argumentos de entrada datos del tipo </a:t>
            </a:r>
            <a:r>
              <a:rPr kumimoji="0" lang="es-CL" sz="1800" b="1" i="0" u="none" strike="noStrike" kern="1200" cap="none" spc="0" normalizeH="0" baseline="0" noProof="0" dirty="0" err="1">
                <a:ln>
                  <a:noFill/>
                </a:ln>
                <a:solidFill>
                  <a:srgbClr val="FFFFFF"/>
                </a:solidFill>
                <a:effectLst/>
                <a:uLnTx/>
                <a:uFillTx/>
                <a:latin typeface="Calibri"/>
                <a:ea typeface="+mn-ea"/>
                <a:cs typeface="Arial" panose="020B0604020202020204" pitchFamily="34" charset="0"/>
              </a:rPr>
              <a:t>caracter</a:t>
            </a: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y retornan datos del tipo caracteres o números</a:t>
            </a:r>
          </a:p>
        </p:txBody>
      </p:sp>
      <p:pic>
        <p:nvPicPr>
          <p:cNvPr id="7" name="Imagen 6" descr="Captura de pantalla de un celular&#10;&#10;Descripción generada automáticamente">
            <a:extLst>
              <a:ext uri="{FF2B5EF4-FFF2-40B4-BE49-F238E27FC236}">
                <a16:creationId xmlns:a16="http://schemas.microsoft.com/office/drawing/2014/main" xmlns="" id="{EE3F6813-9EF1-43D9-858F-FA71C37DE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08" y="2956778"/>
            <a:ext cx="8964488" cy="3072014"/>
          </a:xfrm>
          <a:prstGeom prst="rect">
            <a:avLst/>
          </a:prstGeom>
        </p:spPr>
      </p:pic>
    </p:spTree>
    <p:extLst>
      <p:ext uri="{BB962C8B-B14F-4D97-AF65-F5344CB8AC3E}">
        <p14:creationId xmlns:p14="http://schemas.microsoft.com/office/powerpoint/2010/main" val="382812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sp>
        <p:nvSpPr>
          <p:cNvPr id="10" name="Rectangle 3">
            <a:extLst>
              <a:ext uri="{FF2B5EF4-FFF2-40B4-BE49-F238E27FC236}">
                <a16:creationId xmlns:a16="http://schemas.microsoft.com/office/drawing/2014/main" xmlns="" id="{2080F227-ABE2-4471-8511-251D5F324A0D}"/>
              </a:ext>
            </a:extLst>
          </p:cNvPr>
          <p:cNvSpPr txBox="1">
            <a:spLocks noChangeArrowheads="1"/>
          </p:cNvSpPr>
          <p:nvPr/>
        </p:nvSpPr>
        <p:spPr bwMode="auto">
          <a:xfrm>
            <a:off x="611188" y="1292820"/>
            <a:ext cx="7993062" cy="3144292"/>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anose="020B0604020202020204" pitchFamily="34" charset="0"/>
              </a:rPr>
              <a:t>Funciones de conversión del texto a mayúsculas y minúsculas:</a:t>
            </a: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Arial" panose="020B0604020202020204" pitchFamily="34" charset="0"/>
                <a:ea typeface="ＭＳ Ｐゴシック" pitchFamily="34" charset="-128"/>
                <a:cs typeface="Arial" panose="020B0604020202020204" pitchFamily="34" charset="0"/>
              </a:rPr>
              <a:t>Funciones de reemplazo o manipulación de caracteres:</a:t>
            </a:r>
            <a:endParaRPr lang="es-ES_tradnl" sz="2000" kern="1200" dirty="0">
              <a:solidFill>
                <a:prstClr val="black"/>
              </a:solidFill>
              <a:latin typeface="Arial" panose="020B0604020202020204" pitchFamily="34" charset="0"/>
              <a:ea typeface="ＭＳ Ｐゴシック" pitchFamily="34" charset="-128"/>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Arial" panose="020B0604020202020204" pitchFamily="34" charset="0"/>
            </a:endParaRPr>
          </a:p>
          <a:p>
            <a:pPr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Arial" panose="020B0604020202020204" pitchFamily="34" charset="0"/>
            </a:endParaRPr>
          </a:p>
        </p:txBody>
      </p:sp>
      <p:pic>
        <p:nvPicPr>
          <p:cNvPr id="11" name="Imagen 10">
            <a:extLst>
              <a:ext uri="{FF2B5EF4-FFF2-40B4-BE49-F238E27FC236}">
                <a16:creationId xmlns:a16="http://schemas.microsoft.com/office/drawing/2014/main" xmlns="" id="{F75F4C2E-12DA-4A97-B77E-4E42A91307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62" y="1582291"/>
            <a:ext cx="8990476" cy="942857"/>
          </a:xfrm>
          <a:prstGeom prst="rect">
            <a:avLst/>
          </a:prstGeom>
        </p:spPr>
      </p:pic>
      <p:pic>
        <p:nvPicPr>
          <p:cNvPr id="12" name="Imagen 11" descr="Captura de pantalla de un celular&#10;&#10;Descripción generada automáticamente">
            <a:extLst>
              <a:ext uri="{FF2B5EF4-FFF2-40B4-BE49-F238E27FC236}">
                <a16:creationId xmlns:a16="http://schemas.microsoft.com/office/drawing/2014/main" xmlns="" id="{80C2A37B-68C7-4BE3-A894-200BF0C19B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72" y="3064945"/>
            <a:ext cx="9067238" cy="3232743"/>
          </a:xfrm>
          <a:prstGeom prst="rect">
            <a:avLst/>
          </a:prstGeom>
        </p:spPr>
      </p:pic>
    </p:spTree>
    <p:extLst>
      <p:ext uri="{BB962C8B-B14F-4D97-AF65-F5344CB8AC3E}">
        <p14:creationId xmlns:p14="http://schemas.microsoft.com/office/powerpoint/2010/main" val="3823512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A9117CB2-FC8E-43EF-B69E-45C2E57D1F25}"/>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pic>
        <p:nvPicPr>
          <p:cNvPr id="19" name="Imagen 18">
            <a:extLst>
              <a:ext uri="{FF2B5EF4-FFF2-40B4-BE49-F238E27FC236}">
                <a16:creationId xmlns:a16="http://schemas.microsoft.com/office/drawing/2014/main" xmlns="" id="{C8E106DA-A079-427C-95F7-7B93A2525F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9183" y="2398512"/>
            <a:ext cx="5691129" cy="3810800"/>
          </a:xfrm>
          <a:prstGeom prst="rect">
            <a:avLst/>
          </a:prstGeom>
        </p:spPr>
      </p:pic>
      <p:sp>
        <p:nvSpPr>
          <p:cNvPr id="20" name="Rectangle 3">
            <a:extLst>
              <a:ext uri="{FF2B5EF4-FFF2-40B4-BE49-F238E27FC236}">
                <a16:creationId xmlns:a16="http://schemas.microsoft.com/office/drawing/2014/main" xmlns="" id="{2F49B77C-91D2-4407-A191-76FE548BADF8}"/>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C3B0C760-F071-4BA2-9D3E-820ECCB3E968}"/>
              </a:ext>
            </a:extLst>
          </p:cNvPr>
          <p:cNvSpPr txBox="1">
            <a:spLocks noChangeArrowheads="1"/>
          </p:cNvSpPr>
          <p:nvPr/>
        </p:nvSpPr>
        <p:spPr bwMode="auto">
          <a:xfrm>
            <a:off x="683568" y="1540967"/>
            <a:ext cx="78488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UPPER(last_name)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job_id</a:t>
            </a:r>
            <a:r>
              <a:rPr kumimoji="0" lang="en-US" sz="1600" b="1" i="0" u="none" strike="noStrike" kern="1200" cap="none" spc="0" normalizeH="0" baseline="0" noProof="0" dirty="0">
                <a:ln>
                  <a:noFill/>
                </a:ln>
                <a:solidFill>
                  <a:srgbClr val="0000CC"/>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33CC"/>
                </a:solidFill>
                <a:effectLst/>
                <a:uLnTx/>
                <a:uFillTx/>
                <a:latin typeface="Calibri"/>
                <a:ea typeface="+mn-ea"/>
                <a:cs typeface="Arial" panose="020B0604020202020204" pitchFamily="34" charset="0"/>
              </a:rPr>
              <a:t>LOWER(job_id)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993366"/>
                </a:solidFill>
                <a:effectLst/>
                <a:uLnTx/>
                <a:uFillTx/>
                <a:latin typeface="Calibri"/>
                <a:ea typeface="+mn-ea"/>
                <a:cs typeface="Arial" panose="020B0604020202020204" pitchFamily="34" charset="0"/>
              </a:rPr>
              <a:t>INITCAP(job_id)</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endParaRPr kumimoji="0" lang="es-MX"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Rectangle 82">
            <a:extLst>
              <a:ext uri="{FF2B5EF4-FFF2-40B4-BE49-F238E27FC236}">
                <a16:creationId xmlns:a16="http://schemas.microsoft.com/office/drawing/2014/main" xmlns="" id="{DBC62DD3-E0FF-4BFD-9880-66E8640B1116}"/>
              </a:ext>
            </a:extLst>
          </p:cNvPr>
          <p:cNvSpPr>
            <a:spLocks noChangeArrowheads="1"/>
          </p:cNvSpPr>
          <p:nvPr/>
        </p:nvSpPr>
        <p:spPr bwMode="auto">
          <a:xfrm>
            <a:off x="3065410" y="2458461"/>
            <a:ext cx="1260000" cy="37368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3" name="Rectangle 83">
            <a:extLst>
              <a:ext uri="{FF2B5EF4-FFF2-40B4-BE49-F238E27FC236}">
                <a16:creationId xmlns:a16="http://schemas.microsoft.com/office/drawing/2014/main" xmlns="" id="{D63C1134-3D8E-4345-9905-6665A49D99C4}"/>
              </a:ext>
            </a:extLst>
          </p:cNvPr>
          <p:cNvSpPr>
            <a:spLocks noChangeArrowheads="1"/>
          </p:cNvSpPr>
          <p:nvPr/>
        </p:nvSpPr>
        <p:spPr bwMode="auto">
          <a:xfrm>
            <a:off x="5134617" y="2458461"/>
            <a:ext cx="1018800" cy="3736800"/>
          </a:xfrm>
          <a:prstGeom prst="rect">
            <a:avLst/>
          </a:prstGeom>
          <a:noFill/>
          <a:ln w="31750">
            <a:solidFill>
              <a:srgbClr val="0033CC"/>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4" name="Rectangle 84">
            <a:extLst>
              <a:ext uri="{FF2B5EF4-FFF2-40B4-BE49-F238E27FC236}">
                <a16:creationId xmlns:a16="http://schemas.microsoft.com/office/drawing/2014/main" xmlns="" id="{3693975C-E762-4582-9167-637CC1FF4A86}"/>
              </a:ext>
            </a:extLst>
          </p:cNvPr>
          <p:cNvSpPr>
            <a:spLocks noChangeArrowheads="1"/>
          </p:cNvSpPr>
          <p:nvPr/>
        </p:nvSpPr>
        <p:spPr bwMode="auto">
          <a:xfrm>
            <a:off x="6209963" y="2458461"/>
            <a:ext cx="1156901" cy="3737403"/>
          </a:xfrm>
          <a:prstGeom prst="rect">
            <a:avLst/>
          </a:prstGeom>
          <a:noFill/>
          <a:ln w="31750">
            <a:solidFill>
              <a:srgbClr val="993366"/>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43020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A9117CB2-FC8E-43EF-B69E-45C2E57D1F25}"/>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sp>
        <p:nvSpPr>
          <p:cNvPr id="17" name="Rectangle 3">
            <a:extLst>
              <a:ext uri="{FF2B5EF4-FFF2-40B4-BE49-F238E27FC236}">
                <a16:creationId xmlns:a16="http://schemas.microsoft.com/office/drawing/2014/main" xmlns="" id="{FAD5DD0D-FE84-40D5-8563-2F985FCA82E7}"/>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18" name="Text Box 5">
            <a:extLst>
              <a:ext uri="{FF2B5EF4-FFF2-40B4-BE49-F238E27FC236}">
                <a16:creationId xmlns:a16="http://schemas.microsoft.com/office/drawing/2014/main" xmlns="" id="{51767421-3544-4D00-A7C5-52DACBCB8690}"/>
              </a:ext>
            </a:extLst>
          </p:cNvPr>
          <p:cNvSpPr txBox="1">
            <a:spLocks noChangeArrowheads="1"/>
          </p:cNvSpPr>
          <p:nvPr/>
        </p:nvSpPr>
        <p:spPr bwMode="auto">
          <a:xfrm>
            <a:off x="1295200" y="1516451"/>
            <a:ext cx="691276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CONCAT('Su salario es ', salary)</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SUBSTR(last_name , 2,3)</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LENGTH(last_name)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INSTR(last_name, 'a')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0" fontAlgn="base" latinLnBrk="0" hangingPunct="0">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5" name="Imagen 24" descr="Imagen que contiene captura de pantalla&#10;&#10;Descripción generada automáticamente">
            <a:extLst>
              <a:ext uri="{FF2B5EF4-FFF2-40B4-BE49-F238E27FC236}">
                <a16:creationId xmlns:a16="http://schemas.microsoft.com/office/drawing/2014/main" xmlns="" id="{270E85A2-030D-4119-888C-370692B7C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818" y="2682224"/>
            <a:ext cx="7707606" cy="3816226"/>
          </a:xfrm>
          <a:prstGeom prst="rect">
            <a:avLst/>
          </a:prstGeom>
        </p:spPr>
      </p:pic>
      <p:sp>
        <p:nvSpPr>
          <p:cNvPr id="26" name="Rectangle 42">
            <a:extLst>
              <a:ext uri="{FF2B5EF4-FFF2-40B4-BE49-F238E27FC236}">
                <a16:creationId xmlns:a16="http://schemas.microsoft.com/office/drawing/2014/main" xmlns="" id="{ABD41039-7E7E-4B89-8D45-CB8222DAF659}"/>
              </a:ext>
            </a:extLst>
          </p:cNvPr>
          <p:cNvSpPr>
            <a:spLocks noChangeArrowheads="1"/>
          </p:cNvSpPr>
          <p:nvPr/>
        </p:nvSpPr>
        <p:spPr bwMode="auto">
          <a:xfrm>
            <a:off x="5649533" y="2722367"/>
            <a:ext cx="1332000" cy="3744000"/>
          </a:xfrm>
          <a:prstGeom prst="rect">
            <a:avLst/>
          </a:prstGeom>
          <a:noFill/>
          <a:ln w="31750">
            <a:solidFill>
              <a:srgbClr val="80008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7" name="Rectangle 42">
            <a:extLst>
              <a:ext uri="{FF2B5EF4-FFF2-40B4-BE49-F238E27FC236}">
                <a16:creationId xmlns:a16="http://schemas.microsoft.com/office/drawing/2014/main" xmlns="" id="{B9714D84-5806-45E9-86E0-86140A7B8601}"/>
              </a:ext>
            </a:extLst>
          </p:cNvPr>
          <p:cNvSpPr>
            <a:spLocks noChangeArrowheads="1"/>
          </p:cNvSpPr>
          <p:nvPr/>
        </p:nvSpPr>
        <p:spPr bwMode="auto">
          <a:xfrm>
            <a:off x="2096834" y="2722367"/>
            <a:ext cx="1936800" cy="374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8" name="Rectangle 42">
            <a:extLst>
              <a:ext uri="{FF2B5EF4-FFF2-40B4-BE49-F238E27FC236}">
                <a16:creationId xmlns:a16="http://schemas.microsoft.com/office/drawing/2014/main" xmlns="" id="{92413963-10BD-4EC2-B4F8-A113C7134C93}"/>
              </a:ext>
            </a:extLst>
          </p:cNvPr>
          <p:cNvSpPr>
            <a:spLocks noChangeArrowheads="1"/>
          </p:cNvSpPr>
          <p:nvPr/>
        </p:nvSpPr>
        <p:spPr bwMode="auto">
          <a:xfrm>
            <a:off x="4081391" y="2722367"/>
            <a:ext cx="1512000" cy="374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9" name="Rectangle 42">
            <a:extLst>
              <a:ext uri="{FF2B5EF4-FFF2-40B4-BE49-F238E27FC236}">
                <a16:creationId xmlns:a16="http://schemas.microsoft.com/office/drawing/2014/main" xmlns="" id="{93009083-1744-4D67-BA43-67395482FE07}"/>
              </a:ext>
            </a:extLst>
          </p:cNvPr>
          <p:cNvSpPr>
            <a:spLocks noChangeArrowheads="1"/>
          </p:cNvSpPr>
          <p:nvPr/>
        </p:nvSpPr>
        <p:spPr bwMode="auto">
          <a:xfrm>
            <a:off x="7024622" y="2722367"/>
            <a:ext cx="1353600" cy="3744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7370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A9117CB2-FC8E-43EF-B69E-45C2E57D1F25}"/>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sp>
        <p:nvSpPr>
          <p:cNvPr id="20" name="Rectangle 3">
            <a:extLst>
              <a:ext uri="{FF2B5EF4-FFF2-40B4-BE49-F238E27FC236}">
                <a16:creationId xmlns:a16="http://schemas.microsoft.com/office/drawing/2014/main" xmlns="" id="{8AE64D8A-BA04-473F-B7C5-B987A7920BC3}"/>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A77577DE-0543-46A2-A195-18FE10C9EEC6}"/>
              </a:ext>
            </a:extLst>
          </p:cNvPr>
          <p:cNvSpPr txBox="1">
            <a:spLocks noChangeArrowheads="1"/>
          </p:cNvSpPr>
          <p:nvPr/>
        </p:nvSpPr>
        <p:spPr bwMode="auto">
          <a:xfrm>
            <a:off x="1287398" y="1484784"/>
            <a:ext cx="7173034"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SELECT last_name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INSTR(</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last_name,'e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1, 2)</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Resultado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INSTR",</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SUBSTR(last_name, -2, 2)</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Resultado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SUBSTR",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TRIM('B' FROM last_name)</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Resultado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1er. TRIM",</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salary,</a:t>
            </a:r>
            <a:r>
              <a:rPr kumimoji="0" lang="en-US" sz="1600" b="1" i="0" u="none" strike="noStrike" kern="1200" cap="none" spc="0" normalizeH="0" baseline="0" noProof="0" dirty="0">
                <a:ln>
                  <a:noFill/>
                </a:ln>
                <a:solidFill>
                  <a:srgbClr val="003366"/>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TRIM(1 FROM salary)</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Resultado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2do. TRIM"</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WHERE salary between 9500 AND 10000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ORDER BY last_name;</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ysClr val="windowText" lastClr="000000"/>
              </a:solidFill>
              <a:effectLst/>
              <a:uLnTx/>
              <a:uFillTx/>
              <a:latin typeface="Arial Black" pitchFamily="34" charset="0"/>
              <a:ea typeface="+mn-ea"/>
              <a:cs typeface="Arial" panose="020B0604020202020204" pitchFamily="34" charset="0"/>
            </a:endParaRPr>
          </a:p>
        </p:txBody>
      </p:sp>
      <p:pic>
        <p:nvPicPr>
          <p:cNvPr id="22" name="Imagen 21">
            <a:extLst>
              <a:ext uri="{FF2B5EF4-FFF2-40B4-BE49-F238E27FC236}">
                <a16:creationId xmlns:a16="http://schemas.microsoft.com/office/drawing/2014/main" xmlns="" id="{DDE5564E-2278-44B8-91D2-CDF0F59BF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684156"/>
            <a:ext cx="6937179" cy="2062102"/>
          </a:xfrm>
          <a:prstGeom prst="rect">
            <a:avLst/>
          </a:prstGeom>
        </p:spPr>
      </p:pic>
      <p:sp>
        <p:nvSpPr>
          <p:cNvPr id="23" name="Rectangle 42">
            <a:extLst>
              <a:ext uri="{FF2B5EF4-FFF2-40B4-BE49-F238E27FC236}">
                <a16:creationId xmlns:a16="http://schemas.microsoft.com/office/drawing/2014/main" xmlns="" id="{731A7491-4F27-4A28-ABC9-F4A1922C2724}"/>
              </a:ext>
            </a:extLst>
          </p:cNvPr>
          <p:cNvSpPr>
            <a:spLocks noChangeArrowheads="1"/>
          </p:cNvSpPr>
          <p:nvPr/>
        </p:nvSpPr>
        <p:spPr bwMode="auto">
          <a:xfrm>
            <a:off x="2649906" y="3678890"/>
            <a:ext cx="1080000" cy="2062102"/>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4" name="Rectangle 42">
            <a:extLst>
              <a:ext uri="{FF2B5EF4-FFF2-40B4-BE49-F238E27FC236}">
                <a16:creationId xmlns:a16="http://schemas.microsoft.com/office/drawing/2014/main" xmlns="" id="{FFA9C7B2-488C-40A4-B633-84FBC99A719B}"/>
              </a:ext>
            </a:extLst>
          </p:cNvPr>
          <p:cNvSpPr>
            <a:spLocks noChangeArrowheads="1"/>
          </p:cNvSpPr>
          <p:nvPr/>
        </p:nvSpPr>
        <p:spPr bwMode="auto">
          <a:xfrm>
            <a:off x="3742765" y="3678890"/>
            <a:ext cx="1166400" cy="20628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0" name="Rectangle 42">
            <a:extLst>
              <a:ext uri="{FF2B5EF4-FFF2-40B4-BE49-F238E27FC236}">
                <a16:creationId xmlns:a16="http://schemas.microsoft.com/office/drawing/2014/main" xmlns="" id="{3C107DC5-D160-43F4-BC7E-8E1B05287FF3}"/>
              </a:ext>
            </a:extLst>
          </p:cNvPr>
          <p:cNvSpPr>
            <a:spLocks noChangeArrowheads="1"/>
          </p:cNvSpPr>
          <p:nvPr/>
        </p:nvSpPr>
        <p:spPr bwMode="auto">
          <a:xfrm>
            <a:off x="4958933" y="3678890"/>
            <a:ext cx="1302767" cy="20628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1" name="Rectangle 42">
            <a:extLst>
              <a:ext uri="{FF2B5EF4-FFF2-40B4-BE49-F238E27FC236}">
                <a16:creationId xmlns:a16="http://schemas.microsoft.com/office/drawing/2014/main" xmlns="" id="{382515BA-8309-4758-AA7D-96299BE6CD84}"/>
              </a:ext>
            </a:extLst>
          </p:cNvPr>
          <p:cNvSpPr>
            <a:spLocks noChangeArrowheads="1"/>
          </p:cNvSpPr>
          <p:nvPr/>
        </p:nvSpPr>
        <p:spPr bwMode="auto">
          <a:xfrm>
            <a:off x="6925862" y="3691769"/>
            <a:ext cx="1329510" cy="20628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57347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A9117CB2-FC8E-43EF-B69E-45C2E57D1F25}"/>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de Caracteres</a:t>
            </a:r>
          </a:p>
        </p:txBody>
      </p:sp>
      <p:sp>
        <p:nvSpPr>
          <p:cNvPr id="17" name="Rectangle 3">
            <a:extLst>
              <a:ext uri="{FF2B5EF4-FFF2-40B4-BE49-F238E27FC236}">
                <a16:creationId xmlns:a16="http://schemas.microsoft.com/office/drawing/2014/main" xmlns="" id="{C840AD16-920F-4334-A8F9-E1CE871F57CE}"/>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18" name="Text Box 5">
            <a:extLst>
              <a:ext uri="{FF2B5EF4-FFF2-40B4-BE49-F238E27FC236}">
                <a16:creationId xmlns:a16="http://schemas.microsoft.com/office/drawing/2014/main" xmlns="" id="{72EA37C9-51F5-427B-8DC0-2C0AC6CE2F7F}"/>
              </a:ext>
            </a:extLst>
          </p:cNvPr>
          <p:cNvSpPr txBox="1">
            <a:spLocks noChangeArrowheads="1"/>
          </p:cNvSpPr>
          <p:nvPr/>
        </p:nvSpPr>
        <p:spPr bwMode="auto">
          <a:xfrm>
            <a:off x="1287636" y="1529497"/>
            <a:ext cx="717279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SELECT last_name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REPLACE(last_name, 'A',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Hola</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LPAD(salary,10,'*')</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RPAD(salary,10,'*')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ORDER BY last_name;</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ysClr val="windowText" lastClr="000000"/>
              </a:solidFill>
              <a:effectLst/>
              <a:uLnTx/>
              <a:uFillTx/>
              <a:latin typeface="Arial Black" pitchFamily="34" charset="0"/>
              <a:ea typeface="+mn-ea"/>
              <a:cs typeface="Arial" panose="020B0604020202020204" pitchFamily="34" charset="0"/>
            </a:endParaRPr>
          </a:p>
        </p:txBody>
      </p:sp>
      <p:pic>
        <p:nvPicPr>
          <p:cNvPr id="19" name="Imagen 18">
            <a:extLst>
              <a:ext uri="{FF2B5EF4-FFF2-40B4-BE49-F238E27FC236}">
                <a16:creationId xmlns:a16="http://schemas.microsoft.com/office/drawing/2014/main" xmlns="" id="{30DB8548-F466-4D6E-B112-22C4D46C4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2906296"/>
            <a:ext cx="6161905" cy="3619048"/>
          </a:xfrm>
          <a:prstGeom prst="rect">
            <a:avLst/>
          </a:prstGeom>
        </p:spPr>
      </p:pic>
      <p:sp>
        <p:nvSpPr>
          <p:cNvPr id="25" name="Rectangle 42">
            <a:extLst>
              <a:ext uri="{FF2B5EF4-FFF2-40B4-BE49-F238E27FC236}">
                <a16:creationId xmlns:a16="http://schemas.microsoft.com/office/drawing/2014/main" xmlns="" id="{D67A703A-2564-4418-A3D6-42E12A722E04}"/>
              </a:ext>
            </a:extLst>
          </p:cNvPr>
          <p:cNvSpPr>
            <a:spLocks noChangeArrowheads="1"/>
          </p:cNvSpPr>
          <p:nvPr/>
        </p:nvSpPr>
        <p:spPr bwMode="auto">
          <a:xfrm>
            <a:off x="2935171" y="2943522"/>
            <a:ext cx="1839405" cy="356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6" name="Rectangle 42">
            <a:extLst>
              <a:ext uri="{FF2B5EF4-FFF2-40B4-BE49-F238E27FC236}">
                <a16:creationId xmlns:a16="http://schemas.microsoft.com/office/drawing/2014/main" xmlns="" id="{A7B02153-777E-4952-98DF-3CA289613C64}"/>
              </a:ext>
            </a:extLst>
          </p:cNvPr>
          <p:cNvSpPr>
            <a:spLocks noChangeArrowheads="1"/>
          </p:cNvSpPr>
          <p:nvPr/>
        </p:nvSpPr>
        <p:spPr bwMode="auto">
          <a:xfrm>
            <a:off x="5370664" y="2943522"/>
            <a:ext cx="1152000" cy="356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7" name="Rectangle 42">
            <a:extLst>
              <a:ext uri="{FF2B5EF4-FFF2-40B4-BE49-F238E27FC236}">
                <a16:creationId xmlns:a16="http://schemas.microsoft.com/office/drawing/2014/main" xmlns="" id="{8D183160-B3E8-4F9C-A98E-A230B1E080A8}"/>
              </a:ext>
            </a:extLst>
          </p:cNvPr>
          <p:cNvSpPr>
            <a:spLocks noChangeArrowheads="1"/>
          </p:cNvSpPr>
          <p:nvPr/>
        </p:nvSpPr>
        <p:spPr bwMode="auto">
          <a:xfrm>
            <a:off x="6567240" y="2943522"/>
            <a:ext cx="1277255" cy="3564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877235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817646"/>
            <a:ext cx="6499771" cy="1499419"/>
          </a:xfrm>
        </p:spPr>
        <p:txBody>
          <a:bodyPr/>
          <a:lstStyle/>
          <a:p>
            <a:r>
              <a:rPr lang="es-ES_tradnl" sz="4800" b="1" dirty="0"/>
              <a:t>Funciones para </a:t>
            </a:r>
            <a:br>
              <a:rPr lang="es-ES_tradnl" sz="4800" b="1" dirty="0"/>
            </a:br>
            <a:r>
              <a:rPr lang="es-ES_tradnl" sz="4800" b="1" dirty="0"/>
              <a:t>trabajar con Números</a:t>
            </a:r>
          </a:p>
        </p:txBody>
      </p:sp>
    </p:spTree>
    <p:extLst>
      <p:ext uri="{BB962C8B-B14F-4D97-AF65-F5344CB8AC3E}">
        <p14:creationId xmlns:p14="http://schemas.microsoft.com/office/powerpoint/2010/main" val="3726567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Números</a:t>
            </a:r>
          </a:p>
        </p:txBody>
      </p:sp>
      <p:sp>
        <p:nvSpPr>
          <p:cNvPr id="22" name="Rectángulo redondeado 4">
            <a:extLst>
              <a:ext uri="{FF2B5EF4-FFF2-40B4-BE49-F238E27FC236}">
                <a16:creationId xmlns:a16="http://schemas.microsoft.com/office/drawing/2014/main" xmlns="" id="{8FECDF7E-8D89-4001-84FA-7F80E5F05ABF}"/>
              </a:ext>
            </a:extLst>
          </p:cNvPr>
          <p:cNvSpPr/>
          <p:nvPr/>
        </p:nvSpPr>
        <p:spPr>
          <a:xfrm>
            <a:off x="1979712" y="1556792"/>
            <a:ext cx="5472608" cy="936104"/>
          </a:xfrm>
          <a:prstGeom prst="roundRect">
            <a:avLst/>
          </a:prstGeom>
          <a:solidFill>
            <a:srgbClr val="0000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Manipulan números, aceptan un valor numérico como argumento y retornan un valor numérico</a:t>
            </a:r>
          </a:p>
        </p:txBody>
      </p:sp>
      <p:pic>
        <p:nvPicPr>
          <p:cNvPr id="23" name="Imagen 22">
            <a:extLst>
              <a:ext uri="{FF2B5EF4-FFF2-40B4-BE49-F238E27FC236}">
                <a16:creationId xmlns:a16="http://schemas.microsoft.com/office/drawing/2014/main" xmlns="" id="{702F5DC2-B0E2-474F-A871-065726FEAB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98" y="2739715"/>
            <a:ext cx="8892480" cy="873782"/>
          </a:xfrm>
          <a:prstGeom prst="rect">
            <a:avLst/>
          </a:prstGeom>
        </p:spPr>
      </p:pic>
      <p:sp>
        <p:nvSpPr>
          <p:cNvPr id="24" name="Rectangle 3">
            <a:extLst>
              <a:ext uri="{FF2B5EF4-FFF2-40B4-BE49-F238E27FC236}">
                <a16:creationId xmlns:a16="http://schemas.microsoft.com/office/drawing/2014/main" xmlns="" id="{480B5451-DD5A-4E88-9EA4-90B298D87453}"/>
              </a:ext>
            </a:extLst>
          </p:cNvPr>
          <p:cNvSpPr txBox="1">
            <a:spLocks noChangeArrowheads="1"/>
          </p:cNvSpPr>
          <p:nvPr/>
        </p:nvSpPr>
        <p:spPr bwMode="auto">
          <a:xfrm>
            <a:off x="611188" y="4077072"/>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5" name="Text Box 5">
            <a:extLst>
              <a:ext uri="{FF2B5EF4-FFF2-40B4-BE49-F238E27FC236}">
                <a16:creationId xmlns:a16="http://schemas.microsoft.com/office/drawing/2014/main" xmlns="" id="{B9FDD3E1-0B88-443F-A069-40AB0505E783}"/>
              </a:ext>
            </a:extLst>
          </p:cNvPr>
          <p:cNvSpPr txBox="1">
            <a:spLocks noChangeArrowheads="1"/>
          </p:cNvSpPr>
          <p:nvPr/>
        </p:nvSpPr>
        <p:spPr bwMode="auto">
          <a:xfrm>
            <a:off x="979957" y="4416405"/>
            <a:ext cx="7459983"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C3300"/>
                </a:solidFill>
                <a:effectLst/>
                <a:uLnTx/>
                <a:uFillTx/>
                <a:latin typeface="Calibri"/>
                <a:ea typeface="+mn-ea"/>
                <a:cs typeface="Arial" panose="020B0604020202020204" pitchFamily="34" charset="0"/>
              </a:rPr>
              <a:t>ROUND(1234.5678,2)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ROUND(1234.5678)</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ROUND(1235.5678, -1)</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TRUNC(1234.5678,2)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66"/>
                </a:solidFill>
                <a:effectLst/>
                <a:uLnTx/>
                <a:uFillTx/>
                <a:latin typeface="Calibri"/>
                <a:ea typeface="+mn-ea"/>
                <a:cs typeface="Arial" panose="020B0604020202020204" pitchFamily="34" charset="0"/>
              </a:rPr>
              <a:t>TRUNC(1234.5678)</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C0000"/>
                </a:solidFill>
                <a:effectLst/>
                <a:uLnTx/>
                <a:uFillTx/>
                <a:latin typeface="Calibri"/>
                <a:ea typeface="+mn-ea"/>
                <a:cs typeface="Arial" panose="020B0604020202020204" pitchFamily="34" charset="0"/>
              </a:rPr>
              <a:t>TRUNC(1234.5678, -2)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6" name="Imagen 25">
            <a:extLst>
              <a:ext uri="{FF2B5EF4-FFF2-40B4-BE49-F238E27FC236}">
                <a16:creationId xmlns:a16="http://schemas.microsoft.com/office/drawing/2014/main" xmlns="" id="{D23BB1F6-AB5E-4419-AB19-2B0C18A6B5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200" y="5601338"/>
            <a:ext cx="7839248" cy="491958"/>
          </a:xfrm>
          <a:prstGeom prst="rect">
            <a:avLst/>
          </a:prstGeom>
        </p:spPr>
      </p:pic>
      <p:sp>
        <p:nvSpPr>
          <p:cNvPr id="27" name="Rectangle 42">
            <a:extLst>
              <a:ext uri="{FF2B5EF4-FFF2-40B4-BE49-F238E27FC236}">
                <a16:creationId xmlns:a16="http://schemas.microsoft.com/office/drawing/2014/main" xmlns="" id="{E0066232-AAEF-415C-96D3-A95CA9AAA92A}"/>
              </a:ext>
            </a:extLst>
          </p:cNvPr>
          <p:cNvSpPr>
            <a:spLocks noChangeArrowheads="1"/>
          </p:cNvSpPr>
          <p:nvPr/>
        </p:nvSpPr>
        <p:spPr bwMode="auto">
          <a:xfrm>
            <a:off x="746975" y="5585689"/>
            <a:ext cx="1343382" cy="504000"/>
          </a:xfrm>
          <a:prstGeom prst="rect">
            <a:avLst/>
          </a:prstGeom>
          <a:noFill/>
          <a:ln w="31750">
            <a:solidFill>
              <a:srgbClr val="CC33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8" name="Rectangle 42">
            <a:extLst>
              <a:ext uri="{FF2B5EF4-FFF2-40B4-BE49-F238E27FC236}">
                <a16:creationId xmlns:a16="http://schemas.microsoft.com/office/drawing/2014/main" xmlns="" id="{DA11389D-309A-42F8-898B-AE4CFF5E013D}"/>
              </a:ext>
            </a:extLst>
          </p:cNvPr>
          <p:cNvSpPr>
            <a:spLocks noChangeArrowheads="1"/>
          </p:cNvSpPr>
          <p:nvPr/>
        </p:nvSpPr>
        <p:spPr bwMode="auto">
          <a:xfrm>
            <a:off x="2136857" y="5585689"/>
            <a:ext cx="1177636" cy="50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9" name="Rectangle 42">
            <a:extLst>
              <a:ext uri="{FF2B5EF4-FFF2-40B4-BE49-F238E27FC236}">
                <a16:creationId xmlns:a16="http://schemas.microsoft.com/office/drawing/2014/main" xmlns="" id="{B6C08023-5AF7-434E-AE6C-280722195272}"/>
              </a:ext>
            </a:extLst>
          </p:cNvPr>
          <p:cNvSpPr>
            <a:spLocks noChangeArrowheads="1"/>
          </p:cNvSpPr>
          <p:nvPr/>
        </p:nvSpPr>
        <p:spPr bwMode="auto">
          <a:xfrm>
            <a:off x="3360993" y="5585689"/>
            <a:ext cx="1335036" cy="504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0" name="Rectangle 42">
            <a:extLst>
              <a:ext uri="{FF2B5EF4-FFF2-40B4-BE49-F238E27FC236}">
                <a16:creationId xmlns:a16="http://schemas.microsoft.com/office/drawing/2014/main" xmlns="" id="{29CFF873-2D0D-4681-9F59-7508CFE78291}"/>
              </a:ext>
            </a:extLst>
          </p:cNvPr>
          <p:cNvSpPr>
            <a:spLocks noChangeArrowheads="1"/>
          </p:cNvSpPr>
          <p:nvPr/>
        </p:nvSpPr>
        <p:spPr bwMode="auto">
          <a:xfrm>
            <a:off x="4766058" y="5585689"/>
            <a:ext cx="1243756" cy="504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1" name="Rectangle 42">
            <a:extLst>
              <a:ext uri="{FF2B5EF4-FFF2-40B4-BE49-F238E27FC236}">
                <a16:creationId xmlns:a16="http://schemas.microsoft.com/office/drawing/2014/main" xmlns="" id="{690D47B1-3566-4B34-9FCE-6395CDFC3D6B}"/>
              </a:ext>
            </a:extLst>
          </p:cNvPr>
          <p:cNvSpPr>
            <a:spLocks noChangeArrowheads="1"/>
          </p:cNvSpPr>
          <p:nvPr/>
        </p:nvSpPr>
        <p:spPr bwMode="auto">
          <a:xfrm>
            <a:off x="6060359" y="5585689"/>
            <a:ext cx="1181203" cy="504000"/>
          </a:xfrm>
          <a:prstGeom prst="rect">
            <a:avLst/>
          </a:prstGeom>
          <a:noFill/>
          <a:ln w="31750">
            <a:solidFill>
              <a:srgbClr val="000066"/>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2" name="Rectangle 42">
            <a:extLst>
              <a:ext uri="{FF2B5EF4-FFF2-40B4-BE49-F238E27FC236}">
                <a16:creationId xmlns:a16="http://schemas.microsoft.com/office/drawing/2014/main" xmlns="" id="{3E12197D-FFA3-44CE-850D-E5A1509776B2}"/>
              </a:ext>
            </a:extLst>
          </p:cNvPr>
          <p:cNvSpPr>
            <a:spLocks noChangeArrowheads="1"/>
          </p:cNvSpPr>
          <p:nvPr/>
        </p:nvSpPr>
        <p:spPr bwMode="auto">
          <a:xfrm>
            <a:off x="7292106" y="5585689"/>
            <a:ext cx="1300907" cy="50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955520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2">
            <a:extLst>
              <a:ext uri="{FF2B5EF4-FFF2-40B4-BE49-F238E27FC236}">
                <a16:creationId xmlns:a16="http://schemas.microsoft.com/office/drawing/2014/main" xmlns="" id="{700174DB-B143-4555-9D25-6075310D39FB}"/>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Números</a:t>
            </a:r>
          </a:p>
        </p:txBody>
      </p:sp>
      <p:pic>
        <p:nvPicPr>
          <p:cNvPr id="19" name="Imagen 18" descr="Captura de pantalla de un celular con letras&#10;&#10;Descripción generada automáticamente">
            <a:extLst>
              <a:ext uri="{FF2B5EF4-FFF2-40B4-BE49-F238E27FC236}">
                <a16:creationId xmlns:a16="http://schemas.microsoft.com/office/drawing/2014/main" xmlns="" id="{EF8B0491-4B73-4804-9B3A-9D513BB8C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2901029"/>
            <a:ext cx="6017114" cy="3551360"/>
          </a:xfrm>
          <a:prstGeom prst="rect">
            <a:avLst/>
          </a:prstGeom>
        </p:spPr>
      </p:pic>
      <p:sp>
        <p:nvSpPr>
          <p:cNvPr id="20" name="Rectangle 3">
            <a:extLst>
              <a:ext uri="{FF2B5EF4-FFF2-40B4-BE49-F238E27FC236}">
                <a16:creationId xmlns:a16="http://schemas.microsoft.com/office/drawing/2014/main" xmlns="" id="{56361683-23D5-46CC-86F1-74940F8BF5EE}"/>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4CADA1EE-C8FF-4D69-942E-74FE554F57AB}"/>
              </a:ext>
            </a:extLst>
          </p:cNvPr>
          <p:cNvSpPr txBox="1">
            <a:spLocks noChangeArrowheads="1"/>
          </p:cNvSpPr>
          <p:nvPr/>
        </p:nvSpPr>
        <p:spPr bwMode="auto">
          <a:xfrm>
            <a:off x="1115616" y="1511678"/>
            <a:ext cx="720080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"ID.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"NOMBRE EMPLEADO",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salary*.023,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ROUND(salary*.023)</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TRUNC(salary*.023)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FROM employees;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ysClr val="windowText" lastClr="000000"/>
              </a:solidFill>
              <a:effectLst/>
              <a:uLnTx/>
              <a:uFillTx/>
              <a:latin typeface="Arial Black" pitchFamily="34" charset="0"/>
              <a:ea typeface="+mn-ea"/>
              <a:cs typeface="Arial" panose="020B0604020202020204" pitchFamily="34" charset="0"/>
            </a:endParaRPr>
          </a:p>
        </p:txBody>
      </p:sp>
      <p:sp>
        <p:nvSpPr>
          <p:cNvPr id="22" name="Rectangle 42">
            <a:extLst>
              <a:ext uri="{FF2B5EF4-FFF2-40B4-BE49-F238E27FC236}">
                <a16:creationId xmlns:a16="http://schemas.microsoft.com/office/drawing/2014/main" xmlns="" id="{CAE2B083-E9A5-45A8-9C9D-4D5477DE8B27}"/>
              </a:ext>
            </a:extLst>
          </p:cNvPr>
          <p:cNvSpPr>
            <a:spLocks noChangeArrowheads="1"/>
          </p:cNvSpPr>
          <p:nvPr/>
        </p:nvSpPr>
        <p:spPr bwMode="auto">
          <a:xfrm>
            <a:off x="4966437" y="2916484"/>
            <a:ext cx="1278000" cy="3492000"/>
          </a:xfrm>
          <a:prstGeom prst="rect">
            <a:avLst/>
          </a:prstGeom>
          <a:noFill/>
          <a:ln w="31750">
            <a:solidFill>
              <a:srgbClr val="CC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3" name="Rectangle 42">
            <a:extLst>
              <a:ext uri="{FF2B5EF4-FFF2-40B4-BE49-F238E27FC236}">
                <a16:creationId xmlns:a16="http://schemas.microsoft.com/office/drawing/2014/main" xmlns="" id="{13FC56A0-18D9-46E4-9B98-2A69537E2820}"/>
              </a:ext>
            </a:extLst>
          </p:cNvPr>
          <p:cNvSpPr>
            <a:spLocks noChangeArrowheads="1"/>
          </p:cNvSpPr>
          <p:nvPr/>
        </p:nvSpPr>
        <p:spPr bwMode="auto">
          <a:xfrm>
            <a:off x="6297690" y="2916484"/>
            <a:ext cx="1188000" cy="3492000"/>
          </a:xfrm>
          <a:prstGeom prst="rect">
            <a:avLst/>
          </a:prstGeom>
          <a:noFill/>
          <a:ln w="31750">
            <a:solidFill>
              <a:srgbClr val="0000DA"/>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858924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xmlns="" id="{F75DD475-E4B4-4D89-BD79-AE8984C03351}"/>
              </a:ext>
            </a:extLst>
          </p:cNvPr>
          <p:cNvPicPr>
            <a:picLocks noChangeAspect="1"/>
          </p:cNvPicPr>
          <p:nvPr/>
        </p:nvPicPr>
        <p:blipFill>
          <a:blip r:embed="rId3"/>
          <a:stretch>
            <a:fillRect/>
          </a:stretch>
        </p:blipFill>
        <p:spPr>
          <a:xfrm>
            <a:off x="2714857" y="3130085"/>
            <a:ext cx="3779070" cy="3633721"/>
          </a:xfrm>
          <a:prstGeom prst="rect">
            <a:avLst/>
          </a:prstGeom>
        </p:spPr>
      </p:pic>
      <p:sp>
        <p:nvSpPr>
          <p:cNvPr id="9" name="Título 2">
            <a:extLst>
              <a:ext uri="{FF2B5EF4-FFF2-40B4-BE49-F238E27FC236}">
                <a16:creationId xmlns:a16="http://schemas.microsoft.com/office/drawing/2014/main" xmlns="" id="{700174DB-B143-4555-9D25-6075310D39FB}"/>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Números</a:t>
            </a:r>
          </a:p>
        </p:txBody>
      </p:sp>
      <p:sp>
        <p:nvSpPr>
          <p:cNvPr id="20" name="Rectangle 3">
            <a:extLst>
              <a:ext uri="{FF2B5EF4-FFF2-40B4-BE49-F238E27FC236}">
                <a16:creationId xmlns:a16="http://schemas.microsoft.com/office/drawing/2014/main" xmlns="" id="{56361683-23D5-46CC-86F1-74940F8BF5EE}"/>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4CADA1EE-C8FF-4D69-942E-74FE554F57AB}"/>
              </a:ext>
            </a:extLst>
          </p:cNvPr>
          <p:cNvSpPr txBox="1">
            <a:spLocks noChangeArrowheads="1"/>
          </p:cNvSpPr>
          <p:nvPr/>
        </p:nvSpPr>
        <p:spPr bwMode="auto">
          <a:xfrm>
            <a:off x="1115616" y="1511678"/>
            <a:ext cx="720080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lvl="0" fontAlgn="base">
              <a:spcBef>
                <a:spcPct val="0"/>
              </a:spcBef>
              <a:spcAft>
                <a:spcPct val="0"/>
              </a:spcAft>
              <a:buClrTx/>
              <a:defRPr/>
            </a:pPr>
            <a:r>
              <a:rPr lang="en-US" sz="1600" b="1" kern="1200" dirty="0">
                <a:solidFill>
                  <a:sysClr val="windowText" lastClr="000000"/>
                </a:solidFill>
                <a:latin typeface="Calibri"/>
                <a:ea typeface="+mn-ea"/>
                <a:cs typeface="Arial" panose="020B0604020202020204" pitchFamily="34" charset="0"/>
              </a:rPr>
              <a:t>SELECT </a:t>
            </a:r>
            <a:r>
              <a:rPr lang="en-US" sz="1600" b="1" kern="1200" dirty="0" err="1">
                <a:solidFill>
                  <a:sysClr val="windowText" lastClr="000000"/>
                </a:solidFill>
                <a:latin typeface="Calibri"/>
                <a:ea typeface="+mn-ea"/>
                <a:cs typeface="Arial" panose="020B0604020202020204" pitchFamily="34" charset="0"/>
              </a:rPr>
              <a:t>employee_id</a:t>
            </a:r>
            <a:r>
              <a:rPr lang="en-US" sz="1600" b="1" kern="1200" dirty="0">
                <a:solidFill>
                  <a:sysClr val="windowText" lastClr="000000"/>
                </a:solidFill>
                <a:latin typeface="Calibri"/>
                <a:ea typeface="+mn-ea"/>
                <a:cs typeface="Arial" panose="020B0604020202020204" pitchFamily="34" charset="0"/>
              </a:rPr>
              <a:t>, salary,</a:t>
            </a:r>
          </a:p>
          <a:p>
            <a:pPr lvl="0" fontAlgn="base">
              <a:spcBef>
                <a:spcPct val="0"/>
              </a:spcBef>
              <a:spcAft>
                <a:spcPct val="0"/>
              </a:spcAft>
              <a:buClrTx/>
              <a:defRPr/>
            </a:pPr>
            <a:r>
              <a:rPr lang="en-US" sz="1600" b="1" kern="1200" dirty="0">
                <a:solidFill>
                  <a:sysClr val="windowText" lastClr="000000"/>
                </a:solidFill>
                <a:latin typeface="Calibri"/>
                <a:ea typeface="+mn-ea"/>
                <a:cs typeface="Arial" panose="020B0604020202020204" pitchFamily="34" charset="0"/>
              </a:rPr>
              <a:t>              </a:t>
            </a:r>
            <a:r>
              <a:rPr lang="en-US" sz="1600" b="1" kern="1200" dirty="0">
                <a:solidFill>
                  <a:srgbClr val="C00000"/>
                </a:solidFill>
                <a:latin typeface="Calibri"/>
                <a:ea typeface="+mn-ea"/>
                <a:cs typeface="Arial" panose="020B0604020202020204" pitchFamily="34" charset="0"/>
              </a:rPr>
              <a:t>salary*</a:t>
            </a:r>
            <a:r>
              <a:rPr lang="en-US" sz="1600" b="1" kern="1200" dirty="0" err="1">
                <a:solidFill>
                  <a:srgbClr val="C00000"/>
                </a:solidFill>
                <a:latin typeface="Calibri"/>
                <a:ea typeface="+mn-ea"/>
                <a:cs typeface="Arial" panose="020B0604020202020204" pitchFamily="34" charset="0"/>
              </a:rPr>
              <a:t>commission_pct</a:t>
            </a:r>
            <a:r>
              <a:rPr lang="en-US" sz="1600" b="1" kern="1200" dirty="0">
                <a:solidFill>
                  <a:srgbClr val="C00000"/>
                </a:solidFill>
                <a:latin typeface="Calibri"/>
                <a:ea typeface="+mn-ea"/>
                <a:cs typeface="Arial" panose="020B0604020202020204" pitchFamily="34" charset="0"/>
              </a:rPr>
              <a:t>*.763</a:t>
            </a:r>
            <a:r>
              <a:rPr lang="en-US" sz="1600" b="1" kern="1200" dirty="0">
                <a:solidFill>
                  <a:sysClr val="windowText" lastClr="000000"/>
                </a:solidFill>
                <a:latin typeface="Calibri"/>
                <a:ea typeface="+mn-ea"/>
                <a:cs typeface="Arial" panose="020B0604020202020204" pitchFamily="34" charset="0"/>
              </a:rPr>
              <a:t> "RESULTADO 1",</a:t>
            </a:r>
          </a:p>
          <a:p>
            <a:pPr lvl="0" fontAlgn="base">
              <a:spcBef>
                <a:spcPct val="0"/>
              </a:spcBef>
              <a:spcAft>
                <a:spcPct val="0"/>
              </a:spcAft>
              <a:buClrTx/>
              <a:defRPr/>
            </a:pPr>
            <a:r>
              <a:rPr lang="en-US" sz="1600" b="1" kern="1200" dirty="0">
                <a:solidFill>
                  <a:sysClr val="windowText" lastClr="000000"/>
                </a:solidFill>
                <a:latin typeface="Calibri"/>
                <a:ea typeface="+mn-ea"/>
                <a:cs typeface="Arial" panose="020B0604020202020204" pitchFamily="34" charset="0"/>
              </a:rPr>
              <a:t>              </a:t>
            </a:r>
            <a:r>
              <a:rPr lang="en-US" sz="1600" b="1" kern="1200" dirty="0">
                <a:solidFill>
                  <a:srgbClr val="0000DE"/>
                </a:solidFill>
                <a:latin typeface="Calibri"/>
                <a:ea typeface="+mn-ea"/>
                <a:cs typeface="Arial" panose="020B0604020202020204" pitchFamily="34" charset="0"/>
              </a:rPr>
              <a:t>ROUND((salary*</a:t>
            </a:r>
            <a:r>
              <a:rPr lang="en-US" sz="1600" b="1" kern="1200" dirty="0" err="1">
                <a:solidFill>
                  <a:srgbClr val="0000DE"/>
                </a:solidFill>
                <a:latin typeface="Calibri"/>
                <a:ea typeface="+mn-ea"/>
                <a:cs typeface="Arial" panose="020B0604020202020204" pitchFamily="34" charset="0"/>
              </a:rPr>
              <a:t>commission_pct</a:t>
            </a:r>
            <a:r>
              <a:rPr lang="en-US" sz="1600" b="1" kern="1200" dirty="0">
                <a:solidFill>
                  <a:srgbClr val="0000DE"/>
                </a:solidFill>
                <a:latin typeface="Calibri"/>
                <a:ea typeface="+mn-ea"/>
                <a:cs typeface="Arial" panose="020B0604020202020204" pitchFamily="34" charset="0"/>
              </a:rPr>
              <a:t>)*.763)</a:t>
            </a:r>
            <a:r>
              <a:rPr lang="en-US" sz="1600" b="1" kern="1200" dirty="0">
                <a:solidFill>
                  <a:sysClr val="windowText" lastClr="000000"/>
                </a:solidFill>
                <a:latin typeface="Calibri"/>
                <a:ea typeface="+mn-ea"/>
                <a:cs typeface="Arial" panose="020B0604020202020204" pitchFamily="34" charset="0"/>
              </a:rPr>
              <a:t> "RESULTADO 2"</a:t>
            </a:r>
          </a:p>
          <a:p>
            <a:pPr lvl="0" fontAlgn="base">
              <a:spcBef>
                <a:spcPct val="0"/>
              </a:spcBef>
              <a:spcAft>
                <a:spcPct val="0"/>
              </a:spcAft>
              <a:buClrTx/>
              <a:defRPr/>
            </a:pPr>
            <a:r>
              <a:rPr lang="en-US" sz="1600" b="1" kern="1200" dirty="0">
                <a:solidFill>
                  <a:sysClr val="windowText" lastClr="000000"/>
                </a:solidFill>
                <a:latin typeface="Calibri"/>
                <a:ea typeface="+mn-ea"/>
                <a:cs typeface="Arial" panose="020B0604020202020204" pitchFamily="34" charset="0"/>
              </a:rPr>
              <a:t>FROM employees</a:t>
            </a:r>
          </a:p>
          <a:p>
            <a:pPr lvl="0" fontAlgn="base">
              <a:spcBef>
                <a:spcPct val="0"/>
              </a:spcBef>
              <a:spcAft>
                <a:spcPct val="0"/>
              </a:spcAft>
              <a:buClrTx/>
              <a:defRPr/>
            </a:pPr>
            <a:r>
              <a:rPr lang="en-US" sz="1600" b="1" kern="1200" dirty="0">
                <a:solidFill>
                  <a:sysClr val="windowText" lastClr="000000"/>
                </a:solidFill>
                <a:latin typeface="Calibri"/>
                <a:ea typeface="+mn-ea"/>
                <a:cs typeface="Arial" panose="020B0604020202020204" pitchFamily="34" charset="0"/>
              </a:rPr>
              <a:t>WHERE </a:t>
            </a:r>
            <a:r>
              <a:rPr lang="en-US" sz="1600" b="1" kern="1200" dirty="0" err="1">
                <a:solidFill>
                  <a:sysClr val="windowText" lastClr="000000"/>
                </a:solidFill>
                <a:latin typeface="Calibri"/>
                <a:ea typeface="+mn-ea"/>
                <a:cs typeface="Arial" panose="020B0604020202020204" pitchFamily="34" charset="0"/>
              </a:rPr>
              <a:t>commission_pct</a:t>
            </a:r>
            <a:r>
              <a:rPr lang="en-US" sz="1600" b="1" kern="1200" dirty="0">
                <a:solidFill>
                  <a:sysClr val="windowText" lastClr="000000"/>
                </a:solidFill>
                <a:latin typeface="Calibri"/>
                <a:ea typeface="+mn-ea"/>
                <a:cs typeface="Arial" panose="020B0604020202020204" pitchFamily="34" charset="0"/>
              </a:rPr>
              <a:t> IS NOT NULL;</a:t>
            </a:r>
          </a:p>
          <a:p>
            <a:pPr lvl="0" fontAlgn="base">
              <a:spcBef>
                <a:spcPct val="0"/>
              </a:spcBef>
              <a:spcAft>
                <a:spcPct val="0"/>
              </a:spcAft>
              <a:buClrTx/>
              <a:defRPr/>
            </a:pPr>
            <a:endParaRPr kumimoji="0" lang="en-US" sz="800" b="0" i="0" u="none" strike="noStrike" kern="1200" cap="none" spc="0" normalizeH="0" baseline="0" noProof="0" dirty="0">
              <a:ln>
                <a:noFill/>
              </a:ln>
              <a:solidFill>
                <a:sysClr val="windowText" lastClr="000000"/>
              </a:solidFill>
              <a:effectLst/>
              <a:uLnTx/>
              <a:uFillTx/>
              <a:latin typeface="Arial Black" pitchFamily="34" charset="0"/>
              <a:ea typeface="+mn-ea"/>
              <a:cs typeface="Arial" panose="020B0604020202020204" pitchFamily="34" charset="0"/>
            </a:endParaRPr>
          </a:p>
        </p:txBody>
      </p:sp>
      <p:sp>
        <p:nvSpPr>
          <p:cNvPr id="22" name="Rectangle 42">
            <a:extLst>
              <a:ext uri="{FF2B5EF4-FFF2-40B4-BE49-F238E27FC236}">
                <a16:creationId xmlns:a16="http://schemas.microsoft.com/office/drawing/2014/main" xmlns="" id="{CAE2B083-E9A5-45A8-9C9D-4D5477DE8B27}"/>
              </a:ext>
            </a:extLst>
          </p:cNvPr>
          <p:cNvSpPr>
            <a:spLocks noChangeArrowheads="1"/>
          </p:cNvSpPr>
          <p:nvPr/>
        </p:nvSpPr>
        <p:spPr bwMode="auto">
          <a:xfrm>
            <a:off x="4729371" y="3170483"/>
            <a:ext cx="864000" cy="3528000"/>
          </a:xfrm>
          <a:prstGeom prst="rect">
            <a:avLst/>
          </a:prstGeom>
          <a:noFill/>
          <a:ln w="31750">
            <a:solidFill>
              <a:srgbClr val="CC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3" name="Rectangle 42">
            <a:extLst>
              <a:ext uri="{FF2B5EF4-FFF2-40B4-BE49-F238E27FC236}">
                <a16:creationId xmlns:a16="http://schemas.microsoft.com/office/drawing/2014/main" xmlns="" id="{13FC56A0-18D9-46E4-9B98-2A69537E2820}"/>
              </a:ext>
            </a:extLst>
          </p:cNvPr>
          <p:cNvSpPr>
            <a:spLocks noChangeArrowheads="1"/>
          </p:cNvSpPr>
          <p:nvPr/>
        </p:nvSpPr>
        <p:spPr bwMode="auto">
          <a:xfrm>
            <a:off x="5637296" y="3170484"/>
            <a:ext cx="864000" cy="3528000"/>
          </a:xfrm>
          <a:prstGeom prst="rect">
            <a:avLst/>
          </a:prstGeom>
          <a:noFill/>
          <a:ln w="31750">
            <a:solidFill>
              <a:srgbClr val="0000DA"/>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1742044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0A36D388-72A6-40C5-BF36-7801BF5F4575}"/>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Números</a:t>
            </a:r>
          </a:p>
        </p:txBody>
      </p:sp>
      <p:sp>
        <p:nvSpPr>
          <p:cNvPr id="18" name="Rectangle 3">
            <a:extLst>
              <a:ext uri="{FF2B5EF4-FFF2-40B4-BE49-F238E27FC236}">
                <a16:creationId xmlns:a16="http://schemas.microsoft.com/office/drawing/2014/main" xmlns="" id="{3D0473F8-07F4-4A20-96A7-EDDBB84E1C1D}"/>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4655DDBF-61A7-4324-A6A3-B36CCED1F5BE}"/>
              </a:ext>
            </a:extLst>
          </p:cNvPr>
          <p:cNvSpPr txBox="1">
            <a:spLocks noChangeArrowheads="1"/>
          </p:cNvSpPr>
          <p:nvPr/>
        </p:nvSpPr>
        <p:spPr bwMode="auto">
          <a:xfrm>
            <a:off x="1307132" y="1511678"/>
            <a:ext cx="6937276"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SELECT last_name,  salary,  </a:t>
            </a:r>
            <a:r>
              <a:rPr kumimoji="0" lang="en-US" sz="1600" b="1" i="0" u="none" strike="noStrike" kern="1200" cap="none" spc="0" normalizeH="0" baseline="0" noProof="0" dirty="0">
                <a:ln>
                  <a:noFill/>
                </a:ln>
                <a:solidFill>
                  <a:srgbClr val="CC0000"/>
                </a:solidFill>
                <a:effectLst/>
                <a:uLnTx/>
                <a:uFillTx/>
                <a:latin typeface="Calibri"/>
                <a:ea typeface="+mn-ea"/>
                <a:cs typeface="Arial" panose="020B0604020202020204" pitchFamily="34" charset="0"/>
              </a:rPr>
              <a:t>MOD(salary, 5000)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WHERE job_id='ST_MAN';</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ysClr val="windowText" lastClr="000000"/>
              </a:solidFill>
              <a:effectLst/>
              <a:uLnTx/>
              <a:uFillTx/>
              <a:latin typeface="Arial Black" pitchFamily="34" charset="0"/>
              <a:ea typeface="+mn-ea"/>
              <a:cs typeface="Arial" panose="020B0604020202020204" pitchFamily="34" charset="0"/>
            </a:endParaRPr>
          </a:p>
        </p:txBody>
      </p:sp>
      <p:pic>
        <p:nvPicPr>
          <p:cNvPr id="22" name="Imagen 21">
            <a:extLst>
              <a:ext uri="{FF2B5EF4-FFF2-40B4-BE49-F238E27FC236}">
                <a16:creationId xmlns:a16="http://schemas.microsoft.com/office/drawing/2014/main" xmlns="" id="{1A400E01-EEFB-46B2-AD27-5189790D52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2766516"/>
            <a:ext cx="2996488" cy="1238548"/>
          </a:xfrm>
          <a:prstGeom prst="rect">
            <a:avLst/>
          </a:prstGeom>
        </p:spPr>
      </p:pic>
      <p:sp>
        <p:nvSpPr>
          <p:cNvPr id="23" name="Rectangle 42">
            <a:extLst>
              <a:ext uri="{FF2B5EF4-FFF2-40B4-BE49-F238E27FC236}">
                <a16:creationId xmlns:a16="http://schemas.microsoft.com/office/drawing/2014/main" xmlns="" id="{3891FCD7-EE55-4844-A930-A52CCBBCCE12}"/>
              </a:ext>
            </a:extLst>
          </p:cNvPr>
          <p:cNvSpPr>
            <a:spLocks noChangeArrowheads="1"/>
          </p:cNvSpPr>
          <p:nvPr/>
        </p:nvSpPr>
        <p:spPr bwMode="auto">
          <a:xfrm>
            <a:off x="4610637" y="2764938"/>
            <a:ext cx="1152000" cy="1260000"/>
          </a:xfrm>
          <a:prstGeom prst="rect">
            <a:avLst/>
          </a:prstGeom>
          <a:noFill/>
          <a:ln w="31750">
            <a:solidFill>
              <a:srgbClr val="CC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1803479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3">
            <a:extLst>
              <a:ext uri="{FF2B5EF4-FFF2-40B4-BE49-F238E27FC236}">
                <a16:creationId xmlns:a16="http://schemas.microsoft.com/office/drawing/2014/main" xmlns="" id="{5E38062B-3A7A-4367-8B1B-02E8FD8FAECD}"/>
              </a:ext>
            </a:extLst>
          </p:cNvPr>
          <p:cNvSpPr>
            <a:spLocks noGrp="1"/>
          </p:cNvSpPr>
          <p:nvPr>
            <p:ph type="title"/>
          </p:nvPr>
        </p:nvSpPr>
        <p:spPr>
          <a:xfrm>
            <a:off x="3004575" y="3476150"/>
            <a:ext cx="5995800" cy="1603200"/>
          </a:xfrm>
        </p:spPr>
        <p:txBody>
          <a:bodyPr anchor="ctr" anchorCtr="0"/>
          <a:lstStyle/>
          <a:p>
            <a:r>
              <a:rPr lang="es-ES_tradnl" sz="4800" b="1" dirty="0"/>
              <a:t>Funciones para trabajar con Fechas</a:t>
            </a:r>
          </a:p>
        </p:txBody>
      </p:sp>
    </p:spTree>
    <p:extLst>
      <p:ext uri="{BB962C8B-B14F-4D97-AF65-F5344CB8AC3E}">
        <p14:creationId xmlns:p14="http://schemas.microsoft.com/office/powerpoint/2010/main" val="3572879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pic>
        <p:nvPicPr>
          <p:cNvPr id="5" name="Imagen 4">
            <a:extLst>
              <a:ext uri="{FF2B5EF4-FFF2-40B4-BE49-F238E27FC236}">
                <a16:creationId xmlns:a16="http://schemas.microsoft.com/office/drawing/2014/main" xmlns="" id="{DBC1C7AF-5746-4777-973A-986864609FB2}"/>
              </a:ext>
            </a:extLst>
          </p:cNvPr>
          <p:cNvPicPr>
            <a:picLocks noChangeAspect="1"/>
          </p:cNvPicPr>
          <p:nvPr/>
        </p:nvPicPr>
        <p:blipFill>
          <a:blip r:embed="rId3"/>
          <a:stretch>
            <a:fillRect/>
          </a:stretch>
        </p:blipFill>
        <p:spPr>
          <a:xfrm>
            <a:off x="841846" y="1188132"/>
            <a:ext cx="7561905" cy="5457143"/>
          </a:xfrm>
          <a:prstGeom prst="rect">
            <a:avLst/>
          </a:prstGeom>
        </p:spPr>
      </p:pic>
    </p:spTree>
    <p:extLst>
      <p:ext uri="{BB962C8B-B14F-4D97-AF65-F5344CB8AC3E}">
        <p14:creationId xmlns:p14="http://schemas.microsoft.com/office/powerpoint/2010/main" val="183291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pic>
        <p:nvPicPr>
          <p:cNvPr id="7" name="Imagen 6" descr="Captura de pantalla de un celular&#10;&#10;Descripción generada automáticamente">
            <a:extLst>
              <a:ext uri="{FF2B5EF4-FFF2-40B4-BE49-F238E27FC236}">
                <a16:creationId xmlns:a16="http://schemas.microsoft.com/office/drawing/2014/main" xmlns="" id="{AAE11CCB-751F-410F-831C-2539424749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397" y="2587829"/>
            <a:ext cx="7419206" cy="3823116"/>
          </a:xfrm>
          <a:prstGeom prst="rect">
            <a:avLst/>
          </a:prstGeom>
        </p:spPr>
      </p:pic>
      <p:sp>
        <p:nvSpPr>
          <p:cNvPr id="8" name="Rectángulo redondeado 4">
            <a:extLst>
              <a:ext uri="{FF2B5EF4-FFF2-40B4-BE49-F238E27FC236}">
                <a16:creationId xmlns:a16="http://schemas.microsoft.com/office/drawing/2014/main" xmlns="" id="{491D0992-1A0E-44EA-892E-29CF47A90659}"/>
              </a:ext>
            </a:extLst>
          </p:cNvPr>
          <p:cNvSpPr/>
          <p:nvPr/>
        </p:nvSpPr>
        <p:spPr>
          <a:xfrm>
            <a:off x="1216239" y="1484784"/>
            <a:ext cx="6696744" cy="936104"/>
          </a:xfrm>
          <a:prstGeom prst="roundRect">
            <a:avLst/>
          </a:prstGeom>
          <a:solidFill>
            <a:srgbClr val="6600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Todas las funciones de fechas retornan un tipo de dato fecha excepto la función MONTHS_BETWEEN que retorna un valor numérico</a:t>
            </a:r>
          </a:p>
        </p:txBody>
      </p:sp>
    </p:spTree>
    <p:extLst>
      <p:ext uri="{BB962C8B-B14F-4D97-AF65-F5344CB8AC3E}">
        <p14:creationId xmlns:p14="http://schemas.microsoft.com/office/powerpoint/2010/main" val="2663117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sp>
        <p:nvSpPr>
          <p:cNvPr id="21" name="Rectangle 3">
            <a:extLst>
              <a:ext uri="{FF2B5EF4-FFF2-40B4-BE49-F238E27FC236}">
                <a16:creationId xmlns:a16="http://schemas.microsoft.com/office/drawing/2014/main" xmlns="" id="{EB7BA9AF-7143-4283-8EB0-A31696A56AA1}"/>
              </a:ext>
            </a:extLst>
          </p:cNvPr>
          <p:cNvSpPr txBox="1">
            <a:spLocks noChangeArrowheads="1"/>
          </p:cNvSpPr>
          <p:nvPr/>
        </p:nvSpPr>
        <p:spPr bwMode="auto">
          <a:xfrm>
            <a:off x="611188" y="1268760"/>
            <a:ext cx="8281987" cy="334963"/>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Ejemplo:</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Times New Roman" pitchFamily="18" charset="0"/>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Ejemplo (asumiendo que la fecha actual (SYSDATE) es 10/10/2019):</a:t>
            </a:r>
          </a:p>
        </p:txBody>
      </p:sp>
      <p:sp>
        <p:nvSpPr>
          <p:cNvPr id="22" name="Text Box 5">
            <a:extLst>
              <a:ext uri="{FF2B5EF4-FFF2-40B4-BE49-F238E27FC236}">
                <a16:creationId xmlns:a16="http://schemas.microsoft.com/office/drawing/2014/main" xmlns="" id="{2C2F7D9A-9F96-429C-92E6-0383449644A2}"/>
              </a:ext>
            </a:extLst>
          </p:cNvPr>
          <p:cNvSpPr txBox="1">
            <a:spLocks noChangeArrowheads="1"/>
          </p:cNvSpPr>
          <p:nvPr/>
        </p:nvSpPr>
        <p:spPr bwMode="auto">
          <a:xfrm>
            <a:off x="1043608" y="1571308"/>
            <a:ext cx="724669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MONTHS_BETWEEN('01/ENE/2019','01/OCT/2018')</a:t>
            </a: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"MONTHS_BETWEEN",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ADD_MONTHS(‘20/SEP/2019',6)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"ADD_MONTHS",</a:t>
            </a: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NEXT_DAY('11/MAR/2019','DOMINGO')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"NEXT_DAY",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LAST_DAY('01/FEB/2019')</a:t>
            </a: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"LAST_DAY"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3" name="Imagen 22">
            <a:extLst>
              <a:ext uri="{FF2B5EF4-FFF2-40B4-BE49-F238E27FC236}">
                <a16:creationId xmlns:a16="http://schemas.microsoft.com/office/drawing/2014/main" xmlns="" id="{9FF5D33E-1ECE-4570-BF83-300AA1321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1482" y="3214714"/>
            <a:ext cx="4530798" cy="574326"/>
          </a:xfrm>
          <a:prstGeom prst="rect">
            <a:avLst/>
          </a:prstGeom>
        </p:spPr>
      </p:pic>
      <p:sp>
        <p:nvSpPr>
          <p:cNvPr id="24" name="Rectangle 42">
            <a:extLst>
              <a:ext uri="{FF2B5EF4-FFF2-40B4-BE49-F238E27FC236}">
                <a16:creationId xmlns:a16="http://schemas.microsoft.com/office/drawing/2014/main" xmlns="" id="{C3E78492-287F-43C2-95A1-F24918F2CFA7}"/>
              </a:ext>
            </a:extLst>
          </p:cNvPr>
          <p:cNvSpPr>
            <a:spLocks noChangeArrowheads="1"/>
          </p:cNvSpPr>
          <p:nvPr/>
        </p:nvSpPr>
        <p:spPr bwMode="auto">
          <a:xfrm>
            <a:off x="2615270" y="3255242"/>
            <a:ext cx="1404000" cy="565465"/>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5" name="Rectangle 42">
            <a:extLst>
              <a:ext uri="{FF2B5EF4-FFF2-40B4-BE49-F238E27FC236}">
                <a16:creationId xmlns:a16="http://schemas.microsoft.com/office/drawing/2014/main" xmlns="" id="{0CD0E227-AF3B-44DE-8A72-17490165D043}"/>
              </a:ext>
            </a:extLst>
          </p:cNvPr>
          <p:cNvSpPr>
            <a:spLocks noChangeArrowheads="1"/>
          </p:cNvSpPr>
          <p:nvPr/>
        </p:nvSpPr>
        <p:spPr bwMode="auto">
          <a:xfrm>
            <a:off x="4045693" y="3255242"/>
            <a:ext cx="1080000" cy="565465"/>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6" name="Rectangle 42">
            <a:extLst>
              <a:ext uri="{FF2B5EF4-FFF2-40B4-BE49-F238E27FC236}">
                <a16:creationId xmlns:a16="http://schemas.microsoft.com/office/drawing/2014/main" xmlns="" id="{ABC3EA1E-A509-4C7B-B7D3-6A4F6AE6E4CE}"/>
              </a:ext>
            </a:extLst>
          </p:cNvPr>
          <p:cNvSpPr>
            <a:spLocks noChangeArrowheads="1"/>
          </p:cNvSpPr>
          <p:nvPr/>
        </p:nvSpPr>
        <p:spPr bwMode="auto">
          <a:xfrm>
            <a:off x="5148160" y="3255242"/>
            <a:ext cx="928800" cy="565465"/>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7" name="Rectangle 42">
            <a:extLst>
              <a:ext uri="{FF2B5EF4-FFF2-40B4-BE49-F238E27FC236}">
                <a16:creationId xmlns:a16="http://schemas.microsoft.com/office/drawing/2014/main" xmlns="" id="{8A9F10B7-EAD1-4BEF-8A54-05F3D02FCE0B}"/>
              </a:ext>
            </a:extLst>
          </p:cNvPr>
          <p:cNvSpPr>
            <a:spLocks noChangeArrowheads="1"/>
          </p:cNvSpPr>
          <p:nvPr/>
        </p:nvSpPr>
        <p:spPr bwMode="auto">
          <a:xfrm>
            <a:off x="6111062" y="3255242"/>
            <a:ext cx="981218" cy="565465"/>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pic>
        <p:nvPicPr>
          <p:cNvPr id="28" name="Imagen 27">
            <a:extLst>
              <a:ext uri="{FF2B5EF4-FFF2-40B4-BE49-F238E27FC236}">
                <a16:creationId xmlns:a16="http://schemas.microsoft.com/office/drawing/2014/main" xmlns="" id="{0D2018F7-69D1-400C-94A4-1DB3145ED8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8193" y="5575792"/>
            <a:ext cx="6768752" cy="534070"/>
          </a:xfrm>
          <a:prstGeom prst="rect">
            <a:avLst/>
          </a:prstGeom>
        </p:spPr>
      </p:pic>
      <p:sp>
        <p:nvSpPr>
          <p:cNvPr id="29" name="Text Box 5">
            <a:extLst>
              <a:ext uri="{FF2B5EF4-FFF2-40B4-BE49-F238E27FC236}">
                <a16:creationId xmlns:a16="http://schemas.microsoft.com/office/drawing/2014/main" xmlns="" id="{B9E4EED9-257E-4AD8-AB45-5924B5F48CA6}"/>
              </a:ext>
            </a:extLst>
          </p:cNvPr>
          <p:cNvSpPr txBox="1">
            <a:spLocks noChangeArrowheads="1"/>
          </p:cNvSpPr>
          <p:nvPr/>
        </p:nvSpPr>
        <p:spPr bwMode="auto">
          <a:xfrm>
            <a:off x="1043607" y="4410218"/>
            <a:ext cx="7246689"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ROUND(SYSDATE, 'MONTH')</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ROUND(SYSDATE,'YEAR')</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TRUNC(SYSDATE,'MONTH')</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TRUNC(SYSDATE,'YEAR')</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
        <p:nvSpPr>
          <p:cNvPr id="30" name="Rectangle 42">
            <a:extLst>
              <a:ext uri="{FF2B5EF4-FFF2-40B4-BE49-F238E27FC236}">
                <a16:creationId xmlns:a16="http://schemas.microsoft.com/office/drawing/2014/main" xmlns="" id="{1BF3CE1D-B8AC-4291-B345-9411843534F9}"/>
              </a:ext>
            </a:extLst>
          </p:cNvPr>
          <p:cNvSpPr>
            <a:spLocks noChangeArrowheads="1"/>
          </p:cNvSpPr>
          <p:nvPr/>
        </p:nvSpPr>
        <p:spPr bwMode="auto">
          <a:xfrm>
            <a:off x="1324624" y="5602687"/>
            <a:ext cx="1728000" cy="50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1" name="Rectangle 42">
            <a:extLst>
              <a:ext uri="{FF2B5EF4-FFF2-40B4-BE49-F238E27FC236}">
                <a16:creationId xmlns:a16="http://schemas.microsoft.com/office/drawing/2014/main" xmlns="" id="{ADF29638-FBF2-4F68-B6B4-FD44FB36EABA}"/>
              </a:ext>
            </a:extLst>
          </p:cNvPr>
          <p:cNvSpPr>
            <a:spLocks noChangeArrowheads="1"/>
          </p:cNvSpPr>
          <p:nvPr/>
        </p:nvSpPr>
        <p:spPr bwMode="auto">
          <a:xfrm>
            <a:off x="3096000" y="5602687"/>
            <a:ext cx="1584000" cy="50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2" name="Rectangle 42">
            <a:extLst>
              <a:ext uri="{FF2B5EF4-FFF2-40B4-BE49-F238E27FC236}">
                <a16:creationId xmlns:a16="http://schemas.microsoft.com/office/drawing/2014/main" xmlns="" id="{1B9C1745-B835-40B0-9BD9-D0171817C694}"/>
              </a:ext>
            </a:extLst>
          </p:cNvPr>
          <p:cNvSpPr>
            <a:spLocks noChangeArrowheads="1"/>
          </p:cNvSpPr>
          <p:nvPr/>
        </p:nvSpPr>
        <p:spPr bwMode="auto">
          <a:xfrm>
            <a:off x="4716192" y="5602687"/>
            <a:ext cx="1692000" cy="504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3" name="Rectangle 42">
            <a:extLst>
              <a:ext uri="{FF2B5EF4-FFF2-40B4-BE49-F238E27FC236}">
                <a16:creationId xmlns:a16="http://schemas.microsoft.com/office/drawing/2014/main" xmlns="" id="{DF398CC2-BDD5-4AD1-9281-C59B5D1E0E45}"/>
              </a:ext>
            </a:extLst>
          </p:cNvPr>
          <p:cNvSpPr>
            <a:spLocks noChangeArrowheads="1"/>
          </p:cNvSpPr>
          <p:nvPr/>
        </p:nvSpPr>
        <p:spPr bwMode="auto">
          <a:xfrm>
            <a:off x="6449149" y="5602687"/>
            <a:ext cx="1620000" cy="504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42598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sp>
        <p:nvSpPr>
          <p:cNvPr id="20" name="Rectangle 3">
            <a:extLst>
              <a:ext uri="{FF2B5EF4-FFF2-40B4-BE49-F238E27FC236}">
                <a16:creationId xmlns:a16="http://schemas.microsoft.com/office/drawing/2014/main" xmlns="" id="{6CA9F51B-22DB-40D3-BE40-D010727BCB4F}"/>
              </a:ext>
            </a:extLst>
          </p:cNvPr>
          <p:cNvSpPr txBox="1">
            <a:spLocks noChangeArrowheads="1"/>
          </p:cNvSpPr>
          <p:nvPr/>
        </p:nvSpPr>
        <p:spPr bwMode="auto">
          <a:xfrm>
            <a:off x="611188" y="1268760"/>
            <a:ext cx="8281987" cy="334963"/>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Ejemplo:</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algn="just" defTabSz="457200" fontAlgn="base">
              <a:lnSpc>
                <a:spcPct val="80000"/>
              </a:lnSpc>
              <a:spcBef>
                <a:spcPct val="20000"/>
              </a:spcBef>
              <a:spcAft>
                <a:spcPct val="0"/>
              </a:spcAft>
              <a:buClrTx/>
              <a:buFontTx/>
              <a:buNone/>
            </a:pPr>
            <a:endParaRPr lang="es-CL" sz="800" kern="1200" dirty="0">
              <a:solidFill>
                <a:prstClr val="black"/>
              </a:solidFill>
              <a:latin typeface="Times New Roman" pitchFamily="18" charset="0"/>
              <a:ea typeface="Arial Unicode MS"/>
              <a:cs typeface="Times New Roman" pitchFamily="18" charset="0"/>
            </a:endParaRPr>
          </a:p>
        </p:txBody>
      </p:sp>
      <p:sp>
        <p:nvSpPr>
          <p:cNvPr id="34" name="Text Box 5">
            <a:extLst>
              <a:ext uri="{FF2B5EF4-FFF2-40B4-BE49-F238E27FC236}">
                <a16:creationId xmlns:a16="http://schemas.microsoft.com/office/drawing/2014/main" xmlns="" id="{E402CFED-94EF-4873-AE35-E76371036C8A}"/>
              </a:ext>
            </a:extLst>
          </p:cNvPr>
          <p:cNvSpPr txBox="1">
            <a:spLocks noChangeArrowheads="1"/>
          </p:cNvSpPr>
          <p:nvPr/>
        </p:nvSpPr>
        <p:spPr bwMode="auto">
          <a:xfrm>
            <a:off x="827584" y="1571308"/>
            <a:ext cx="799288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EMPLEADO",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ROUND(MONTHS_BETWEEN(</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SYSDATE,hire_date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)/12)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"AÑOS TRABAJADOS"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35" name="Imagen 34" descr="Captura de pantalla de un celular con letras&#10;&#10;Descripción generada automáticamente">
            <a:extLst>
              <a:ext uri="{FF2B5EF4-FFF2-40B4-BE49-F238E27FC236}">
                <a16:creationId xmlns:a16="http://schemas.microsoft.com/office/drawing/2014/main" xmlns="" id="{0F7242D6-7175-40F1-882E-D6460F4F62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266" y="2780928"/>
            <a:ext cx="3809524" cy="3542857"/>
          </a:xfrm>
          <a:prstGeom prst="rect">
            <a:avLst/>
          </a:prstGeom>
        </p:spPr>
      </p:pic>
      <p:sp>
        <p:nvSpPr>
          <p:cNvPr id="36" name="Rectangle 42">
            <a:extLst>
              <a:ext uri="{FF2B5EF4-FFF2-40B4-BE49-F238E27FC236}">
                <a16:creationId xmlns:a16="http://schemas.microsoft.com/office/drawing/2014/main" xmlns="" id="{F0B5741F-0A4A-40A5-8C63-D3180BCF423F}"/>
              </a:ext>
            </a:extLst>
          </p:cNvPr>
          <p:cNvSpPr>
            <a:spLocks noChangeArrowheads="1"/>
          </p:cNvSpPr>
          <p:nvPr/>
        </p:nvSpPr>
        <p:spPr bwMode="auto">
          <a:xfrm>
            <a:off x="5544264" y="2856683"/>
            <a:ext cx="1184526" cy="3467102"/>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192310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sp>
        <p:nvSpPr>
          <p:cNvPr id="13" name="Rectangle 3">
            <a:extLst>
              <a:ext uri="{FF2B5EF4-FFF2-40B4-BE49-F238E27FC236}">
                <a16:creationId xmlns:a16="http://schemas.microsoft.com/office/drawing/2014/main" xmlns="" id="{14E0B288-12EF-476C-96AC-D4564DE8506B}"/>
              </a:ext>
            </a:extLst>
          </p:cNvPr>
          <p:cNvSpPr txBox="1">
            <a:spLocks noChangeArrowheads="1"/>
          </p:cNvSpPr>
          <p:nvPr/>
        </p:nvSpPr>
        <p:spPr bwMode="auto">
          <a:xfrm>
            <a:off x="611188" y="1268760"/>
            <a:ext cx="8281987" cy="334963"/>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Ejemplo:</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algn="just" defTabSz="457200" fontAlgn="base">
              <a:lnSpc>
                <a:spcPct val="80000"/>
              </a:lnSpc>
              <a:spcBef>
                <a:spcPct val="20000"/>
              </a:spcBef>
              <a:spcAft>
                <a:spcPct val="0"/>
              </a:spcAft>
              <a:buClrTx/>
              <a:buFontTx/>
              <a:buNone/>
            </a:pPr>
            <a:endParaRPr lang="es-CL" sz="800" kern="1200" dirty="0">
              <a:solidFill>
                <a:prstClr val="black"/>
              </a:solidFill>
              <a:latin typeface="Times New Roman" pitchFamily="18" charset="0"/>
              <a:ea typeface="Arial Unicode MS"/>
              <a:cs typeface="Times New Roman" pitchFamily="18" charset="0"/>
            </a:endParaRPr>
          </a:p>
        </p:txBody>
      </p:sp>
      <p:sp>
        <p:nvSpPr>
          <p:cNvPr id="14" name="Text Box 5">
            <a:extLst>
              <a:ext uri="{FF2B5EF4-FFF2-40B4-BE49-F238E27FC236}">
                <a16:creationId xmlns:a16="http://schemas.microsoft.com/office/drawing/2014/main" xmlns="" id="{69E38C33-67AF-4E13-B96F-B5F6E6A5B23F}"/>
              </a:ext>
            </a:extLst>
          </p:cNvPr>
          <p:cNvSpPr txBox="1">
            <a:spLocks noChangeArrowheads="1"/>
          </p:cNvSpPr>
          <p:nvPr/>
        </p:nvSpPr>
        <p:spPr bwMode="auto">
          <a:xfrm>
            <a:off x="543658" y="1571308"/>
            <a:ext cx="820928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EMPLEADO",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ROUND(MONTHS_BETWEEN(</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SYSDATE,hire_date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)/12)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"AÑOS TRABAJADOS",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ROUND(salary*(ROUND(MONTHS_BETWEEN(</a:t>
            </a:r>
            <a:r>
              <a:rPr kumimoji="0" lang="en-US" sz="1600" b="1" i="0" u="none" strike="noStrike" kern="1200" cap="none" spc="0" normalizeH="0" baseline="0" noProof="0" dirty="0" err="1">
                <a:ln>
                  <a:noFill/>
                </a:ln>
                <a:solidFill>
                  <a:srgbClr val="0000DA"/>
                </a:solidFill>
                <a:effectLst/>
                <a:uLnTx/>
                <a:uFillTx/>
                <a:latin typeface="Calibri"/>
                <a:ea typeface="+mn-ea"/>
                <a:cs typeface="Arial" panose="020B0604020202020204" pitchFamily="34" charset="0"/>
              </a:rPr>
              <a:t>SYSDATE,hire_date</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)/12)/100))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"PORC. SALARIO SEGUN AÑOS TRAB"</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15" name="Imagen 14" descr="Captura de pantalla de computadora&#10;&#10;Descripción generada automáticamente">
            <a:extLst>
              <a:ext uri="{FF2B5EF4-FFF2-40B4-BE49-F238E27FC236}">
                <a16:creationId xmlns:a16="http://schemas.microsoft.com/office/drawing/2014/main" xmlns="" id="{7F435155-A878-46BF-8C6D-2F6F08BBD4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688" y="3183307"/>
            <a:ext cx="5962623" cy="3337290"/>
          </a:xfrm>
          <a:prstGeom prst="rect">
            <a:avLst/>
          </a:prstGeom>
        </p:spPr>
      </p:pic>
      <p:sp>
        <p:nvSpPr>
          <p:cNvPr id="16" name="Rectangle 42">
            <a:extLst>
              <a:ext uri="{FF2B5EF4-FFF2-40B4-BE49-F238E27FC236}">
                <a16:creationId xmlns:a16="http://schemas.microsoft.com/office/drawing/2014/main" xmlns="" id="{DA740C8B-557E-4BD9-BF41-7363E323856F}"/>
              </a:ext>
            </a:extLst>
          </p:cNvPr>
          <p:cNvSpPr>
            <a:spLocks noChangeArrowheads="1"/>
          </p:cNvSpPr>
          <p:nvPr/>
        </p:nvSpPr>
        <p:spPr bwMode="auto">
          <a:xfrm>
            <a:off x="4652682" y="3212975"/>
            <a:ext cx="1080000" cy="3276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17" name="Rectangle 42">
            <a:extLst>
              <a:ext uri="{FF2B5EF4-FFF2-40B4-BE49-F238E27FC236}">
                <a16:creationId xmlns:a16="http://schemas.microsoft.com/office/drawing/2014/main" xmlns="" id="{95287CE6-27D6-469A-9869-267B5B2150D4}"/>
              </a:ext>
            </a:extLst>
          </p:cNvPr>
          <p:cNvSpPr>
            <a:spLocks noChangeArrowheads="1"/>
          </p:cNvSpPr>
          <p:nvPr/>
        </p:nvSpPr>
        <p:spPr bwMode="auto">
          <a:xfrm>
            <a:off x="5808851" y="3212975"/>
            <a:ext cx="1744459" cy="3276000"/>
          </a:xfrm>
          <a:prstGeom prst="rect">
            <a:avLst/>
          </a:prstGeom>
          <a:noFill/>
          <a:ln w="31750">
            <a:solidFill>
              <a:srgbClr val="0000DA"/>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222967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Funciones de Fechas</a:t>
            </a:r>
          </a:p>
        </p:txBody>
      </p:sp>
      <p:sp>
        <p:nvSpPr>
          <p:cNvPr id="23" name="Rectangle 3">
            <a:extLst>
              <a:ext uri="{FF2B5EF4-FFF2-40B4-BE49-F238E27FC236}">
                <a16:creationId xmlns:a16="http://schemas.microsoft.com/office/drawing/2014/main" xmlns="" id="{19A2826C-8FEB-4481-A7A9-FC5440583CD9}"/>
              </a:ext>
            </a:extLst>
          </p:cNvPr>
          <p:cNvSpPr txBox="1">
            <a:spLocks noChangeArrowheads="1"/>
          </p:cNvSpPr>
          <p:nvPr/>
        </p:nvSpPr>
        <p:spPr bwMode="auto">
          <a:xfrm>
            <a:off x="611188" y="1268760"/>
            <a:ext cx="8281987" cy="334963"/>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12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Ejemplo:</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algn="just" defTabSz="457200" fontAlgn="base">
              <a:lnSpc>
                <a:spcPct val="80000"/>
              </a:lnSpc>
              <a:spcBef>
                <a:spcPct val="20000"/>
              </a:spcBef>
              <a:spcAft>
                <a:spcPct val="0"/>
              </a:spcAft>
              <a:buClrTx/>
              <a:buFontTx/>
              <a:buNone/>
            </a:pPr>
            <a:endParaRPr lang="es-CL" sz="800" kern="1200" dirty="0">
              <a:solidFill>
                <a:prstClr val="black"/>
              </a:solidFill>
              <a:latin typeface="Times New Roman" pitchFamily="18" charset="0"/>
              <a:ea typeface="Arial Unicode MS"/>
              <a:cs typeface="Times New Roman" pitchFamily="18" charset="0"/>
            </a:endParaRPr>
          </a:p>
        </p:txBody>
      </p:sp>
      <p:sp>
        <p:nvSpPr>
          <p:cNvPr id="24" name="Rectángulo redondeado 4">
            <a:extLst>
              <a:ext uri="{FF2B5EF4-FFF2-40B4-BE49-F238E27FC236}">
                <a16:creationId xmlns:a16="http://schemas.microsoft.com/office/drawing/2014/main" xmlns="" id="{986DF15D-8BE3-46B2-A472-E9890330A200}"/>
              </a:ext>
            </a:extLst>
          </p:cNvPr>
          <p:cNvSpPr/>
          <p:nvPr/>
        </p:nvSpPr>
        <p:spPr>
          <a:xfrm>
            <a:off x="4572000" y="2211827"/>
            <a:ext cx="2808000" cy="756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rPr>
              <a:t>Fecha - Número = Fecha  </a:t>
            </a:r>
            <a:endParaRPr kumimoji="0" lang="es-ES"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endParaRPr>
          </a:p>
        </p:txBody>
      </p:sp>
      <p:sp>
        <p:nvSpPr>
          <p:cNvPr id="25" name="Rectángulo redondeado 4">
            <a:extLst>
              <a:ext uri="{FF2B5EF4-FFF2-40B4-BE49-F238E27FC236}">
                <a16:creationId xmlns:a16="http://schemas.microsoft.com/office/drawing/2014/main" xmlns="" id="{4DA8C431-0F8B-4CC3-97F3-0F49E8623C3A}"/>
              </a:ext>
            </a:extLst>
          </p:cNvPr>
          <p:cNvSpPr/>
          <p:nvPr/>
        </p:nvSpPr>
        <p:spPr>
          <a:xfrm>
            <a:off x="2700039" y="1268760"/>
            <a:ext cx="3708000" cy="756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rPr>
              <a:t>Fecha - Fecha = Número de días</a:t>
            </a:r>
            <a:endParaRPr kumimoji="0" lang="es-ES"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endParaRPr>
          </a:p>
        </p:txBody>
      </p:sp>
      <p:sp>
        <p:nvSpPr>
          <p:cNvPr id="26" name="Rectángulo redondeado 4">
            <a:extLst>
              <a:ext uri="{FF2B5EF4-FFF2-40B4-BE49-F238E27FC236}">
                <a16:creationId xmlns:a16="http://schemas.microsoft.com/office/drawing/2014/main" xmlns="" id="{929F0838-A410-4016-AA86-0A5247D36ADA}"/>
              </a:ext>
            </a:extLst>
          </p:cNvPr>
          <p:cNvSpPr/>
          <p:nvPr/>
        </p:nvSpPr>
        <p:spPr>
          <a:xfrm>
            <a:off x="1619672" y="2211827"/>
            <a:ext cx="2808000" cy="756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rPr>
              <a:t>Fecha + Número = Fecha </a:t>
            </a:r>
            <a:endParaRPr kumimoji="0" lang="es-ES" sz="1800" b="1" i="0" u="none" strike="noStrike" kern="1200" cap="none" spc="0" normalizeH="0" baseline="0" noProof="0" dirty="0">
              <a:ln>
                <a:noFill/>
              </a:ln>
              <a:solidFill>
                <a:prstClr val="white"/>
              </a:solidFill>
              <a:effectLst/>
              <a:uLnTx/>
              <a:uFillTx/>
              <a:latin typeface="Calibri"/>
              <a:ea typeface="ＭＳ Ｐゴシック" pitchFamily="34" charset="-128"/>
              <a:cs typeface="Arial" pitchFamily="34" charset="0"/>
            </a:endParaRPr>
          </a:p>
        </p:txBody>
      </p:sp>
      <p:sp>
        <p:nvSpPr>
          <p:cNvPr id="27" name="Text Box 5">
            <a:extLst>
              <a:ext uri="{FF2B5EF4-FFF2-40B4-BE49-F238E27FC236}">
                <a16:creationId xmlns:a16="http://schemas.microsoft.com/office/drawing/2014/main" xmlns="" id="{177F7954-3DF1-4C02-8C81-F9568B56C9AA}"/>
              </a:ext>
            </a:extLst>
          </p:cNvPr>
          <p:cNvSpPr txBox="1">
            <a:spLocks noChangeArrowheads="1"/>
          </p:cNvSpPr>
          <p:nvPr/>
        </p:nvSpPr>
        <p:spPr bwMode="auto">
          <a:xfrm>
            <a:off x="598198" y="3599910"/>
            <a:ext cx="8078258"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hire_date,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ROUND((SYSDATE - hire_date) / 7 )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"SEMANAS CONTRATADO",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hire_date - 2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"FECHA CONTRATO MENOS 2 DIAS“,</a:t>
            </a:r>
          </a:p>
          <a:p>
            <a:pPr marL="0" marR="0" lvl="0" indent="0" defTabSz="914400" eaLnBrk="1" fontAlgn="base" latinLnBrk="0" hangingPunct="1">
              <a:lnSpc>
                <a:spcPct val="100000"/>
              </a:lnSpc>
              <a:spcBef>
                <a:spcPct val="0"/>
              </a:spcBef>
              <a:spcAft>
                <a:spcPct val="0"/>
              </a:spcAft>
              <a:buClrTx/>
              <a:buSzTx/>
              <a:buFontTx/>
              <a:buNone/>
              <a:tabLst/>
              <a:defRPr/>
            </a:pPr>
            <a:r>
              <a:rPr kumimoji="0" lang="pt-BR"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pt-BR"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hire_date</a:t>
            </a:r>
            <a:r>
              <a:rPr kumimoji="0" lang="pt-BR"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+ 10</a:t>
            </a:r>
            <a:r>
              <a:rPr kumimoji="0" lang="pt-BR"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pt-BR"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"FECHA CONTRATO MAS 10 DIAS"</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department_id = 90;</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8" name="Imagen 27" descr="Captura de pantalla de un celular&#10;&#10;Descripción generada automáticamente">
            <a:extLst>
              <a:ext uri="{FF2B5EF4-FFF2-40B4-BE49-F238E27FC236}">
                <a16:creationId xmlns:a16="http://schemas.microsoft.com/office/drawing/2014/main" xmlns="" id="{6AFE67B9-E9D7-4DEF-A192-9D0C04675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5287761"/>
            <a:ext cx="6952392" cy="851718"/>
          </a:xfrm>
          <a:prstGeom prst="rect">
            <a:avLst/>
          </a:prstGeom>
        </p:spPr>
      </p:pic>
      <p:sp>
        <p:nvSpPr>
          <p:cNvPr id="29" name="Rectangle 42">
            <a:extLst>
              <a:ext uri="{FF2B5EF4-FFF2-40B4-BE49-F238E27FC236}">
                <a16:creationId xmlns:a16="http://schemas.microsoft.com/office/drawing/2014/main" xmlns="" id="{9FA320F1-B907-4825-A24A-E93091DAB026}"/>
              </a:ext>
            </a:extLst>
          </p:cNvPr>
          <p:cNvSpPr>
            <a:spLocks noChangeArrowheads="1"/>
          </p:cNvSpPr>
          <p:nvPr/>
        </p:nvSpPr>
        <p:spPr bwMode="auto">
          <a:xfrm>
            <a:off x="3158734" y="5287760"/>
            <a:ext cx="1368000" cy="828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0" name="Rectangle 42">
            <a:extLst>
              <a:ext uri="{FF2B5EF4-FFF2-40B4-BE49-F238E27FC236}">
                <a16:creationId xmlns:a16="http://schemas.microsoft.com/office/drawing/2014/main" xmlns="" id="{EDF2A32C-2DC0-4695-8410-628451F199B2}"/>
              </a:ext>
            </a:extLst>
          </p:cNvPr>
          <p:cNvSpPr>
            <a:spLocks noChangeArrowheads="1"/>
          </p:cNvSpPr>
          <p:nvPr/>
        </p:nvSpPr>
        <p:spPr bwMode="auto">
          <a:xfrm>
            <a:off x="4531833" y="5287760"/>
            <a:ext cx="1800000" cy="828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1" name="Rectangle 42">
            <a:extLst>
              <a:ext uri="{FF2B5EF4-FFF2-40B4-BE49-F238E27FC236}">
                <a16:creationId xmlns:a16="http://schemas.microsoft.com/office/drawing/2014/main" xmlns="" id="{0E1FC18A-4253-447D-90AD-083CF60EAD72}"/>
              </a:ext>
            </a:extLst>
          </p:cNvPr>
          <p:cNvSpPr>
            <a:spLocks noChangeArrowheads="1"/>
          </p:cNvSpPr>
          <p:nvPr/>
        </p:nvSpPr>
        <p:spPr bwMode="auto">
          <a:xfrm>
            <a:off x="6358753" y="5287760"/>
            <a:ext cx="1767816" cy="828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2687181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87327" y="212725"/>
            <a:ext cx="4288185" cy="813000"/>
          </a:xfrm>
        </p:spPr>
        <p:txBody>
          <a:bodyPr/>
          <a:lstStyle/>
          <a:p>
            <a:pPr lvl="0" defTabSz="457200">
              <a:defRPr/>
            </a:pPr>
            <a:r>
              <a:rPr lang="es-CL" sz="2800" b="1" dirty="0">
                <a:solidFill>
                  <a:prstClr val="white"/>
                </a:solidFill>
                <a:latin typeface="Calibri"/>
              </a:rPr>
              <a:t>Función EXTRACT para trabajar con Fechas</a:t>
            </a:r>
          </a:p>
        </p:txBody>
      </p:sp>
      <p:sp>
        <p:nvSpPr>
          <p:cNvPr id="17" name="Rectangle 3">
            <a:extLst>
              <a:ext uri="{FF2B5EF4-FFF2-40B4-BE49-F238E27FC236}">
                <a16:creationId xmlns:a16="http://schemas.microsoft.com/office/drawing/2014/main" xmlns="" id="{B991594D-49DB-413F-8C1E-D1B37064CF92}"/>
              </a:ext>
            </a:extLst>
          </p:cNvPr>
          <p:cNvSpPr txBox="1">
            <a:spLocks noChangeArrowheads="1"/>
          </p:cNvSpPr>
          <p:nvPr/>
        </p:nvSpPr>
        <p:spPr bwMode="auto">
          <a:xfrm>
            <a:off x="611188" y="1268760"/>
            <a:ext cx="8281987" cy="334963"/>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12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sz="2000" kern="1200" dirty="0">
              <a:solidFill>
                <a:prstClr val="black"/>
              </a:solidFill>
              <a:latin typeface="Calibri"/>
              <a:ea typeface="Arial Unicode MS"/>
              <a:cs typeface="Times New Roman" pitchFamily="18"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Times New Roman" pitchFamily="18" charset="0"/>
              </a:rPr>
              <a:t>Sintaxis:</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algn="just" defTabSz="457200" fontAlgn="base">
              <a:lnSpc>
                <a:spcPct val="80000"/>
              </a:lnSpc>
              <a:spcBef>
                <a:spcPct val="20000"/>
              </a:spcBef>
              <a:spcAft>
                <a:spcPct val="0"/>
              </a:spcAft>
              <a:buClrTx/>
              <a:buFontTx/>
              <a:buNone/>
            </a:pPr>
            <a:endParaRPr lang="es-CL" sz="800" kern="1200" dirty="0">
              <a:solidFill>
                <a:prstClr val="black"/>
              </a:solidFill>
              <a:latin typeface="Times New Roman" pitchFamily="18" charset="0"/>
              <a:ea typeface="Arial Unicode MS"/>
              <a:cs typeface="Times New Roman" pitchFamily="18" charset="0"/>
            </a:endParaRPr>
          </a:p>
        </p:txBody>
      </p:sp>
      <p:sp>
        <p:nvSpPr>
          <p:cNvPr id="18" name="Rectángulo redondeado 4">
            <a:extLst>
              <a:ext uri="{FF2B5EF4-FFF2-40B4-BE49-F238E27FC236}">
                <a16:creationId xmlns:a16="http://schemas.microsoft.com/office/drawing/2014/main" xmlns="" id="{32BF502B-E3B6-4BF0-82E7-66F6E2EB3CD3}"/>
              </a:ext>
            </a:extLst>
          </p:cNvPr>
          <p:cNvSpPr/>
          <p:nvPr/>
        </p:nvSpPr>
        <p:spPr>
          <a:xfrm>
            <a:off x="1043608" y="1415678"/>
            <a:ext cx="2232000" cy="2340000"/>
          </a:xfrm>
          <a:prstGeom prst="roundRect">
            <a:avLst/>
          </a:prstGeom>
          <a:solidFill>
            <a:srgbClr val="EC700A"/>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Obtiene la parte especificada (día, mes, año, horas, minutos, etc.) a partir de un valor de fecha y hora. El valor obtenido es numérico</a:t>
            </a:r>
          </a:p>
        </p:txBody>
      </p:sp>
      <p:sp>
        <p:nvSpPr>
          <p:cNvPr id="19" name="Rectángulo redondeado 4">
            <a:extLst>
              <a:ext uri="{FF2B5EF4-FFF2-40B4-BE49-F238E27FC236}">
                <a16:creationId xmlns:a16="http://schemas.microsoft.com/office/drawing/2014/main" xmlns="" id="{1300A2D8-E93C-4277-B9CD-3E571451F0E8}"/>
              </a:ext>
            </a:extLst>
          </p:cNvPr>
          <p:cNvSpPr/>
          <p:nvPr/>
        </p:nvSpPr>
        <p:spPr>
          <a:xfrm>
            <a:off x="3564128" y="1415678"/>
            <a:ext cx="2232000" cy="234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No se puede usar la función EXTRACT para obtener HOUR, MINUTE o SECOND a partir de un valor de DATE</a:t>
            </a:r>
          </a:p>
        </p:txBody>
      </p:sp>
      <p:sp>
        <p:nvSpPr>
          <p:cNvPr id="20" name="Rectángulo redondeado 4">
            <a:extLst>
              <a:ext uri="{FF2B5EF4-FFF2-40B4-BE49-F238E27FC236}">
                <a16:creationId xmlns:a16="http://schemas.microsoft.com/office/drawing/2014/main" xmlns="" id="{3E4C9F2F-EAEC-41FC-8814-B0992BAF53C8}"/>
              </a:ext>
            </a:extLst>
          </p:cNvPr>
          <p:cNvSpPr/>
          <p:nvPr/>
        </p:nvSpPr>
        <p:spPr>
          <a:xfrm>
            <a:off x="6012400" y="1415678"/>
            <a:ext cx="2232000" cy="2340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HOUR, MINUTE o SECOND se pueden extraer sólo  desde valores TIMESTAMP</a:t>
            </a:r>
          </a:p>
        </p:txBody>
      </p:sp>
      <p:sp>
        <p:nvSpPr>
          <p:cNvPr id="21" name="Text Box 5">
            <a:extLst>
              <a:ext uri="{FF2B5EF4-FFF2-40B4-BE49-F238E27FC236}">
                <a16:creationId xmlns:a16="http://schemas.microsoft.com/office/drawing/2014/main" xmlns="" id="{C7A382E9-87E7-4945-8C9F-5C71BD79A437}"/>
              </a:ext>
            </a:extLst>
          </p:cNvPr>
          <p:cNvSpPr txBox="1">
            <a:spLocks noChangeArrowheads="1"/>
          </p:cNvSpPr>
          <p:nvPr/>
        </p:nvSpPr>
        <p:spPr bwMode="auto">
          <a:xfrm>
            <a:off x="1043608" y="4512022"/>
            <a:ext cx="6624736"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EXTRACT ( { YEAR | MONTH | DAY | HOUR | MINUTE | SECOND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{TIMEZONE_HOUR | TIMEZONE_MINUTE } | { TIMEZONE_REGION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|TIMEZONE_ABBR } FROM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intervalo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035347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C6550999-7EF0-47E2-A24E-EE31591CFB61}"/>
              </a:ext>
            </a:extLst>
          </p:cNvPr>
          <p:cNvSpPr>
            <a:spLocks noGrp="1"/>
          </p:cNvSpPr>
          <p:nvPr>
            <p:ph type="title"/>
          </p:nvPr>
        </p:nvSpPr>
        <p:spPr>
          <a:xfrm>
            <a:off x="1687327" y="212725"/>
            <a:ext cx="4288185" cy="813000"/>
          </a:xfrm>
        </p:spPr>
        <p:txBody>
          <a:bodyPr/>
          <a:lstStyle/>
          <a:p>
            <a:pPr lvl="0" defTabSz="457200">
              <a:defRPr/>
            </a:pPr>
            <a:r>
              <a:rPr lang="es-CL" sz="2800" b="1" dirty="0">
                <a:solidFill>
                  <a:prstClr val="white"/>
                </a:solidFill>
                <a:latin typeface="Calibri"/>
              </a:rPr>
              <a:t>Función EXTRACT para trabajar con Fechas</a:t>
            </a:r>
          </a:p>
        </p:txBody>
      </p:sp>
      <p:sp>
        <p:nvSpPr>
          <p:cNvPr id="12" name="Rectangle 3">
            <a:extLst>
              <a:ext uri="{FF2B5EF4-FFF2-40B4-BE49-F238E27FC236}">
                <a16:creationId xmlns:a16="http://schemas.microsoft.com/office/drawing/2014/main" xmlns="" id="{71CC15B6-ACE3-4FB6-AFBA-67D65595BB1D}"/>
              </a:ext>
            </a:extLst>
          </p:cNvPr>
          <p:cNvSpPr txBox="1">
            <a:spLocks noChangeArrowheads="1"/>
          </p:cNvSpPr>
          <p:nvPr/>
        </p:nvSpPr>
        <p:spPr bwMode="auto">
          <a:xfrm>
            <a:off x="611188" y="1232971"/>
            <a:ext cx="7993062" cy="407987"/>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MX" sz="2000" kern="1200" dirty="0">
                <a:solidFill>
                  <a:prstClr val="black"/>
                </a:solidFill>
                <a:latin typeface="Calibri"/>
                <a:ea typeface="+mn-ea"/>
                <a:cs typeface="Arial" panose="020B0604020202020204" pitchFamily="34" charset="0"/>
              </a:rPr>
              <a:t>Ejemplo:</a:t>
            </a:r>
            <a:endParaRPr lang="es-CL" sz="2000" kern="1200" dirty="0">
              <a:solidFill>
                <a:prstClr val="black"/>
              </a:solidFill>
              <a:latin typeface="Calibri"/>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None/>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Tx/>
              <a:buNone/>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 typeface="Arial" charset="0"/>
              <a:buChar char="•"/>
            </a:pPr>
            <a:endParaRPr lang="es-CL" sz="1000" kern="1200" dirty="0">
              <a:solidFill>
                <a:prstClr val="black"/>
              </a:solidFill>
              <a:latin typeface="Arial" panose="020B0604020202020204" pitchFamily="34" charset="0"/>
              <a:ea typeface="Arial Unicode MS"/>
              <a:cs typeface="Arial Unicode MS"/>
            </a:endParaRPr>
          </a:p>
          <a:p>
            <a:pPr marL="609600" indent="-609600" algn="just" defTabSz="457200" fontAlgn="base">
              <a:lnSpc>
                <a:spcPct val="80000"/>
              </a:lnSpc>
              <a:spcBef>
                <a:spcPct val="20000"/>
              </a:spcBef>
              <a:spcAft>
                <a:spcPct val="0"/>
              </a:spcAft>
              <a:buClrTx/>
              <a:buFontTx/>
              <a:buNone/>
            </a:pPr>
            <a:endParaRPr lang="es-CL" sz="1800" kern="1200" dirty="0">
              <a:solidFill>
                <a:prstClr val="black"/>
              </a:solidFill>
              <a:latin typeface="Arial" panose="020B0604020202020204" pitchFamily="34" charset="0"/>
              <a:ea typeface="Arial Unicode MS"/>
              <a:cs typeface="Arial Unicode MS"/>
            </a:endParaRPr>
          </a:p>
        </p:txBody>
      </p:sp>
      <p:sp>
        <p:nvSpPr>
          <p:cNvPr id="13" name="Text Box 5">
            <a:extLst>
              <a:ext uri="{FF2B5EF4-FFF2-40B4-BE49-F238E27FC236}">
                <a16:creationId xmlns:a16="http://schemas.microsoft.com/office/drawing/2014/main" xmlns="" id="{9B8CB8F9-E8E7-4441-90CF-C4571BB228D8}"/>
              </a:ext>
            </a:extLst>
          </p:cNvPr>
          <p:cNvSpPr txBox="1">
            <a:spLocks noChangeArrowheads="1"/>
          </p:cNvSpPr>
          <p:nvPr/>
        </p:nvSpPr>
        <p:spPr bwMode="auto">
          <a:xfrm>
            <a:off x="772341" y="1537628"/>
            <a:ext cx="7846723"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ingresó</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 la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empresa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el '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EXTRACT (DAY FROM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de '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EXTRACT (MONTH FROM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del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año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EXTRACT(YEAR FROM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"INFORMACION DE CONTRATOS"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EXTRACT(YEAR FROM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DESC,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14" name="Imagen 13" descr="Imagen que contiene texto, captura de pantalla&#10;&#10;Descripción generada automáticamente">
            <a:extLst>
              <a:ext uri="{FF2B5EF4-FFF2-40B4-BE49-F238E27FC236}">
                <a16:creationId xmlns:a16="http://schemas.microsoft.com/office/drawing/2014/main" xmlns="" id="{49E17768-11DB-4CE6-809C-5708DBC02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644" y="3159188"/>
            <a:ext cx="4971619" cy="3555286"/>
          </a:xfrm>
          <a:prstGeom prst="rect">
            <a:avLst/>
          </a:prstGeom>
        </p:spPr>
      </p:pic>
    </p:spTree>
    <p:extLst>
      <p:ext uri="{BB962C8B-B14F-4D97-AF65-F5344CB8AC3E}">
        <p14:creationId xmlns:p14="http://schemas.microsoft.com/office/powerpoint/2010/main" val="1708774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30</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Se describieron las características generales de las Funciones SQL.</a:t>
            </a:r>
          </a:p>
          <a:p>
            <a:pPr marL="393700" indent="-342900" algn="just">
              <a:buFont typeface="Arial" panose="020B0604020202020204" pitchFamily="34" charset="0"/>
              <a:buChar char="•"/>
            </a:pPr>
            <a:r>
              <a:rPr lang="es-CL" sz="2200" dirty="0"/>
              <a:t>Se describieron las características de las Funciones SQL que operan con una fila.</a:t>
            </a:r>
          </a:p>
          <a:p>
            <a:pPr marL="393700" indent="-342900" algn="just">
              <a:buFont typeface="Arial" panose="020B0604020202020204" pitchFamily="34" charset="0"/>
              <a:buChar char="•"/>
            </a:pPr>
            <a:r>
              <a:rPr lang="es-CL" sz="2200" dirty="0"/>
              <a:t>Se describieron los tipos de Funciones que operan con una sola fila: de caracteres, numéricas,  de fechas, de conversión y generales. </a:t>
            </a:r>
          </a:p>
          <a:p>
            <a:pPr marL="393700" indent="-342900" algn="just">
              <a:buFont typeface="Arial" panose="020B0604020202020204" pitchFamily="34" charset="0"/>
              <a:buChar char="•"/>
            </a:pPr>
            <a:r>
              <a:rPr lang="es-CL" sz="2200" dirty="0"/>
              <a:t>Se explicó cómo convertir, reemplazar o manipular caracteres en sentencias SQL</a:t>
            </a:r>
          </a:p>
          <a:p>
            <a:pPr marL="393700" indent="-342900" algn="just">
              <a:buFont typeface="Arial" panose="020B0604020202020204" pitchFamily="34" charset="0"/>
              <a:buChar char="•"/>
            </a:pPr>
            <a:r>
              <a:rPr lang="es-CL" sz="2200" dirty="0"/>
              <a:t>Se explicó cómo manipular números en sentencias SQL.</a:t>
            </a:r>
          </a:p>
          <a:p>
            <a:pPr marL="393700" indent="-342900" algn="just">
              <a:buFont typeface="Arial" panose="020B0604020202020204" pitchFamily="34" charset="0"/>
              <a:buChar char="•"/>
            </a:pPr>
            <a:r>
              <a:rPr lang="es-CL" sz="2200" dirty="0"/>
              <a:t>Se explicó cómo efectuar operaciones con fechas en sentencias SQL.</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2374</TotalTime>
  <Words>3470</Words>
  <Application>Microsoft Office PowerPoint</Application>
  <PresentationFormat>Presentación en pantalla (4:3)</PresentationFormat>
  <Paragraphs>341</Paragraphs>
  <Slides>30</Slides>
  <Notes>29</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30</vt:i4>
      </vt:variant>
    </vt:vector>
  </HeadingPairs>
  <TitlesOfParts>
    <vt:vector size="42" baseType="lpstr">
      <vt:lpstr>Roboto Mono</vt:lpstr>
      <vt:lpstr>Bebas Neue</vt:lpstr>
      <vt:lpstr>Roboto</vt:lpstr>
      <vt:lpstr>Times New Roman</vt:lpstr>
      <vt:lpstr>Franklin Gothic</vt:lpstr>
      <vt:lpstr>Arial Unicode MS</vt:lpstr>
      <vt:lpstr>Arial</vt:lpstr>
      <vt:lpstr>ＭＳ Ｐゴシック</vt:lpstr>
      <vt:lpstr>Arial Black</vt:lpstr>
      <vt:lpstr>Roboto Condensed</vt:lpstr>
      <vt:lpstr>Calibri</vt:lpstr>
      <vt:lpstr>Tema de Office</vt:lpstr>
      <vt:lpstr>Usando  Funciones SQL de una Fila de Caracteres, Números y Fechas</vt:lpstr>
      <vt:lpstr>Presentación de PowerPoint</vt:lpstr>
      <vt:lpstr>Objetivos de la Clase</vt:lpstr>
      <vt:lpstr>Funciones SQL</vt:lpstr>
      <vt:lpstr>Funciones SQL</vt:lpstr>
      <vt:lpstr>Funciones SQL</vt:lpstr>
      <vt:lpstr>Funciones SQL de una Fila</vt:lpstr>
      <vt:lpstr>Funciones SQL de una Fila</vt:lpstr>
      <vt:lpstr>Funciones  para trabajar con Caracteres</vt:lpstr>
      <vt:lpstr>Funciones de Caracteres</vt:lpstr>
      <vt:lpstr>Funciones de Caracteres</vt:lpstr>
      <vt:lpstr>Funciones de Caracteres</vt:lpstr>
      <vt:lpstr>Funciones de Caracteres</vt:lpstr>
      <vt:lpstr>Funciones de Caracteres</vt:lpstr>
      <vt:lpstr>Funciones de Caracteres</vt:lpstr>
      <vt:lpstr>Funciones para  trabajar con Números</vt:lpstr>
      <vt:lpstr>Funciones de Números</vt:lpstr>
      <vt:lpstr>Funciones de Números</vt:lpstr>
      <vt:lpstr>Funciones de Números</vt:lpstr>
      <vt:lpstr>Funciones de Números</vt:lpstr>
      <vt:lpstr>Funciones para trabajar con Fechas</vt:lpstr>
      <vt:lpstr>Funciones de Fechas</vt:lpstr>
      <vt:lpstr>Funciones de Fechas</vt:lpstr>
      <vt:lpstr>Funciones de Fechas</vt:lpstr>
      <vt:lpstr>Funciones de Fechas</vt:lpstr>
      <vt:lpstr>Funciones de Fechas</vt:lpstr>
      <vt:lpstr>Funciones de Fechas</vt:lpstr>
      <vt:lpstr>Función EXTRACT para trabajar con Fechas</vt:lpstr>
      <vt:lpstr>Función EXTRACT para trabajar con Fechas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320</cp:revision>
  <dcterms:modified xsi:type="dcterms:W3CDTF">2020-04-16T22:42:07Z</dcterms:modified>
</cp:coreProperties>
</file>