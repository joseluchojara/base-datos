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6" r:id="rId1"/>
  </p:sldMasterIdLst>
  <p:notesMasterIdLst>
    <p:notesMasterId r:id="rId33"/>
  </p:notesMasterIdLst>
  <p:sldIdLst>
    <p:sldId id="367" r:id="rId2"/>
    <p:sldId id="339" r:id="rId3"/>
    <p:sldId id="369" r:id="rId4"/>
    <p:sldId id="258" r:id="rId5"/>
    <p:sldId id="409" r:id="rId6"/>
    <p:sldId id="407" r:id="rId7"/>
    <p:sldId id="408" r:id="rId8"/>
    <p:sldId id="410" r:id="rId9"/>
    <p:sldId id="411" r:id="rId10"/>
    <p:sldId id="414" r:id="rId11"/>
    <p:sldId id="412" r:id="rId12"/>
    <p:sldId id="268" r:id="rId13"/>
    <p:sldId id="415" r:id="rId14"/>
    <p:sldId id="416" r:id="rId15"/>
    <p:sldId id="279" r:id="rId16"/>
    <p:sldId id="417" r:id="rId17"/>
    <p:sldId id="418" r:id="rId18"/>
    <p:sldId id="419" r:id="rId19"/>
    <p:sldId id="420" r:id="rId20"/>
    <p:sldId id="421" r:id="rId21"/>
    <p:sldId id="422" r:id="rId22"/>
    <p:sldId id="423" r:id="rId23"/>
    <p:sldId id="424" r:id="rId24"/>
    <p:sldId id="269" r:id="rId25"/>
    <p:sldId id="304" r:id="rId26"/>
    <p:sldId id="425" r:id="rId27"/>
    <p:sldId id="400" r:id="rId28"/>
    <p:sldId id="426" r:id="rId29"/>
    <p:sldId id="427" r:id="rId30"/>
    <p:sldId id="428" r:id="rId31"/>
    <p:sldId id="314" r:id="rId32"/>
  </p:sldIdLst>
  <p:sldSz cx="9144000" cy="6858000" type="screen4x3"/>
  <p:notesSz cx="6858000" cy="9144000"/>
  <p:embeddedFontLst>
    <p:embeddedFont>
      <p:font typeface="Roboto Condensed" panose="020B0604020202020204" charset="0"/>
      <p:regular r:id="rId34"/>
      <p:bold r:id="rId35"/>
      <p:italic r:id="rId36"/>
      <p:boldItalic r:id="rId37"/>
    </p:embeddedFont>
    <p:embeddedFont>
      <p:font typeface="Calibri" panose="020F0502020204030204" pitchFamily="34" charset="0"/>
      <p:regular r:id="rId38"/>
      <p:bold r:id="rId39"/>
      <p:italic r:id="rId40"/>
      <p:boldItalic r:id="rId41"/>
    </p:embeddedFont>
    <p:embeddedFont>
      <p:font typeface="Franklin Gothic" panose="020B0604020202020204" charset="0"/>
      <p:regular r:id="rId42"/>
      <p:bold r:id="rId43"/>
      <p:italic r:id="rId44"/>
      <p:boldItalic r:id="rId45"/>
    </p:embeddedFont>
    <p:embeddedFont>
      <p:font typeface="Roboto Mono" panose="020B0604020202020204" charset="0"/>
      <p:regular r:id="rId46"/>
      <p:bold r:id="rId47"/>
      <p:italic r:id="rId48"/>
      <p:boldItalic r:id="rId49"/>
    </p:embeddedFont>
    <p:embeddedFont>
      <p:font typeface="Arial Unicode MS" panose="020B0604020202020204" pitchFamily="34" charset="-128"/>
      <p:regular r:id="rId50"/>
    </p:embeddedFont>
    <p:embeddedFont>
      <p:font typeface="Bebas Neue" panose="020B0604020202020204" charset="0"/>
      <p:regular r:id="rId51"/>
    </p:embeddedFont>
    <p:embeddedFont>
      <p:font typeface="Arial Black" panose="020B0A04020102020204" pitchFamily="34" charset="0"/>
      <p:bold r:id="rId52"/>
    </p:embeddedFont>
    <p:embeddedFont>
      <p:font typeface="ＭＳ Ｐゴシック" panose="020B0600070205080204" pitchFamily="34" charset="-128"/>
      <p:regular r:id="rId5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D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8034E78-7F5D-4C2E-B375-FC64B27BC917}" styleName="Estilo oscuro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08"/>
    <p:restoredTop sz="72542" autoAdjust="0"/>
  </p:normalViewPr>
  <p:slideViewPr>
    <p:cSldViewPr snapToGrid="0" snapToObjects="1">
      <p:cViewPr varScale="1">
        <p:scale>
          <a:sx n="54" d="100"/>
          <a:sy n="54" d="100"/>
        </p:scale>
        <p:origin x="1836" y="4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6.fntdata"/><Relationship Id="rId21" Type="http://schemas.openxmlformats.org/officeDocument/2006/relationships/slide" Target="slides/slide20.xml"/><Relationship Id="rId34" Type="http://schemas.openxmlformats.org/officeDocument/2006/relationships/font" Target="fonts/font1.fntdata"/><Relationship Id="rId42" Type="http://schemas.openxmlformats.org/officeDocument/2006/relationships/font" Target="fonts/font9.fntdata"/><Relationship Id="rId47" Type="http://schemas.openxmlformats.org/officeDocument/2006/relationships/font" Target="fonts/font14.fntdata"/><Relationship Id="rId50" Type="http://schemas.openxmlformats.org/officeDocument/2006/relationships/font" Target="fonts/font17.fntdata"/><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4.fntdata"/><Relationship Id="rId40" Type="http://schemas.openxmlformats.org/officeDocument/2006/relationships/font" Target="fonts/font7.fntdata"/><Relationship Id="rId45" Type="http://schemas.openxmlformats.org/officeDocument/2006/relationships/font" Target="fonts/font12.fntdata"/><Relationship Id="rId53" Type="http://schemas.openxmlformats.org/officeDocument/2006/relationships/font" Target="fonts/font20.fntdata"/><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43" Type="http://schemas.openxmlformats.org/officeDocument/2006/relationships/font" Target="fonts/font10.fntdata"/><Relationship Id="rId48" Type="http://schemas.openxmlformats.org/officeDocument/2006/relationships/font" Target="fonts/font15.fntdata"/><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font" Target="fonts/font18.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font" Target="fonts/font5.fntdata"/><Relationship Id="rId46" Type="http://schemas.openxmlformats.org/officeDocument/2006/relationships/font" Target="fonts/font13.fntdata"/><Relationship Id="rId20" Type="http://schemas.openxmlformats.org/officeDocument/2006/relationships/slide" Target="slides/slide19.xml"/><Relationship Id="rId41" Type="http://schemas.openxmlformats.org/officeDocument/2006/relationships/font" Target="fonts/font8.fntdata"/><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3.fntdata"/><Relationship Id="rId49" Type="http://schemas.openxmlformats.org/officeDocument/2006/relationships/font" Target="fonts/font16.fntdata"/><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11.fntdata"/><Relationship Id="rId52" Type="http://schemas.openxmlformats.org/officeDocument/2006/relationships/font" Target="fonts/font19.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7144745"/>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63392f1e7f_0_49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 name="Google Shape;210;g63392f1e7f_0_4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6395701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63392f1e7f_0_54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 name="Google Shape;223;g63392f1e7f_0_5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5078135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just" defTabSz="914400" rtl="0" eaLnBrk="0" fontAlgn="base" latinLnBrk="0" hangingPunct="0">
              <a:lnSpc>
                <a:spcPct val="100000"/>
              </a:lnSpc>
              <a:spcBef>
                <a:spcPct val="30000"/>
              </a:spcBef>
              <a:spcAft>
                <a:spcPct val="0"/>
              </a:spcAft>
              <a:buClrTx/>
              <a:buSzTx/>
              <a:buFontTx/>
              <a:buNone/>
              <a:tabLst/>
              <a:defRPr/>
            </a:pPr>
            <a:r>
              <a:rPr kumimoji="0" lang="es-CL" sz="1200" b="1" i="0" u="none" strike="noStrike" kern="1200" cap="none" spc="0" normalizeH="0" baseline="0" noProof="0" dirty="0">
                <a:ln>
                  <a:noFill/>
                </a:ln>
                <a:solidFill>
                  <a:prstClr val="black"/>
                </a:solidFill>
                <a:effectLst/>
                <a:uLnTx/>
                <a:uFillTx/>
                <a:latin typeface="Calibri"/>
                <a:ea typeface="ＭＳ Ｐゴシック" pitchFamily="34" charset="-128"/>
                <a:cs typeface="Arial" pitchFamily="34" charset="0"/>
              </a:rPr>
              <a:t>JOIN sobre la misma tabla o SELF-JOIN</a:t>
            </a:r>
          </a:p>
          <a:p>
            <a:pPr marL="0" marR="0" lvl="0" indent="0" algn="just" defTabSz="914400" rtl="0" eaLnBrk="0" fontAlgn="base" latinLnBrk="0" hangingPunct="0">
              <a:lnSpc>
                <a:spcPct val="100000"/>
              </a:lnSpc>
              <a:spcBef>
                <a:spcPct val="30000"/>
              </a:spcBef>
              <a:spcAft>
                <a:spcPct val="0"/>
              </a:spcAft>
              <a:buClrTx/>
              <a:buSzTx/>
              <a:buFontTx/>
              <a:buNone/>
              <a:tabLst/>
              <a:defRPr/>
            </a:pPr>
            <a:r>
              <a:rPr kumimoji="0" lang="es-CL" sz="1200" b="0" i="0" u="none" strike="noStrike" kern="1200" cap="none" spc="0" normalizeH="0" baseline="0" noProof="0" dirty="0">
                <a:ln>
                  <a:noFill/>
                </a:ln>
                <a:solidFill>
                  <a:prstClr val="black"/>
                </a:solidFill>
                <a:effectLst/>
                <a:uLnTx/>
                <a:uFillTx/>
                <a:latin typeface="Calibri"/>
                <a:ea typeface="+mn-ea"/>
                <a:cs typeface="+mn-cs"/>
              </a:rPr>
              <a:t> En ocasiones se debe realizar un </a:t>
            </a:r>
            <a:r>
              <a:rPr kumimoji="0" lang="es-CL" sz="1200" b="0" i="0" u="none" strike="noStrike" kern="1200" cap="none" spc="0" normalizeH="0" baseline="0" noProof="0" dirty="0" err="1">
                <a:ln>
                  <a:noFill/>
                </a:ln>
                <a:solidFill>
                  <a:prstClr val="black"/>
                </a:solidFill>
                <a:effectLst/>
                <a:uLnTx/>
                <a:uFillTx/>
                <a:latin typeface="Calibri"/>
                <a:ea typeface="+mn-ea"/>
                <a:cs typeface="+mn-cs"/>
              </a:rPr>
              <a:t>Join</a:t>
            </a:r>
            <a:r>
              <a:rPr kumimoji="0" lang="es-CL" sz="1200" b="0" i="0" u="none" strike="noStrike" kern="1200" cap="none" spc="0" normalizeH="0" baseline="0" noProof="0" dirty="0">
                <a:ln>
                  <a:noFill/>
                </a:ln>
                <a:solidFill>
                  <a:prstClr val="black"/>
                </a:solidFill>
                <a:effectLst/>
                <a:uLnTx/>
                <a:uFillTx/>
                <a:latin typeface="Calibri"/>
                <a:ea typeface="+mn-ea"/>
                <a:cs typeface="+mn-cs"/>
              </a:rPr>
              <a:t> sobre la misma tabla para obtener algún dato.  Por lo tanto, es necesario unir las columnas de la tabla que contienen el mismo dato simulando que pertenecen a tablas diferentes.  Por ejemplo, el jefe del empleado 105 es Alexander </a:t>
            </a:r>
            <a:r>
              <a:rPr kumimoji="0" lang="es-CL" sz="1200" b="0" i="0" u="none" strike="noStrike" kern="1200" cap="none" spc="0" normalizeH="0" baseline="0" noProof="0" dirty="0" err="1">
                <a:ln>
                  <a:noFill/>
                </a:ln>
                <a:solidFill>
                  <a:prstClr val="black"/>
                </a:solidFill>
                <a:effectLst/>
                <a:uLnTx/>
                <a:uFillTx/>
                <a:latin typeface="Calibri"/>
                <a:ea typeface="+mn-ea"/>
                <a:cs typeface="+mn-cs"/>
              </a:rPr>
              <a:t>Hunold</a:t>
            </a:r>
            <a:r>
              <a:rPr kumimoji="0" lang="es-CL" sz="1200" b="0" i="0" u="none" strike="noStrike" kern="1200" cap="none" spc="0" normalizeH="0" baseline="0" noProof="0" dirty="0">
                <a:ln>
                  <a:noFill/>
                </a:ln>
                <a:solidFill>
                  <a:prstClr val="black"/>
                </a:solidFill>
                <a:effectLst/>
                <a:uLnTx/>
                <a:uFillTx/>
                <a:latin typeface="Calibri"/>
                <a:ea typeface="+mn-ea"/>
                <a:cs typeface="+mn-cs"/>
              </a:rPr>
              <a:t> que también es un empleado en la misma tabla EMPLOYEES con identificación 103. </a:t>
            </a:r>
          </a:p>
          <a:p>
            <a:pPr marL="0" marR="0" lvl="0" indent="0" algn="just" defTabSz="914400" rtl="0" eaLnBrk="0" fontAlgn="base" latinLnBrk="0" hangingPunct="0">
              <a:lnSpc>
                <a:spcPct val="100000"/>
              </a:lnSpc>
              <a:spcBef>
                <a:spcPct val="30000"/>
              </a:spcBef>
              <a:spcAft>
                <a:spcPct val="0"/>
              </a:spcAft>
              <a:buClrTx/>
              <a:buSzTx/>
              <a:buFontTx/>
              <a:buNone/>
              <a:tabLst/>
              <a:defRPr/>
            </a:pPr>
            <a:r>
              <a:rPr kumimoji="0" lang="es-CL" sz="1200" b="0" i="0" u="none" strike="noStrike" kern="1200" cap="none" spc="0" normalizeH="0" baseline="0" noProof="0" dirty="0">
                <a:ln>
                  <a:noFill/>
                </a:ln>
                <a:solidFill>
                  <a:prstClr val="black"/>
                </a:solidFill>
                <a:effectLst/>
                <a:uLnTx/>
                <a:uFillTx/>
                <a:latin typeface="Calibri"/>
                <a:ea typeface="+mn-ea"/>
                <a:cs typeface="+mn-cs"/>
              </a:rPr>
              <a:t>Sabemos que un JOIN en la mayoría de las veces implica la relación entre la Clave Primaria de una tabla con la Clave Primaria de la otra tabla. Entonces ¿cómo se puede realizar un </a:t>
            </a:r>
            <a:r>
              <a:rPr kumimoji="0" lang="es-CL" sz="1200" b="0" i="0" u="none" strike="noStrike" kern="1200" cap="none" spc="0" normalizeH="0" baseline="0" noProof="0" dirty="0" err="1">
                <a:ln>
                  <a:noFill/>
                </a:ln>
                <a:solidFill>
                  <a:prstClr val="black"/>
                </a:solidFill>
                <a:effectLst/>
                <a:uLnTx/>
                <a:uFillTx/>
                <a:latin typeface="Calibri"/>
                <a:ea typeface="+mn-ea"/>
                <a:cs typeface="+mn-cs"/>
              </a:rPr>
              <a:t>Join</a:t>
            </a:r>
            <a:r>
              <a:rPr kumimoji="0" lang="es-CL" sz="1200" b="0" i="0" u="none" strike="noStrike" kern="1200" cap="none" spc="0" normalizeH="0" baseline="0" noProof="0" dirty="0">
                <a:ln>
                  <a:noFill/>
                </a:ln>
                <a:solidFill>
                  <a:prstClr val="black"/>
                </a:solidFill>
                <a:effectLst/>
                <a:uLnTx/>
                <a:uFillTx/>
                <a:latin typeface="Calibri"/>
                <a:ea typeface="+mn-ea"/>
                <a:cs typeface="+mn-cs"/>
              </a:rPr>
              <a:t> cuando la Clave Primaria y la Clave Foránea están en la misma tabla que se debe consultar?. </a:t>
            </a:r>
            <a:endParaRPr kumimoji="0" lang="es-MX" sz="1200" b="1" i="0" u="none" strike="noStrike" kern="1200" cap="none" spc="0" normalizeH="0" baseline="0" noProof="0" dirty="0">
              <a:ln>
                <a:noFill/>
              </a:ln>
              <a:solidFill>
                <a:prstClr val="black"/>
              </a:solidFill>
              <a:effectLst/>
              <a:uLnTx/>
              <a:uFillTx/>
              <a:latin typeface="Calibri"/>
              <a:ea typeface="ＭＳ Ｐゴシック" pitchFamily="34" charset="-128"/>
              <a:cs typeface="Arial" pitchFamily="34" charset="0"/>
            </a:endParaRPr>
          </a:p>
        </p:txBody>
      </p:sp>
    </p:spTree>
    <p:extLst>
      <p:ext uri="{BB962C8B-B14F-4D97-AF65-F5344CB8AC3E}">
        <p14:creationId xmlns:p14="http://schemas.microsoft.com/office/powerpoint/2010/main" val="2993625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just" defTabSz="914400" rtl="0" eaLnBrk="0" fontAlgn="base" latinLnBrk="0" hangingPunct="0">
              <a:lnSpc>
                <a:spcPct val="100000"/>
              </a:lnSpc>
              <a:spcBef>
                <a:spcPct val="30000"/>
              </a:spcBef>
              <a:spcAft>
                <a:spcPct val="0"/>
              </a:spcAft>
              <a:buClrTx/>
              <a:buSzTx/>
              <a:buFontTx/>
              <a:buNone/>
              <a:tabLst/>
              <a:defRPr/>
            </a:pPr>
            <a:r>
              <a:rPr kumimoji="0" lang="es-CL" sz="1200" b="1" i="0" u="none" strike="noStrike" kern="1200" cap="none" spc="0" normalizeH="0" baseline="0" noProof="0" dirty="0">
                <a:ln>
                  <a:noFill/>
                </a:ln>
                <a:solidFill>
                  <a:prstClr val="black"/>
                </a:solidFill>
                <a:effectLst/>
                <a:uLnTx/>
                <a:uFillTx/>
                <a:latin typeface="Calibri"/>
                <a:ea typeface="ＭＳ Ｐゴシック" pitchFamily="34" charset="-128"/>
                <a:cs typeface="Arial" pitchFamily="34" charset="0"/>
              </a:rPr>
              <a:t>Creando SELF-JOIN</a:t>
            </a:r>
          </a:p>
          <a:p>
            <a:pPr marL="0" marR="0" lvl="0" indent="0" algn="just" defTabSz="914400" rtl="0" eaLnBrk="0" fontAlgn="base" latinLnBrk="0" hangingPunct="0">
              <a:lnSpc>
                <a:spcPct val="100000"/>
              </a:lnSpc>
              <a:spcBef>
                <a:spcPct val="30000"/>
              </a:spcBef>
              <a:spcAft>
                <a:spcPct val="0"/>
              </a:spcAft>
              <a:buClrTx/>
              <a:buSzTx/>
              <a:buFontTx/>
              <a:buNone/>
              <a:tabLst/>
              <a:defRPr/>
            </a:pPr>
            <a:r>
              <a:rPr kumimoji="0" lang="es-CL" sz="1200" b="0" i="0" u="none" strike="noStrike" kern="1200" cap="none" spc="0" normalizeH="0" baseline="0" noProof="0" dirty="0">
                <a:ln>
                  <a:noFill/>
                </a:ln>
                <a:solidFill>
                  <a:prstClr val="black"/>
                </a:solidFill>
                <a:effectLst/>
                <a:uLnTx/>
                <a:uFillTx/>
                <a:latin typeface="Calibri"/>
                <a:ea typeface="ＭＳ Ｐゴシック" pitchFamily="34" charset="-128"/>
                <a:cs typeface="Arial" pitchFamily="34" charset="0"/>
              </a:rPr>
              <a:t>Cuando el JOIN que se requiere construir está basado en la misma tabla se debe realizar un SELF-JOIN que es un </a:t>
            </a:r>
            <a:r>
              <a:rPr kumimoji="0" lang="es-CL" sz="1200" b="0" i="0" u="none" strike="noStrike" kern="1200" cap="none" spc="0" normalizeH="0" baseline="0" noProof="0" dirty="0" err="1">
                <a:ln>
                  <a:noFill/>
                </a:ln>
                <a:solidFill>
                  <a:prstClr val="black"/>
                </a:solidFill>
                <a:effectLst/>
                <a:uLnTx/>
                <a:uFillTx/>
                <a:latin typeface="Calibri"/>
                <a:ea typeface="ＭＳ Ｐゴシック" pitchFamily="34" charset="-128"/>
                <a:cs typeface="Arial" pitchFamily="34" charset="0"/>
              </a:rPr>
              <a:t>Equijoin</a:t>
            </a:r>
            <a:r>
              <a:rPr kumimoji="0" lang="es-CL" sz="1200" b="0" i="0" u="none" strike="noStrike" kern="1200" cap="none" spc="0" normalizeH="0" baseline="0" noProof="0" dirty="0">
                <a:ln>
                  <a:noFill/>
                </a:ln>
                <a:solidFill>
                  <a:prstClr val="black"/>
                </a:solidFill>
                <a:effectLst/>
                <a:uLnTx/>
                <a:uFillTx/>
                <a:latin typeface="Calibri"/>
                <a:ea typeface="ＭＳ Ｐゴシック" pitchFamily="34" charset="-128"/>
                <a:cs typeface="Arial" pitchFamily="34" charset="0"/>
              </a:rPr>
              <a:t> sobre la misma tabla y por regla debe usar la cláusula ON.  Para ello,  se usa la misma tabla en la cláusula FROM de la sentencia SELECT pero se les asigna un alias de tabla diferente para poder efectuar la comparación de la columna de Clave Primaria con la columna de Clave Foránea de la misma tabla.</a:t>
            </a:r>
          </a:p>
          <a:p>
            <a:pPr marL="0" marR="0" lvl="0" indent="0" algn="just" defTabSz="914400" rtl="0" eaLnBrk="0" fontAlgn="base" latinLnBrk="0" hangingPunct="0">
              <a:lnSpc>
                <a:spcPct val="100000"/>
              </a:lnSpc>
              <a:spcBef>
                <a:spcPct val="30000"/>
              </a:spcBef>
              <a:spcAft>
                <a:spcPct val="0"/>
              </a:spcAft>
              <a:buClrTx/>
              <a:buSzTx/>
              <a:buFontTx/>
              <a:buNone/>
              <a:tabLst/>
              <a:defRPr/>
            </a:pPr>
            <a:r>
              <a:rPr kumimoji="0" lang="es-CL" sz="1200" b="0" i="0" u="none" strike="noStrike" kern="1200" cap="none" spc="0" normalizeH="0" baseline="0" noProof="0" dirty="0">
                <a:ln>
                  <a:noFill/>
                </a:ln>
                <a:solidFill>
                  <a:prstClr val="black"/>
                </a:solidFill>
                <a:effectLst/>
                <a:uLnTx/>
                <a:uFillTx/>
                <a:latin typeface="Calibri"/>
                <a:ea typeface="ＭＳ Ｐゴシック" pitchFamily="34" charset="-128"/>
                <a:cs typeface="Arial" pitchFamily="34" charset="0"/>
              </a:rPr>
              <a:t>En la sintaxis:</a:t>
            </a:r>
          </a:p>
          <a:p>
            <a:pPr marL="171450" marR="0" lvl="0" indent="-171450" algn="just"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kumimoji="0" lang="es-CL" sz="1200" b="1" i="1" u="none" strike="noStrike" kern="1200" cap="none" spc="0" normalizeH="0" baseline="0" noProof="0" dirty="0">
                <a:ln>
                  <a:noFill/>
                </a:ln>
                <a:solidFill>
                  <a:prstClr val="black"/>
                </a:solidFill>
                <a:effectLst/>
                <a:uLnTx/>
                <a:uFillTx/>
                <a:latin typeface="Calibri"/>
                <a:ea typeface="ＭＳ Ｐゴシック" pitchFamily="34" charset="-128"/>
                <a:cs typeface="Arial" pitchFamily="34" charset="0"/>
              </a:rPr>
              <a:t>tabla1</a:t>
            </a:r>
            <a:r>
              <a:rPr kumimoji="0" lang="es-CL" sz="1200" b="1" i="0" u="none" strike="noStrike" kern="1200" cap="none" spc="0" normalizeH="0" baseline="0" noProof="0" dirty="0">
                <a:ln>
                  <a:noFill/>
                </a:ln>
                <a:solidFill>
                  <a:prstClr val="black"/>
                </a:solidFill>
                <a:effectLst/>
                <a:uLnTx/>
                <a:uFillTx/>
                <a:latin typeface="Calibri"/>
                <a:ea typeface="ＭＳ Ｐゴシック" pitchFamily="34" charset="-128"/>
                <a:cs typeface="Arial" pitchFamily="34" charset="0"/>
              </a:rPr>
              <a:t>:</a:t>
            </a:r>
            <a:r>
              <a:rPr kumimoji="0" lang="es-CL" sz="1200" b="0" i="0" u="none" strike="noStrike" kern="1200" cap="none" spc="0" normalizeH="0" baseline="0" noProof="0" dirty="0">
                <a:ln>
                  <a:noFill/>
                </a:ln>
                <a:solidFill>
                  <a:prstClr val="black"/>
                </a:solidFill>
                <a:effectLst/>
                <a:uLnTx/>
                <a:uFillTx/>
                <a:latin typeface="Calibri"/>
                <a:ea typeface="ＭＳ Ｐゴシック" pitchFamily="34" charset="-128"/>
                <a:cs typeface="Arial" pitchFamily="34" charset="0"/>
              </a:rPr>
              <a:t> es la tabla desde la cual se desea obtener los datos</a:t>
            </a:r>
          </a:p>
          <a:p>
            <a:pPr marL="171450" marR="0" lvl="0" indent="-171450" algn="just"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kumimoji="0" lang="es-CL" sz="1200" b="1" i="1" u="none" strike="noStrike" kern="1200" cap="none" spc="0" normalizeH="0" baseline="0" noProof="0" dirty="0">
                <a:ln>
                  <a:noFill/>
                </a:ln>
                <a:solidFill>
                  <a:prstClr val="black"/>
                </a:solidFill>
                <a:effectLst/>
                <a:uLnTx/>
                <a:uFillTx/>
                <a:latin typeface="Calibri"/>
                <a:ea typeface="ＭＳ Ｐゴシック" pitchFamily="34" charset="-128"/>
                <a:cs typeface="Arial" pitchFamily="34" charset="0"/>
              </a:rPr>
              <a:t>tb1</a:t>
            </a:r>
            <a:r>
              <a:rPr kumimoji="0" lang="es-CL" sz="1200" b="1" i="0" u="none" strike="noStrike" kern="1200" cap="none" spc="0" normalizeH="0" baseline="0" noProof="0" dirty="0">
                <a:ln>
                  <a:noFill/>
                </a:ln>
                <a:solidFill>
                  <a:prstClr val="black"/>
                </a:solidFill>
                <a:effectLst/>
                <a:uLnTx/>
                <a:uFillTx/>
                <a:latin typeface="Calibri"/>
                <a:ea typeface="ＭＳ Ｐゴシック" pitchFamily="34" charset="-128"/>
                <a:cs typeface="Arial" pitchFamily="34" charset="0"/>
              </a:rPr>
              <a:t>:</a:t>
            </a:r>
            <a:r>
              <a:rPr kumimoji="0" lang="es-CL" sz="1200" b="0" i="0" u="none" strike="noStrike" kern="1200" cap="none" spc="0" normalizeH="0" baseline="0" noProof="0" dirty="0">
                <a:ln>
                  <a:noFill/>
                </a:ln>
                <a:solidFill>
                  <a:prstClr val="black"/>
                </a:solidFill>
                <a:effectLst/>
                <a:uLnTx/>
                <a:uFillTx/>
                <a:latin typeface="Calibri"/>
                <a:ea typeface="ＭＳ Ｐゴシック" pitchFamily="34" charset="-128"/>
                <a:cs typeface="Arial" pitchFamily="34" charset="0"/>
              </a:rPr>
              <a:t> es el primer alias que se le asigna a la tabla</a:t>
            </a:r>
          </a:p>
          <a:p>
            <a:pPr marL="171450" marR="0" lvl="0" indent="-171450" algn="just"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kumimoji="0" lang="es-CL" sz="1200" b="1" i="1" u="none" strike="noStrike" kern="1200" cap="none" spc="0" normalizeH="0" baseline="0" noProof="0" dirty="0">
                <a:ln>
                  <a:noFill/>
                </a:ln>
                <a:solidFill>
                  <a:prstClr val="black"/>
                </a:solidFill>
                <a:effectLst/>
                <a:uLnTx/>
                <a:uFillTx/>
                <a:latin typeface="Calibri"/>
                <a:ea typeface="ＭＳ Ｐゴシック" pitchFamily="34" charset="-128"/>
                <a:cs typeface="Arial" pitchFamily="34" charset="0"/>
              </a:rPr>
              <a:t>tb2</a:t>
            </a:r>
            <a:r>
              <a:rPr kumimoji="0" lang="es-CL" sz="1200" b="1" i="0" u="none" strike="noStrike" kern="1200" cap="none" spc="0" normalizeH="0" baseline="0" noProof="0" dirty="0">
                <a:ln>
                  <a:noFill/>
                </a:ln>
                <a:solidFill>
                  <a:prstClr val="black"/>
                </a:solidFill>
                <a:effectLst/>
                <a:uLnTx/>
                <a:uFillTx/>
                <a:latin typeface="Calibri"/>
                <a:ea typeface="ＭＳ Ｐゴシック" pitchFamily="34" charset="-128"/>
                <a:cs typeface="Arial" pitchFamily="34" charset="0"/>
              </a:rPr>
              <a:t>:</a:t>
            </a:r>
            <a:r>
              <a:rPr kumimoji="0" lang="es-CL" sz="1200" b="0" i="0" u="none" strike="noStrike" kern="1200" cap="none" spc="0" normalizeH="0" baseline="0" noProof="0" dirty="0">
                <a:ln>
                  <a:noFill/>
                </a:ln>
                <a:solidFill>
                  <a:prstClr val="black"/>
                </a:solidFill>
                <a:effectLst/>
                <a:uLnTx/>
                <a:uFillTx/>
                <a:latin typeface="Calibri"/>
                <a:ea typeface="ＭＳ Ｐゴシック" pitchFamily="34" charset="-128"/>
                <a:cs typeface="Arial" pitchFamily="34" charset="0"/>
              </a:rPr>
              <a:t> es el segundo alias que se le asigna a la misma tabla</a:t>
            </a:r>
            <a:endParaRPr kumimoji="0" lang="es-MX" sz="1200" b="1" i="0" u="none" strike="noStrike" kern="1200" cap="none" spc="0" normalizeH="0" baseline="0" noProof="0" dirty="0">
              <a:ln>
                <a:noFill/>
              </a:ln>
              <a:solidFill>
                <a:prstClr val="black"/>
              </a:solidFill>
              <a:effectLst/>
              <a:uLnTx/>
              <a:uFillTx/>
              <a:latin typeface="Arial" pitchFamily="34" charset="0"/>
              <a:ea typeface="ＭＳ Ｐゴシック" pitchFamily="34" charset="-128"/>
              <a:cs typeface="Arial" pitchFamily="34" charset="0"/>
            </a:endParaRPr>
          </a:p>
          <a:p>
            <a:pPr marL="0" marR="0" lvl="0" indent="0" algn="l" defTabSz="914400" rtl="0" eaLnBrk="1" fontAlgn="base" latinLnBrk="0" hangingPunct="1">
              <a:lnSpc>
                <a:spcPct val="90000"/>
              </a:lnSpc>
              <a:spcBef>
                <a:spcPct val="0"/>
              </a:spcBef>
              <a:spcAft>
                <a:spcPct val="0"/>
              </a:spcAft>
              <a:buClrTx/>
              <a:buSzTx/>
              <a:buFontTx/>
              <a:buNone/>
              <a:tabLst/>
              <a:defRPr/>
            </a:pPr>
            <a:endPar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endParaRPr>
          </a:p>
        </p:txBody>
      </p:sp>
    </p:spTree>
    <p:extLst>
      <p:ext uri="{BB962C8B-B14F-4D97-AF65-F5344CB8AC3E}">
        <p14:creationId xmlns:p14="http://schemas.microsoft.com/office/powerpoint/2010/main" val="27104127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just" defTabSz="914400" rtl="0" eaLnBrk="0" fontAlgn="base" latinLnBrk="0" hangingPunct="0">
              <a:lnSpc>
                <a:spcPct val="100000"/>
              </a:lnSpc>
              <a:spcBef>
                <a:spcPct val="30000"/>
              </a:spcBef>
              <a:spcAft>
                <a:spcPct val="0"/>
              </a:spcAft>
              <a:buClrTx/>
              <a:buSzTx/>
              <a:buFontTx/>
              <a:buNone/>
              <a:tabLst/>
              <a:defRPr/>
            </a:pPr>
            <a:r>
              <a:rPr kumimoji="0" lang="es-MX" sz="1200" b="1" i="0" u="none" strike="noStrike" kern="1200" cap="none" spc="0" normalizeH="0" baseline="0" noProof="0" dirty="0">
                <a:ln>
                  <a:noFill/>
                </a:ln>
                <a:solidFill>
                  <a:prstClr val="black"/>
                </a:solidFill>
                <a:effectLst/>
                <a:uLnTx/>
                <a:uFillTx/>
                <a:latin typeface="Calibri"/>
                <a:ea typeface="ＭＳ Ｐゴシック" pitchFamily="34" charset="-128"/>
                <a:cs typeface="Arial" pitchFamily="34" charset="0"/>
              </a:rPr>
              <a:t>Creando SELF-JOIN</a:t>
            </a:r>
          </a:p>
          <a:p>
            <a:pPr marL="0" marR="0" lvl="0" indent="0" algn="just" defTabSz="914400" rtl="0" eaLnBrk="0" fontAlgn="base" latinLnBrk="0" hangingPunct="0">
              <a:lnSpc>
                <a:spcPct val="100000"/>
              </a:lnSpc>
              <a:spcBef>
                <a:spcPct val="30000"/>
              </a:spcBef>
              <a:spcAft>
                <a:spcPct val="0"/>
              </a:spcAft>
              <a:buClrTx/>
              <a:buSzTx/>
              <a:buFontTx/>
              <a:buNone/>
              <a:tabLst/>
              <a:defRPr/>
            </a:pPr>
            <a:r>
              <a:rPr kumimoji="0" lang="es-CL" sz="1200" b="0" i="0" u="none" strike="noStrike" kern="1200" cap="none" spc="0" normalizeH="0" baseline="0" noProof="0" dirty="0">
                <a:ln>
                  <a:noFill/>
                </a:ln>
                <a:solidFill>
                  <a:prstClr val="black"/>
                </a:solidFill>
                <a:effectLst/>
                <a:uLnTx/>
                <a:uFillTx/>
                <a:latin typeface="Calibri"/>
                <a:ea typeface="ＭＳ Ｐゴシック" pitchFamily="34" charset="-128"/>
                <a:cs typeface="Arial" pitchFamily="34" charset="0"/>
              </a:rPr>
              <a:t>Entonces, para saber cuál es el nombre del jefe de cada empleado se debe efectuar un SELF-JOIN con la tabla EMPLOYEES y comparar la columna </a:t>
            </a:r>
            <a:r>
              <a:rPr kumimoji="0" lang="es-CL" sz="1200" b="0" i="0" u="none" strike="noStrike" kern="1200" cap="none" spc="0" normalizeH="0" baseline="0" noProof="0" dirty="0" err="1">
                <a:ln>
                  <a:noFill/>
                </a:ln>
                <a:solidFill>
                  <a:prstClr val="black"/>
                </a:solidFill>
                <a:effectLst/>
                <a:uLnTx/>
                <a:uFillTx/>
                <a:latin typeface="Calibri"/>
                <a:ea typeface="ＭＳ Ｐゴシック" pitchFamily="34" charset="-128"/>
                <a:cs typeface="Arial" pitchFamily="34" charset="0"/>
              </a:rPr>
              <a:t>manager_id</a:t>
            </a:r>
            <a:r>
              <a:rPr kumimoji="0" lang="es-CL" sz="1200" b="0" i="0" u="none" strike="noStrike" kern="1200" cap="none" spc="0" normalizeH="0" baseline="0" noProof="0" dirty="0">
                <a:ln>
                  <a:noFill/>
                </a:ln>
                <a:solidFill>
                  <a:prstClr val="black"/>
                </a:solidFill>
                <a:effectLst/>
                <a:uLnTx/>
                <a:uFillTx/>
                <a:latin typeface="Calibri"/>
                <a:ea typeface="ＭＳ Ｐゴシック" pitchFamily="34" charset="-128"/>
                <a:cs typeface="Arial" pitchFamily="34" charset="0"/>
              </a:rPr>
              <a:t>, que es la  Clave Foránea, con la columna </a:t>
            </a:r>
            <a:r>
              <a:rPr kumimoji="0" lang="es-CL" sz="1200" b="0" i="0" u="none" strike="noStrike" kern="1200" cap="none" spc="0" normalizeH="0" baseline="0" noProof="0" dirty="0" err="1">
                <a:ln>
                  <a:noFill/>
                </a:ln>
                <a:solidFill>
                  <a:prstClr val="black"/>
                </a:solidFill>
                <a:effectLst/>
                <a:uLnTx/>
                <a:uFillTx/>
                <a:latin typeface="Calibri"/>
                <a:ea typeface="ＭＳ Ｐゴシック" pitchFamily="34" charset="-128"/>
                <a:cs typeface="Arial" pitchFamily="34" charset="0"/>
              </a:rPr>
              <a:t>employee_id</a:t>
            </a:r>
            <a:r>
              <a:rPr kumimoji="0" lang="es-CL" sz="1200" b="0" i="0" u="none" strike="noStrike" kern="1200" cap="none" spc="0" normalizeH="0" baseline="0" noProof="0" dirty="0">
                <a:ln>
                  <a:noFill/>
                </a:ln>
                <a:solidFill>
                  <a:prstClr val="black"/>
                </a:solidFill>
                <a:effectLst/>
                <a:uLnTx/>
                <a:uFillTx/>
                <a:latin typeface="Calibri"/>
                <a:ea typeface="ＭＳ Ｐゴシック" pitchFamily="34" charset="-128"/>
                <a:cs typeface="Arial" pitchFamily="34" charset="0"/>
              </a:rPr>
              <a:t> que es la Clave Primaria de la misma tabla. Ambas columnas almacenan el mismo valor ya que un jefe también es un empleado.</a:t>
            </a:r>
          </a:p>
          <a:p>
            <a:pPr marL="0" marR="0" lvl="0" indent="0" algn="just" defTabSz="914400" rtl="0" eaLnBrk="0" fontAlgn="base" latinLnBrk="0" hangingPunct="0">
              <a:lnSpc>
                <a:spcPct val="100000"/>
              </a:lnSpc>
              <a:spcBef>
                <a:spcPct val="30000"/>
              </a:spcBef>
              <a:spcAft>
                <a:spcPct val="0"/>
              </a:spcAft>
              <a:buClrTx/>
              <a:buSzTx/>
              <a:buFontTx/>
              <a:buNone/>
              <a:tabLst/>
              <a:defRPr/>
            </a:pPr>
            <a:r>
              <a:rPr kumimoji="0" lang="es-CL" sz="1200" b="0" i="0" u="none" strike="noStrike" kern="1200" cap="none" spc="0" normalizeH="0" baseline="0" noProof="0" dirty="0">
                <a:ln>
                  <a:noFill/>
                </a:ln>
                <a:solidFill>
                  <a:prstClr val="black"/>
                </a:solidFill>
                <a:effectLst/>
                <a:uLnTx/>
                <a:uFillTx/>
                <a:latin typeface="Calibri"/>
                <a:ea typeface="ＭＳ Ｐゴシック" pitchFamily="34" charset="-128"/>
                <a:cs typeface="Arial" pitchFamily="34" charset="0"/>
              </a:rPr>
              <a:t>En el ejemplo, la tabla EMPLOYEES se usa dos veces en la cláusula FROM pero se le asigna alias diferentes para poder efectuar la unión de las columnas. Por lo tanto la tabla EMPLOYEES de la derecha del </a:t>
            </a:r>
            <a:r>
              <a:rPr kumimoji="0" lang="es-CL" sz="1200" b="0" i="0" u="none" strike="noStrike" kern="1200" cap="none" spc="0" normalizeH="0" baseline="0" noProof="0" dirty="0" err="1">
                <a:ln>
                  <a:noFill/>
                </a:ln>
                <a:solidFill>
                  <a:prstClr val="black"/>
                </a:solidFill>
                <a:effectLst/>
                <a:uLnTx/>
                <a:uFillTx/>
                <a:latin typeface="Calibri"/>
                <a:ea typeface="ＭＳ Ｐゴシック" pitchFamily="34" charset="-128"/>
                <a:cs typeface="Arial" pitchFamily="34" charset="0"/>
              </a:rPr>
              <a:t>Join</a:t>
            </a:r>
            <a:r>
              <a:rPr kumimoji="0" lang="es-CL" sz="1200" b="0" i="0" u="none" strike="noStrike" kern="1200" cap="none" spc="0" normalizeH="0" baseline="0" noProof="0" dirty="0">
                <a:ln>
                  <a:noFill/>
                </a:ln>
                <a:solidFill>
                  <a:prstClr val="black"/>
                </a:solidFill>
                <a:effectLst/>
                <a:uLnTx/>
                <a:uFillTx/>
                <a:latin typeface="Calibri"/>
                <a:ea typeface="ＭＳ Ｐゴシック" pitchFamily="34" charset="-128"/>
                <a:cs typeface="Arial" pitchFamily="34" charset="0"/>
              </a:rPr>
              <a:t> se usa para obtener el nombre del jefe.</a:t>
            </a:r>
          </a:p>
        </p:txBody>
      </p:sp>
    </p:spTree>
    <p:extLst>
      <p:ext uri="{BB962C8B-B14F-4D97-AF65-F5344CB8AC3E}">
        <p14:creationId xmlns:p14="http://schemas.microsoft.com/office/powerpoint/2010/main" val="6886645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just" defTabSz="914400" rtl="0" eaLnBrk="0" fontAlgn="base" latinLnBrk="0" hangingPunct="0">
              <a:lnSpc>
                <a:spcPct val="100000"/>
              </a:lnSpc>
              <a:spcBef>
                <a:spcPct val="30000"/>
              </a:spcBef>
              <a:spcAft>
                <a:spcPct val="0"/>
              </a:spcAft>
              <a:buClrTx/>
              <a:buSzTx/>
              <a:buFontTx/>
              <a:buNone/>
              <a:tabLst/>
              <a:defRPr/>
            </a:pPr>
            <a:r>
              <a:rPr kumimoji="0" lang="es-MX" sz="1200" b="1" i="0" u="none" strike="noStrike" kern="1200" cap="none" spc="0" normalizeH="0" baseline="0" noProof="0" dirty="0">
                <a:ln>
                  <a:noFill/>
                </a:ln>
                <a:solidFill>
                  <a:prstClr val="black"/>
                </a:solidFill>
                <a:effectLst/>
                <a:uLnTx/>
                <a:uFillTx/>
                <a:latin typeface="Calibri"/>
                <a:ea typeface="ＭＳ Ｐゴシック" pitchFamily="34" charset="-128"/>
                <a:cs typeface="Arial" pitchFamily="34" charset="0"/>
              </a:rPr>
              <a:t>Creando SELF-JOIN</a:t>
            </a:r>
          </a:p>
          <a:p>
            <a:pPr marL="0" marR="0" lvl="0" indent="0" algn="just" defTabSz="914400" rtl="0" eaLnBrk="0" fontAlgn="base" latinLnBrk="0" hangingPunct="0">
              <a:lnSpc>
                <a:spcPct val="100000"/>
              </a:lnSpc>
              <a:spcBef>
                <a:spcPct val="30000"/>
              </a:spcBef>
              <a:spcAft>
                <a:spcPct val="0"/>
              </a:spcAft>
              <a:buClrTx/>
              <a:buSzTx/>
              <a:buFontTx/>
              <a:buNone/>
              <a:tabLst/>
              <a:defRPr/>
            </a:pPr>
            <a:r>
              <a:rPr kumimoji="0" lang="es-CL" sz="1200" b="0" i="0" u="none" strike="noStrike" kern="1200" cap="none" spc="0" normalizeH="0" baseline="0" noProof="0" dirty="0">
                <a:ln>
                  <a:noFill/>
                </a:ln>
                <a:solidFill>
                  <a:prstClr val="black"/>
                </a:solidFill>
                <a:effectLst/>
                <a:uLnTx/>
                <a:uFillTx/>
                <a:latin typeface="Calibri"/>
                <a:ea typeface="ＭＳ Ｐゴシック" pitchFamily="34" charset="-128"/>
                <a:cs typeface="Arial" pitchFamily="34" charset="0"/>
              </a:rPr>
              <a:t>El ejemplo muestra el nombre del Jefe (que también es un empleado) y el total de empleados que tiene a su cargo. La tabla EMPLOYEES se usa dos veces en la cláusula FROM pero se le asigna alias diferentes para poder efectuar la unión de las columnas. Por lo tanto, la tabla EMPLOYEES de la derecha del </a:t>
            </a:r>
            <a:r>
              <a:rPr kumimoji="0" lang="es-CL" sz="1200" b="0" i="0" u="none" strike="noStrike" kern="1200" cap="none" spc="0" normalizeH="0" baseline="0" noProof="0" dirty="0" err="1">
                <a:ln>
                  <a:noFill/>
                </a:ln>
                <a:solidFill>
                  <a:prstClr val="black"/>
                </a:solidFill>
                <a:effectLst/>
                <a:uLnTx/>
                <a:uFillTx/>
                <a:latin typeface="Calibri"/>
                <a:ea typeface="ＭＳ Ｐゴシック" pitchFamily="34" charset="-128"/>
                <a:cs typeface="Arial" pitchFamily="34" charset="0"/>
              </a:rPr>
              <a:t>Join</a:t>
            </a:r>
            <a:r>
              <a:rPr kumimoji="0" lang="es-CL" sz="1200" b="0" i="0" u="none" strike="noStrike" kern="1200" cap="none" spc="0" normalizeH="0" baseline="0" noProof="0" dirty="0">
                <a:ln>
                  <a:noFill/>
                </a:ln>
                <a:solidFill>
                  <a:prstClr val="black"/>
                </a:solidFill>
                <a:effectLst/>
                <a:uLnTx/>
                <a:uFillTx/>
                <a:latin typeface="Calibri"/>
                <a:ea typeface="ＭＳ Ｐゴシック" pitchFamily="34" charset="-128"/>
                <a:cs typeface="Arial" pitchFamily="34" charset="0"/>
              </a:rPr>
              <a:t> se usa para obtener el nombre del jefe y la tabla de la izquierda del </a:t>
            </a:r>
            <a:r>
              <a:rPr kumimoji="0" lang="es-CL" sz="1200" b="0" i="0" u="none" strike="noStrike" kern="1200" cap="none" spc="0" normalizeH="0" baseline="0" noProof="0" dirty="0" err="1">
                <a:ln>
                  <a:noFill/>
                </a:ln>
                <a:solidFill>
                  <a:prstClr val="black"/>
                </a:solidFill>
                <a:effectLst/>
                <a:uLnTx/>
                <a:uFillTx/>
                <a:latin typeface="Calibri"/>
                <a:ea typeface="ＭＳ Ｐゴシック" pitchFamily="34" charset="-128"/>
                <a:cs typeface="Arial" pitchFamily="34" charset="0"/>
              </a:rPr>
              <a:t>Join</a:t>
            </a:r>
            <a:r>
              <a:rPr kumimoji="0" lang="es-CL" sz="1200" b="0" i="0" u="none" strike="noStrike" kern="1200" cap="none" spc="0" normalizeH="0" baseline="0" noProof="0" dirty="0">
                <a:ln>
                  <a:noFill/>
                </a:ln>
                <a:solidFill>
                  <a:prstClr val="black"/>
                </a:solidFill>
                <a:effectLst/>
                <a:uLnTx/>
                <a:uFillTx/>
                <a:latin typeface="Calibri"/>
                <a:ea typeface="ＭＳ Ｐゴシック" pitchFamily="34" charset="-128"/>
                <a:cs typeface="Arial" pitchFamily="34" charset="0"/>
              </a:rPr>
              <a:t> se usa para poder contar los empleados de cada jefe.</a:t>
            </a:r>
            <a:endParaRPr kumimoji="0" lang="es-MX" sz="1200" b="0" i="0" u="none" strike="noStrike" kern="1200" cap="none" spc="0" normalizeH="0" baseline="0" noProof="0" dirty="0">
              <a:ln>
                <a:noFill/>
              </a:ln>
              <a:solidFill>
                <a:prstClr val="black"/>
              </a:solidFill>
              <a:effectLst/>
              <a:uLnTx/>
              <a:uFillTx/>
              <a:latin typeface="Calibri"/>
              <a:ea typeface="+mn-ea"/>
              <a:cs typeface="Arial" pitchFamily="34" charset="0"/>
            </a:endParaRPr>
          </a:p>
        </p:txBody>
      </p:sp>
    </p:spTree>
    <p:extLst>
      <p:ext uri="{BB962C8B-B14F-4D97-AF65-F5344CB8AC3E}">
        <p14:creationId xmlns:p14="http://schemas.microsoft.com/office/powerpoint/2010/main" val="31489944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just" defTabSz="914400" rtl="0" eaLnBrk="0" fontAlgn="base" latinLnBrk="0" hangingPunct="0">
              <a:lnSpc>
                <a:spcPct val="100000"/>
              </a:lnSpc>
              <a:spcBef>
                <a:spcPct val="30000"/>
              </a:spcBef>
              <a:spcAft>
                <a:spcPct val="0"/>
              </a:spcAft>
              <a:buClrTx/>
              <a:buSzTx/>
              <a:buFontTx/>
              <a:buNone/>
              <a:tabLst/>
              <a:defRPr/>
            </a:pPr>
            <a:r>
              <a:rPr kumimoji="0" lang="es-CL" sz="1200" b="1" i="0" u="none" strike="noStrike" kern="1200" cap="none" spc="0" normalizeH="0" baseline="0" noProof="0" dirty="0">
                <a:ln>
                  <a:noFill/>
                </a:ln>
                <a:solidFill>
                  <a:prstClr val="black"/>
                </a:solidFill>
                <a:effectLst/>
                <a:uLnTx/>
                <a:uFillTx/>
                <a:latin typeface="Calibri"/>
                <a:ea typeface="Arial Unicode MS"/>
                <a:cs typeface="Arial" pitchFamily="34" charset="0"/>
              </a:rPr>
              <a:t>Creando un NONEQUIJOINS</a:t>
            </a:r>
          </a:p>
          <a:p>
            <a:pPr marL="0" marR="0" lvl="0" indent="0" algn="just" defTabSz="914400" rtl="0" eaLnBrk="0" fontAlgn="base" latinLnBrk="0" hangingPunct="0">
              <a:lnSpc>
                <a:spcPct val="100000"/>
              </a:lnSpc>
              <a:spcBef>
                <a:spcPct val="30000"/>
              </a:spcBef>
              <a:spcAft>
                <a:spcPct val="0"/>
              </a:spcAft>
              <a:buClrTx/>
              <a:buSzTx/>
              <a:buFontTx/>
              <a:buNone/>
              <a:tabLst/>
              <a:defRPr/>
            </a:pPr>
            <a:r>
              <a:rPr kumimoji="0" lang="es-CL" sz="1200" b="0" i="0" u="none" strike="noStrike" kern="1200" cap="none" spc="0" normalizeH="0" baseline="0" noProof="0" dirty="0">
                <a:ln>
                  <a:noFill/>
                </a:ln>
                <a:solidFill>
                  <a:prstClr val="black"/>
                </a:solidFill>
                <a:effectLst/>
                <a:uLnTx/>
                <a:uFillTx/>
                <a:latin typeface="Calibri"/>
                <a:ea typeface="+mn-ea"/>
                <a:cs typeface="+mn-cs"/>
              </a:rPr>
              <a:t>Existen casos en que al tener que efectuar un </a:t>
            </a:r>
            <a:r>
              <a:rPr kumimoji="0" lang="es-CL" sz="1200" b="0" i="0" u="none" strike="noStrike" kern="1200" cap="none" spc="0" normalizeH="0" baseline="0" noProof="0" dirty="0" err="1">
                <a:ln>
                  <a:noFill/>
                </a:ln>
                <a:solidFill>
                  <a:prstClr val="black"/>
                </a:solidFill>
                <a:effectLst/>
                <a:uLnTx/>
                <a:uFillTx/>
                <a:latin typeface="Calibri"/>
                <a:ea typeface="+mn-ea"/>
                <a:cs typeface="+mn-cs"/>
              </a:rPr>
              <a:t>Join</a:t>
            </a:r>
            <a:r>
              <a:rPr kumimoji="0" lang="es-CL" sz="1200" b="0" i="0" u="none" strike="noStrike" kern="1200" cap="none" spc="0" normalizeH="0" baseline="0" noProof="0" dirty="0">
                <a:ln>
                  <a:noFill/>
                </a:ln>
                <a:solidFill>
                  <a:prstClr val="black"/>
                </a:solidFill>
                <a:effectLst/>
                <a:uLnTx/>
                <a:uFillTx/>
                <a:latin typeface="Calibri"/>
                <a:ea typeface="+mn-ea"/>
                <a:cs typeface="+mn-cs"/>
              </a:rPr>
              <a:t> las tablas no comparten una columna común para efectuar la comparación de igualdad, es decir, no existe una relación de Clave </a:t>
            </a:r>
            <a:r>
              <a:rPr kumimoji="0" lang="es-CL" sz="1200" b="0" i="0" u="none" strike="noStrike" kern="1200" cap="none" spc="0" normalizeH="0" baseline="0" noProof="0" dirty="0" err="1">
                <a:ln>
                  <a:noFill/>
                </a:ln>
                <a:solidFill>
                  <a:prstClr val="black"/>
                </a:solidFill>
                <a:effectLst/>
                <a:uLnTx/>
                <a:uFillTx/>
                <a:latin typeface="Calibri"/>
                <a:ea typeface="+mn-ea"/>
                <a:cs typeface="+mn-cs"/>
              </a:rPr>
              <a:t>Primary</a:t>
            </a:r>
            <a:r>
              <a:rPr kumimoji="0" lang="es-CL" sz="1200" b="0" i="0" u="none" strike="noStrike" kern="1200" cap="none" spc="0" normalizeH="0" baseline="0" noProof="0" dirty="0">
                <a:ln>
                  <a:noFill/>
                </a:ln>
                <a:solidFill>
                  <a:prstClr val="black"/>
                </a:solidFill>
                <a:effectLst/>
                <a:uLnTx/>
                <a:uFillTx/>
                <a:latin typeface="Calibri"/>
                <a:ea typeface="+mn-ea"/>
                <a:cs typeface="+mn-cs"/>
              </a:rPr>
              <a:t> y Clave Foránea. Entonces ¿cómo se puede efectuar la unión entre esas tablas?</a:t>
            </a:r>
          </a:p>
          <a:p>
            <a:pPr marL="0" marR="0" lvl="0" indent="0" algn="just" defTabSz="914400" rtl="0" eaLnBrk="0" fontAlgn="base" latinLnBrk="0" hangingPunct="0">
              <a:lnSpc>
                <a:spcPct val="100000"/>
              </a:lnSpc>
              <a:spcBef>
                <a:spcPct val="30000"/>
              </a:spcBef>
              <a:spcAft>
                <a:spcPct val="0"/>
              </a:spcAft>
              <a:buClrTx/>
              <a:buSzTx/>
              <a:buFontTx/>
              <a:buNone/>
              <a:tabLst/>
              <a:defRPr/>
            </a:pPr>
            <a:r>
              <a:rPr kumimoji="0" lang="es-CL" sz="1200" b="0" i="0" u="none" strike="noStrike" kern="1200" cap="none" spc="0" normalizeH="0" baseline="0" noProof="0" dirty="0">
                <a:ln>
                  <a:noFill/>
                </a:ln>
                <a:solidFill>
                  <a:prstClr val="black"/>
                </a:solidFill>
                <a:effectLst/>
                <a:uLnTx/>
                <a:uFillTx/>
                <a:latin typeface="Calibri"/>
                <a:ea typeface="+mn-ea"/>
                <a:cs typeface="+mn-cs"/>
              </a:rPr>
              <a:t> Lo que se debe hacer es un </a:t>
            </a:r>
            <a:r>
              <a:rPr kumimoji="0" lang="es-CL" sz="1200" b="0" i="0" u="none" strike="noStrike" kern="1200" cap="none" spc="0" normalizeH="0" baseline="0" noProof="0" dirty="0" err="1">
                <a:ln>
                  <a:noFill/>
                </a:ln>
                <a:solidFill>
                  <a:prstClr val="black"/>
                </a:solidFill>
                <a:effectLst/>
                <a:uLnTx/>
                <a:uFillTx/>
                <a:latin typeface="Calibri"/>
                <a:ea typeface="+mn-ea"/>
                <a:cs typeface="+mn-cs"/>
              </a:rPr>
              <a:t>Join</a:t>
            </a:r>
            <a:r>
              <a:rPr kumimoji="0" lang="es-CL" sz="1200" b="0" i="0" u="none" strike="noStrike" kern="1200" cap="none" spc="0" normalizeH="0" baseline="0" noProof="0" dirty="0">
                <a:ln>
                  <a:noFill/>
                </a:ln>
                <a:solidFill>
                  <a:prstClr val="black"/>
                </a:solidFill>
                <a:effectLst/>
                <a:uLnTx/>
                <a:uFillTx/>
                <a:latin typeface="Calibri"/>
                <a:ea typeface="+mn-ea"/>
                <a:cs typeface="+mn-cs"/>
              </a:rPr>
              <a:t> de no igualdad o un NONEQUIJOIN que es una condición que contiene un operador de comparación que no es el operador de igualdad (=).  Por simplicidad se utiliza BETWEEN, pero también se puede usar el operador &lt; (menor que), &gt; (mayor que), &lt;&gt; (distinto a), etc. En un NONEQUIJOIN sólo se puede usar la cláusula ON.</a:t>
            </a:r>
          </a:p>
          <a:p>
            <a:pPr marL="0" marR="0" lvl="0" indent="0" algn="just" defTabSz="914400" rtl="0" eaLnBrk="0" fontAlgn="base" latinLnBrk="0" hangingPunct="0">
              <a:lnSpc>
                <a:spcPct val="100000"/>
              </a:lnSpc>
              <a:spcBef>
                <a:spcPct val="30000"/>
              </a:spcBef>
              <a:spcAft>
                <a:spcPct val="0"/>
              </a:spcAft>
              <a:buClrTx/>
              <a:buSzTx/>
              <a:buFontTx/>
              <a:buNone/>
              <a:tabLst/>
              <a:defRPr/>
            </a:pPr>
            <a:r>
              <a:rPr kumimoji="0" lang="es-CL" sz="1200" b="0" i="0" u="none" strike="noStrike" kern="1200" cap="none" spc="0" normalizeH="0" baseline="0" noProof="0" dirty="0">
                <a:ln>
                  <a:noFill/>
                </a:ln>
                <a:solidFill>
                  <a:prstClr val="black"/>
                </a:solidFill>
                <a:effectLst/>
                <a:uLnTx/>
                <a:uFillTx/>
                <a:latin typeface="Calibri"/>
                <a:ea typeface="+mn-ea"/>
                <a:cs typeface="+mn-cs"/>
              </a:rPr>
              <a:t>En el ejemplo, para obtener el porcentaje de bono por años trabajados del empleado se requiere de un JOIN del tipo NONEQUIJOIN entre las tablas EMPLOYEES y PORC_BONO_ANNOS. Los años trabajados que se calculan para cada empleado oscila entre los valores de las columnas </a:t>
            </a:r>
            <a:r>
              <a:rPr kumimoji="0" lang="es-CL" sz="1200" b="0" i="0" u="none" strike="noStrike" kern="1200" cap="none" spc="0" normalizeH="0" baseline="0" noProof="0" dirty="0" err="1">
                <a:ln>
                  <a:noFill/>
                </a:ln>
                <a:solidFill>
                  <a:prstClr val="black"/>
                </a:solidFill>
                <a:effectLst/>
                <a:uLnTx/>
                <a:uFillTx/>
                <a:latin typeface="Calibri"/>
                <a:ea typeface="+mn-ea"/>
                <a:cs typeface="+mn-cs"/>
              </a:rPr>
              <a:t>anno_ini</a:t>
            </a:r>
            <a:r>
              <a:rPr kumimoji="0" lang="es-CL" sz="1200" b="0" i="0" u="none" strike="noStrike" kern="1200" cap="none" spc="0" normalizeH="0" baseline="0" noProof="0" dirty="0">
                <a:ln>
                  <a:noFill/>
                </a:ln>
                <a:solidFill>
                  <a:prstClr val="black"/>
                </a:solidFill>
                <a:effectLst/>
                <a:uLnTx/>
                <a:uFillTx/>
                <a:latin typeface="Calibri"/>
                <a:ea typeface="+mn-ea"/>
                <a:cs typeface="+mn-cs"/>
              </a:rPr>
              <a:t> y </a:t>
            </a:r>
            <a:r>
              <a:rPr kumimoji="0" lang="es-CL" sz="1200" b="0" i="0" u="none" strike="noStrike" kern="1200" cap="none" spc="0" normalizeH="0" baseline="0" noProof="0" dirty="0" err="1">
                <a:ln>
                  <a:noFill/>
                </a:ln>
                <a:solidFill>
                  <a:prstClr val="black"/>
                </a:solidFill>
                <a:effectLst/>
                <a:uLnTx/>
                <a:uFillTx/>
                <a:latin typeface="Calibri"/>
                <a:ea typeface="+mn-ea"/>
                <a:cs typeface="+mn-cs"/>
              </a:rPr>
              <a:t>anno_ter</a:t>
            </a:r>
            <a:r>
              <a:rPr kumimoji="0" lang="es-CL" sz="1200" b="0" i="0" u="none" strike="noStrike" kern="1200" cap="none" spc="0" normalizeH="0" baseline="0" noProof="0" dirty="0">
                <a:ln>
                  <a:noFill/>
                </a:ln>
                <a:solidFill>
                  <a:prstClr val="black"/>
                </a:solidFill>
                <a:effectLst/>
                <a:uLnTx/>
                <a:uFillTx/>
                <a:latin typeface="Calibri"/>
                <a:ea typeface="+mn-ea"/>
                <a:cs typeface="+mn-cs"/>
              </a:rPr>
              <a:t> de la tabla PORC_BONO_ANNOS.  Por lo tanto, a partir de esta unión se puede obtener el porcentaje de bono que le corresponde a cada empleado</a:t>
            </a:r>
            <a:endParaRPr kumimoji="0" lang="es-CL" sz="1200" b="0" i="0" u="none" strike="noStrike" kern="1200" cap="none" spc="0" normalizeH="0" baseline="0" noProof="0" dirty="0">
              <a:ln>
                <a:noFill/>
              </a:ln>
              <a:solidFill>
                <a:prstClr val="black"/>
              </a:solidFill>
              <a:effectLst/>
              <a:uLnTx/>
              <a:uFillTx/>
              <a:latin typeface="Arial" pitchFamily="34" charset="0"/>
              <a:ea typeface="Arial Unicode MS"/>
              <a:cs typeface="Arial" pitchFamily="34" charset="0"/>
            </a:endParaRPr>
          </a:p>
        </p:txBody>
      </p:sp>
    </p:spTree>
    <p:extLst>
      <p:ext uri="{BB962C8B-B14F-4D97-AF65-F5344CB8AC3E}">
        <p14:creationId xmlns:p14="http://schemas.microsoft.com/office/powerpoint/2010/main" val="18017602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just" defTabSz="914400" rtl="0" eaLnBrk="0" fontAlgn="base" latinLnBrk="0" hangingPunct="0">
              <a:lnSpc>
                <a:spcPct val="100000"/>
              </a:lnSpc>
              <a:spcBef>
                <a:spcPct val="30000"/>
              </a:spcBef>
              <a:spcAft>
                <a:spcPct val="0"/>
              </a:spcAft>
              <a:buClrTx/>
              <a:buSzTx/>
              <a:buFontTx/>
              <a:buNone/>
              <a:tabLst/>
              <a:defRPr/>
            </a:pPr>
            <a:r>
              <a:rPr kumimoji="0" lang="es-CL" sz="1200" b="1" i="0" u="none" strike="noStrike" kern="1200" cap="none" spc="0" normalizeH="0" baseline="0" noProof="0" dirty="0">
                <a:ln>
                  <a:noFill/>
                </a:ln>
                <a:solidFill>
                  <a:prstClr val="black"/>
                </a:solidFill>
                <a:effectLst/>
                <a:uLnTx/>
                <a:uFillTx/>
                <a:latin typeface="Calibri"/>
                <a:ea typeface="Arial Unicode MS"/>
                <a:cs typeface="Arial" pitchFamily="34" charset="0"/>
              </a:rPr>
              <a:t>Creando un NONEQUIJOINS</a:t>
            </a:r>
            <a:endParaRPr kumimoji="0" lang="es-CL" sz="1200" b="1" i="0" u="none" strike="noStrike" kern="1200" cap="none" spc="0" normalizeH="0" baseline="0" noProof="0" dirty="0">
              <a:ln>
                <a:noFill/>
              </a:ln>
              <a:solidFill>
                <a:prstClr val="black"/>
              </a:solidFill>
              <a:effectLst/>
              <a:uLnTx/>
              <a:uFillTx/>
              <a:latin typeface="Calibri"/>
              <a:ea typeface="ＭＳ Ｐゴシック" pitchFamily="34" charset="-128"/>
              <a:cs typeface="Arial" pitchFamily="34" charset="0"/>
            </a:endParaRPr>
          </a:p>
          <a:p>
            <a:pPr marL="0" marR="0" lvl="0" indent="0" algn="just" defTabSz="914400" rtl="0" eaLnBrk="0" fontAlgn="base" latinLnBrk="0" hangingPunct="0">
              <a:lnSpc>
                <a:spcPct val="100000"/>
              </a:lnSpc>
              <a:spcBef>
                <a:spcPct val="30000"/>
              </a:spcBef>
              <a:spcAft>
                <a:spcPct val="0"/>
              </a:spcAft>
              <a:buClrTx/>
              <a:buSzTx/>
              <a:buFontTx/>
              <a:buNone/>
              <a:tabLst/>
              <a:defRPr/>
            </a:pPr>
            <a:r>
              <a:rPr kumimoji="0" lang="es-CL" sz="1200" b="0" i="0" u="none" strike="noStrike" kern="1200" cap="none" spc="0" normalizeH="0" baseline="0" noProof="0" dirty="0">
                <a:ln>
                  <a:noFill/>
                </a:ln>
                <a:solidFill>
                  <a:prstClr val="black"/>
                </a:solidFill>
                <a:effectLst/>
                <a:uLnTx/>
                <a:uFillTx/>
                <a:latin typeface="Calibri"/>
                <a:ea typeface="ＭＳ Ｐゴシック" pitchFamily="34" charset="-128"/>
                <a:cs typeface="Arial" pitchFamily="34" charset="0"/>
              </a:rPr>
              <a:t>En la sintaxis:</a:t>
            </a:r>
          </a:p>
          <a:p>
            <a:pPr marL="171450" marR="0" lvl="0" indent="-171450" algn="just"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kumimoji="0" lang="es-CL" sz="1200" b="1" i="0" u="none" strike="noStrike" kern="1200" cap="none" spc="0" normalizeH="0" baseline="0" noProof="0" dirty="0">
                <a:ln>
                  <a:noFill/>
                </a:ln>
                <a:solidFill>
                  <a:prstClr val="black"/>
                </a:solidFill>
                <a:effectLst/>
                <a:uLnTx/>
                <a:uFillTx/>
                <a:latin typeface="Calibri"/>
                <a:ea typeface="ＭＳ Ｐゴシック" pitchFamily="34" charset="-128"/>
                <a:cs typeface="Arial" pitchFamily="34" charset="0"/>
              </a:rPr>
              <a:t>BETWEEN:</a:t>
            </a:r>
            <a:r>
              <a:rPr kumimoji="0" lang="es-CL" sz="1200" b="0" i="0" u="none" strike="noStrike" kern="1200" cap="none" spc="0" normalizeH="0" baseline="0" noProof="0" dirty="0">
                <a:ln>
                  <a:noFill/>
                </a:ln>
                <a:solidFill>
                  <a:prstClr val="black"/>
                </a:solidFill>
                <a:effectLst/>
                <a:uLnTx/>
                <a:uFillTx/>
                <a:latin typeface="Calibri"/>
                <a:ea typeface="ＭＳ Ｐゴシック" pitchFamily="34" charset="-128"/>
                <a:cs typeface="Arial" pitchFamily="34" charset="0"/>
              </a:rPr>
              <a:t> es el operador de comparación más simple de usar en un NONEQUEJOIN. También se </a:t>
            </a:r>
            <a:r>
              <a:rPr kumimoji="0" lang="es-CL" sz="1200" b="0" i="0" u="none" strike="noStrike" kern="1200" cap="none" spc="0" normalizeH="0" baseline="0" noProof="0" dirty="0">
                <a:ln>
                  <a:noFill/>
                </a:ln>
                <a:solidFill>
                  <a:prstClr val="black"/>
                </a:solidFill>
                <a:effectLst/>
                <a:uLnTx/>
                <a:uFillTx/>
                <a:latin typeface="Calibri"/>
                <a:ea typeface="Arial"/>
                <a:cs typeface="Arial"/>
                <a:sym typeface="Arial"/>
              </a:rPr>
              <a:t>pueden usar el resto de los operadores diferentes a = (igual) como por ejemplo el operador &lt; (menor que), &gt; (mayor que), &lt;&gt; (distinto a), etc. </a:t>
            </a:r>
            <a:endParaRPr kumimoji="0" lang="es-CL" sz="1200" b="0" i="0" u="none" strike="noStrike" kern="1200" cap="none" spc="0" normalizeH="0" baseline="0" noProof="0" dirty="0">
              <a:ln>
                <a:noFill/>
              </a:ln>
              <a:solidFill>
                <a:prstClr val="black"/>
              </a:solidFill>
              <a:effectLst/>
              <a:uLnTx/>
              <a:uFillTx/>
              <a:latin typeface="Calibri"/>
              <a:ea typeface="ＭＳ Ｐゴシック" pitchFamily="34" charset="-128"/>
              <a:cs typeface="Arial" pitchFamily="34" charset="0"/>
            </a:endParaRPr>
          </a:p>
        </p:txBody>
      </p:sp>
    </p:spTree>
    <p:extLst>
      <p:ext uri="{BB962C8B-B14F-4D97-AF65-F5344CB8AC3E}">
        <p14:creationId xmlns:p14="http://schemas.microsoft.com/office/powerpoint/2010/main" val="8928139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just" defTabSz="914400" rtl="0" eaLnBrk="0" fontAlgn="base" latinLnBrk="0" hangingPunct="0">
              <a:lnSpc>
                <a:spcPct val="100000"/>
              </a:lnSpc>
              <a:spcBef>
                <a:spcPct val="30000"/>
              </a:spcBef>
              <a:spcAft>
                <a:spcPct val="0"/>
              </a:spcAft>
              <a:buClrTx/>
              <a:buSzTx/>
              <a:buFontTx/>
              <a:buNone/>
              <a:tabLst/>
              <a:defRPr/>
            </a:pPr>
            <a:r>
              <a:rPr kumimoji="0" lang="es-CL" sz="1200" b="1" i="0" u="none" strike="noStrike" kern="1200" cap="none" spc="0" normalizeH="0" baseline="0" noProof="0" dirty="0">
                <a:ln>
                  <a:noFill/>
                </a:ln>
                <a:solidFill>
                  <a:prstClr val="black"/>
                </a:solidFill>
                <a:effectLst/>
                <a:uLnTx/>
                <a:uFillTx/>
                <a:latin typeface="Calibri"/>
                <a:ea typeface="+mn-ea"/>
                <a:cs typeface="+mn-cs"/>
              </a:rPr>
              <a:t>Creando un NONEQUIJOINS</a:t>
            </a:r>
            <a:endParaRPr kumimoji="0" lang="es-MX" sz="1200" b="1" i="0" u="none" strike="noStrike" kern="1200" cap="none" spc="0" normalizeH="0" baseline="0" noProof="0" dirty="0">
              <a:ln>
                <a:noFill/>
              </a:ln>
              <a:solidFill>
                <a:prstClr val="black"/>
              </a:solidFill>
              <a:effectLst/>
              <a:uLnTx/>
              <a:uFillTx/>
              <a:latin typeface="Calibri"/>
              <a:ea typeface="ＭＳ Ｐゴシック" pitchFamily="34" charset="-128"/>
              <a:cs typeface="Arial" pitchFamily="34" charset="0"/>
            </a:endParaRPr>
          </a:p>
          <a:p>
            <a:pPr marL="0" marR="0" lvl="0" indent="0" algn="just" defTabSz="914400" rtl="0" eaLnBrk="0" fontAlgn="base" latinLnBrk="0" hangingPunct="0">
              <a:lnSpc>
                <a:spcPct val="100000"/>
              </a:lnSpc>
              <a:spcBef>
                <a:spcPct val="30000"/>
              </a:spcBef>
              <a:spcAft>
                <a:spcPct val="0"/>
              </a:spcAft>
              <a:buClrTx/>
              <a:buSzTx/>
              <a:buFontTx/>
              <a:buNone/>
              <a:tabLst/>
              <a:defRPr/>
            </a:pPr>
            <a:r>
              <a:rPr kumimoji="0" lang="es-CL" sz="1200" b="0" i="0" u="none" strike="noStrike" kern="1200" cap="none" spc="0" normalizeH="0" baseline="0" noProof="0" dirty="0">
                <a:ln>
                  <a:noFill/>
                </a:ln>
                <a:solidFill>
                  <a:prstClr val="black"/>
                </a:solidFill>
                <a:effectLst/>
                <a:uLnTx/>
                <a:uFillTx/>
                <a:latin typeface="Calibri"/>
                <a:ea typeface="+mn-ea"/>
                <a:cs typeface="+mn-cs"/>
              </a:rPr>
              <a:t>El ejemplo muestra la identificación del empleado, el valor de su salario, los años que lleva trabajando en la empresa y el valor del bono que le corresponde. El valor del bono corresponde a un porcentaje de acuerdo a los años trabajados del empleado. Para obtener ese porcentaje se realiza un NONEQUIJOIN entre la tabla EMPLOYEES y PORC_BONO_ANNOS. Como no existe una columna que permita efectuar la unión de igualdad entre ambas tablas, se usa el operador BETWEEN para comparar que los años trabajados del empleado esté entre alguno de los rangos definidos en la tabla PORC_BONO_ANNOS. A partir del sueldo del empleado se calcula el valor del bono que le corresponde según el porcentaje obtenido en el </a:t>
            </a:r>
            <a:r>
              <a:rPr kumimoji="0" lang="es-CL" sz="1200" b="0" i="0" u="none" strike="noStrike" kern="1200" cap="none" spc="0" normalizeH="0" baseline="0" noProof="0" dirty="0" err="1">
                <a:ln>
                  <a:noFill/>
                </a:ln>
                <a:solidFill>
                  <a:prstClr val="black"/>
                </a:solidFill>
                <a:effectLst/>
                <a:uLnTx/>
                <a:uFillTx/>
                <a:latin typeface="Calibri"/>
                <a:ea typeface="+mn-ea"/>
                <a:cs typeface="+mn-cs"/>
              </a:rPr>
              <a:t>Join</a:t>
            </a:r>
            <a:r>
              <a:rPr kumimoji="0" lang="es-CL" sz="1200" b="0" i="0" u="none" strike="noStrike" kern="1200" cap="none" spc="0" normalizeH="0" baseline="0" noProof="0" dirty="0">
                <a:ln>
                  <a:noFill/>
                </a:ln>
                <a:solidFill>
                  <a:prstClr val="black"/>
                </a:solidFill>
                <a:effectLst/>
                <a:uLnTx/>
                <a:uFillTx/>
                <a:latin typeface="Calibri"/>
                <a:ea typeface="+mn-ea"/>
                <a:cs typeface="+mn-cs"/>
              </a:rPr>
              <a:t>.</a:t>
            </a:r>
            <a:endParaRPr kumimoji="0" lang="es-CL" sz="1200" b="0" i="0" u="none" strike="noStrike" kern="1200" cap="none" spc="0" normalizeH="0" baseline="0" noProof="0" dirty="0">
              <a:ln>
                <a:noFill/>
              </a:ln>
              <a:solidFill>
                <a:prstClr val="black"/>
              </a:solidFill>
              <a:effectLst/>
              <a:uLnTx/>
              <a:uFillTx/>
              <a:latin typeface="Calibri"/>
              <a:ea typeface="ＭＳ Ｐゴシック" pitchFamily="34" charset="-128"/>
              <a:cs typeface="Arial" pitchFamily="34" charset="0"/>
            </a:endParaRPr>
          </a:p>
        </p:txBody>
      </p:sp>
    </p:spTree>
    <p:extLst>
      <p:ext uri="{BB962C8B-B14F-4D97-AF65-F5344CB8AC3E}">
        <p14:creationId xmlns:p14="http://schemas.microsoft.com/office/powerpoint/2010/main" val="6244474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158750" indent="0">
              <a:buNone/>
            </a:pPr>
            <a:endParaRPr lang="es-CL" dirty="0"/>
          </a:p>
        </p:txBody>
      </p:sp>
    </p:spTree>
    <p:extLst>
      <p:ext uri="{BB962C8B-B14F-4D97-AF65-F5344CB8AC3E}">
        <p14:creationId xmlns:p14="http://schemas.microsoft.com/office/powerpoint/2010/main" val="29420487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just" defTabSz="914400" rtl="0" eaLnBrk="0" fontAlgn="base" latinLnBrk="0" hangingPunct="0">
              <a:lnSpc>
                <a:spcPct val="100000"/>
              </a:lnSpc>
              <a:spcBef>
                <a:spcPct val="30000"/>
              </a:spcBef>
              <a:spcAft>
                <a:spcPct val="0"/>
              </a:spcAft>
              <a:buClrTx/>
              <a:buSzTx/>
              <a:buFontTx/>
              <a:buNone/>
              <a:tabLst/>
              <a:defRPr/>
            </a:pPr>
            <a:r>
              <a:rPr kumimoji="0" lang="es-CL" sz="1200" b="1" i="0" u="none" strike="noStrike" kern="1200" cap="none" spc="0" normalizeH="0" baseline="0" noProof="0" dirty="0">
                <a:ln>
                  <a:noFill/>
                </a:ln>
                <a:solidFill>
                  <a:prstClr val="black"/>
                </a:solidFill>
                <a:effectLst/>
                <a:uLnTx/>
                <a:uFillTx/>
                <a:latin typeface="Calibri"/>
                <a:ea typeface="ＭＳ Ｐゴシック" pitchFamily="34" charset="-128"/>
                <a:cs typeface="Arial" pitchFamily="34" charset="0"/>
              </a:rPr>
              <a:t>OUTER JOINS o Uniones Externas</a:t>
            </a:r>
          </a:p>
          <a:p>
            <a:pPr marL="0" marR="0" lvl="0" indent="0" algn="just" defTabSz="914400" rtl="0" eaLnBrk="0" fontAlgn="base" latinLnBrk="0" hangingPunct="0">
              <a:lnSpc>
                <a:spcPct val="100000"/>
              </a:lnSpc>
              <a:spcBef>
                <a:spcPct val="30000"/>
              </a:spcBef>
              <a:spcAft>
                <a:spcPct val="0"/>
              </a:spcAft>
              <a:buClrTx/>
              <a:buSzTx/>
              <a:buFontTx/>
              <a:buNone/>
              <a:tabLst/>
              <a:defRPr/>
            </a:pPr>
            <a:r>
              <a:rPr kumimoji="0" lang="es-CL" sz="1200" b="0" i="0" u="none" strike="noStrike" kern="1200" cap="none" spc="0" normalizeH="0" baseline="0" noProof="0" dirty="0">
                <a:ln>
                  <a:noFill/>
                </a:ln>
                <a:solidFill>
                  <a:prstClr val="black"/>
                </a:solidFill>
                <a:effectLst/>
                <a:uLnTx/>
                <a:uFillTx/>
                <a:latin typeface="Calibri"/>
                <a:ea typeface="+mn-ea"/>
                <a:cs typeface="+mn-cs"/>
              </a:rPr>
              <a:t>En un </a:t>
            </a:r>
            <a:r>
              <a:rPr kumimoji="0" lang="es-CL" sz="1200" b="0" i="0" u="none" strike="noStrike" kern="1200" cap="none" spc="0" normalizeH="0" baseline="0" noProof="0" dirty="0" err="1">
                <a:ln>
                  <a:noFill/>
                </a:ln>
                <a:solidFill>
                  <a:prstClr val="black"/>
                </a:solidFill>
                <a:effectLst/>
                <a:uLnTx/>
                <a:uFillTx/>
                <a:latin typeface="Calibri"/>
                <a:ea typeface="+mn-ea"/>
                <a:cs typeface="+mn-cs"/>
              </a:rPr>
              <a:t>Join</a:t>
            </a:r>
            <a:r>
              <a:rPr kumimoji="0" lang="es-CL" sz="1200" b="0" i="0" u="none" strike="noStrike" kern="1200" cap="none" spc="0" normalizeH="0" baseline="0" noProof="0" dirty="0">
                <a:ln>
                  <a:noFill/>
                </a:ln>
                <a:solidFill>
                  <a:prstClr val="black"/>
                </a:solidFill>
                <a:effectLst/>
                <a:uLnTx/>
                <a:uFillTx/>
                <a:latin typeface="Calibri"/>
                <a:ea typeface="+mn-ea"/>
                <a:cs typeface="+mn-cs"/>
              </a:rPr>
              <a:t> de igualdad (EQUIJOINS), si una fila no cumple la condición del </a:t>
            </a:r>
            <a:r>
              <a:rPr kumimoji="0" lang="es-CL" sz="1200" b="0" i="0" u="none" strike="noStrike" kern="1200" cap="none" spc="0" normalizeH="0" baseline="0" noProof="0" dirty="0" err="1">
                <a:ln>
                  <a:noFill/>
                </a:ln>
                <a:solidFill>
                  <a:prstClr val="black"/>
                </a:solidFill>
                <a:effectLst/>
                <a:uLnTx/>
                <a:uFillTx/>
                <a:latin typeface="Calibri"/>
                <a:ea typeface="+mn-ea"/>
                <a:cs typeface="+mn-cs"/>
              </a:rPr>
              <a:t>Join</a:t>
            </a:r>
            <a:r>
              <a:rPr kumimoji="0" lang="es-CL" sz="1200" b="0" i="0" u="none" strike="noStrike" kern="1200" cap="none" spc="0" normalizeH="0" baseline="0" noProof="0" dirty="0">
                <a:ln>
                  <a:noFill/>
                </a:ln>
                <a:solidFill>
                  <a:prstClr val="black"/>
                </a:solidFill>
                <a:effectLst/>
                <a:uLnTx/>
                <a:uFillTx/>
                <a:latin typeface="Calibri"/>
                <a:ea typeface="+mn-ea"/>
                <a:cs typeface="+mn-cs"/>
              </a:rPr>
              <a:t> (de igualdad) no aparece en el resultado de la consulta SQL. </a:t>
            </a:r>
          </a:p>
          <a:p>
            <a:pPr marL="0" marR="0" lvl="0" indent="0" algn="just" defTabSz="914400" rtl="0" eaLnBrk="0" fontAlgn="base" latinLnBrk="0" hangingPunct="0">
              <a:lnSpc>
                <a:spcPct val="100000"/>
              </a:lnSpc>
              <a:spcBef>
                <a:spcPct val="30000"/>
              </a:spcBef>
              <a:spcAft>
                <a:spcPct val="0"/>
              </a:spcAft>
              <a:buClrTx/>
              <a:buSzTx/>
              <a:buFontTx/>
              <a:buNone/>
              <a:tabLst/>
              <a:defRPr/>
            </a:pPr>
            <a:r>
              <a:rPr kumimoji="0" lang="es-CL" sz="1200" b="0" i="0" u="none" strike="noStrike" kern="1200" cap="none" spc="0" normalizeH="0" baseline="0" noProof="0" dirty="0">
                <a:ln>
                  <a:noFill/>
                </a:ln>
                <a:solidFill>
                  <a:prstClr val="black"/>
                </a:solidFill>
                <a:effectLst/>
                <a:uLnTx/>
                <a:uFillTx/>
                <a:latin typeface="Calibri"/>
                <a:ea typeface="+mn-ea"/>
                <a:cs typeface="+mn-cs"/>
              </a:rPr>
              <a:t>En el ejemplo, al efectuar un </a:t>
            </a:r>
            <a:r>
              <a:rPr kumimoji="0" lang="es-CL" sz="1200" b="0" i="0" u="none" strike="noStrike" kern="1200" cap="none" spc="0" normalizeH="0" baseline="0" noProof="0" dirty="0" err="1">
                <a:ln>
                  <a:noFill/>
                </a:ln>
                <a:solidFill>
                  <a:prstClr val="black"/>
                </a:solidFill>
                <a:effectLst/>
                <a:uLnTx/>
                <a:uFillTx/>
                <a:latin typeface="Calibri"/>
                <a:ea typeface="+mn-ea"/>
                <a:cs typeface="+mn-cs"/>
              </a:rPr>
              <a:t>Equijoin</a:t>
            </a:r>
            <a:r>
              <a:rPr kumimoji="0" lang="es-CL" sz="1200" b="0" i="0" u="none" strike="noStrike" kern="1200" cap="none" spc="0" normalizeH="0" baseline="0" noProof="0" dirty="0">
                <a:ln>
                  <a:noFill/>
                </a:ln>
                <a:solidFill>
                  <a:prstClr val="black"/>
                </a:solidFill>
                <a:effectLst/>
                <a:uLnTx/>
                <a:uFillTx/>
                <a:latin typeface="Calibri"/>
                <a:ea typeface="+mn-ea"/>
                <a:cs typeface="+mn-cs"/>
              </a:rPr>
              <a:t> entre las tablas EMPLOYEES y DEPARTAMENTS comparando la columna </a:t>
            </a:r>
            <a:r>
              <a:rPr kumimoji="0" lang="es-CL" sz="1200" b="0" i="0" u="none" strike="noStrike" kern="1200" cap="none" spc="0" normalizeH="0" baseline="0" noProof="0" dirty="0" err="1">
                <a:ln>
                  <a:noFill/>
                </a:ln>
                <a:solidFill>
                  <a:prstClr val="black"/>
                </a:solidFill>
                <a:effectLst/>
                <a:uLnTx/>
                <a:uFillTx/>
                <a:latin typeface="Calibri"/>
                <a:ea typeface="+mn-ea"/>
                <a:cs typeface="+mn-cs"/>
              </a:rPr>
              <a:t>department_id</a:t>
            </a:r>
            <a:r>
              <a:rPr kumimoji="0" lang="es-CL" sz="1200" b="0" i="0" u="none" strike="noStrike" kern="1200" cap="none" spc="0" normalizeH="0" baseline="0" noProof="0" dirty="0">
                <a:ln>
                  <a:noFill/>
                </a:ln>
                <a:solidFill>
                  <a:prstClr val="black"/>
                </a:solidFill>
                <a:effectLst/>
                <a:uLnTx/>
                <a:uFillTx/>
                <a:latin typeface="Calibri"/>
                <a:ea typeface="+mn-ea"/>
                <a:cs typeface="+mn-cs"/>
              </a:rPr>
              <a:t> sólo se mostrarán los empleados cuyos departamentos existen en ambas tablas. Por esta razón, el empleado 178 no aparece entre las filas seleccionadas, ya que su departamento es Nulo y no existe en la tabla DEPARTMENTS. </a:t>
            </a:r>
          </a:p>
          <a:p>
            <a:pPr marL="0" marR="0" lvl="0" indent="0" algn="just" defTabSz="914400" rtl="0" eaLnBrk="0" fontAlgn="base" latinLnBrk="0" hangingPunct="0">
              <a:lnSpc>
                <a:spcPct val="100000"/>
              </a:lnSpc>
              <a:spcBef>
                <a:spcPct val="30000"/>
              </a:spcBef>
              <a:spcAft>
                <a:spcPct val="0"/>
              </a:spcAft>
              <a:buClrTx/>
              <a:buSzTx/>
              <a:buFontTx/>
              <a:buNone/>
              <a:tabLst/>
              <a:defRPr/>
            </a:pPr>
            <a:r>
              <a:rPr kumimoji="0" lang="es-CL" sz="1200" b="0" i="0" u="none" strike="noStrike" kern="1200" cap="none" spc="0" normalizeH="0" baseline="0" noProof="0" dirty="0">
                <a:ln>
                  <a:noFill/>
                </a:ln>
                <a:solidFill>
                  <a:prstClr val="black"/>
                </a:solidFill>
                <a:effectLst/>
                <a:uLnTx/>
                <a:uFillTx/>
                <a:latin typeface="Calibri"/>
                <a:ea typeface="+mn-ea"/>
                <a:cs typeface="+mn-cs"/>
              </a:rPr>
              <a:t>Para que el </a:t>
            </a:r>
            <a:r>
              <a:rPr kumimoji="0" lang="es-CL" sz="1200" b="0" i="0" u="none" strike="noStrike" kern="1200" cap="none" spc="0" normalizeH="0" baseline="0" noProof="0" dirty="0" err="1">
                <a:ln>
                  <a:noFill/>
                </a:ln>
                <a:solidFill>
                  <a:prstClr val="black"/>
                </a:solidFill>
                <a:effectLst/>
                <a:uLnTx/>
                <a:uFillTx/>
                <a:latin typeface="Calibri"/>
                <a:ea typeface="+mn-ea"/>
                <a:cs typeface="+mn-cs"/>
              </a:rPr>
              <a:t>Join</a:t>
            </a:r>
            <a:r>
              <a:rPr kumimoji="0" lang="es-CL" sz="1200" b="0" i="0" u="none" strike="noStrike" kern="1200" cap="none" spc="0" normalizeH="0" baseline="0" noProof="0" dirty="0">
                <a:ln>
                  <a:noFill/>
                </a:ln>
                <a:solidFill>
                  <a:prstClr val="black"/>
                </a:solidFill>
                <a:effectLst/>
                <a:uLnTx/>
                <a:uFillTx/>
                <a:latin typeface="Calibri"/>
                <a:ea typeface="+mn-ea"/>
                <a:cs typeface="+mn-cs"/>
              </a:rPr>
              <a:t> retorne todos los empleados exista o no su departamento en la tabla DEPARTMENTS, se debe efectuar un OUTER JOINS o Uniones Externas. </a:t>
            </a:r>
            <a:endParaRPr kumimoji="0" lang="es-MX" sz="1200" b="0" i="0" u="none" strike="noStrike" kern="1200" cap="none" spc="0" normalizeH="0" baseline="0" noProof="0" dirty="0">
              <a:ln>
                <a:noFill/>
              </a:ln>
              <a:solidFill>
                <a:prstClr val="black"/>
              </a:solidFill>
              <a:effectLst/>
              <a:uLnTx/>
              <a:uFillTx/>
              <a:latin typeface="Arial" pitchFamily="34" charset="0"/>
              <a:ea typeface="ＭＳ Ｐゴシック" pitchFamily="34" charset="-128"/>
              <a:cs typeface="Arial" pitchFamily="34" charset="0"/>
            </a:endParaRPr>
          </a:p>
          <a:p>
            <a:pPr marL="0" marR="0" lvl="0" indent="0" algn="just" defTabSz="914400" rtl="0" eaLnBrk="0" fontAlgn="base" latinLnBrk="0" hangingPunct="0">
              <a:lnSpc>
                <a:spcPct val="100000"/>
              </a:lnSpc>
              <a:spcBef>
                <a:spcPct val="30000"/>
              </a:spcBef>
              <a:spcAft>
                <a:spcPct val="0"/>
              </a:spcAft>
              <a:buClrTx/>
              <a:buSzTx/>
              <a:buFontTx/>
              <a:buNone/>
              <a:tabLst/>
              <a:defRPr/>
            </a:pPr>
            <a:endParaRPr kumimoji="0" lang="es-CL" sz="1200" b="0" i="0" u="none" strike="noStrike" kern="1200" cap="none" spc="0" normalizeH="0" baseline="0" noProof="0" dirty="0">
              <a:ln>
                <a:noFill/>
              </a:ln>
              <a:solidFill>
                <a:prstClr val="black"/>
              </a:solidFill>
              <a:effectLst/>
              <a:uLnTx/>
              <a:uFillTx/>
              <a:latin typeface="Calibri"/>
              <a:ea typeface="+mn-ea"/>
              <a:cs typeface="Arial" charset="0"/>
            </a:endParaRPr>
          </a:p>
        </p:txBody>
      </p:sp>
    </p:spTree>
    <p:extLst>
      <p:ext uri="{BB962C8B-B14F-4D97-AF65-F5344CB8AC3E}">
        <p14:creationId xmlns:p14="http://schemas.microsoft.com/office/powerpoint/2010/main" val="4737358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l" defTabSz="914400" rtl="0" eaLnBrk="1" fontAlgn="base" latinLnBrk="0" hangingPunct="1">
              <a:lnSpc>
                <a:spcPct val="90000"/>
              </a:lnSpc>
              <a:spcBef>
                <a:spcPct val="0"/>
              </a:spcBef>
              <a:spcAft>
                <a:spcPct val="0"/>
              </a:spcAft>
              <a:buClrTx/>
              <a:buSzTx/>
              <a:buFontTx/>
              <a:buNone/>
              <a:tabLst/>
              <a:defRPr/>
            </a:pPr>
            <a:r>
              <a:rPr kumimoji="0" lang="es-CL" sz="1200" b="1" i="0" u="none" strike="noStrike" kern="1200" cap="none" spc="0" normalizeH="0" baseline="0" noProof="0" dirty="0">
                <a:ln>
                  <a:noFill/>
                </a:ln>
                <a:solidFill>
                  <a:prstClr val="black"/>
                </a:solidFill>
                <a:effectLst/>
                <a:uLnTx/>
                <a:uFillTx/>
                <a:latin typeface="Calibri"/>
                <a:ea typeface="Arial"/>
                <a:cs typeface="Arial" pitchFamily="34" charset="0"/>
                <a:sym typeface="Arial"/>
              </a:rPr>
              <a:t>OUTER JOINS o Uniones Externas</a:t>
            </a:r>
          </a:p>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es-CL" sz="1200" b="0" i="0" u="none" strike="noStrike" kern="1200" cap="none" spc="0" normalizeH="0" baseline="0" noProof="0" dirty="0">
                <a:ln>
                  <a:noFill/>
                </a:ln>
                <a:solidFill>
                  <a:prstClr val="black"/>
                </a:solidFill>
                <a:effectLst/>
                <a:uLnTx/>
                <a:uFillTx/>
                <a:latin typeface="Calibri"/>
                <a:ea typeface="Arial"/>
                <a:cs typeface="Arial"/>
                <a:sym typeface="Arial"/>
              </a:rPr>
              <a:t>Son tres los tipos de OUTER JOINS o Uniones Externas :</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kumimoji="0" lang="es-CL" sz="1200" b="0" i="0" u="none" strike="noStrike" kern="1200" cap="none" spc="0" normalizeH="0" baseline="0" noProof="0" dirty="0">
                <a:ln>
                  <a:noFill/>
                </a:ln>
                <a:solidFill>
                  <a:prstClr val="black"/>
                </a:solidFill>
                <a:effectLst/>
                <a:uLnTx/>
                <a:uFillTx/>
                <a:latin typeface="Calibri"/>
                <a:ea typeface="Arial"/>
                <a:cs typeface="Arial"/>
                <a:sym typeface="Arial"/>
              </a:rPr>
              <a:t>Una unión entre dos tablas que retorna el resultado del INNER JOIN (filas que coinciden) así como las filas de la tabla a la izquierda que no existen en tabla de la derecha del </a:t>
            </a:r>
            <a:r>
              <a:rPr kumimoji="0" lang="es-CL" sz="1200" b="0" i="0" u="none" strike="noStrike" kern="1200" cap="none" spc="0" normalizeH="0" baseline="0" noProof="0" dirty="0" err="1">
                <a:ln>
                  <a:noFill/>
                </a:ln>
                <a:solidFill>
                  <a:prstClr val="black"/>
                </a:solidFill>
                <a:effectLst/>
                <a:uLnTx/>
                <a:uFillTx/>
                <a:latin typeface="Calibri"/>
                <a:ea typeface="Arial"/>
                <a:cs typeface="Arial"/>
                <a:sym typeface="Arial"/>
              </a:rPr>
              <a:t>Join</a:t>
            </a:r>
            <a:r>
              <a:rPr kumimoji="0" lang="es-CL" sz="1200" b="0" i="0" u="none" strike="noStrike" kern="1200" cap="none" spc="0" normalizeH="0" baseline="0" noProof="0" dirty="0">
                <a:ln>
                  <a:noFill/>
                </a:ln>
                <a:solidFill>
                  <a:prstClr val="black"/>
                </a:solidFill>
                <a:effectLst/>
                <a:uLnTx/>
                <a:uFillTx/>
                <a:latin typeface="Calibri"/>
                <a:ea typeface="Arial"/>
                <a:cs typeface="Arial"/>
                <a:sym typeface="Arial"/>
              </a:rPr>
              <a:t> es una Unión Externa Izquierda o LEFT OUTER JOIN.</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kumimoji="0" lang="es-CL" sz="1200" b="0" i="0" u="none" strike="noStrike" kern="1200" cap="none" spc="0" normalizeH="0" baseline="0" noProof="0" dirty="0">
                <a:ln>
                  <a:noFill/>
                </a:ln>
                <a:solidFill>
                  <a:prstClr val="black"/>
                </a:solidFill>
                <a:effectLst/>
                <a:uLnTx/>
                <a:uFillTx/>
                <a:latin typeface="Calibri"/>
                <a:ea typeface="Arial"/>
                <a:cs typeface="Arial"/>
                <a:sym typeface="Arial"/>
              </a:rPr>
              <a:t>Una unión entre dos tablas que retorna el resultado de un INNER JOIN, así como las filas de la tabla a la derecha que no existen en tabla de la izquierda del </a:t>
            </a:r>
            <a:r>
              <a:rPr kumimoji="0" lang="es-CL" sz="1200" b="0" i="0" u="none" strike="noStrike" kern="1200" cap="none" spc="0" normalizeH="0" baseline="0" noProof="0" dirty="0" err="1">
                <a:ln>
                  <a:noFill/>
                </a:ln>
                <a:solidFill>
                  <a:prstClr val="black"/>
                </a:solidFill>
                <a:effectLst/>
                <a:uLnTx/>
                <a:uFillTx/>
                <a:latin typeface="Calibri"/>
                <a:ea typeface="Arial"/>
                <a:cs typeface="Arial"/>
                <a:sym typeface="Arial"/>
              </a:rPr>
              <a:t>Join</a:t>
            </a:r>
            <a:r>
              <a:rPr kumimoji="0" lang="es-CL" sz="1200" b="0" i="0" u="none" strike="noStrike" kern="1200" cap="none" spc="0" normalizeH="0" baseline="0" noProof="0" dirty="0">
                <a:ln>
                  <a:noFill/>
                </a:ln>
                <a:solidFill>
                  <a:prstClr val="black"/>
                </a:solidFill>
                <a:effectLst/>
                <a:uLnTx/>
                <a:uFillTx/>
                <a:latin typeface="Calibri"/>
                <a:ea typeface="Arial"/>
                <a:cs typeface="Arial"/>
                <a:sym typeface="Arial"/>
              </a:rPr>
              <a:t> es una Unión Externa Derecha o RIGTH OUTER JOIN.</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kumimoji="0" lang="es-CL" sz="1200" b="0" i="0" u="none" strike="noStrike" kern="1200" cap="none" spc="0" normalizeH="0" baseline="0" noProof="0" dirty="0">
                <a:ln>
                  <a:noFill/>
                </a:ln>
                <a:solidFill>
                  <a:prstClr val="black"/>
                </a:solidFill>
                <a:effectLst/>
                <a:uLnTx/>
                <a:uFillTx/>
                <a:latin typeface="Calibri"/>
                <a:ea typeface="Arial"/>
                <a:cs typeface="Arial"/>
                <a:sym typeface="Arial"/>
              </a:rPr>
              <a:t>Una unión entre dos tablas que retorna el resultado de un INNER JOIN, así como los de la Unión Externa izquierda y las filas de la Unión Externa Derecha es una Unión Externa Completa o FULL OUTER JOIN. </a:t>
            </a:r>
            <a:endParaRPr kumimoji="0" lang="es-MX" sz="1200" b="0" i="0" u="none" strike="noStrike" kern="1200" cap="none" spc="0" normalizeH="0" baseline="0" noProof="0" dirty="0">
              <a:ln>
                <a:noFill/>
              </a:ln>
              <a:solidFill>
                <a:prstClr val="black"/>
              </a:solidFill>
              <a:effectLst/>
              <a:uLnTx/>
              <a:uFillTx/>
              <a:latin typeface="Arial" pitchFamily="34" charset="0"/>
              <a:ea typeface="Arial"/>
              <a:cs typeface="Arial" pitchFamily="34" charset="0"/>
              <a:sym typeface="Arial"/>
            </a:endParaRPr>
          </a:p>
          <a:p>
            <a:pPr marL="0" marR="0" lvl="0" indent="0" algn="just" defTabSz="914400" rtl="0" eaLnBrk="0" fontAlgn="base" latinLnBrk="0" hangingPunct="0">
              <a:lnSpc>
                <a:spcPct val="100000"/>
              </a:lnSpc>
              <a:spcBef>
                <a:spcPct val="30000"/>
              </a:spcBef>
              <a:spcAft>
                <a:spcPct val="0"/>
              </a:spcAft>
              <a:buClrTx/>
              <a:buSzTx/>
              <a:buFontTx/>
              <a:buNone/>
              <a:tabLst/>
              <a:defRPr/>
            </a:pPr>
            <a:endParaRPr kumimoji="0" lang="es-CL" sz="1200" b="0" i="0" u="none" strike="noStrike" kern="1200" cap="none" spc="0" normalizeH="0" baseline="0" noProof="0" dirty="0">
              <a:ln>
                <a:noFill/>
              </a:ln>
              <a:solidFill>
                <a:prstClr val="black"/>
              </a:solidFill>
              <a:effectLst/>
              <a:uLnTx/>
              <a:uFillTx/>
              <a:latin typeface="Calibri"/>
              <a:ea typeface="+mn-ea"/>
              <a:cs typeface="Arial" charset="0"/>
            </a:endParaRPr>
          </a:p>
        </p:txBody>
      </p:sp>
    </p:spTree>
    <p:extLst>
      <p:ext uri="{BB962C8B-B14F-4D97-AF65-F5344CB8AC3E}">
        <p14:creationId xmlns:p14="http://schemas.microsoft.com/office/powerpoint/2010/main" val="30713855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es-MX" sz="1200" b="1" i="0" u="none" strike="noStrike" kern="1200" cap="none" spc="0" normalizeH="0" baseline="0" noProof="0" dirty="0">
                <a:ln>
                  <a:noFill/>
                </a:ln>
                <a:solidFill>
                  <a:prstClr val="black"/>
                </a:solidFill>
                <a:effectLst/>
                <a:uLnTx/>
                <a:uFillTx/>
                <a:latin typeface="Calibri"/>
                <a:ea typeface="ＭＳ Ｐゴシック" pitchFamily="34" charset="-128"/>
                <a:cs typeface="Arial" pitchFamily="34" charset="0"/>
              </a:rPr>
              <a:t>Creando LEFT OUTER JOIN</a:t>
            </a:r>
          </a:p>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es-CL" sz="1200" b="0" i="0" u="none" strike="noStrike" kern="1200" cap="none" spc="0" normalizeH="0" baseline="0" noProof="0" dirty="0" err="1">
                <a:ln>
                  <a:noFill/>
                </a:ln>
                <a:solidFill>
                  <a:prstClr val="black"/>
                </a:solidFill>
                <a:effectLst/>
                <a:uLnTx/>
                <a:uFillTx/>
                <a:latin typeface="Calibri"/>
                <a:ea typeface="Arial"/>
                <a:cs typeface="Arial"/>
                <a:sym typeface="Arial"/>
              </a:rPr>
              <a:t>Left</a:t>
            </a:r>
            <a:r>
              <a:rPr kumimoji="0" lang="es-CL" sz="1200" b="0" i="0" u="none" strike="noStrike" kern="1200" cap="none" spc="0" normalizeH="0" baseline="0" noProof="0" dirty="0">
                <a:ln>
                  <a:noFill/>
                </a:ln>
                <a:solidFill>
                  <a:prstClr val="black"/>
                </a:solidFill>
                <a:effectLst/>
                <a:uLnTx/>
                <a:uFillTx/>
                <a:latin typeface="Calibri"/>
                <a:ea typeface="Arial"/>
                <a:cs typeface="Arial"/>
                <a:sym typeface="Arial"/>
              </a:rPr>
              <a:t> </a:t>
            </a:r>
            <a:r>
              <a:rPr kumimoji="0" lang="es-CL" sz="1200" b="0" i="0" u="none" strike="noStrike" kern="1200" cap="none" spc="0" normalizeH="0" baseline="0" noProof="0" dirty="0" err="1">
                <a:ln>
                  <a:noFill/>
                </a:ln>
                <a:solidFill>
                  <a:prstClr val="black"/>
                </a:solidFill>
                <a:effectLst/>
                <a:uLnTx/>
                <a:uFillTx/>
                <a:latin typeface="Calibri"/>
                <a:ea typeface="Arial"/>
                <a:cs typeface="Arial"/>
                <a:sym typeface="Arial"/>
              </a:rPr>
              <a:t>Outer</a:t>
            </a:r>
            <a:r>
              <a:rPr kumimoji="0" lang="es-CL" sz="1200" b="0" i="0" u="none" strike="noStrike" kern="1200" cap="none" spc="0" normalizeH="0" baseline="0" noProof="0" dirty="0">
                <a:ln>
                  <a:noFill/>
                </a:ln>
                <a:solidFill>
                  <a:prstClr val="black"/>
                </a:solidFill>
                <a:effectLst/>
                <a:uLnTx/>
                <a:uFillTx/>
                <a:latin typeface="Calibri"/>
                <a:ea typeface="Arial"/>
                <a:cs typeface="Arial"/>
                <a:sym typeface="Arial"/>
              </a:rPr>
              <a:t> </a:t>
            </a:r>
            <a:r>
              <a:rPr kumimoji="0" lang="es-CL" sz="1200" b="0" i="0" u="none" strike="noStrike" kern="1200" cap="none" spc="0" normalizeH="0" baseline="0" noProof="0" dirty="0" err="1">
                <a:ln>
                  <a:noFill/>
                </a:ln>
                <a:solidFill>
                  <a:prstClr val="black"/>
                </a:solidFill>
                <a:effectLst/>
                <a:uLnTx/>
                <a:uFillTx/>
                <a:latin typeface="Calibri"/>
                <a:ea typeface="Arial"/>
                <a:cs typeface="Arial"/>
                <a:sym typeface="Arial"/>
              </a:rPr>
              <a:t>Join</a:t>
            </a:r>
            <a:r>
              <a:rPr kumimoji="0" lang="es-CL" sz="1200" b="0" i="0" u="none" strike="noStrike" kern="1200" cap="none" spc="0" normalizeH="0" baseline="0" noProof="0" dirty="0">
                <a:ln>
                  <a:noFill/>
                </a:ln>
                <a:solidFill>
                  <a:prstClr val="black"/>
                </a:solidFill>
                <a:effectLst/>
                <a:uLnTx/>
                <a:uFillTx/>
                <a:latin typeface="Calibri"/>
                <a:ea typeface="Arial"/>
                <a:cs typeface="Arial"/>
                <a:sym typeface="Arial"/>
              </a:rPr>
              <a:t> retorna el resultado del </a:t>
            </a:r>
            <a:r>
              <a:rPr kumimoji="0" lang="es-CL" sz="1200" b="0" i="0" u="none" strike="noStrike" kern="1200" cap="none" spc="0" normalizeH="0" baseline="0" noProof="0" dirty="0" err="1">
                <a:ln>
                  <a:noFill/>
                </a:ln>
                <a:solidFill>
                  <a:prstClr val="black"/>
                </a:solidFill>
                <a:effectLst/>
                <a:uLnTx/>
                <a:uFillTx/>
                <a:latin typeface="Calibri"/>
                <a:ea typeface="Arial"/>
                <a:cs typeface="Arial"/>
                <a:sym typeface="Arial"/>
              </a:rPr>
              <a:t>Inner</a:t>
            </a:r>
            <a:r>
              <a:rPr kumimoji="0" lang="es-CL" sz="1200" b="0" i="0" u="none" strike="noStrike" kern="1200" cap="none" spc="0" normalizeH="0" baseline="0" noProof="0" dirty="0">
                <a:ln>
                  <a:noFill/>
                </a:ln>
                <a:solidFill>
                  <a:prstClr val="black"/>
                </a:solidFill>
                <a:effectLst/>
                <a:uLnTx/>
                <a:uFillTx/>
                <a:latin typeface="Calibri"/>
                <a:ea typeface="Arial"/>
                <a:cs typeface="Arial"/>
                <a:sym typeface="Arial"/>
              </a:rPr>
              <a:t> </a:t>
            </a:r>
            <a:r>
              <a:rPr kumimoji="0" lang="es-CL" sz="1200" b="0" i="0" u="none" strike="noStrike" kern="1200" cap="none" spc="0" normalizeH="0" baseline="0" noProof="0" dirty="0" err="1">
                <a:ln>
                  <a:noFill/>
                </a:ln>
                <a:solidFill>
                  <a:prstClr val="black"/>
                </a:solidFill>
                <a:effectLst/>
                <a:uLnTx/>
                <a:uFillTx/>
                <a:latin typeface="Calibri"/>
                <a:ea typeface="Arial"/>
                <a:cs typeface="Arial"/>
                <a:sym typeface="Arial"/>
              </a:rPr>
              <a:t>Join</a:t>
            </a:r>
            <a:r>
              <a:rPr kumimoji="0" lang="es-CL" sz="1200" b="0" i="0" u="none" strike="noStrike" kern="1200" cap="none" spc="0" normalizeH="0" baseline="0" noProof="0" dirty="0">
                <a:ln>
                  <a:noFill/>
                </a:ln>
                <a:solidFill>
                  <a:prstClr val="black"/>
                </a:solidFill>
                <a:effectLst/>
                <a:uLnTx/>
                <a:uFillTx/>
                <a:latin typeface="Calibri"/>
                <a:ea typeface="Arial"/>
                <a:cs typeface="Arial"/>
                <a:sym typeface="Arial"/>
              </a:rPr>
              <a:t> entre las dos tablas y además retorna las filas de la tabla a la izquierda del </a:t>
            </a:r>
            <a:r>
              <a:rPr kumimoji="0" lang="es-CL" sz="1200" b="0" i="0" u="none" strike="noStrike" kern="1200" cap="none" spc="0" normalizeH="0" baseline="0" noProof="0" dirty="0" err="1">
                <a:ln>
                  <a:noFill/>
                </a:ln>
                <a:solidFill>
                  <a:prstClr val="black"/>
                </a:solidFill>
                <a:effectLst/>
                <a:uLnTx/>
                <a:uFillTx/>
                <a:latin typeface="Calibri"/>
                <a:ea typeface="Arial"/>
                <a:cs typeface="Arial"/>
                <a:sym typeface="Arial"/>
              </a:rPr>
              <a:t>Join</a:t>
            </a:r>
            <a:r>
              <a:rPr kumimoji="0" lang="es-CL" sz="1200" b="0" i="0" u="none" strike="noStrike" kern="1200" cap="none" spc="0" normalizeH="0" baseline="0" noProof="0" dirty="0">
                <a:ln>
                  <a:noFill/>
                </a:ln>
                <a:solidFill>
                  <a:prstClr val="black"/>
                </a:solidFill>
                <a:effectLst/>
                <a:uLnTx/>
                <a:uFillTx/>
                <a:latin typeface="Calibri"/>
                <a:ea typeface="Arial"/>
                <a:cs typeface="Arial"/>
                <a:sym typeface="Arial"/>
              </a:rPr>
              <a:t> que no existen en la tabla de la derecha del </a:t>
            </a:r>
            <a:r>
              <a:rPr kumimoji="0" lang="es-CL" sz="1200" b="0" i="0" u="none" strike="noStrike" kern="1200" cap="none" spc="0" normalizeH="0" baseline="0" noProof="0" dirty="0" err="1">
                <a:ln>
                  <a:noFill/>
                </a:ln>
                <a:solidFill>
                  <a:prstClr val="black"/>
                </a:solidFill>
                <a:effectLst/>
                <a:uLnTx/>
                <a:uFillTx/>
                <a:latin typeface="Calibri"/>
                <a:ea typeface="Arial"/>
                <a:cs typeface="Arial"/>
                <a:sym typeface="Arial"/>
              </a:rPr>
              <a:t>Join</a:t>
            </a:r>
            <a:r>
              <a:rPr kumimoji="0" lang="es-CL" sz="1200" b="0" i="0" u="none" strike="noStrike" kern="1200" cap="none" spc="0" normalizeH="0" baseline="0" noProof="0" dirty="0">
                <a:ln>
                  <a:noFill/>
                </a:ln>
                <a:solidFill>
                  <a:prstClr val="black"/>
                </a:solidFill>
                <a:effectLst/>
                <a:uLnTx/>
                <a:uFillTx/>
                <a:latin typeface="Calibri"/>
                <a:ea typeface="Arial"/>
                <a:cs typeface="Arial"/>
                <a:sym typeface="Arial"/>
              </a:rPr>
              <a:t>. Es decir, además retorna las filas de tabla de la izquierda del </a:t>
            </a:r>
            <a:r>
              <a:rPr kumimoji="0" lang="es-CL" sz="1200" b="0" i="0" u="none" strike="noStrike" kern="1200" cap="none" spc="0" normalizeH="0" baseline="0" noProof="0" dirty="0" err="1">
                <a:ln>
                  <a:noFill/>
                </a:ln>
                <a:solidFill>
                  <a:prstClr val="black"/>
                </a:solidFill>
                <a:effectLst/>
                <a:uLnTx/>
                <a:uFillTx/>
                <a:latin typeface="Calibri"/>
                <a:ea typeface="Arial"/>
                <a:cs typeface="Arial"/>
                <a:sym typeface="Arial"/>
              </a:rPr>
              <a:t>Join</a:t>
            </a:r>
            <a:r>
              <a:rPr kumimoji="0" lang="es-CL" sz="1200" b="0" i="0" u="none" strike="noStrike" kern="1200" cap="none" spc="0" normalizeH="0" baseline="0" noProof="0" dirty="0">
                <a:ln>
                  <a:noFill/>
                </a:ln>
                <a:solidFill>
                  <a:prstClr val="black"/>
                </a:solidFill>
                <a:effectLst/>
                <a:uLnTx/>
                <a:uFillTx/>
                <a:latin typeface="Calibri"/>
                <a:ea typeface="Arial"/>
                <a:cs typeface="Arial"/>
                <a:sym typeface="Arial"/>
              </a:rPr>
              <a:t> aun cuando el valor de la columna de comparación no exista en la tabla de la derecha del </a:t>
            </a:r>
            <a:r>
              <a:rPr kumimoji="0" lang="es-CL" sz="1200" b="0" i="0" u="none" strike="noStrike" kern="1200" cap="none" spc="0" normalizeH="0" baseline="0" noProof="0" dirty="0" err="1">
                <a:ln>
                  <a:noFill/>
                </a:ln>
                <a:solidFill>
                  <a:prstClr val="black"/>
                </a:solidFill>
                <a:effectLst/>
                <a:uLnTx/>
                <a:uFillTx/>
                <a:latin typeface="Calibri"/>
                <a:ea typeface="Arial"/>
                <a:cs typeface="Arial"/>
                <a:sym typeface="Arial"/>
              </a:rPr>
              <a:t>Join</a:t>
            </a:r>
            <a:r>
              <a:rPr kumimoji="0" lang="es-CL" sz="1200" b="0" i="0" u="none" strike="noStrike" kern="1200" cap="none" spc="0" normalizeH="0" baseline="0" noProof="0" dirty="0">
                <a:ln>
                  <a:noFill/>
                </a:ln>
                <a:solidFill>
                  <a:prstClr val="black"/>
                </a:solidFill>
                <a:effectLst/>
                <a:uLnTx/>
                <a:uFillTx/>
                <a:latin typeface="Calibri"/>
                <a:ea typeface="Arial"/>
                <a:cs typeface="Arial"/>
                <a:sym typeface="Arial"/>
              </a:rPr>
              <a:t>.</a:t>
            </a:r>
          </a:p>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es-CL" sz="1200" b="0" i="0" u="none" strike="noStrike" kern="1200" cap="none" spc="0" normalizeH="0" baseline="0" noProof="0" dirty="0">
                <a:ln>
                  <a:noFill/>
                </a:ln>
                <a:solidFill>
                  <a:prstClr val="black"/>
                </a:solidFill>
                <a:effectLst/>
                <a:uLnTx/>
                <a:uFillTx/>
                <a:latin typeface="Calibri"/>
                <a:ea typeface="Arial"/>
                <a:cs typeface="Arial"/>
                <a:sym typeface="Arial"/>
              </a:rPr>
              <a:t>En la sintaxis:</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kumimoji="0" lang="es-CL" sz="1200" b="1" i="1" u="none" strike="noStrike" kern="1200" cap="none" spc="0" normalizeH="0" baseline="0" noProof="0" dirty="0" err="1">
                <a:ln>
                  <a:noFill/>
                </a:ln>
                <a:solidFill>
                  <a:prstClr val="black"/>
                </a:solidFill>
                <a:effectLst/>
                <a:uLnTx/>
                <a:uFillTx/>
                <a:latin typeface="Calibri"/>
                <a:ea typeface="Arial"/>
                <a:cs typeface="Arial"/>
                <a:sym typeface="Arial"/>
              </a:rPr>
              <a:t>tablaN</a:t>
            </a:r>
            <a:r>
              <a:rPr kumimoji="0" lang="es-CL" sz="1200" b="1" i="0" u="none" strike="noStrike" kern="1200" cap="none" spc="0" normalizeH="0" baseline="0" noProof="0" dirty="0" err="1">
                <a:ln>
                  <a:noFill/>
                </a:ln>
                <a:solidFill>
                  <a:prstClr val="black"/>
                </a:solidFill>
                <a:effectLst/>
                <a:uLnTx/>
                <a:uFillTx/>
                <a:latin typeface="Calibri"/>
                <a:ea typeface="Arial"/>
                <a:cs typeface="Arial"/>
                <a:sym typeface="Arial"/>
              </a:rPr>
              <a:t>.</a:t>
            </a:r>
            <a:r>
              <a:rPr kumimoji="0" lang="es-CL" sz="1200" b="1" i="1" u="none" strike="noStrike" kern="1200" cap="none" spc="0" normalizeH="0" baseline="0" noProof="0" dirty="0" err="1">
                <a:ln>
                  <a:noFill/>
                </a:ln>
                <a:solidFill>
                  <a:prstClr val="black"/>
                </a:solidFill>
                <a:effectLst/>
                <a:uLnTx/>
                <a:uFillTx/>
                <a:latin typeface="Calibri"/>
                <a:ea typeface="Arial"/>
                <a:cs typeface="Arial"/>
                <a:sym typeface="Arial"/>
              </a:rPr>
              <a:t>columnaN</a:t>
            </a:r>
            <a:r>
              <a:rPr kumimoji="0" lang="es-CL" sz="1200" b="1" i="0" u="none" strike="noStrike" kern="1200" cap="none" spc="0" normalizeH="0" baseline="0" noProof="0" dirty="0">
                <a:ln>
                  <a:noFill/>
                </a:ln>
                <a:solidFill>
                  <a:prstClr val="black"/>
                </a:solidFill>
                <a:effectLst/>
                <a:uLnTx/>
                <a:uFillTx/>
                <a:latin typeface="Calibri"/>
                <a:ea typeface="Arial"/>
                <a:cs typeface="Arial"/>
                <a:sym typeface="Arial"/>
              </a:rPr>
              <a:t>:</a:t>
            </a:r>
            <a:r>
              <a:rPr kumimoji="0" lang="es-CL" sz="1200" b="0" i="0" u="none" strike="noStrike" kern="1200" cap="none" spc="0" normalizeH="0" baseline="0" noProof="0" dirty="0">
                <a:ln>
                  <a:noFill/>
                </a:ln>
                <a:solidFill>
                  <a:prstClr val="black"/>
                </a:solidFill>
                <a:effectLst/>
                <a:uLnTx/>
                <a:uFillTx/>
                <a:latin typeface="Calibri"/>
                <a:ea typeface="Arial"/>
                <a:cs typeface="Arial"/>
                <a:sym typeface="Arial"/>
              </a:rPr>
              <a:t> indica la tabla y la columna de la que se recuperan los datos.</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kumimoji="0" lang="es-CL" sz="1200" b="1" i="0" u="none" strike="noStrike" kern="1200" cap="none" spc="0" normalizeH="0" baseline="0" noProof="0" dirty="0">
                <a:ln>
                  <a:noFill/>
                </a:ln>
                <a:solidFill>
                  <a:prstClr val="black"/>
                </a:solidFill>
                <a:effectLst/>
                <a:uLnTx/>
                <a:uFillTx/>
                <a:latin typeface="Calibri"/>
                <a:ea typeface="Arial"/>
                <a:cs typeface="Arial"/>
                <a:sym typeface="Arial"/>
              </a:rPr>
              <a:t>LEFT OUTER JOIN:</a:t>
            </a:r>
            <a:r>
              <a:rPr kumimoji="0" lang="es-CL" sz="1200" b="0" i="0" u="none" strike="noStrike" kern="1200" cap="none" spc="0" normalizeH="0" baseline="0" noProof="0" dirty="0">
                <a:ln>
                  <a:noFill/>
                </a:ln>
                <a:solidFill>
                  <a:prstClr val="black"/>
                </a:solidFill>
                <a:effectLst/>
                <a:uLnTx/>
                <a:uFillTx/>
                <a:latin typeface="Calibri"/>
                <a:ea typeface="Arial"/>
                <a:cs typeface="Arial"/>
                <a:sym typeface="Arial"/>
              </a:rPr>
              <a:t> indica el tipo de Unión Externo. La palabra OUTER es opcional ya que al usar la palabra LEFT la base de datos sabe que debe efectuar una unión externa entre las tablas.</a:t>
            </a:r>
            <a:endParaRPr kumimoji="0" lang="es-MX" sz="1200" b="0" i="0" u="none" strike="noStrike" kern="1200" cap="none" spc="0" normalizeH="0" baseline="0" noProof="0" dirty="0">
              <a:ln>
                <a:noFill/>
              </a:ln>
              <a:solidFill>
                <a:prstClr val="black"/>
              </a:solidFill>
              <a:effectLst/>
              <a:uLnTx/>
              <a:uFillTx/>
              <a:latin typeface="Calibri"/>
              <a:ea typeface="ＭＳ Ｐゴシック" pitchFamily="34" charset="-128"/>
              <a:cs typeface="Arial" pitchFamily="34" charset="0"/>
            </a:endParaRPr>
          </a:p>
          <a:p>
            <a:pPr marL="0" marR="0" lvl="0" indent="0" algn="just" defTabSz="914400" rtl="0" eaLnBrk="0" fontAlgn="base" latinLnBrk="0" hangingPunct="0">
              <a:lnSpc>
                <a:spcPct val="100000"/>
              </a:lnSpc>
              <a:spcBef>
                <a:spcPct val="30000"/>
              </a:spcBef>
              <a:spcAft>
                <a:spcPct val="0"/>
              </a:spcAft>
              <a:buClrTx/>
              <a:buSzTx/>
              <a:buFontTx/>
              <a:buNone/>
              <a:tabLst/>
              <a:defRPr/>
            </a:pPr>
            <a:endParaRPr kumimoji="0" lang="es-CL" sz="1200" b="0" i="0" u="none" strike="noStrike" kern="1200" cap="none" spc="0" normalizeH="0" baseline="0" noProof="0" dirty="0">
              <a:ln>
                <a:noFill/>
              </a:ln>
              <a:solidFill>
                <a:prstClr val="black"/>
              </a:solidFill>
              <a:effectLst/>
              <a:uLnTx/>
              <a:uFillTx/>
              <a:latin typeface="Calibri"/>
              <a:ea typeface="+mn-ea"/>
              <a:cs typeface="Arial" charset="0"/>
            </a:endParaRPr>
          </a:p>
        </p:txBody>
      </p:sp>
    </p:spTree>
    <p:extLst>
      <p:ext uri="{BB962C8B-B14F-4D97-AF65-F5344CB8AC3E}">
        <p14:creationId xmlns:p14="http://schemas.microsoft.com/office/powerpoint/2010/main" val="26361423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es-MX" sz="1200" b="1" i="0" u="none" strike="noStrike" kern="1200" cap="none" spc="0" normalizeH="0" baseline="0" noProof="0" dirty="0">
                <a:ln>
                  <a:noFill/>
                </a:ln>
                <a:solidFill>
                  <a:prstClr val="black"/>
                </a:solidFill>
                <a:effectLst/>
                <a:uLnTx/>
                <a:uFillTx/>
                <a:latin typeface="Calibri"/>
                <a:ea typeface="ＭＳ Ｐゴシック" pitchFamily="34" charset="-128"/>
                <a:cs typeface="Arial" pitchFamily="34" charset="0"/>
              </a:rPr>
              <a:t>Creando LEFT OUTER JOIN</a:t>
            </a:r>
          </a:p>
          <a:p>
            <a:pPr marL="0" marR="0" lvl="0" indent="0" algn="just" defTabSz="914400" rtl="0" eaLnBrk="0" fontAlgn="base" latinLnBrk="0" hangingPunct="0">
              <a:lnSpc>
                <a:spcPct val="100000"/>
              </a:lnSpc>
              <a:spcBef>
                <a:spcPct val="30000"/>
              </a:spcBef>
              <a:spcAft>
                <a:spcPct val="0"/>
              </a:spcAft>
              <a:buClrTx/>
              <a:buSzTx/>
              <a:buFontTx/>
              <a:buNone/>
              <a:tabLst/>
              <a:defRPr/>
            </a:pPr>
            <a:r>
              <a:rPr kumimoji="0" lang="es-CL" sz="1200" b="0" i="0" u="none" strike="noStrike" kern="1200" cap="none" spc="0" normalizeH="0" baseline="0" noProof="0" dirty="0">
                <a:ln>
                  <a:noFill/>
                </a:ln>
                <a:solidFill>
                  <a:prstClr val="black"/>
                </a:solidFill>
                <a:effectLst/>
                <a:uLnTx/>
                <a:uFillTx/>
                <a:latin typeface="Calibri"/>
                <a:ea typeface="+mn-ea"/>
                <a:cs typeface="+mn-cs"/>
              </a:rPr>
              <a:t>En la sentencia del ejemplo, para poder mostrar todos los empleados de la tabla EMPLOYEES (a la izquierda del </a:t>
            </a:r>
            <a:r>
              <a:rPr kumimoji="0" lang="es-CL" sz="1200" b="0" i="0" u="none" strike="noStrike" kern="1200" cap="none" spc="0" normalizeH="0" baseline="0" noProof="0" dirty="0" err="1">
                <a:ln>
                  <a:noFill/>
                </a:ln>
                <a:solidFill>
                  <a:prstClr val="black"/>
                </a:solidFill>
                <a:effectLst/>
                <a:uLnTx/>
                <a:uFillTx/>
                <a:latin typeface="Calibri"/>
                <a:ea typeface="+mn-ea"/>
                <a:cs typeface="+mn-cs"/>
              </a:rPr>
              <a:t>Join</a:t>
            </a:r>
            <a:r>
              <a:rPr kumimoji="0" lang="es-CL" sz="1200" b="0" i="0" u="none" strike="noStrike" kern="1200" cap="none" spc="0" normalizeH="0" baseline="0" noProof="0" dirty="0">
                <a:ln>
                  <a:noFill/>
                </a:ln>
                <a:solidFill>
                  <a:prstClr val="black"/>
                </a:solidFill>
                <a:effectLst/>
                <a:uLnTx/>
                <a:uFillTx/>
                <a:latin typeface="Calibri"/>
                <a:ea typeface="+mn-ea"/>
                <a:cs typeface="+mn-cs"/>
              </a:rPr>
              <a:t>) exista o no su departamento en la tabla DEPARTMENTS se debe utilizar LEFT OUTER JOIN, de esta forma el empleado con departamento NULO (empleado 108) aparece en el resultado final de la consulta.</a:t>
            </a:r>
            <a:endParaRPr kumimoji="0" lang="es-MX" sz="1200" b="0" i="0" u="none" strike="noStrike" kern="1200" cap="none" spc="0" normalizeH="0" baseline="0" noProof="0" dirty="0">
              <a:ln>
                <a:noFill/>
              </a:ln>
              <a:solidFill>
                <a:prstClr val="black"/>
              </a:solidFill>
              <a:effectLst/>
              <a:uLnTx/>
              <a:uFillTx/>
              <a:latin typeface="Arial" pitchFamily="34" charset="0"/>
              <a:ea typeface="ＭＳ Ｐゴシック" pitchFamily="34" charset="-128"/>
              <a:cs typeface="Arial" pitchFamily="34" charset="0"/>
            </a:endParaRPr>
          </a:p>
          <a:p>
            <a:pPr marL="0" marR="0" lvl="0" indent="0" algn="just" defTabSz="914400" rtl="0" eaLnBrk="0" fontAlgn="base" latinLnBrk="0" hangingPunct="0">
              <a:lnSpc>
                <a:spcPct val="100000"/>
              </a:lnSpc>
              <a:spcBef>
                <a:spcPct val="30000"/>
              </a:spcBef>
              <a:spcAft>
                <a:spcPct val="0"/>
              </a:spcAft>
              <a:buClrTx/>
              <a:buSzTx/>
              <a:buFontTx/>
              <a:buNone/>
              <a:tabLst/>
              <a:defRPr/>
            </a:pPr>
            <a:endParaRPr kumimoji="0" lang="es-CL" sz="1200" b="0" i="0" u="none" strike="noStrike" kern="1200" cap="none" spc="0" normalizeH="0" baseline="0" noProof="0" dirty="0">
              <a:ln>
                <a:noFill/>
              </a:ln>
              <a:solidFill>
                <a:prstClr val="black"/>
              </a:solidFill>
              <a:effectLst/>
              <a:uLnTx/>
              <a:uFillTx/>
              <a:latin typeface="Calibri"/>
              <a:ea typeface="+mn-ea"/>
              <a:cs typeface="Arial" charset="0"/>
            </a:endParaRPr>
          </a:p>
        </p:txBody>
      </p:sp>
    </p:spTree>
    <p:extLst>
      <p:ext uri="{BB962C8B-B14F-4D97-AF65-F5344CB8AC3E}">
        <p14:creationId xmlns:p14="http://schemas.microsoft.com/office/powerpoint/2010/main" val="3780559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just" defTabSz="914400" rtl="0" eaLnBrk="0" fontAlgn="base" latinLnBrk="0" hangingPunct="0">
              <a:lnSpc>
                <a:spcPct val="100000"/>
              </a:lnSpc>
              <a:spcBef>
                <a:spcPct val="30000"/>
              </a:spcBef>
              <a:spcAft>
                <a:spcPct val="0"/>
              </a:spcAft>
              <a:buClrTx/>
              <a:buSzTx/>
              <a:buFontTx/>
              <a:buNone/>
              <a:tabLst/>
              <a:defRPr/>
            </a:pPr>
            <a:r>
              <a:rPr kumimoji="0" lang="es-MX" sz="1200" b="1" i="0" u="none" strike="noStrike" kern="1200" cap="none" spc="0" normalizeH="0" baseline="0" noProof="0" dirty="0">
                <a:ln>
                  <a:noFill/>
                </a:ln>
                <a:solidFill>
                  <a:prstClr val="black"/>
                </a:solidFill>
                <a:effectLst/>
                <a:uLnTx/>
                <a:uFillTx/>
                <a:latin typeface="Calibri"/>
                <a:ea typeface="ＭＳ Ｐゴシック" pitchFamily="34" charset="-128"/>
                <a:cs typeface="Arial" pitchFamily="34" charset="0"/>
              </a:rPr>
              <a:t>Creando LEFT OUTER JOIN</a:t>
            </a:r>
          </a:p>
          <a:p>
            <a:pPr marL="0" marR="0" lvl="0" indent="0" algn="just" defTabSz="914400" rtl="0" eaLnBrk="0" fontAlgn="base" latinLnBrk="0" hangingPunct="0">
              <a:lnSpc>
                <a:spcPct val="100000"/>
              </a:lnSpc>
              <a:spcBef>
                <a:spcPct val="30000"/>
              </a:spcBef>
              <a:spcAft>
                <a:spcPct val="0"/>
              </a:spcAft>
              <a:buClrTx/>
              <a:buSzTx/>
              <a:buFontTx/>
              <a:buNone/>
              <a:tabLst/>
              <a:defRPr/>
            </a:pPr>
            <a:r>
              <a:rPr kumimoji="0" lang="es-MX" sz="1200" b="0" i="0" u="none" strike="noStrike" kern="1200" cap="none" spc="0" normalizeH="0" baseline="0" noProof="0" dirty="0">
                <a:ln>
                  <a:noFill/>
                </a:ln>
                <a:solidFill>
                  <a:prstClr val="black"/>
                </a:solidFill>
                <a:effectLst/>
                <a:uLnTx/>
                <a:uFillTx/>
                <a:latin typeface="Calibri"/>
                <a:ea typeface="ＭＳ Ｐゴシック" pitchFamily="34" charset="-128"/>
                <a:cs typeface="Arial" pitchFamily="34" charset="0"/>
              </a:rPr>
              <a:t>En la sentencia del ejemplo, para poder mostrar todos los empleados tengan o no jefe en la tabla EMPLOYEES (a la izquierda del </a:t>
            </a:r>
            <a:r>
              <a:rPr kumimoji="0" lang="es-MX" sz="1200" b="0" i="0" u="none" strike="noStrike" kern="1200" cap="none" spc="0" normalizeH="0" baseline="0" noProof="0" dirty="0" err="1">
                <a:ln>
                  <a:noFill/>
                </a:ln>
                <a:solidFill>
                  <a:prstClr val="black"/>
                </a:solidFill>
                <a:effectLst/>
                <a:uLnTx/>
                <a:uFillTx/>
                <a:latin typeface="Calibri"/>
                <a:ea typeface="ＭＳ Ｐゴシック" pitchFamily="34" charset="-128"/>
                <a:cs typeface="Arial" pitchFamily="34" charset="0"/>
              </a:rPr>
              <a:t>Join</a:t>
            </a:r>
            <a:r>
              <a:rPr kumimoji="0" lang="es-MX" sz="1200" b="0" i="0" u="none" strike="noStrike" kern="1200" cap="none" spc="0" normalizeH="0" baseline="0" noProof="0" dirty="0">
                <a:ln>
                  <a:noFill/>
                </a:ln>
                <a:solidFill>
                  <a:prstClr val="black"/>
                </a:solidFill>
                <a:effectLst/>
                <a:uLnTx/>
                <a:uFillTx/>
                <a:latin typeface="Calibri"/>
                <a:ea typeface="ＭＳ Ｐゴシック" pitchFamily="34" charset="-128"/>
                <a:cs typeface="Arial" pitchFamily="34" charset="0"/>
              </a:rPr>
              <a:t>) se debe utilizar LEFT OUTER JOIN sobre la misma tabla, de esta forma el empleado que no posee jefe aparece en el resultado final de la consulta, que en este caso es el empleado Steven King.</a:t>
            </a:r>
            <a:endParaRPr kumimoji="0" lang="es-MX" sz="1200" b="0" i="0" u="none" strike="noStrike" kern="1200" cap="none" spc="0" normalizeH="0" baseline="0" noProof="0" dirty="0">
              <a:ln>
                <a:noFill/>
              </a:ln>
              <a:solidFill>
                <a:prstClr val="black"/>
              </a:solidFill>
              <a:effectLst/>
              <a:uLnTx/>
              <a:uFillTx/>
              <a:latin typeface="Arial" pitchFamily="34" charset="0"/>
              <a:ea typeface="ＭＳ Ｐゴシック" pitchFamily="34" charset="-128"/>
              <a:cs typeface="Arial" pitchFamily="34" charset="0"/>
            </a:endParaRPr>
          </a:p>
          <a:p>
            <a:pPr marL="0" marR="0" lvl="0" indent="0" algn="just" defTabSz="914400" rtl="0" eaLnBrk="0" fontAlgn="base" latinLnBrk="0" hangingPunct="0">
              <a:lnSpc>
                <a:spcPct val="100000"/>
              </a:lnSpc>
              <a:spcBef>
                <a:spcPct val="30000"/>
              </a:spcBef>
              <a:spcAft>
                <a:spcPct val="0"/>
              </a:spcAft>
              <a:buClrTx/>
              <a:buSzTx/>
              <a:buFontTx/>
              <a:buNone/>
              <a:tabLst/>
              <a:defRPr/>
            </a:pPr>
            <a:endParaRPr kumimoji="0" lang="es-CL" sz="1200" b="0" i="0" u="none" strike="noStrike" kern="1200" cap="none" spc="0" normalizeH="0" baseline="0" noProof="0" dirty="0">
              <a:ln>
                <a:noFill/>
              </a:ln>
              <a:solidFill>
                <a:prstClr val="black"/>
              </a:solidFill>
              <a:effectLst/>
              <a:uLnTx/>
              <a:uFillTx/>
              <a:latin typeface="Calibri"/>
              <a:ea typeface="+mn-ea"/>
              <a:cs typeface="Arial" charset="0"/>
            </a:endParaRPr>
          </a:p>
        </p:txBody>
      </p:sp>
    </p:spTree>
    <p:extLst>
      <p:ext uri="{BB962C8B-B14F-4D97-AF65-F5344CB8AC3E}">
        <p14:creationId xmlns:p14="http://schemas.microsoft.com/office/powerpoint/2010/main" val="14341115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just" defTabSz="914400" rtl="0" eaLnBrk="0" fontAlgn="base" latinLnBrk="0" hangingPunct="0">
              <a:lnSpc>
                <a:spcPct val="100000"/>
              </a:lnSpc>
              <a:spcBef>
                <a:spcPct val="30000"/>
              </a:spcBef>
              <a:spcAft>
                <a:spcPct val="0"/>
              </a:spcAft>
              <a:buClrTx/>
              <a:buSzTx/>
              <a:buFontTx/>
              <a:buNone/>
              <a:tabLst/>
              <a:defRPr/>
            </a:pPr>
            <a:r>
              <a:rPr kumimoji="0" lang="es-MX" sz="1200" b="1" i="0" u="none" strike="noStrike" kern="1200" cap="none" spc="0" normalizeH="0" baseline="0" noProof="0" dirty="0">
                <a:ln>
                  <a:noFill/>
                </a:ln>
                <a:solidFill>
                  <a:prstClr val="black"/>
                </a:solidFill>
                <a:effectLst/>
                <a:uLnTx/>
                <a:uFillTx/>
                <a:latin typeface="Calibri"/>
                <a:ea typeface="ＭＳ Ｐゴシック" pitchFamily="34" charset="-128"/>
                <a:cs typeface="Arial" pitchFamily="34" charset="0"/>
              </a:rPr>
              <a:t>Creando RIGHT OUTER JOIN</a:t>
            </a:r>
          </a:p>
          <a:p>
            <a:pPr marL="0" marR="0" lvl="0" indent="0" algn="just" defTabSz="914400" rtl="0" eaLnBrk="0" fontAlgn="base" latinLnBrk="0" hangingPunct="0">
              <a:lnSpc>
                <a:spcPct val="100000"/>
              </a:lnSpc>
              <a:spcBef>
                <a:spcPct val="30000"/>
              </a:spcBef>
              <a:spcAft>
                <a:spcPct val="0"/>
              </a:spcAft>
              <a:buClrTx/>
              <a:buSzTx/>
              <a:buFontTx/>
              <a:buNone/>
              <a:tabLst/>
              <a:defRPr/>
            </a:pPr>
            <a:r>
              <a:rPr kumimoji="0" lang="es-CL" sz="1200" b="0" i="0" u="none" strike="noStrike" kern="1200" cap="none" spc="0" normalizeH="0" baseline="0" noProof="0" dirty="0" err="1">
                <a:ln>
                  <a:noFill/>
                </a:ln>
                <a:solidFill>
                  <a:prstClr val="black"/>
                </a:solidFill>
                <a:effectLst/>
                <a:uLnTx/>
                <a:uFillTx/>
                <a:latin typeface="Calibri"/>
                <a:ea typeface="Arial Unicode MS"/>
                <a:cs typeface="Times New Roman" pitchFamily="18" charset="0"/>
              </a:rPr>
              <a:t>Right</a:t>
            </a:r>
            <a:r>
              <a:rPr kumimoji="0" lang="es-CL" sz="1200" b="0" i="0" u="none" strike="noStrike" kern="1200" cap="none" spc="0" normalizeH="0" baseline="0" noProof="0" dirty="0">
                <a:ln>
                  <a:noFill/>
                </a:ln>
                <a:solidFill>
                  <a:prstClr val="black"/>
                </a:solidFill>
                <a:effectLst/>
                <a:uLnTx/>
                <a:uFillTx/>
                <a:latin typeface="Calibri"/>
                <a:ea typeface="Arial Unicode MS"/>
                <a:cs typeface="Times New Roman" pitchFamily="18" charset="0"/>
              </a:rPr>
              <a:t> </a:t>
            </a:r>
            <a:r>
              <a:rPr kumimoji="0" lang="es-CL" sz="1200" b="0" i="0" u="none" strike="noStrike" kern="1200" cap="none" spc="0" normalizeH="0" baseline="0" noProof="0" dirty="0" err="1">
                <a:ln>
                  <a:noFill/>
                </a:ln>
                <a:solidFill>
                  <a:prstClr val="black"/>
                </a:solidFill>
                <a:effectLst/>
                <a:uLnTx/>
                <a:uFillTx/>
                <a:latin typeface="Calibri"/>
                <a:ea typeface="Arial Unicode MS"/>
                <a:cs typeface="Times New Roman" pitchFamily="18" charset="0"/>
              </a:rPr>
              <a:t>Outer</a:t>
            </a:r>
            <a:r>
              <a:rPr kumimoji="0" lang="es-CL" sz="1200" b="0" i="0" u="none" strike="noStrike" kern="1200" cap="none" spc="0" normalizeH="0" baseline="0" noProof="0" dirty="0">
                <a:ln>
                  <a:noFill/>
                </a:ln>
                <a:solidFill>
                  <a:prstClr val="black"/>
                </a:solidFill>
                <a:effectLst/>
                <a:uLnTx/>
                <a:uFillTx/>
                <a:latin typeface="Calibri"/>
                <a:ea typeface="Arial Unicode MS"/>
                <a:cs typeface="Times New Roman" pitchFamily="18" charset="0"/>
              </a:rPr>
              <a:t> </a:t>
            </a:r>
            <a:r>
              <a:rPr kumimoji="0" lang="es-CL" sz="1200" b="0" i="0" u="none" strike="noStrike" kern="1200" cap="none" spc="0" normalizeH="0" baseline="0" noProof="0" dirty="0" err="1">
                <a:ln>
                  <a:noFill/>
                </a:ln>
                <a:solidFill>
                  <a:prstClr val="black"/>
                </a:solidFill>
                <a:effectLst/>
                <a:uLnTx/>
                <a:uFillTx/>
                <a:latin typeface="Calibri"/>
                <a:ea typeface="Arial Unicode MS"/>
                <a:cs typeface="Times New Roman" pitchFamily="18" charset="0"/>
              </a:rPr>
              <a:t>Join</a:t>
            </a:r>
            <a:r>
              <a:rPr kumimoji="0" lang="es-CL" sz="1200" b="0" i="0" u="none" strike="noStrike" kern="1200" cap="none" spc="0" normalizeH="0" baseline="0" noProof="0" dirty="0">
                <a:ln>
                  <a:noFill/>
                </a:ln>
                <a:solidFill>
                  <a:prstClr val="black"/>
                </a:solidFill>
                <a:effectLst/>
                <a:uLnTx/>
                <a:uFillTx/>
                <a:latin typeface="Calibri"/>
                <a:ea typeface="Arial Unicode MS"/>
                <a:cs typeface="Times New Roman" pitchFamily="18" charset="0"/>
              </a:rPr>
              <a:t> retorna el resultado del </a:t>
            </a:r>
            <a:r>
              <a:rPr kumimoji="0" lang="es-CL" sz="1200" b="0" i="0" u="none" strike="noStrike" kern="1200" cap="none" spc="0" normalizeH="0" baseline="0" noProof="0" dirty="0" err="1">
                <a:ln>
                  <a:noFill/>
                </a:ln>
                <a:solidFill>
                  <a:prstClr val="black"/>
                </a:solidFill>
                <a:effectLst/>
                <a:uLnTx/>
                <a:uFillTx/>
                <a:latin typeface="Calibri"/>
                <a:ea typeface="Arial Unicode MS"/>
                <a:cs typeface="Times New Roman" pitchFamily="18" charset="0"/>
              </a:rPr>
              <a:t>Inner</a:t>
            </a:r>
            <a:r>
              <a:rPr kumimoji="0" lang="es-CL" sz="1200" b="0" i="0" u="none" strike="noStrike" kern="1200" cap="none" spc="0" normalizeH="0" baseline="0" noProof="0" dirty="0">
                <a:ln>
                  <a:noFill/>
                </a:ln>
                <a:solidFill>
                  <a:prstClr val="black"/>
                </a:solidFill>
                <a:effectLst/>
                <a:uLnTx/>
                <a:uFillTx/>
                <a:latin typeface="Calibri"/>
                <a:ea typeface="Arial Unicode MS"/>
                <a:cs typeface="Times New Roman" pitchFamily="18" charset="0"/>
              </a:rPr>
              <a:t> </a:t>
            </a:r>
            <a:r>
              <a:rPr kumimoji="0" lang="es-CL" sz="1200" b="0" i="0" u="none" strike="noStrike" kern="1200" cap="none" spc="0" normalizeH="0" baseline="0" noProof="0" dirty="0" err="1">
                <a:ln>
                  <a:noFill/>
                </a:ln>
                <a:solidFill>
                  <a:prstClr val="black"/>
                </a:solidFill>
                <a:effectLst/>
                <a:uLnTx/>
                <a:uFillTx/>
                <a:latin typeface="Calibri"/>
                <a:ea typeface="Arial Unicode MS"/>
                <a:cs typeface="Times New Roman" pitchFamily="18" charset="0"/>
              </a:rPr>
              <a:t>Join</a:t>
            </a:r>
            <a:r>
              <a:rPr kumimoji="0" lang="es-CL" sz="1200" b="0" i="0" u="none" strike="noStrike" kern="1200" cap="none" spc="0" normalizeH="0" baseline="0" noProof="0" dirty="0">
                <a:ln>
                  <a:noFill/>
                </a:ln>
                <a:solidFill>
                  <a:prstClr val="black"/>
                </a:solidFill>
                <a:effectLst/>
                <a:uLnTx/>
                <a:uFillTx/>
                <a:latin typeface="Calibri"/>
                <a:ea typeface="Arial Unicode MS"/>
                <a:cs typeface="Times New Roman" pitchFamily="18" charset="0"/>
              </a:rPr>
              <a:t> entre las dos tablas y además las filas de la tabla a la derecha del </a:t>
            </a:r>
            <a:r>
              <a:rPr kumimoji="0" lang="es-CL" sz="1200" b="0" i="0" u="none" strike="noStrike" kern="1200" cap="none" spc="0" normalizeH="0" baseline="0" noProof="0" dirty="0" err="1">
                <a:ln>
                  <a:noFill/>
                </a:ln>
                <a:solidFill>
                  <a:prstClr val="black"/>
                </a:solidFill>
                <a:effectLst/>
                <a:uLnTx/>
                <a:uFillTx/>
                <a:latin typeface="Calibri"/>
                <a:ea typeface="Arial Unicode MS"/>
                <a:cs typeface="Times New Roman" pitchFamily="18" charset="0"/>
              </a:rPr>
              <a:t>Join</a:t>
            </a:r>
            <a:r>
              <a:rPr kumimoji="0" lang="es-CL" sz="1200" b="0" i="0" u="none" strike="noStrike" kern="1200" cap="none" spc="0" normalizeH="0" baseline="0" noProof="0" dirty="0">
                <a:ln>
                  <a:noFill/>
                </a:ln>
                <a:solidFill>
                  <a:prstClr val="black"/>
                </a:solidFill>
                <a:effectLst/>
                <a:uLnTx/>
                <a:uFillTx/>
                <a:latin typeface="Calibri"/>
                <a:ea typeface="Arial Unicode MS"/>
                <a:cs typeface="Times New Roman" pitchFamily="18" charset="0"/>
              </a:rPr>
              <a:t> que no existen en la tabla de la izquierda del </a:t>
            </a:r>
            <a:r>
              <a:rPr kumimoji="0" lang="es-CL" sz="1200" b="0" i="0" u="none" strike="noStrike" kern="1200" cap="none" spc="0" normalizeH="0" baseline="0" noProof="0" dirty="0" err="1">
                <a:ln>
                  <a:noFill/>
                </a:ln>
                <a:solidFill>
                  <a:prstClr val="black"/>
                </a:solidFill>
                <a:effectLst/>
                <a:uLnTx/>
                <a:uFillTx/>
                <a:latin typeface="Calibri"/>
                <a:ea typeface="Arial Unicode MS"/>
                <a:cs typeface="Times New Roman" pitchFamily="18" charset="0"/>
              </a:rPr>
              <a:t>Join</a:t>
            </a:r>
            <a:r>
              <a:rPr kumimoji="0" lang="es-CL" sz="1200" b="0" i="0" u="none" strike="noStrike" kern="1200" cap="none" spc="0" normalizeH="0" baseline="0" noProof="0" dirty="0">
                <a:ln>
                  <a:noFill/>
                </a:ln>
                <a:solidFill>
                  <a:prstClr val="black"/>
                </a:solidFill>
                <a:effectLst/>
                <a:uLnTx/>
                <a:uFillTx/>
                <a:latin typeface="Calibri"/>
                <a:ea typeface="Arial Unicode MS"/>
                <a:cs typeface="Times New Roman" pitchFamily="18" charset="0"/>
              </a:rPr>
              <a:t>.</a:t>
            </a:r>
          </a:p>
          <a:p>
            <a:pPr marL="0" marR="0" lvl="0" indent="0" algn="just" defTabSz="914400" rtl="0" eaLnBrk="0" fontAlgn="base" latinLnBrk="0" hangingPunct="0">
              <a:lnSpc>
                <a:spcPct val="100000"/>
              </a:lnSpc>
              <a:spcBef>
                <a:spcPct val="30000"/>
              </a:spcBef>
              <a:spcAft>
                <a:spcPct val="0"/>
              </a:spcAft>
              <a:buClrTx/>
              <a:buSzTx/>
              <a:buFontTx/>
              <a:buNone/>
              <a:tabLst/>
              <a:defRPr/>
            </a:pPr>
            <a:r>
              <a:rPr kumimoji="0" lang="es-CL" sz="1200" b="0" i="0" u="none" strike="noStrike" kern="1200" cap="none" spc="0" normalizeH="0" baseline="0" noProof="0" dirty="0">
                <a:ln>
                  <a:noFill/>
                </a:ln>
                <a:solidFill>
                  <a:prstClr val="black"/>
                </a:solidFill>
                <a:effectLst/>
                <a:uLnTx/>
                <a:uFillTx/>
                <a:latin typeface="Calibri"/>
                <a:ea typeface="Arial Unicode MS"/>
                <a:cs typeface="Times New Roman" pitchFamily="18" charset="0"/>
              </a:rPr>
              <a:t>Es decir, además retorna las filas de tabla de la derecha del </a:t>
            </a:r>
            <a:r>
              <a:rPr kumimoji="0" lang="es-CL" sz="1200" b="0" i="0" u="none" strike="noStrike" kern="1200" cap="none" spc="0" normalizeH="0" baseline="0" noProof="0" dirty="0" err="1">
                <a:ln>
                  <a:noFill/>
                </a:ln>
                <a:solidFill>
                  <a:prstClr val="black"/>
                </a:solidFill>
                <a:effectLst/>
                <a:uLnTx/>
                <a:uFillTx/>
                <a:latin typeface="Calibri"/>
                <a:ea typeface="Arial Unicode MS"/>
                <a:cs typeface="Times New Roman" pitchFamily="18" charset="0"/>
              </a:rPr>
              <a:t>Join</a:t>
            </a:r>
            <a:r>
              <a:rPr kumimoji="0" lang="es-CL" sz="1200" b="0" i="0" u="none" strike="noStrike" kern="1200" cap="none" spc="0" normalizeH="0" baseline="0" noProof="0" dirty="0">
                <a:ln>
                  <a:noFill/>
                </a:ln>
                <a:solidFill>
                  <a:prstClr val="black"/>
                </a:solidFill>
                <a:effectLst/>
                <a:uLnTx/>
                <a:uFillTx/>
                <a:latin typeface="Calibri"/>
                <a:ea typeface="Arial Unicode MS"/>
                <a:cs typeface="Times New Roman" pitchFamily="18" charset="0"/>
              </a:rPr>
              <a:t> aún cuando el valor de la columna de comparación no exista en la tabla de la izquierda del </a:t>
            </a:r>
            <a:r>
              <a:rPr kumimoji="0" lang="es-CL" sz="1200" b="0" i="0" u="none" strike="noStrike" kern="1200" cap="none" spc="0" normalizeH="0" baseline="0" noProof="0" dirty="0" err="1">
                <a:ln>
                  <a:noFill/>
                </a:ln>
                <a:solidFill>
                  <a:prstClr val="black"/>
                </a:solidFill>
                <a:effectLst/>
                <a:uLnTx/>
                <a:uFillTx/>
                <a:latin typeface="Calibri"/>
                <a:ea typeface="Arial Unicode MS"/>
                <a:cs typeface="Times New Roman" pitchFamily="18" charset="0"/>
              </a:rPr>
              <a:t>Join</a:t>
            </a:r>
            <a:r>
              <a:rPr kumimoji="0" lang="es-CL" sz="1200" b="0" i="0" u="none" strike="noStrike" kern="1200" cap="none" spc="0" normalizeH="0" baseline="0" noProof="0" dirty="0">
                <a:ln>
                  <a:noFill/>
                </a:ln>
                <a:solidFill>
                  <a:prstClr val="black"/>
                </a:solidFill>
                <a:effectLst/>
                <a:uLnTx/>
                <a:uFillTx/>
                <a:latin typeface="Calibri"/>
                <a:ea typeface="Arial Unicode MS"/>
                <a:cs typeface="Times New Roman" pitchFamily="18" charset="0"/>
              </a:rPr>
              <a:t>.</a:t>
            </a:r>
          </a:p>
          <a:p>
            <a:pPr marL="0" marR="0" lvl="0" indent="0" algn="just" defTabSz="914400" rtl="0" eaLnBrk="0" fontAlgn="base" latinLnBrk="0" hangingPunct="0">
              <a:lnSpc>
                <a:spcPct val="100000"/>
              </a:lnSpc>
              <a:spcBef>
                <a:spcPct val="30000"/>
              </a:spcBef>
              <a:spcAft>
                <a:spcPct val="0"/>
              </a:spcAft>
              <a:buClrTx/>
              <a:buSzTx/>
              <a:buFontTx/>
              <a:buNone/>
              <a:tabLst/>
              <a:defRPr/>
            </a:pPr>
            <a:r>
              <a:rPr kumimoji="0" lang="es-CL" sz="1200" b="0" i="0" u="none" strike="noStrike" kern="1200" cap="none" spc="0" normalizeH="0" baseline="0" noProof="0" dirty="0">
                <a:ln>
                  <a:noFill/>
                </a:ln>
                <a:solidFill>
                  <a:prstClr val="black"/>
                </a:solidFill>
                <a:effectLst/>
                <a:uLnTx/>
                <a:uFillTx/>
                <a:latin typeface="Calibri"/>
                <a:ea typeface="Arial Unicode MS"/>
                <a:cs typeface="Times New Roman" pitchFamily="18" charset="0"/>
              </a:rPr>
              <a:t>En la sintaxis:</a:t>
            </a:r>
          </a:p>
          <a:p>
            <a:pPr marL="171450" marR="0" lvl="0" indent="-171450" algn="just"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kumimoji="0" lang="es-CL" sz="1200" b="1" i="1" u="none" strike="noStrike" kern="1200" cap="none" spc="0" normalizeH="0" baseline="0" noProof="0" dirty="0" err="1">
                <a:ln>
                  <a:noFill/>
                </a:ln>
                <a:solidFill>
                  <a:prstClr val="black"/>
                </a:solidFill>
                <a:effectLst/>
                <a:uLnTx/>
                <a:uFillTx/>
                <a:latin typeface="Calibri"/>
                <a:ea typeface="+mn-ea"/>
                <a:cs typeface="+mn-cs"/>
              </a:rPr>
              <a:t>tablaN</a:t>
            </a:r>
            <a:r>
              <a:rPr kumimoji="0" lang="es-CL" sz="1200" b="1" i="0" u="none" strike="noStrike" kern="1200" cap="none" spc="0" normalizeH="0" baseline="0" noProof="0" dirty="0" err="1">
                <a:ln>
                  <a:noFill/>
                </a:ln>
                <a:solidFill>
                  <a:prstClr val="black"/>
                </a:solidFill>
                <a:effectLst/>
                <a:uLnTx/>
                <a:uFillTx/>
                <a:latin typeface="Calibri"/>
                <a:ea typeface="+mn-ea"/>
                <a:cs typeface="+mn-cs"/>
              </a:rPr>
              <a:t>.</a:t>
            </a:r>
            <a:r>
              <a:rPr kumimoji="0" lang="es-CL" sz="1200" b="1" i="1" u="none" strike="noStrike" kern="1200" cap="none" spc="0" normalizeH="0" baseline="0" noProof="0" dirty="0" err="1">
                <a:ln>
                  <a:noFill/>
                </a:ln>
                <a:solidFill>
                  <a:prstClr val="black"/>
                </a:solidFill>
                <a:effectLst/>
                <a:uLnTx/>
                <a:uFillTx/>
                <a:latin typeface="Calibri"/>
                <a:ea typeface="+mn-ea"/>
                <a:cs typeface="+mn-cs"/>
              </a:rPr>
              <a:t>columnaN</a:t>
            </a:r>
            <a:r>
              <a:rPr kumimoji="0" lang="es-CL" sz="1200" b="1" i="0" u="none" strike="noStrike" kern="1200" cap="none" spc="0" normalizeH="0" baseline="0" noProof="0" dirty="0">
                <a:ln>
                  <a:noFill/>
                </a:ln>
                <a:solidFill>
                  <a:prstClr val="black"/>
                </a:solidFill>
                <a:effectLst/>
                <a:uLnTx/>
                <a:uFillTx/>
                <a:latin typeface="Calibri"/>
                <a:ea typeface="+mn-ea"/>
                <a:cs typeface="+mn-cs"/>
              </a:rPr>
              <a:t>:</a:t>
            </a:r>
            <a:r>
              <a:rPr kumimoji="0" lang="es-CL" sz="1200" b="0" i="0" u="none" strike="noStrike" kern="1200" cap="none" spc="0" normalizeH="0" baseline="0" noProof="0" dirty="0">
                <a:ln>
                  <a:noFill/>
                </a:ln>
                <a:solidFill>
                  <a:prstClr val="black"/>
                </a:solidFill>
                <a:effectLst/>
                <a:uLnTx/>
                <a:uFillTx/>
                <a:latin typeface="Calibri"/>
                <a:ea typeface="+mn-ea"/>
                <a:cs typeface="+mn-cs"/>
              </a:rPr>
              <a:t> indica la tabla y la columna de la que se recuperan los datos.</a:t>
            </a:r>
            <a:endParaRPr kumimoji="0" lang="es-CL" sz="1200" b="0" i="0" u="none" strike="noStrike" kern="1200" cap="none" spc="0" normalizeH="0" baseline="0" noProof="0" dirty="0">
              <a:ln>
                <a:noFill/>
              </a:ln>
              <a:solidFill>
                <a:prstClr val="black"/>
              </a:solidFill>
              <a:effectLst/>
              <a:uLnTx/>
              <a:uFillTx/>
              <a:latin typeface="Calibri"/>
              <a:ea typeface="Arial Unicode MS"/>
              <a:cs typeface="Times New Roman" pitchFamily="18" charset="0"/>
            </a:endParaRPr>
          </a:p>
          <a:p>
            <a:pPr marL="171450" marR="0" lvl="0" indent="-171450" algn="just"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kumimoji="0" lang="es-MX" sz="1200" b="1" i="0" u="none" strike="noStrike" kern="1200" cap="none" spc="0" normalizeH="0" baseline="0" noProof="0" dirty="0">
                <a:ln>
                  <a:noFill/>
                </a:ln>
                <a:solidFill>
                  <a:prstClr val="black"/>
                </a:solidFill>
                <a:effectLst/>
                <a:uLnTx/>
                <a:uFillTx/>
                <a:latin typeface="Calibri"/>
                <a:ea typeface="ＭＳ Ｐゴシック" pitchFamily="34" charset="-128"/>
                <a:cs typeface="+mn-cs"/>
              </a:rPr>
              <a:t>RIGHT</a:t>
            </a:r>
            <a:r>
              <a:rPr kumimoji="0" lang="es-MX" sz="1200" b="1" i="0" u="none" strike="noStrike" kern="1200" cap="none" spc="0" normalizeH="0" baseline="0" noProof="0" dirty="0">
                <a:ln>
                  <a:noFill/>
                </a:ln>
                <a:solidFill>
                  <a:srgbClr val="000000"/>
                </a:solidFill>
                <a:effectLst/>
                <a:uLnTx/>
                <a:uFillTx/>
                <a:latin typeface="Calibri"/>
                <a:ea typeface="+mn-ea"/>
                <a:cs typeface="+mn-cs"/>
              </a:rPr>
              <a:t> OUTER JOIN:</a:t>
            </a:r>
            <a:r>
              <a:rPr kumimoji="0" lang="es-MX" sz="1200" b="0" i="0" u="none" strike="noStrike" kern="1200" cap="none" spc="0" normalizeH="0" baseline="0" noProof="0" dirty="0">
                <a:ln>
                  <a:noFill/>
                </a:ln>
                <a:solidFill>
                  <a:srgbClr val="000000"/>
                </a:solidFill>
                <a:effectLst/>
                <a:uLnTx/>
                <a:uFillTx/>
                <a:latin typeface="Calibri"/>
                <a:ea typeface="+mn-ea"/>
                <a:cs typeface="+mn-cs"/>
              </a:rPr>
              <a:t> indica el tipo de Unión Externo. La palabra OUTER es opcional ya que al usar la palabra </a:t>
            </a:r>
            <a:r>
              <a:rPr kumimoji="0" lang="es-MX" sz="1200" b="0" i="0" u="none" strike="noStrike" kern="1200" cap="none" spc="0" normalizeH="0" baseline="0" noProof="0" dirty="0">
                <a:ln>
                  <a:noFill/>
                </a:ln>
                <a:solidFill>
                  <a:prstClr val="black"/>
                </a:solidFill>
                <a:effectLst/>
                <a:uLnTx/>
                <a:uFillTx/>
                <a:latin typeface="Calibri"/>
                <a:ea typeface="ＭＳ Ｐゴシック" pitchFamily="34" charset="-128"/>
                <a:cs typeface="+mn-cs"/>
              </a:rPr>
              <a:t>RIGHT</a:t>
            </a:r>
            <a:r>
              <a:rPr kumimoji="0" lang="es-MX" sz="1200" b="0" i="0" u="none" strike="noStrike" kern="1200" cap="none" spc="0" normalizeH="0" baseline="0" noProof="0" dirty="0">
                <a:ln>
                  <a:noFill/>
                </a:ln>
                <a:solidFill>
                  <a:srgbClr val="000000"/>
                </a:solidFill>
                <a:effectLst/>
                <a:uLnTx/>
                <a:uFillTx/>
                <a:latin typeface="Calibri"/>
                <a:ea typeface="+mn-ea"/>
                <a:cs typeface="+mn-cs"/>
              </a:rPr>
              <a:t> la base de datos sabe que debe efectuar una unión externa entre las tablas.</a:t>
            </a:r>
            <a:endParaRPr kumimoji="0" lang="es-MX" sz="1200" b="0" i="0" u="none" strike="noStrike" kern="1200" cap="none" spc="0" normalizeH="0" baseline="0" noProof="0" dirty="0">
              <a:ln>
                <a:noFill/>
              </a:ln>
              <a:solidFill>
                <a:prstClr val="black"/>
              </a:solidFill>
              <a:effectLst/>
              <a:uLnTx/>
              <a:uFillTx/>
              <a:latin typeface="Calibri"/>
              <a:ea typeface="ＭＳ Ｐゴシック" pitchFamily="34" charset="-128"/>
              <a:cs typeface="Arial" pitchFamily="34" charset="0"/>
            </a:endParaRPr>
          </a:p>
          <a:p>
            <a:pPr marL="0" marR="0" lvl="0" indent="0" algn="just" defTabSz="914400" rtl="0" eaLnBrk="0" fontAlgn="base" latinLnBrk="0" hangingPunct="0">
              <a:lnSpc>
                <a:spcPct val="100000"/>
              </a:lnSpc>
              <a:spcBef>
                <a:spcPct val="30000"/>
              </a:spcBef>
              <a:spcAft>
                <a:spcPct val="0"/>
              </a:spcAft>
              <a:buClrTx/>
              <a:buSzTx/>
              <a:buFontTx/>
              <a:buNone/>
              <a:tabLst/>
              <a:defRPr/>
            </a:pPr>
            <a:endParaRPr kumimoji="0" lang="es-CL" sz="1200" b="0" i="0" u="none" strike="noStrike" kern="1200" cap="none" spc="0" normalizeH="0" baseline="0" noProof="0" dirty="0">
              <a:ln>
                <a:noFill/>
              </a:ln>
              <a:solidFill>
                <a:prstClr val="black"/>
              </a:solidFill>
              <a:effectLst/>
              <a:uLnTx/>
              <a:uFillTx/>
              <a:latin typeface="Calibri"/>
              <a:ea typeface="+mn-ea"/>
              <a:cs typeface="Arial" charset="0"/>
            </a:endParaRPr>
          </a:p>
        </p:txBody>
      </p:sp>
    </p:spTree>
    <p:extLst>
      <p:ext uri="{BB962C8B-B14F-4D97-AF65-F5344CB8AC3E}">
        <p14:creationId xmlns:p14="http://schemas.microsoft.com/office/powerpoint/2010/main" val="8264702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just" defTabSz="914400" rtl="0" eaLnBrk="0" fontAlgn="base" latinLnBrk="0" hangingPunct="0">
              <a:lnSpc>
                <a:spcPct val="100000"/>
              </a:lnSpc>
              <a:spcBef>
                <a:spcPct val="30000"/>
              </a:spcBef>
              <a:spcAft>
                <a:spcPct val="0"/>
              </a:spcAft>
              <a:buClrTx/>
              <a:buSzTx/>
              <a:buFontTx/>
              <a:buNone/>
              <a:tabLst/>
              <a:defRPr/>
            </a:pPr>
            <a:r>
              <a:rPr kumimoji="0" lang="es-CL" sz="1200" b="1" i="0" u="none" strike="noStrike" kern="1200" cap="none" spc="0" normalizeH="0" baseline="0" noProof="0" dirty="0">
                <a:ln>
                  <a:noFill/>
                </a:ln>
                <a:solidFill>
                  <a:prstClr val="black"/>
                </a:solidFill>
                <a:effectLst/>
                <a:uLnTx/>
                <a:uFillTx/>
                <a:latin typeface="Calibri"/>
                <a:ea typeface="ＭＳ Ｐゴシック" pitchFamily="34" charset="-128"/>
                <a:cs typeface="Arial" pitchFamily="34" charset="0"/>
              </a:rPr>
              <a:t>Creando </a:t>
            </a:r>
            <a:r>
              <a:rPr kumimoji="0" lang="es-MX" sz="1200" b="1" i="0" u="none" strike="noStrike" kern="1200" cap="none" spc="0" normalizeH="0" baseline="0" noProof="0" dirty="0">
                <a:ln>
                  <a:noFill/>
                </a:ln>
                <a:solidFill>
                  <a:prstClr val="black"/>
                </a:solidFill>
                <a:effectLst/>
                <a:uLnTx/>
                <a:uFillTx/>
                <a:latin typeface="Calibri"/>
                <a:ea typeface="ＭＳ Ｐゴシック" pitchFamily="34" charset="-128"/>
                <a:cs typeface="Arial" charset="0"/>
              </a:rPr>
              <a:t>RIGHT OUTER JOIN</a:t>
            </a:r>
            <a:endParaRPr kumimoji="0" lang="es-CL" sz="1200" b="1" i="0" u="none" strike="noStrike" kern="1200" cap="none" spc="0" normalizeH="0" baseline="0" noProof="0" dirty="0">
              <a:ln>
                <a:noFill/>
              </a:ln>
              <a:solidFill>
                <a:prstClr val="black"/>
              </a:solidFill>
              <a:effectLst/>
              <a:uLnTx/>
              <a:uFillTx/>
              <a:latin typeface="Calibri"/>
              <a:ea typeface="ＭＳ Ｐゴシック" pitchFamily="34" charset="-128"/>
              <a:cs typeface="Arial" pitchFamily="34" charset="0"/>
            </a:endParaRPr>
          </a:p>
          <a:p>
            <a:pPr marL="0" marR="0" lvl="0" indent="0" algn="just" defTabSz="914400" rtl="0" eaLnBrk="0" fontAlgn="base" latinLnBrk="0" hangingPunct="0">
              <a:lnSpc>
                <a:spcPct val="100000"/>
              </a:lnSpc>
              <a:spcBef>
                <a:spcPct val="30000"/>
              </a:spcBef>
              <a:spcAft>
                <a:spcPct val="0"/>
              </a:spcAft>
              <a:buClrTx/>
              <a:buSzTx/>
              <a:buFontTx/>
              <a:buNone/>
              <a:tabLst/>
              <a:defRPr/>
            </a:pPr>
            <a:r>
              <a:rPr kumimoji="0" lang="es-CL" sz="1200" b="0" i="0" u="none" strike="noStrike" kern="1200" cap="none" spc="0" normalizeH="0" baseline="0" noProof="0" dirty="0">
                <a:ln>
                  <a:noFill/>
                </a:ln>
                <a:solidFill>
                  <a:prstClr val="black"/>
                </a:solidFill>
                <a:effectLst/>
                <a:uLnTx/>
                <a:uFillTx/>
                <a:latin typeface="Calibri"/>
                <a:ea typeface="ＭＳ Ｐゴシック" pitchFamily="34" charset="-128"/>
                <a:cs typeface="Arial" pitchFamily="34" charset="0"/>
              </a:rPr>
              <a:t>En la sentencia del ejemplo, para poder mostrar todos los departamentos de la tabla DEPARTMENTS (a la derecha del </a:t>
            </a:r>
            <a:r>
              <a:rPr kumimoji="0" lang="es-CL" sz="1200" b="0" i="0" u="none" strike="noStrike" kern="1200" cap="none" spc="0" normalizeH="0" baseline="0" noProof="0" dirty="0" err="1">
                <a:ln>
                  <a:noFill/>
                </a:ln>
                <a:solidFill>
                  <a:prstClr val="black"/>
                </a:solidFill>
                <a:effectLst/>
                <a:uLnTx/>
                <a:uFillTx/>
                <a:latin typeface="Calibri"/>
                <a:ea typeface="ＭＳ Ｐゴシック" pitchFamily="34" charset="-128"/>
                <a:cs typeface="Arial" pitchFamily="34" charset="0"/>
              </a:rPr>
              <a:t>Join</a:t>
            </a:r>
            <a:r>
              <a:rPr kumimoji="0" lang="es-CL" sz="1200" b="0" i="0" u="none" strike="noStrike" kern="1200" cap="none" spc="0" normalizeH="0" baseline="0" noProof="0" dirty="0">
                <a:ln>
                  <a:noFill/>
                </a:ln>
                <a:solidFill>
                  <a:prstClr val="black"/>
                </a:solidFill>
                <a:effectLst/>
                <a:uLnTx/>
                <a:uFillTx/>
                <a:latin typeface="Calibri"/>
                <a:ea typeface="ＭＳ Ｐゴシック" pitchFamily="34" charset="-128"/>
                <a:cs typeface="Arial" pitchFamily="34" charset="0"/>
              </a:rPr>
              <a:t>) exista o no el departamento en la tabla EMPLOYEES se debe utilizar  RIGHT OUTER JOIN. Por esta razón, el empleado 178 (con departamento NULO) no aparece en el resultado final del </a:t>
            </a:r>
            <a:r>
              <a:rPr kumimoji="0" lang="es-CL" sz="1200" b="0" i="0" u="none" strike="noStrike" kern="1200" cap="none" spc="0" normalizeH="0" baseline="0" noProof="0" dirty="0" err="1">
                <a:ln>
                  <a:noFill/>
                </a:ln>
                <a:solidFill>
                  <a:prstClr val="black"/>
                </a:solidFill>
                <a:effectLst/>
                <a:uLnTx/>
                <a:uFillTx/>
                <a:latin typeface="Calibri"/>
                <a:ea typeface="ＭＳ Ｐゴシック" pitchFamily="34" charset="-128"/>
                <a:cs typeface="Arial" pitchFamily="34" charset="0"/>
              </a:rPr>
              <a:t>Join</a:t>
            </a:r>
            <a:r>
              <a:rPr kumimoji="0" lang="es-CL" sz="1200" b="0" i="0" u="none" strike="noStrike" kern="1200" cap="none" spc="0" normalizeH="0" baseline="0" noProof="0" dirty="0">
                <a:ln>
                  <a:noFill/>
                </a:ln>
                <a:solidFill>
                  <a:prstClr val="black"/>
                </a:solidFill>
                <a:effectLst/>
                <a:uLnTx/>
                <a:uFillTx/>
                <a:latin typeface="Calibri"/>
                <a:ea typeface="ＭＳ Ｐゴシック" pitchFamily="34" charset="-128"/>
                <a:cs typeface="Arial" pitchFamily="34" charset="0"/>
              </a:rPr>
              <a:t> pero si aparecen todos los departamentos almacenados en la tabla DEPARTMENTS tengan o no empleados asignados.</a:t>
            </a:r>
            <a:endParaRPr kumimoji="0" lang="es-MX" sz="1200" b="0" i="0" u="none" strike="noStrike" kern="1200" cap="none" spc="0" normalizeH="0" baseline="0" noProof="0" dirty="0">
              <a:ln>
                <a:noFill/>
              </a:ln>
              <a:solidFill>
                <a:prstClr val="black"/>
              </a:solidFill>
              <a:effectLst/>
              <a:uLnTx/>
              <a:uFillTx/>
              <a:latin typeface="Arial" pitchFamily="34" charset="0"/>
              <a:ea typeface="ＭＳ Ｐゴシック" pitchFamily="34" charset="-128"/>
              <a:cs typeface="Arial" pitchFamily="34" charset="0"/>
            </a:endParaRPr>
          </a:p>
          <a:p>
            <a:pPr marL="0" marR="0" lvl="0" indent="0" algn="just" defTabSz="914400" rtl="0" eaLnBrk="0" fontAlgn="base" latinLnBrk="0" hangingPunct="0">
              <a:lnSpc>
                <a:spcPct val="100000"/>
              </a:lnSpc>
              <a:spcBef>
                <a:spcPct val="30000"/>
              </a:spcBef>
              <a:spcAft>
                <a:spcPct val="0"/>
              </a:spcAft>
              <a:buClrTx/>
              <a:buSzTx/>
              <a:buFontTx/>
              <a:buNone/>
              <a:tabLst/>
              <a:defRPr/>
            </a:pPr>
            <a:endParaRPr kumimoji="0" lang="es-CL" sz="1200" b="0" i="0" u="none" strike="noStrike" kern="1200" cap="none" spc="0" normalizeH="0" baseline="0" noProof="0" dirty="0">
              <a:ln>
                <a:noFill/>
              </a:ln>
              <a:solidFill>
                <a:prstClr val="black"/>
              </a:solidFill>
              <a:effectLst/>
              <a:uLnTx/>
              <a:uFillTx/>
              <a:latin typeface="Calibri"/>
              <a:ea typeface="+mn-ea"/>
              <a:cs typeface="Arial" charset="0"/>
            </a:endParaRPr>
          </a:p>
        </p:txBody>
      </p:sp>
    </p:spTree>
    <p:extLst>
      <p:ext uri="{BB962C8B-B14F-4D97-AF65-F5344CB8AC3E}">
        <p14:creationId xmlns:p14="http://schemas.microsoft.com/office/powerpoint/2010/main" val="340548399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just" defTabSz="914400" rtl="0" eaLnBrk="0" fontAlgn="base" latinLnBrk="0" hangingPunct="0">
              <a:lnSpc>
                <a:spcPct val="100000"/>
              </a:lnSpc>
              <a:spcBef>
                <a:spcPct val="30000"/>
              </a:spcBef>
              <a:spcAft>
                <a:spcPct val="0"/>
              </a:spcAft>
              <a:buClrTx/>
              <a:buSzTx/>
              <a:buFontTx/>
              <a:buNone/>
              <a:tabLst/>
              <a:defRPr/>
            </a:pPr>
            <a:r>
              <a:rPr kumimoji="0" lang="es-CL" sz="1200" b="1" i="0" u="none" strike="noStrike" kern="1200" cap="none" spc="0" normalizeH="0" baseline="0" noProof="0" dirty="0">
                <a:ln>
                  <a:noFill/>
                </a:ln>
                <a:solidFill>
                  <a:prstClr val="black"/>
                </a:solidFill>
                <a:effectLst/>
                <a:uLnTx/>
                <a:uFillTx/>
                <a:latin typeface="Calibri"/>
                <a:ea typeface="ＭＳ Ｐゴシック" pitchFamily="34" charset="-128"/>
                <a:cs typeface="Arial" pitchFamily="34" charset="0"/>
              </a:rPr>
              <a:t>Creando </a:t>
            </a:r>
            <a:r>
              <a:rPr kumimoji="0" lang="es-MX" sz="1200" b="1" i="0" u="none" strike="noStrike" kern="1200" cap="none" spc="0" normalizeH="0" baseline="0" noProof="0" dirty="0">
                <a:ln>
                  <a:noFill/>
                </a:ln>
                <a:solidFill>
                  <a:prstClr val="black"/>
                </a:solidFill>
                <a:effectLst/>
                <a:uLnTx/>
                <a:uFillTx/>
                <a:latin typeface="Calibri"/>
                <a:ea typeface="ＭＳ Ｐゴシック" pitchFamily="34" charset="-128"/>
                <a:cs typeface="Arial" charset="0"/>
              </a:rPr>
              <a:t>RIGHT OUTER JOIN</a:t>
            </a:r>
            <a:endParaRPr kumimoji="0" lang="es-CL" sz="1200" b="1" i="0" u="none" strike="noStrike" kern="1200" cap="none" spc="0" normalizeH="0" baseline="0" noProof="0" dirty="0">
              <a:ln>
                <a:noFill/>
              </a:ln>
              <a:solidFill>
                <a:prstClr val="black"/>
              </a:solidFill>
              <a:effectLst/>
              <a:uLnTx/>
              <a:uFillTx/>
              <a:latin typeface="Calibri"/>
              <a:ea typeface="ＭＳ Ｐゴシック" pitchFamily="34" charset="-128"/>
              <a:cs typeface="Arial" pitchFamily="34" charset="0"/>
            </a:endParaRPr>
          </a:p>
          <a:p>
            <a:pPr marL="0" marR="0" lvl="0" indent="0" algn="just" defTabSz="914400" rtl="0" eaLnBrk="0" fontAlgn="base" latinLnBrk="0" hangingPunct="0">
              <a:lnSpc>
                <a:spcPct val="100000"/>
              </a:lnSpc>
              <a:spcBef>
                <a:spcPct val="30000"/>
              </a:spcBef>
              <a:spcAft>
                <a:spcPct val="0"/>
              </a:spcAft>
              <a:buClrTx/>
              <a:buSzTx/>
              <a:buFontTx/>
              <a:buNone/>
              <a:tabLst/>
              <a:defRPr/>
            </a:pPr>
            <a:r>
              <a:rPr kumimoji="0" lang="es-CL" sz="1200" b="0" i="0" u="none" strike="noStrike" kern="1200" cap="none" spc="0" normalizeH="0" baseline="0" noProof="0" dirty="0">
                <a:ln>
                  <a:noFill/>
                </a:ln>
                <a:solidFill>
                  <a:prstClr val="black"/>
                </a:solidFill>
                <a:effectLst/>
                <a:uLnTx/>
                <a:uFillTx/>
                <a:latin typeface="Calibri"/>
                <a:ea typeface="+mn-ea"/>
                <a:cs typeface="+mn-cs"/>
              </a:rPr>
              <a:t>En el ejemplo, para poder mostrar todos los departamentos que poseen menos de 5 empleados, incluyendo los departamentos que no poseen empleados, se debe utilizar RIGHT OUTER JOIN. Esto significa que la sentencia obtiene las filas cuyos departamentos existen en las tablas EMPLOYEES y DEPARTMENTS. Además, obtiene las filas de los departamentos que están en la tabla DEPARTMENTS (a la derecha del </a:t>
            </a:r>
            <a:r>
              <a:rPr kumimoji="0" lang="es-CL" sz="1200" b="0" i="0" u="none" strike="noStrike" kern="1200" cap="none" spc="0" normalizeH="0" baseline="0" noProof="0" dirty="0" err="1">
                <a:ln>
                  <a:noFill/>
                </a:ln>
                <a:solidFill>
                  <a:prstClr val="black"/>
                </a:solidFill>
                <a:effectLst/>
                <a:uLnTx/>
                <a:uFillTx/>
                <a:latin typeface="Calibri"/>
                <a:ea typeface="+mn-ea"/>
                <a:cs typeface="+mn-cs"/>
              </a:rPr>
              <a:t>Join</a:t>
            </a:r>
            <a:r>
              <a:rPr kumimoji="0" lang="es-CL" sz="1200" b="0" i="0" u="none" strike="noStrike" kern="1200" cap="none" spc="0" normalizeH="0" baseline="0" noProof="0" dirty="0">
                <a:ln>
                  <a:noFill/>
                </a:ln>
                <a:solidFill>
                  <a:prstClr val="black"/>
                </a:solidFill>
                <a:effectLst/>
                <a:uLnTx/>
                <a:uFillTx/>
                <a:latin typeface="Calibri"/>
                <a:ea typeface="+mn-ea"/>
                <a:cs typeface="+mn-cs"/>
              </a:rPr>
              <a:t>) y que no existen en la tabla EMPLEOYEES.  La condición adicional es que los grupos posean menos de 5 filas, o sea, que la cantidad de empleados que se cuenten por cada departamento sea menor a 5.</a:t>
            </a:r>
            <a:endParaRPr kumimoji="0" lang="es-MX" sz="1200" b="0" i="0" u="none" strike="noStrike" kern="1200" cap="none" spc="0" normalizeH="0" baseline="0" noProof="0" dirty="0">
              <a:ln>
                <a:noFill/>
              </a:ln>
              <a:solidFill>
                <a:prstClr val="black"/>
              </a:solidFill>
              <a:effectLst/>
              <a:uLnTx/>
              <a:uFillTx/>
              <a:latin typeface="Arial" pitchFamily="34" charset="0"/>
              <a:ea typeface="ＭＳ Ｐゴシック" pitchFamily="34" charset="-128"/>
              <a:cs typeface="Arial" pitchFamily="34" charset="0"/>
            </a:endParaRPr>
          </a:p>
          <a:p>
            <a:pPr marL="0" marR="0" lvl="0" indent="0" algn="just" defTabSz="914400" rtl="0" eaLnBrk="0" fontAlgn="base" latinLnBrk="0" hangingPunct="0">
              <a:lnSpc>
                <a:spcPct val="100000"/>
              </a:lnSpc>
              <a:spcBef>
                <a:spcPct val="30000"/>
              </a:spcBef>
              <a:spcAft>
                <a:spcPct val="0"/>
              </a:spcAft>
              <a:buClrTx/>
              <a:buSzTx/>
              <a:buFontTx/>
              <a:buNone/>
              <a:tabLst/>
              <a:defRPr/>
            </a:pPr>
            <a:endParaRPr kumimoji="0" lang="es-CL" sz="1200" b="0" i="0" u="none" strike="noStrike" kern="1200" cap="none" spc="0" normalizeH="0" baseline="0" noProof="0" dirty="0">
              <a:ln>
                <a:noFill/>
              </a:ln>
              <a:solidFill>
                <a:prstClr val="black"/>
              </a:solidFill>
              <a:effectLst/>
              <a:uLnTx/>
              <a:uFillTx/>
              <a:latin typeface="Calibri"/>
              <a:ea typeface="+mn-ea"/>
              <a:cs typeface="Arial" charset="0"/>
            </a:endParaRPr>
          </a:p>
        </p:txBody>
      </p:sp>
    </p:spTree>
    <p:extLst>
      <p:ext uri="{BB962C8B-B14F-4D97-AF65-F5344CB8AC3E}">
        <p14:creationId xmlns:p14="http://schemas.microsoft.com/office/powerpoint/2010/main" val="21450282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es-MX" sz="1200" b="1" i="0" u="none" strike="noStrike" kern="1200" cap="none" spc="0" normalizeH="0" baseline="0" noProof="0" dirty="0">
                <a:ln>
                  <a:noFill/>
                </a:ln>
                <a:solidFill>
                  <a:prstClr val="black"/>
                </a:solidFill>
                <a:effectLst/>
                <a:uLnTx/>
                <a:uFillTx/>
                <a:latin typeface="Calibri"/>
                <a:ea typeface="ＭＳ Ｐゴシック" pitchFamily="34" charset="-128"/>
                <a:cs typeface="Arial" pitchFamily="34" charset="0"/>
              </a:rPr>
              <a:t>Creando FULL OUTER JOIN</a:t>
            </a:r>
          </a:p>
          <a:p>
            <a:pPr marL="0" marR="0" lvl="0" indent="0" algn="just" defTabSz="914400" rtl="0" eaLnBrk="0" fontAlgn="base" latinLnBrk="0" hangingPunct="0">
              <a:lnSpc>
                <a:spcPct val="100000"/>
              </a:lnSpc>
              <a:spcBef>
                <a:spcPct val="30000"/>
              </a:spcBef>
              <a:spcAft>
                <a:spcPct val="0"/>
              </a:spcAft>
              <a:buClrTx/>
              <a:buSzTx/>
              <a:buFontTx/>
              <a:buNone/>
              <a:tabLst/>
              <a:defRPr/>
            </a:pPr>
            <a:r>
              <a:rPr kumimoji="0" lang="es-CL" sz="1200" b="0" i="0" u="none" strike="noStrike" kern="1200" cap="none" spc="0" normalizeH="0" baseline="0" noProof="0" dirty="0">
                <a:ln>
                  <a:noFill/>
                </a:ln>
                <a:solidFill>
                  <a:prstClr val="black"/>
                </a:solidFill>
                <a:effectLst/>
                <a:uLnTx/>
                <a:uFillTx/>
                <a:latin typeface="Calibri"/>
                <a:ea typeface="Arial Unicode MS"/>
                <a:cs typeface="Times New Roman" pitchFamily="18" charset="0"/>
              </a:rPr>
              <a:t>FULL </a:t>
            </a:r>
            <a:r>
              <a:rPr kumimoji="0" lang="es-CL" sz="1200" b="0" i="0" u="none" strike="noStrike" kern="1200" cap="none" spc="0" normalizeH="0" baseline="0" noProof="0" dirty="0" err="1">
                <a:ln>
                  <a:noFill/>
                </a:ln>
                <a:solidFill>
                  <a:prstClr val="black"/>
                </a:solidFill>
                <a:effectLst/>
                <a:uLnTx/>
                <a:uFillTx/>
                <a:latin typeface="Calibri"/>
                <a:ea typeface="Arial Unicode MS"/>
                <a:cs typeface="Times New Roman" pitchFamily="18" charset="0"/>
              </a:rPr>
              <a:t>Outer</a:t>
            </a:r>
            <a:r>
              <a:rPr kumimoji="0" lang="es-CL" sz="1200" b="0" i="0" u="none" strike="noStrike" kern="1200" cap="none" spc="0" normalizeH="0" baseline="0" noProof="0" dirty="0">
                <a:ln>
                  <a:noFill/>
                </a:ln>
                <a:solidFill>
                  <a:prstClr val="black"/>
                </a:solidFill>
                <a:effectLst/>
                <a:uLnTx/>
                <a:uFillTx/>
                <a:latin typeface="Calibri"/>
                <a:ea typeface="Arial Unicode MS"/>
                <a:cs typeface="Times New Roman" pitchFamily="18" charset="0"/>
              </a:rPr>
              <a:t> </a:t>
            </a:r>
            <a:r>
              <a:rPr kumimoji="0" lang="es-CL" sz="1200" b="0" i="0" u="none" strike="noStrike" kern="1200" cap="none" spc="0" normalizeH="0" baseline="0" noProof="0" dirty="0" err="1">
                <a:ln>
                  <a:noFill/>
                </a:ln>
                <a:solidFill>
                  <a:prstClr val="black"/>
                </a:solidFill>
                <a:effectLst/>
                <a:uLnTx/>
                <a:uFillTx/>
                <a:latin typeface="Calibri"/>
                <a:ea typeface="Arial Unicode MS"/>
                <a:cs typeface="Times New Roman" pitchFamily="18" charset="0"/>
              </a:rPr>
              <a:t>Join</a:t>
            </a:r>
            <a:r>
              <a:rPr kumimoji="0" lang="es-CL" sz="1200" b="0" i="0" u="none" strike="noStrike" kern="1200" cap="none" spc="0" normalizeH="0" baseline="0" noProof="0" dirty="0">
                <a:ln>
                  <a:noFill/>
                </a:ln>
                <a:solidFill>
                  <a:prstClr val="black"/>
                </a:solidFill>
                <a:effectLst/>
                <a:uLnTx/>
                <a:uFillTx/>
                <a:latin typeface="Calibri"/>
                <a:ea typeface="Arial Unicode MS"/>
                <a:cs typeface="Times New Roman" pitchFamily="18" charset="0"/>
              </a:rPr>
              <a:t> retorna el resultado del </a:t>
            </a:r>
            <a:r>
              <a:rPr kumimoji="0" lang="es-CL" sz="1200" b="0" i="0" u="none" strike="noStrike" kern="1200" cap="none" spc="0" normalizeH="0" baseline="0" noProof="0" dirty="0" err="1">
                <a:ln>
                  <a:noFill/>
                </a:ln>
                <a:solidFill>
                  <a:prstClr val="black"/>
                </a:solidFill>
                <a:effectLst/>
                <a:uLnTx/>
                <a:uFillTx/>
                <a:latin typeface="Calibri"/>
                <a:ea typeface="Arial Unicode MS"/>
                <a:cs typeface="Times New Roman" pitchFamily="18" charset="0"/>
              </a:rPr>
              <a:t>Inner</a:t>
            </a:r>
            <a:r>
              <a:rPr kumimoji="0" lang="es-CL" sz="1200" b="0" i="0" u="none" strike="noStrike" kern="1200" cap="none" spc="0" normalizeH="0" baseline="0" noProof="0" dirty="0">
                <a:ln>
                  <a:noFill/>
                </a:ln>
                <a:solidFill>
                  <a:prstClr val="black"/>
                </a:solidFill>
                <a:effectLst/>
                <a:uLnTx/>
                <a:uFillTx/>
                <a:latin typeface="Calibri"/>
                <a:ea typeface="Arial Unicode MS"/>
                <a:cs typeface="Times New Roman" pitchFamily="18" charset="0"/>
              </a:rPr>
              <a:t> </a:t>
            </a:r>
            <a:r>
              <a:rPr kumimoji="0" lang="es-CL" sz="1200" b="0" i="0" u="none" strike="noStrike" kern="1200" cap="none" spc="0" normalizeH="0" baseline="0" noProof="0" dirty="0" err="1">
                <a:ln>
                  <a:noFill/>
                </a:ln>
                <a:solidFill>
                  <a:prstClr val="black"/>
                </a:solidFill>
                <a:effectLst/>
                <a:uLnTx/>
                <a:uFillTx/>
                <a:latin typeface="Calibri"/>
                <a:ea typeface="Arial Unicode MS"/>
                <a:cs typeface="Times New Roman" pitchFamily="18" charset="0"/>
              </a:rPr>
              <a:t>Join</a:t>
            </a:r>
            <a:r>
              <a:rPr kumimoji="0" lang="es-CL" sz="1200" b="0" i="0" u="none" strike="noStrike" kern="1200" cap="none" spc="0" normalizeH="0" baseline="0" noProof="0" dirty="0">
                <a:ln>
                  <a:noFill/>
                </a:ln>
                <a:solidFill>
                  <a:prstClr val="black"/>
                </a:solidFill>
                <a:effectLst/>
                <a:uLnTx/>
                <a:uFillTx/>
                <a:latin typeface="Calibri"/>
                <a:ea typeface="Arial Unicode MS"/>
                <a:cs typeface="Times New Roman" pitchFamily="18" charset="0"/>
              </a:rPr>
              <a:t> entre las dos tablas, además las filas de la tabla a la izquierda del </a:t>
            </a:r>
            <a:r>
              <a:rPr kumimoji="0" lang="es-CL" sz="1200" b="0" i="0" u="none" strike="noStrike" kern="1200" cap="none" spc="0" normalizeH="0" baseline="0" noProof="0" dirty="0" err="1">
                <a:ln>
                  <a:noFill/>
                </a:ln>
                <a:solidFill>
                  <a:prstClr val="black"/>
                </a:solidFill>
                <a:effectLst/>
                <a:uLnTx/>
                <a:uFillTx/>
                <a:latin typeface="Calibri"/>
                <a:ea typeface="Arial Unicode MS"/>
                <a:cs typeface="Times New Roman" pitchFamily="18" charset="0"/>
              </a:rPr>
              <a:t>Join</a:t>
            </a:r>
            <a:r>
              <a:rPr kumimoji="0" lang="es-CL" sz="1200" b="0" i="0" u="none" strike="noStrike" kern="1200" cap="none" spc="0" normalizeH="0" baseline="0" noProof="0" dirty="0">
                <a:ln>
                  <a:noFill/>
                </a:ln>
                <a:solidFill>
                  <a:prstClr val="black"/>
                </a:solidFill>
                <a:effectLst/>
                <a:uLnTx/>
                <a:uFillTx/>
                <a:latin typeface="Calibri"/>
                <a:ea typeface="Arial Unicode MS"/>
                <a:cs typeface="Times New Roman" pitchFamily="18" charset="0"/>
              </a:rPr>
              <a:t> que no existen en la tabla de la derecha del </a:t>
            </a:r>
            <a:r>
              <a:rPr kumimoji="0" lang="es-CL" sz="1200" b="0" i="0" u="none" strike="noStrike" kern="1200" cap="none" spc="0" normalizeH="0" baseline="0" noProof="0" dirty="0" err="1">
                <a:ln>
                  <a:noFill/>
                </a:ln>
                <a:solidFill>
                  <a:prstClr val="black"/>
                </a:solidFill>
                <a:effectLst/>
                <a:uLnTx/>
                <a:uFillTx/>
                <a:latin typeface="Calibri"/>
                <a:ea typeface="Arial Unicode MS"/>
                <a:cs typeface="Times New Roman" pitchFamily="18" charset="0"/>
              </a:rPr>
              <a:t>Join</a:t>
            </a:r>
            <a:r>
              <a:rPr kumimoji="0" lang="es-CL" sz="1200" b="0" i="0" u="none" strike="noStrike" kern="1200" cap="none" spc="0" normalizeH="0" baseline="0" noProof="0" dirty="0">
                <a:ln>
                  <a:noFill/>
                </a:ln>
                <a:solidFill>
                  <a:prstClr val="black"/>
                </a:solidFill>
                <a:effectLst/>
                <a:uLnTx/>
                <a:uFillTx/>
                <a:latin typeface="Calibri"/>
                <a:ea typeface="Arial Unicode MS"/>
                <a:cs typeface="Times New Roman" pitchFamily="18" charset="0"/>
              </a:rPr>
              <a:t> y además las filas de la tabla de la derecha del </a:t>
            </a:r>
            <a:r>
              <a:rPr kumimoji="0" lang="es-CL" sz="1200" b="0" i="0" u="none" strike="noStrike" kern="1200" cap="none" spc="0" normalizeH="0" baseline="0" noProof="0" dirty="0" err="1">
                <a:ln>
                  <a:noFill/>
                </a:ln>
                <a:solidFill>
                  <a:prstClr val="black"/>
                </a:solidFill>
                <a:effectLst/>
                <a:uLnTx/>
                <a:uFillTx/>
                <a:latin typeface="Calibri"/>
                <a:ea typeface="Arial Unicode MS"/>
                <a:cs typeface="Times New Roman" pitchFamily="18" charset="0"/>
              </a:rPr>
              <a:t>Join</a:t>
            </a:r>
            <a:r>
              <a:rPr kumimoji="0" lang="es-CL" sz="1200" b="0" i="0" u="none" strike="noStrike" kern="1200" cap="none" spc="0" normalizeH="0" baseline="0" noProof="0" dirty="0">
                <a:ln>
                  <a:noFill/>
                </a:ln>
                <a:solidFill>
                  <a:prstClr val="black"/>
                </a:solidFill>
                <a:effectLst/>
                <a:uLnTx/>
                <a:uFillTx/>
                <a:latin typeface="Calibri"/>
                <a:ea typeface="Arial Unicode MS"/>
                <a:cs typeface="Times New Roman" pitchFamily="18" charset="0"/>
              </a:rPr>
              <a:t> que no existen la tabla de la izquierda del </a:t>
            </a:r>
            <a:r>
              <a:rPr kumimoji="0" lang="es-CL" sz="1200" b="0" i="0" u="none" strike="noStrike" kern="1200" cap="none" spc="0" normalizeH="0" baseline="0" noProof="0" dirty="0" err="1">
                <a:ln>
                  <a:noFill/>
                </a:ln>
                <a:solidFill>
                  <a:prstClr val="black"/>
                </a:solidFill>
                <a:effectLst/>
                <a:uLnTx/>
                <a:uFillTx/>
                <a:latin typeface="Calibri"/>
                <a:ea typeface="Arial Unicode MS"/>
                <a:cs typeface="Times New Roman" pitchFamily="18" charset="0"/>
              </a:rPr>
              <a:t>Join</a:t>
            </a:r>
            <a:r>
              <a:rPr kumimoji="0" lang="es-CL" sz="1200" b="0" i="0" u="none" strike="noStrike" kern="1200" cap="none" spc="0" normalizeH="0" baseline="0" noProof="0" dirty="0">
                <a:ln>
                  <a:noFill/>
                </a:ln>
                <a:solidFill>
                  <a:prstClr val="black"/>
                </a:solidFill>
                <a:effectLst/>
                <a:uLnTx/>
                <a:uFillTx/>
                <a:latin typeface="Calibri"/>
                <a:ea typeface="Arial Unicode MS"/>
                <a:cs typeface="Times New Roman" pitchFamily="18" charset="0"/>
              </a:rPr>
              <a:t>.</a:t>
            </a:r>
          </a:p>
          <a:p>
            <a:pPr marL="0" marR="0" lvl="0" indent="0" algn="just" defTabSz="914400" rtl="0" eaLnBrk="0" fontAlgn="base" latinLnBrk="0" hangingPunct="0">
              <a:lnSpc>
                <a:spcPct val="100000"/>
              </a:lnSpc>
              <a:spcBef>
                <a:spcPct val="30000"/>
              </a:spcBef>
              <a:spcAft>
                <a:spcPct val="0"/>
              </a:spcAft>
              <a:buClrTx/>
              <a:buSzTx/>
              <a:buFontTx/>
              <a:buNone/>
              <a:tabLst/>
              <a:defRPr/>
            </a:pPr>
            <a:r>
              <a:rPr kumimoji="0" lang="es-CL" sz="1200" b="0" i="0" u="none" strike="noStrike" kern="1200" cap="none" spc="0" normalizeH="0" baseline="0" noProof="0" dirty="0">
                <a:ln>
                  <a:noFill/>
                </a:ln>
                <a:solidFill>
                  <a:prstClr val="black"/>
                </a:solidFill>
                <a:effectLst/>
                <a:uLnTx/>
                <a:uFillTx/>
                <a:latin typeface="Calibri"/>
                <a:ea typeface="Arial Unicode MS"/>
                <a:cs typeface="Times New Roman" pitchFamily="18" charset="0"/>
              </a:rPr>
              <a:t>Es decir, retorna las filas cuyo valor de la columna de comparación existen en ambas tablas, además retorna las filas de tabla de la izquierda del </a:t>
            </a:r>
            <a:r>
              <a:rPr kumimoji="0" lang="es-CL" sz="1200" b="0" i="0" u="none" strike="noStrike" kern="1200" cap="none" spc="0" normalizeH="0" baseline="0" noProof="0" dirty="0" err="1">
                <a:ln>
                  <a:noFill/>
                </a:ln>
                <a:solidFill>
                  <a:prstClr val="black"/>
                </a:solidFill>
                <a:effectLst/>
                <a:uLnTx/>
                <a:uFillTx/>
                <a:latin typeface="Calibri"/>
                <a:ea typeface="Arial Unicode MS"/>
                <a:cs typeface="Times New Roman" pitchFamily="18" charset="0"/>
              </a:rPr>
              <a:t>Join</a:t>
            </a:r>
            <a:r>
              <a:rPr kumimoji="0" lang="es-CL" sz="1200" b="0" i="0" u="none" strike="noStrike" kern="1200" cap="none" spc="0" normalizeH="0" baseline="0" noProof="0" dirty="0">
                <a:ln>
                  <a:noFill/>
                </a:ln>
                <a:solidFill>
                  <a:prstClr val="black"/>
                </a:solidFill>
                <a:effectLst/>
                <a:uLnTx/>
                <a:uFillTx/>
                <a:latin typeface="Calibri"/>
                <a:ea typeface="Arial Unicode MS"/>
                <a:cs typeface="Times New Roman" pitchFamily="18" charset="0"/>
              </a:rPr>
              <a:t> aún cuando el valor de la columna de comparación no exista en la tabla de la derecha del </a:t>
            </a:r>
            <a:r>
              <a:rPr kumimoji="0" lang="es-CL" sz="1200" b="0" i="0" u="none" strike="noStrike" kern="1200" cap="none" spc="0" normalizeH="0" baseline="0" noProof="0" dirty="0" err="1">
                <a:ln>
                  <a:noFill/>
                </a:ln>
                <a:solidFill>
                  <a:prstClr val="black"/>
                </a:solidFill>
                <a:effectLst/>
                <a:uLnTx/>
                <a:uFillTx/>
                <a:latin typeface="Calibri"/>
                <a:ea typeface="Arial Unicode MS"/>
                <a:cs typeface="Times New Roman" pitchFamily="18" charset="0"/>
              </a:rPr>
              <a:t>Join</a:t>
            </a:r>
            <a:r>
              <a:rPr kumimoji="0" lang="es-CL" sz="1200" b="0" i="0" u="none" strike="noStrike" kern="1200" cap="none" spc="0" normalizeH="0" baseline="0" noProof="0" dirty="0">
                <a:ln>
                  <a:noFill/>
                </a:ln>
                <a:solidFill>
                  <a:prstClr val="black"/>
                </a:solidFill>
                <a:effectLst/>
                <a:uLnTx/>
                <a:uFillTx/>
                <a:latin typeface="Calibri"/>
                <a:ea typeface="Arial Unicode MS"/>
                <a:cs typeface="Times New Roman" pitchFamily="18" charset="0"/>
              </a:rPr>
              <a:t> y además retorna las filas de tabla de la derecha del </a:t>
            </a:r>
            <a:r>
              <a:rPr kumimoji="0" lang="es-CL" sz="1200" b="0" i="0" u="none" strike="noStrike" kern="1200" cap="none" spc="0" normalizeH="0" baseline="0" noProof="0" dirty="0" err="1">
                <a:ln>
                  <a:noFill/>
                </a:ln>
                <a:solidFill>
                  <a:prstClr val="black"/>
                </a:solidFill>
                <a:effectLst/>
                <a:uLnTx/>
                <a:uFillTx/>
                <a:latin typeface="Calibri"/>
                <a:ea typeface="Arial Unicode MS"/>
                <a:cs typeface="Times New Roman" pitchFamily="18" charset="0"/>
              </a:rPr>
              <a:t>Join</a:t>
            </a:r>
            <a:r>
              <a:rPr kumimoji="0" lang="es-CL" sz="1200" b="0" i="0" u="none" strike="noStrike" kern="1200" cap="none" spc="0" normalizeH="0" baseline="0" noProof="0" dirty="0">
                <a:ln>
                  <a:noFill/>
                </a:ln>
                <a:solidFill>
                  <a:prstClr val="black"/>
                </a:solidFill>
                <a:effectLst/>
                <a:uLnTx/>
                <a:uFillTx/>
                <a:latin typeface="Calibri"/>
                <a:ea typeface="Arial Unicode MS"/>
                <a:cs typeface="Times New Roman" pitchFamily="18" charset="0"/>
              </a:rPr>
              <a:t> aún cuando el valor de la columna de comparación no exista en la tabla de la izquierda del </a:t>
            </a:r>
            <a:r>
              <a:rPr kumimoji="0" lang="es-CL" sz="1200" b="0" i="0" u="none" strike="noStrike" kern="1200" cap="none" spc="0" normalizeH="0" baseline="0" noProof="0" dirty="0" err="1">
                <a:ln>
                  <a:noFill/>
                </a:ln>
                <a:solidFill>
                  <a:prstClr val="black"/>
                </a:solidFill>
                <a:effectLst/>
                <a:uLnTx/>
                <a:uFillTx/>
                <a:latin typeface="Calibri"/>
                <a:ea typeface="Arial Unicode MS"/>
                <a:cs typeface="Times New Roman" pitchFamily="18" charset="0"/>
              </a:rPr>
              <a:t>Join</a:t>
            </a:r>
            <a:r>
              <a:rPr kumimoji="0" lang="es-CL" sz="1200" b="0" i="0" u="none" strike="noStrike" kern="1200" cap="none" spc="0" normalizeH="0" baseline="0" noProof="0" dirty="0">
                <a:ln>
                  <a:noFill/>
                </a:ln>
                <a:solidFill>
                  <a:prstClr val="black"/>
                </a:solidFill>
                <a:effectLst/>
                <a:uLnTx/>
                <a:uFillTx/>
                <a:latin typeface="Calibri"/>
                <a:ea typeface="Arial Unicode MS"/>
                <a:cs typeface="Times New Roman" pitchFamily="18" charset="0"/>
              </a:rPr>
              <a:t>.</a:t>
            </a:r>
          </a:p>
          <a:p>
            <a:pPr marL="0" marR="0" lvl="0" indent="0" algn="just" defTabSz="914400" rtl="0" eaLnBrk="0" fontAlgn="base" latinLnBrk="0" hangingPunct="0">
              <a:lnSpc>
                <a:spcPct val="100000"/>
              </a:lnSpc>
              <a:spcBef>
                <a:spcPct val="30000"/>
              </a:spcBef>
              <a:spcAft>
                <a:spcPct val="0"/>
              </a:spcAft>
              <a:buClrTx/>
              <a:buSzTx/>
              <a:buFontTx/>
              <a:buNone/>
              <a:tabLst/>
              <a:defRPr/>
            </a:pPr>
            <a:r>
              <a:rPr kumimoji="0" lang="es-CL" sz="1200" b="0" i="0" u="none" strike="noStrike" kern="1200" cap="none" spc="0" normalizeH="0" baseline="0" noProof="0" dirty="0">
                <a:ln>
                  <a:noFill/>
                </a:ln>
                <a:solidFill>
                  <a:prstClr val="black"/>
                </a:solidFill>
                <a:effectLst/>
                <a:uLnTx/>
                <a:uFillTx/>
                <a:latin typeface="Calibri"/>
                <a:ea typeface="Arial Unicode MS"/>
                <a:cs typeface="Times New Roman" pitchFamily="18" charset="0"/>
              </a:rPr>
              <a:t>En la sintaxis:</a:t>
            </a:r>
          </a:p>
          <a:p>
            <a:pPr marL="171450" marR="0" lvl="0" indent="-171450" algn="just"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kumimoji="0" lang="es-CL" sz="1200" b="1" i="1" u="none" strike="noStrike" kern="1200" cap="none" spc="0" normalizeH="0" baseline="0" noProof="0" dirty="0" err="1">
                <a:ln>
                  <a:noFill/>
                </a:ln>
                <a:solidFill>
                  <a:prstClr val="black"/>
                </a:solidFill>
                <a:effectLst/>
                <a:uLnTx/>
                <a:uFillTx/>
                <a:latin typeface="Calibri"/>
                <a:ea typeface="+mn-ea"/>
                <a:cs typeface="Arial" pitchFamily="34" charset="0"/>
              </a:rPr>
              <a:t>tablaN</a:t>
            </a:r>
            <a:r>
              <a:rPr kumimoji="0" lang="es-CL" sz="1200" b="1" i="0" u="none" strike="noStrike" kern="1200" cap="none" spc="0" normalizeH="0" baseline="0" noProof="0" dirty="0" err="1">
                <a:ln>
                  <a:noFill/>
                </a:ln>
                <a:solidFill>
                  <a:prstClr val="black"/>
                </a:solidFill>
                <a:effectLst/>
                <a:uLnTx/>
                <a:uFillTx/>
                <a:latin typeface="Calibri"/>
                <a:ea typeface="+mn-ea"/>
                <a:cs typeface="Arial" pitchFamily="34" charset="0"/>
              </a:rPr>
              <a:t>.</a:t>
            </a:r>
            <a:r>
              <a:rPr kumimoji="0" lang="es-CL" sz="1200" b="1" i="1" u="none" strike="noStrike" kern="1200" cap="none" spc="0" normalizeH="0" baseline="0" noProof="0" dirty="0" err="1">
                <a:ln>
                  <a:noFill/>
                </a:ln>
                <a:solidFill>
                  <a:prstClr val="black"/>
                </a:solidFill>
                <a:effectLst/>
                <a:uLnTx/>
                <a:uFillTx/>
                <a:latin typeface="Calibri"/>
                <a:ea typeface="+mn-ea"/>
                <a:cs typeface="Arial" pitchFamily="34" charset="0"/>
              </a:rPr>
              <a:t>columnaN</a:t>
            </a:r>
            <a:r>
              <a:rPr kumimoji="0" lang="es-CL" sz="1200" b="1" i="0" u="none" strike="noStrike" kern="1200" cap="none" spc="0" normalizeH="0" baseline="0" noProof="0" dirty="0">
                <a:ln>
                  <a:noFill/>
                </a:ln>
                <a:solidFill>
                  <a:prstClr val="black"/>
                </a:solidFill>
                <a:effectLst/>
                <a:uLnTx/>
                <a:uFillTx/>
                <a:latin typeface="Calibri"/>
                <a:ea typeface="+mn-ea"/>
                <a:cs typeface="Arial" pitchFamily="34" charset="0"/>
              </a:rPr>
              <a:t>: </a:t>
            </a:r>
            <a:r>
              <a:rPr kumimoji="0" lang="es-CL" sz="1200" b="0" i="0" u="none" strike="noStrike" kern="1200" cap="none" spc="0" normalizeH="0" baseline="0" noProof="0" dirty="0">
                <a:ln>
                  <a:noFill/>
                </a:ln>
                <a:solidFill>
                  <a:prstClr val="black"/>
                </a:solidFill>
                <a:effectLst/>
                <a:uLnTx/>
                <a:uFillTx/>
                <a:latin typeface="Calibri"/>
                <a:ea typeface="+mn-ea"/>
                <a:cs typeface="Arial" pitchFamily="34" charset="0"/>
              </a:rPr>
              <a:t>indica la tabla y la columna de la que se recuperan los datos.</a:t>
            </a:r>
            <a:endParaRPr kumimoji="0" lang="es-CL" sz="1200" b="0" i="0" u="none" strike="noStrike" kern="1200" cap="none" spc="0" normalizeH="0" baseline="0" noProof="0" dirty="0">
              <a:ln>
                <a:noFill/>
              </a:ln>
              <a:solidFill>
                <a:prstClr val="black"/>
              </a:solidFill>
              <a:effectLst/>
              <a:uLnTx/>
              <a:uFillTx/>
              <a:latin typeface="Calibri"/>
              <a:ea typeface="Arial Unicode MS"/>
              <a:cs typeface="Times New Roman" pitchFamily="18" charset="0"/>
            </a:endParaRPr>
          </a:p>
          <a:p>
            <a:pPr marL="171450" marR="0" lvl="0" indent="-171450" algn="just"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kumimoji="0" lang="es-MX" sz="1200" b="1" i="0" u="none" strike="noStrike" kern="1200" cap="none" spc="0" normalizeH="0" baseline="0" noProof="0" dirty="0">
                <a:ln>
                  <a:noFill/>
                </a:ln>
                <a:solidFill>
                  <a:srgbClr val="000000"/>
                </a:solidFill>
                <a:effectLst/>
                <a:uLnTx/>
                <a:uFillTx/>
                <a:latin typeface="Calibri"/>
                <a:ea typeface="+mn-ea"/>
                <a:cs typeface="+mn-cs"/>
              </a:rPr>
              <a:t>FULL OUTER JOIN:</a:t>
            </a:r>
            <a:r>
              <a:rPr kumimoji="0" lang="es-MX" sz="1200" b="0" i="0" u="none" strike="noStrike" kern="1200" cap="none" spc="0" normalizeH="0" baseline="0" noProof="0" dirty="0">
                <a:ln>
                  <a:noFill/>
                </a:ln>
                <a:solidFill>
                  <a:srgbClr val="000000"/>
                </a:solidFill>
                <a:effectLst/>
                <a:uLnTx/>
                <a:uFillTx/>
                <a:latin typeface="Calibri"/>
                <a:ea typeface="+mn-ea"/>
                <a:cs typeface="+mn-cs"/>
              </a:rPr>
              <a:t> indica el tipo de Unión Externo. La palabra OUTER es opcional ya que al usar la palabra FULL la base de datos sabe que debe efectuar una unión externa entre las tablas.</a:t>
            </a:r>
            <a:endParaRPr kumimoji="0" lang="es-MX" sz="1200" b="0" i="0" u="none" strike="noStrike" kern="1200" cap="none" spc="0" normalizeH="0" baseline="0" noProof="0" dirty="0">
              <a:ln>
                <a:noFill/>
              </a:ln>
              <a:solidFill>
                <a:prstClr val="black"/>
              </a:solidFill>
              <a:effectLst/>
              <a:uLnTx/>
              <a:uFillTx/>
              <a:latin typeface="Calibri"/>
              <a:ea typeface="ＭＳ Ｐゴシック" pitchFamily="34" charset="-128"/>
              <a:cs typeface="Arial" pitchFamily="34" charset="0"/>
            </a:endParaRPr>
          </a:p>
          <a:p>
            <a:pPr marL="0" marR="0" lvl="0" indent="0" algn="just" defTabSz="914400" rtl="0" eaLnBrk="0" fontAlgn="base" latinLnBrk="0" hangingPunct="0">
              <a:lnSpc>
                <a:spcPct val="100000"/>
              </a:lnSpc>
              <a:spcBef>
                <a:spcPct val="30000"/>
              </a:spcBef>
              <a:spcAft>
                <a:spcPct val="0"/>
              </a:spcAft>
              <a:buClrTx/>
              <a:buSzTx/>
              <a:buFontTx/>
              <a:buNone/>
              <a:tabLst/>
              <a:defRPr/>
            </a:pPr>
            <a:endParaRPr kumimoji="0" lang="es-CL" sz="1200" b="0" i="0" u="none" strike="noStrike" kern="1200" cap="none" spc="0" normalizeH="0" baseline="0" noProof="0" dirty="0">
              <a:ln>
                <a:noFill/>
              </a:ln>
              <a:solidFill>
                <a:prstClr val="black"/>
              </a:solidFill>
              <a:effectLst/>
              <a:uLnTx/>
              <a:uFillTx/>
              <a:latin typeface="Calibri"/>
              <a:ea typeface="+mn-ea"/>
              <a:cs typeface="Arial" charset="0"/>
            </a:endParaRPr>
          </a:p>
        </p:txBody>
      </p:sp>
    </p:spTree>
    <p:extLst>
      <p:ext uri="{BB962C8B-B14F-4D97-AF65-F5344CB8AC3E}">
        <p14:creationId xmlns:p14="http://schemas.microsoft.com/office/powerpoint/2010/main" val="23838388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just" defTabSz="914400" rtl="0" eaLnBrk="0" fontAlgn="base" latinLnBrk="0" hangingPunct="0">
              <a:lnSpc>
                <a:spcPct val="100000"/>
              </a:lnSpc>
              <a:spcBef>
                <a:spcPct val="30000"/>
              </a:spcBef>
              <a:spcAft>
                <a:spcPct val="0"/>
              </a:spcAft>
              <a:buClrTx/>
              <a:buSzTx/>
              <a:buFontTx/>
              <a:buNone/>
              <a:tabLst/>
              <a:defRPr/>
            </a:pPr>
            <a:r>
              <a:rPr kumimoji="0" lang="es-MX" sz="1200" b="1" i="0" u="none" strike="noStrike" kern="1200" cap="none" spc="0" normalizeH="0" baseline="0" noProof="0" dirty="0">
                <a:ln>
                  <a:noFill/>
                </a:ln>
                <a:solidFill>
                  <a:prstClr val="black"/>
                </a:solidFill>
                <a:effectLst/>
                <a:uLnTx/>
                <a:uFillTx/>
                <a:latin typeface="Calibri"/>
                <a:ea typeface="ＭＳ Ｐゴシック" pitchFamily="34" charset="-128"/>
                <a:cs typeface="Arial" charset="0"/>
              </a:rPr>
              <a:t>Creando FULL OUTER JOIN</a:t>
            </a:r>
            <a:endParaRPr kumimoji="0" lang="es-CL" sz="1200" b="1" i="0" u="none" strike="noStrike" kern="1200" cap="none" spc="0" normalizeH="0" baseline="0" noProof="0" dirty="0">
              <a:ln>
                <a:noFill/>
              </a:ln>
              <a:solidFill>
                <a:prstClr val="black"/>
              </a:solidFill>
              <a:effectLst/>
              <a:uLnTx/>
              <a:uFillTx/>
              <a:latin typeface="Calibri"/>
              <a:ea typeface="+mn-ea"/>
              <a:cs typeface="+mn-cs"/>
            </a:endParaRPr>
          </a:p>
          <a:p>
            <a:pPr marL="0" marR="0" lvl="0" indent="0" algn="just" defTabSz="914400" rtl="0" eaLnBrk="0" fontAlgn="base" latinLnBrk="0" hangingPunct="0">
              <a:lnSpc>
                <a:spcPct val="100000"/>
              </a:lnSpc>
              <a:spcBef>
                <a:spcPct val="30000"/>
              </a:spcBef>
              <a:spcAft>
                <a:spcPct val="0"/>
              </a:spcAft>
              <a:buClrTx/>
              <a:buSzTx/>
              <a:buFontTx/>
              <a:buNone/>
              <a:tabLst/>
              <a:defRPr/>
            </a:pPr>
            <a:r>
              <a:rPr kumimoji="0" lang="es-CL" sz="1200" b="0" i="0" u="none" strike="noStrike" kern="1200" cap="none" spc="0" normalizeH="0" baseline="0" noProof="0" dirty="0">
                <a:ln>
                  <a:noFill/>
                </a:ln>
                <a:solidFill>
                  <a:prstClr val="black"/>
                </a:solidFill>
                <a:effectLst/>
                <a:uLnTx/>
                <a:uFillTx/>
                <a:latin typeface="Calibri"/>
                <a:ea typeface="ＭＳ Ｐゴシック" pitchFamily="34" charset="-128"/>
                <a:cs typeface="Arial" pitchFamily="34" charset="0"/>
              </a:rPr>
              <a:t>El FULL OUTER JOIN r</a:t>
            </a:r>
            <a:r>
              <a:rPr kumimoji="0" lang="es-CL" sz="1200" b="0" i="0" u="none" strike="noStrike" kern="1200" cap="none" spc="0" normalizeH="0" baseline="0" noProof="0" dirty="0">
                <a:ln>
                  <a:noFill/>
                </a:ln>
                <a:solidFill>
                  <a:prstClr val="black"/>
                </a:solidFill>
                <a:effectLst/>
                <a:uLnTx/>
                <a:uFillTx/>
                <a:latin typeface="Calibri"/>
                <a:ea typeface="Arial Unicode MS"/>
                <a:cs typeface="Times New Roman" pitchFamily="18" charset="0"/>
              </a:rPr>
              <a:t>etorna el resultado del </a:t>
            </a:r>
            <a:r>
              <a:rPr kumimoji="0" lang="es-CL" sz="1200" b="0" i="0" u="none" strike="noStrike" kern="1200" cap="none" spc="0" normalizeH="0" baseline="0" noProof="0" dirty="0" err="1">
                <a:ln>
                  <a:noFill/>
                </a:ln>
                <a:solidFill>
                  <a:prstClr val="black"/>
                </a:solidFill>
                <a:effectLst/>
                <a:uLnTx/>
                <a:uFillTx/>
                <a:latin typeface="Calibri"/>
                <a:ea typeface="Arial Unicode MS"/>
                <a:cs typeface="Times New Roman" pitchFamily="18" charset="0"/>
              </a:rPr>
              <a:t>Inner</a:t>
            </a:r>
            <a:r>
              <a:rPr kumimoji="0" lang="es-CL" sz="1200" b="0" i="0" u="none" strike="noStrike" kern="1200" cap="none" spc="0" normalizeH="0" baseline="0" noProof="0" dirty="0">
                <a:ln>
                  <a:noFill/>
                </a:ln>
                <a:solidFill>
                  <a:prstClr val="black"/>
                </a:solidFill>
                <a:effectLst/>
                <a:uLnTx/>
                <a:uFillTx/>
                <a:latin typeface="Calibri"/>
                <a:ea typeface="Arial Unicode MS"/>
                <a:cs typeface="Times New Roman" pitchFamily="18" charset="0"/>
              </a:rPr>
              <a:t> </a:t>
            </a:r>
            <a:r>
              <a:rPr kumimoji="0" lang="es-CL" sz="1200" b="0" i="0" u="none" strike="noStrike" kern="1200" cap="none" spc="0" normalizeH="0" baseline="0" noProof="0" dirty="0" err="1">
                <a:ln>
                  <a:noFill/>
                </a:ln>
                <a:solidFill>
                  <a:prstClr val="black"/>
                </a:solidFill>
                <a:effectLst/>
                <a:uLnTx/>
                <a:uFillTx/>
                <a:latin typeface="Calibri"/>
                <a:ea typeface="Arial Unicode MS"/>
                <a:cs typeface="Times New Roman" pitchFamily="18" charset="0"/>
              </a:rPr>
              <a:t>Join</a:t>
            </a:r>
            <a:r>
              <a:rPr kumimoji="0" lang="es-CL" sz="1200" b="0" i="0" u="none" strike="noStrike" kern="1200" cap="none" spc="0" normalizeH="0" baseline="0" noProof="0" dirty="0">
                <a:ln>
                  <a:noFill/>
                </a:ln>
                <a:solidFill>
                  <a:prstClr val="black"/>
                </a:solidFill>
                <a:effectLst/>
                <a:uLnTx/>
                <a:uFillTx/>
                <a:latin typeface="Calibri"/>
                <a:ea typeface="Arial Unicode MS"/>
                <a:cs typeface="Times New Roman" pitchFamily="18" charset="0"/>
              </a:rPr>
              <a:t>, </a:t>
            </a:r>
            <a:r>
              <a:rPr kumimoji="0" lang="fr-FR" sz="1200" b="0" i="0" u="none" strike="noStrike" kern="1200" cap="none" spc="0" normalizeH="0" baseline="0" noProof="0" dirty="0">
                <a:ln>
                  <a:noFill/>
                </a:ln>
                <a:solidFill>
                  <a:prstClr val="black"/>
                </a:solidFill>
                <a:effectLst/>
                <a:uLnTx/>
                <a:uFillTx/>
                <a:latin typeface="Calibri"/>
                <a:ea typeface="Arial Unicode MS"/>
                <a:cs typeface="Times New Roman" pitchFamily="18" charset="0"/>
              </a:rPr>
              <a:t>las filas de un </a:t>
            </a:r>
            <a:r>
              <a:rPr kumimoji="0" lang="fr-FR" sz="1200" b="0" i="0" u="none" strike="noStrike" kern="1200" cap="none" spc="0" normalizeH="0" baseline="0" noProof="0" dirty="0" err="1">
                <a:ln>
                  <a:noFill/>
                </a:ln>
                <a:solidFill>
                  <a:prstClr val="black"/>
                </a:solidFill>
                <a:effectLst/>
                <a:uLnTx/>
                <a:uFillTx/>
                <a:latin typeface="Calibri"/>
                <a:ea typeface="Arial Unicode MS"/>
                <a:cs typeface="Times New Roman" pitchFamily="18" charset="0"/>
              </a:rPr>
              <a:t>Left</a:t>
            </a:r>
            <a:r>
              <a:rPr kumimoji="0" lang="fr-FR" sz="1200" b="0" i="0" u="none" strike="noStrike" kern="1200" cap="none" spc="0" normalizeH="0" baseline="0" noProof="0" dirty="0">
                <a:ln>
                  <a:noFill/>
                </a:ln>
                <a:solidFill>
                  <a:prstClr val="black"/>
                </a:solidFill>
                <a:effectLst/>
                <a:uLnTx/>
                <a:uFillTx/>
                <a:latin typeface="Calibri"/>
                <a:ea typeface="Arial Unicode MS"/>
                <a:cs typeface="Times New Roman" pitchFamily="18" charset="0"/>
              </a:rPr>
              <a:t> Outer </a:t>
            </a:r>
            <a:r>
              <a:rPr kumimoji="0" lang="fr-FR" sz="1200" b="0" i="0" u="none" strike="noStrike" kern="1200" cap="none" spc="0" normalizeH="0" baseline="0" noProof="0" dirty="0" err="1">
                <a:ln>
                  <a:noFill/>
                </a:ln>
                <a:solidFill>
                  <a:prstClr val="black"/>
                </a:solidFill>
                <a:effectLst/>
                <a:uLnTx/>
                <a:uFillTx/>
                <a:latin typeface="Calibri"/>
                <a:ea typeface="Arial Unicode MS"/>
                <a:cs typeface="Times New Roman" pitchFamily="18" charset="0"/>
              </a:rPr>
              <a:t>Join</a:t>
            </a:r>
            <a:r>
              <a:rPr kumimoji="0" lang="fr-FR" sz="1200" b="0" i="0" u="none" strike="noStrike" kern="1200" cap="none" spc="0" normalizeH="0" baseline="0" noProof="0" dirty="0">
                <a:ln>
                  <a:noFill/>
                </a:ln>
                <a:solidFill>
                  <a:prstClr val="black"/>
                </a:solidFill>
                <a:effectLst/>
                <a:uLnTx/>
                <a:uFillTx/>
                <a:latin typeface="Calibri"/>
                <a:ea typeface="Arial Unicode MS"/>
                <a:cs typeface="Times New Roman" pitchFamily="18" charset="0"/>
              </a:rPr>
              <a:t> y las filas de Right Outer </a:t>
            </a:r>
            <a:r>
              <a:rPr kumimoji="0" lang="fr-FR" sz="1200" b="0" i="0" u="none" strike="noStrike" kern="1200" cap="none" spc="0" normalizeH="0" baseline="0" noProof="0" dirty="0" err="1">
                <a:ln>
                  <a:noFill/>
                </a:ln>
                <a:solidFill>
                  <a:prstClr val="black"/>
                </a:solidFill>
                <a:effectLst/>
                <a:uLnTx/>
                <a:uFillTx/>
                <a:latin typeface="Calibri"/>
                <a:ea typeface="Arial Unicode MS"/>
                <a:cs typeface="Times New Roman" pitchFamily="18" charset="0"/>
              </a:rPr>
              <a:t>Join</a:t>
            </a:r>
            <a:r>
              <a:rPr kumimoji="0" lang="fr-FR" sz="1200" b="0" i="0" u="none" strike="noStrike" kern="1200" cap="none" spc="0" normalizeH="0" baseline="0" noProof="0" dirty="0">
                <a:ln>
                  <a:noFill/>
                </a:ln>
                <a:solidFill>
                  <a:prstClr val="black"/>
                </a:solidFill>
                <a:effectLst/>
                <a:uLnTx/>
                <a:uFillTx/>
                <a:latin typeface="Calibri"/>
                <a:ea typeface="Arial Unicode MS"/>
                <a:cs typeface="Times New Roman" pitchFamily="18" charset="0"/>
              </a:rPr>
              <a:t>.</a:t>
            </a:r>
            <a:endParaRPr kumimoji="0" lang="es-CL" sz="1200" b="0" i="0" u="none" strike="noStrike" kern="1200" cap="none" spc="0" normalizeH="0" baseline="0" noProof="0" dirty="0">
              <a:ln>
                <a:noFill/>
              </a:ln>
              <a:solidFill>
                <a:prstClr val="black"/>
              </a:solidFill>
              <a:effectLst/>
              <a:uLnTx/>
              <a:uFillTx/>
              <a:latin typeface="Calibri"/>
              <a:ea typeface="ＭＳ Ｐゴシック" pitchFamily="34" charset="-128"/>
              <a:cs typeface="Arial" pitchFamily="34" charset="0"/>
            </a:endParaRPr>
          </a:p>
          <a:p>
            <a:pPr marL="0" marR="0" lvl="0" indent="0" algn="just" defTabSz="914400" rtl="0" eaLnBrk="0" fontAlgn="base" latinLnBrk="0" hangingPunct="0">
              <a:lnSpc>
                <a:spcPct val="100000"/>
              </a:lnSpc>
              <a:spcBef>
                <a:spcPct val="30000"/>
              </a:spcBef>
              <a:spcAft>
                <a:spcPct val="0"/>
              </a:spcAft>
              <a:buClrTx/>
              <a:buSzTx/>
              <a:buFontTx/>
              <a:buNone/>
              <a:tabLst/>
              <a:defRPr/>
            </a:pPr>
            <a:r>
              <a:rPr kumimoji="0" lang="es-CL" sz="1200" b="0" i="0" u="none" strike="noStrike" kern="1200" cap="none" spc="0" normalizeH="0" baseline="0" noProof="0" dirty="0">
                <a:ln>
                  <a:noFill/>
                </a:ln>
                <a:solidFill>
                  <a:prstClr val="black"/>
                </a:solidFill>
                <a:effectLst/>
                <a:uLnTx/>
                <a:uFillTx/>
                <a:latin typeface="Calibri"/>
                <a:ea typeface="ＭＳ Ｐゴシック" pitchFamily="34" charset="-128"/>
                <a:cs typeface="Arial" pitchFamily="34" charset="0"/>
              </a:rPr>
              <a:t>En el ejemplo, para poder mostrar todas las filas de ambas tablas existan o no coincidencias se debe usar FULL OUTER JOIN. De esta forma, la sentencia recupera todas las filas de la tabla EMPLOYEES, incluso si no hay ninguna coincidencia en la tabla DEPARTMENTS. También recupera todas las filas de la tabla de DEPARTMENTS, incluso si no hay ninguna coincidencia en la tabla EMPLOYEES.</a:t>
            </a:r>
            <a:endParaRPr kumimoji="0" lang="es-MX" sz="1200" b="0" i="0" u="none" strike="noStrike" kern="1200" cap="none" spc="0" normalizeH="0" baseline="0" noProof="0" dirty="0">
              <a:ln>
                <a:noFill/>
              </a:ln>
              <a:solidFill>
                <a:prstClr val="black"/>
              </a:solidFill>
              <a:effectLst/>
              <a:uLnTx/>
              <a:uFillTx/>
              <a:latin typeface="Arial" pitchFamily="34" charset="0"/>
              <a:ea typeface="ＭＳ Ｐゴシック" pitchFamily="34" charset="-128"/>
              <a:cs typeface="Arial" pitchFamily="34" charset="0"/>
            </a:endParaRPr>
          </a:p>
          <a:p>
            <a:pPr marL="0" marR="0" lvl="0" indent="0" algn="just" defTabSz="914400" rtl="0" eaLnBrk="0" fontAlgn="base" latinLnBrk="0" hangingPunct="0">
              <a:lnSpc>
                <a:spcPct val="100000"/>
              </a:lnSpc>
              <a:spcBef>
                <a:spcPct val="30000"/>
              </a:spcBef>
              <a:spcAft>
                <a:spcPct val="0"/>
              </a:spcAft>
              <a:buClrTx/>
              <a:buSzTx/>
              <a:buFontTx/>
              <a:buNone/>
              <a:tabLst/>
              <a:defRPr/>
            </a:pPr>
            <a:endParaRPr kumimoji="0" lang="es-CL" sz="1200" b="0" i="0" u="none" strike="noStrike" kern="1200" cap="none" spc="0" normalizeH="0" baseline="0" noProof="0" dirty="0">
              <a:ln>
                <a:noFill/>
              </a:ln>
              <a:solidFill>
                <a:prstClr val="black"/>
              </a:solidFill>
              <a:effectLst/>
              <a:uLnTx/>
              <a:uFillTx/>
              <a:latin typeface="Calibri"/>
              <a:ea typeface="+mn-ea"/>
              <a:cs typeface="Arial" charset="0"/>
            </a:endParaRPr>
          </a:p>
        </p:txBody>
      </p:sp>
    </p:spTree>
    <p:extLst>
      <p:ext uri="{BB962C8B-B14F-4D97-AF65-F5344CB8AC3E}">
        <p14:creationId xmlns:p14="http://schemas.microsoft.com/office/powerpoint/2010/main" val="198286557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just" defTabSz="914400" rtl="0" eaLnBrk="0" fontAlgn="base" latinLnBrk="0" hangingPunct="0">
              <a:lnSpc>
                <a:spcPct val="100000"/>
              </a:lnSpc>
              <a:spcBef>
                <a:spcPct val="30000"/>
              </a:spcBef>
              <a:spcAft>
                <a:spcPct val="0"/>
              </a:spcAft>
              <a:buClrTx/>
              <a:buSzTx/>
              <a:buFontTx/>
              <a:buNone/>
              <a:tabLst/>
              <a:defRPr/>
            </a:pPr>
            <a:r>
              <a:rPr kumimoji="0" lang="es-CL" sz="1200" b="1" i="0" u="none" strike="noStrike" kern="1200" cap="none" spc="0" normalizeH="0" baseline="0" noProof="0" dirty="0">
                <a:ln>
                  <a:noFill/>
                </a:ln>
                <a:solidFill>
                  <a:prstClr val="black"/>
                </a:solidFill>
                <a:effectLst/>
                <a:uLnTx/>
                <a:uFillTx/>
                <a:latin typeface="Calibri"/>
                <a:ea typeface="ＭＳ Ｐゴシック" pitchFamily="34" charset="-128"/>
                <a:cs typeface="Arial" pitchFamily="34" charset="0"/>
              </a:rPr>
              <a:t>Creando </a:t>
            </a:r>
            <a:r>
              <a:rPr kumimoji="0" lang="es-MX" sz="1200" b="1" i="0" u="none" strike="noStrike" kern="1200" cap="none" spc="0" normalizeH="0" baseline="0" noProof="0" dirty="0">
                <a:ln>
                  <a:noFill/>
                </a:ln>
                <a:solidFill>
                  <a:prstClr val="black"/>
                </a:solidFill>
                <a:effectLst/>
                <a:uLnTx/>
                <a:uFillTx/>
                <a:latin typeface="Calibri"/>
                <a:ea typeface="ＭＳ Ｐゴシック" pitchFamily="34" charset="-128"/>
                <a:cs typeface="Arial" charset="0"/>
              </a:rPr>
              <a:t>FULL OUTER JOIN</a:t>
            </a:r>
            <a:endParaRPr kumimoji="0" lang="es-CL" sz="1200" b="1" i="0" u="none" strike="noStrike" kern="1200" cap="none" spc="0" normalizeH="0" baseline="0" noProof="0" dirty="0">
              <a:ln>
                <a:noFill/>
              </a:ln>
              <a:solidFill>
                <a:prstClr val="black"/>
              </a:solidFill>
              <a:effectLst/>
              <a:uLnTx/>
              <a:uFillTx/>
              <a:latin typeface="Calibri"/>
              <a:ea typeface="ＭＳ Ｐゴシック" pitchFamily="34" charset="-128"/>
              <a:cs typeface="Arial" pitchFamily="34" charset="0"/>
            </a:endParaRPr>
          </a:p>
          <a:p>
            <a:pPr marL="0" marR="0" lvl="0" indent="0" algn="just" defTabSz="914400" rtl="0" eaLnBrk="0" fontAlgn="base" latinLnBrk="0" hangingPunct="0">
              <a:lnSpc>
                <a:spcPct val="100000"/>
              </a:lnSpc>
              <a:spcBef>
                <a:spcPct val="30000"/>
              </a:spcBef>
              <a:spcAft>
                <a:spcPct val="0"/>
              </a:spcAft>
              <a:buClrTx/>
              <a:buSzTx/>
              <a:buFontTx/>
              <a:buNone/>
              <a:tabLst/>
              <a:defRPr/>
            </a:pPr>
            <a:r>
              <a:rPr kumimoji="0" lang="es-CL" sz="1200" b="0" i="0" u="none" strike="noStrike" kern="1200" cap="none" spc="0" normalizeH="0" baseline="0" noProof="0" dirty="0">
                <a:ln>
                  <a:noFill/>
                </a:ln>
                <a:solidFill>
                  <a:prstClr val="black"/>
                </a:solidFill>
                <a:effectLst/>
                <a:uLnTx/>
                <a:uFillTx/>
                <a:latin typeface="Calibri"/>
                <a:ea typeface="ＭＳ Ｐゴシック" pitchFamily="34" charset="-128"/>
                <a:cs typeface="Arial" pitchFamily="34" charset="0"/>
              </a:rPr>
              <a:t>La sentencia del ejemplo muestra el total de empleados que posee cada departamento exista o no la identificación del departamento en las tablas EMPLOYEES Y DEPARTMENTS. Por esta razón, se muestra información de los departamentos cuyo valor existe en ambas tablas, además la fila que posee en la columna </a:t>
            </a:r>
            <a:r>
              <a:rPr kumimoji="0" lang="es-CL" sz="1200" b="0" i="0" u="none" strike="noStrike" kern="1200" cap="none" spc="0" normalizeH="0" baseline="0" noProof="0" dirty="0" err="1">
                <a:ln>
                  <a:noFill/>
                </a:ln>
                <a:solidFill>
                  <a:prstClr val="black"/>
                </a:solidFill>
                <a:effectLst/>
                <a:uLnTx/>
                <a:uFillTx/>
                <a:latin typeface="Calibri"/>
                <a:ea typeface="ＭＳ Ｐゴシック" pitchFamily="34" charset="-128"/>
                <a:cs typeface="Arial" pitchFamily="34" charset="0"/>
              </a:rPr>
              <a:t>department_id</a:t>
            </a:r>
            <a:r>
              <a:rPr kumimoji="0" lang="es-CL" sz="1200" b="0" i="0" u="none" strike="noStrike" kern="1200" cap="none" spc="0" normalizeH="0" baseline="0" noProof="0" dirty="0">
                <a:ln>
                  <a:noFill/>
                </a:ln>
                <a:solidFill>
                  <a:prstClr val="black"/>
                </a:solidFill>
                <a:effectLst/>
                <a:uLnTx/>
                <a:uFillTx/>
                <a:latin typeface="Calibri"/>
                <a:ea typeface="ＭＳ Ｐゴシック" pitchFamily="34" charset="-128"/>
                <a:cs typeface="Arial" pitchFamily="34" charset="0"/>
              </a:rPr>
              <a:t> un valor Nulo en la tabla EMPLOOYEES y las filas de la tabla DEPARTMENTS aunque la identificación del departamento no exista en la tabla EMPLOYEES.</a:t>
            </a:r>
            <a:endParaRPr kumimoji="0" lang="es-MX" sz="1200" b="0" i="0" u="none" strike="noStrike" kern="1200" cap="none" spc="0" normalizeH="0" baseline="0" noProof="0" dirty="0">
              <a:ln>
                <a:noFill/>
              </a:ln>
              <a:solidFill>
                <a:prstClr val="black"/>
              </a:solidFill>
              <a:effectLst/>
              <a:uLnTx/>
              <a:uFillTx/>
              <a:latin typeface="Arial" pitchFamily="34" charset="0"/>
              <a:ea typeface="ＭＳ Ｐゴシック" pitchFamily="34" charset="-128"/>
              <a:cs typeface="Arial" pitchFamily="34" charset="0"/>
            </a:endParaRPr>
          </a:p>
          <a:p>
            <a:pPr marL="0" marR="0" lvl="0" indent="0" algn="just" defTabSz="914400" rtl="0" eaLnBrk="0" fontAlgn="base" latinLnBrk="0" hangingPunct="0">
              <a:lnSpc>
                <a:spcPct val="100000"/>
              </a:lnSpc>
              <a:spcBef>
                <a:spcPct val="30000"/>
              </a:spcBef>
              <a:spcAft>
                <a:spcPct val="0"/>
              </a:spcAft>
              <a:buClrTx/>
              <a:buSzTx/>
              <a:buFontTx/>
              <a:buNone/>
              <a:tabLst/>
              <a:defRPr/>
            </a:pPr>
            <a:endParaRPr kumimoji="0" lang="es-CL" sz="1200" b="0" i="0" u="none" strike="noStrike" kern="1200" cap="none" spc="0" normalizeH="0" baseline="0" noProof="0" dirty="0">
              <a:ln>
                <a:noFill/>
              </a:ln>
              <a:solidFill>
                <a:prstClr val="black"/>
              </a:solidFill>
              <a:effectLst/>
              <a:uLnTx/>
              <a:uFillTx/>
              <a:latin typeface="Calibri"/>
              <a:ea typeface="+mn-ea"/>
              <a:cs typeface="Arial" charset="0"/>
            </a:endParaRPr>
          </a:p>
        </p:txBody>
      </p:sp>
    </p:spTree>
    <p:extLst>
      <p:ext uri="{BB962C8B-B14F-4D97-AF65-F5344CB8AC3E}">
        <p14:creationId xmlns:p14="http://schemas.microsoft.com/office/powerpoint/2010/main" val="108851980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endParaRPr lang="es-CL" dirty="0"/>
          </a:p>
        </p:txBody>
      </p:sp>
    </p:spTree>
    <p:extLst>
      <p:ext uri="{BB962C8B-B14F-4D97-AF65-F5344CB8AC3E}">
        <p14:creationId xmlns:p14="http://schemas.microsoft.com/office/powerpoint/2010/main" val="11622910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es-MX" sz="1200" b="1" i="0" u="none" strike="noStrike" kern="1200" cap="none" spc="0" normalizeH="0" baseline="0" noProof="0" dirty="0">
                <a:ln>
                  <a:noFill/>
                </a:ln>
                <a:solidFill>
                  <a:prstClr val="black"/>
                </a:solidFill>
                <a:effectLst/>
                <a:uLnTx/>
                <a:uFillTx/>
                <a:latin typeface="Calibri" panose="020F0502020204030204" pitchFamily="34" charset="0"/>
                <a:ea typeface="ＭＳ Ｐゴシック" pitchFamily="34" charset="-128"/>
                <a:cs typeface="Calibri" panose="020F0502020204030204" pitchFamily="34" charset="0"/>
              </a:rPr>
              <a:t>Creando CROSS JOIN</a:t>
            </a:r>
          </a:p>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es-CL" sz="12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El CROSS </a:t>
            </a:r>
            <a:r>
              <a:rPr kumimoji="0" lang="es-CL" sz="1200" b="0" i="0" u="none" strike="noStrike" kern="1200" cap="none" spc="0" normalizeH="0" baseline="0" noProof="0" dirty="0" err="1">
                <a:ln>
                  <a:noFill/>
                </a:ln>
                <a:solidFill>
                  <a:prstClr val="black"/>
                </a:solidFill>
                <a:effectLst/>
                <a:uLnTx/>
                <a:uFillTx/>
                <a:latin typeface="Calibri" panose="020F0502020204030204" pitchFamily="34" charset="0"/>
                <a:ea typeface="+mn-ea"/>
                <a:cs typeface="Calibri" panose="020F0502020204030204" pitchFamily="34" charset="0"/>
              </a:rPr>
              <a:t>Join</a:t>
            </a:r>
            <a:r>
              <a:rPr kumimoji="0" lang="es-CL" sz="12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o combinación cruzada, retorna todas las filas existentes en todas las tablas que se usan en la consulta. Cada fila en la primera tabla se empareja con todas las filas en la segunda tabla. Esto sucede cuando no hay relación definida entre las dos tablas. </a:t>
            </a:r>
          </a:p>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es-CL" sz="12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Este tipo de unión se conoce como Producto Cartesiano o CROSS JOIN entre las filas de las tablas. Es el tipo de </a:t>
            </a:r>
            <a:r>
              <a:rPr kumimoji="0" lang="es-CL" sz="1200" b="0" i="0" u="none" strike="noStrike" kern="1200" cap="none" spc="0" normalizeH="0" baseline="0" noProof="0" dirty="0" err="1">
                <a:ln>
                  <a:noFill/>
                </a:ln>
                <a:solidFill>
                  <a:prstClr val="black"/>
                </a:solidFill>
                <a:effectLst/>
                <a:uLnTx/>
                <a:uFillTx/>
                <a:latin typeface="Calibri" panose="020F0502020204030204" pitchFamily="34" charset="0"/>
                <a:ea typeface="+mn-ea"/>
                <a:cs typeface="Calibri" panose="020F0502020204030204" pitchFamily="34" charset="0"/>
              </a:rPr>
              <a:t>Join</a:t>
            </a:r>
            <a:r>
              <a:rPr kumimoji="0" lang="es-CL" sz="12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menos usado ya que la información que retorna no tiene mucha lógica. Por lo tanto la pregunta lógica es </a:t>
            </a:r>
            <a:r>
              <a:rPr lang="es-CL" sz="1200" b="0" i="0" dirty="0">
                <a:solidFill>
                  <a:srgbClr val="373A3C"/>
                </a:solidFill>
                <a:effectLst/>
                <a:latin typeface="Calibri" panose="020F0502020204030204" pitchFamily="34" charset="0"/>
                <a:cs typeface="Calibri" panose="020F0502020204030204" pitchFamily="34" charset="0"/>
              </a:rPr>
              <a:t>¿Qué circunstancias hacen que una operación SQL de este tipo sea particularmente útil?. Por ejemplo s</a:t>
            </a:r>
            <a:r>
              <a:rPr lang="es-CL" sz="1200" b="0" i="0" u="none" strike="noStrike" cap="none" dirty="0">
                <a:solidFill>
                  <a:srgbClr val="000000"/>
                </a:solidFill>
                <a:effectLst/>
                <a:latin typeface="Calibri" panose="020F0502020204030204" pitchFamily="34" charset="0"/>
                <a:ea typeface="Arial"/>
                <a:cs typeface="Calibri" panose="020F0502020204030204" pitchFamily="34" charset="0"/>
                <a:sym typeface="Arial"/>
              </a:rPr>
              <a:t>i se quiere crear una matriz con la información con todos los colores para cada uno de los productos. </a:t>
            </a:r>
            <a:endParaRPr kumimoji="0" lang="es-CL" sz="12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es-CL" sz="1200" b="0" i="0" u="none" strike="noStrike" kern="1200" cap="none" spc="0" normalizeH="0" baseline="0" noProof="0" dirty="0">
                <a:ln>
                  <a:noFill/>
                </a:ln>
                <a:solidFill>
                  <a:prstClr val="black"/>
                </a:solidFill>
                <a:effectLst/>
                <a:uLnTx/>
                <a:uFillTx/>
                <a:latin typeface="Calibri"/>
                <a:ea typeface="Arial Unicode MS"/>
                <a:cs typeface="Times New Roman" pitchFamily="18" charset="0"/>
              </a:rPr>
              <a:t>En la sintaxis:</a:t>
            </a:r>
          </a:p>
          <a:p>
            <a:pPr marL="171450" marR="0" lvl="0" indent="-171450" algn="just"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kumimoji="0" lang="es-CL" sz="1200" b="1" i="0" u="none" strike="noStrike" kern="1200" cap="none" spc="0" normalizeH="0" baseline="0" noProof="0" dirty="0" err="1">
                <a:ln>
                  <a:noFill/>
                </a:ln>
                <a:solidFill>
                  <a:prstClr val="black"/>
                </a:solidFill>
                <a:effectLst/>
                <a:uLnTx/>
                <a:uFillTx/>
                <a:latin typeface="Calibri"/>
                <a:ea typeface="+mn-ea"/>
                <a:cs typeface="Arial" pitchFamily="34" charset="0"/>
              </a:rPr>
              <a:t>tablaN.columnaN</a:t>
            </a:r>
            <a:r>
              <a:rPr kumimoji="0" lang="es-CL" sz="1200" b="1" i="0" u="none" strike="noStrike" kern="1200" cap="none" spc="0" normalizeH="0" baseline="0" noProof="0" dirty="0">
                <a:ln>
                  <a:noFill/>
                </a:ln>
                <a:solidFill>
                  <a:prstClr val="black"/>
                </a:solidFill>
                <a:effectLst/>
                <a:uLnTx/>
                <a:uFillTx/>
                <a:latin typeface="Calibri"/>
                <a:ea typeface="+mn-ea"/>
                <a:cs typeface="Arial" pitchFamily="34" charset="0"/>
              </a:rPr>
              <a:t>: </a:t>
            </a:r>
            <a:r>
              <a:rPr kumimoji="0" lang="es-CL" sz="1200" b="0" i="0" u="none" strike="noStrike" kern="1200" cap="none" spc="0" normalizeH="0" baseline="0" noProof="0" dirty="0">
                <a:ln>
                  <a:noFill/>
                </a:ln>
                <a:solidFill>
                  <a:prstClr val="black"/>
                </a:solidFill>
                <a:effectLst/>
                <a:uLnTx/>
                <a:uFillTx/>
                <a:latin typeface="Calibri"/>
                <a:ea typeface="+mn-ea"/>
                <a:cs typeface="Arial" pitchFamily="34" charset="0"/>
              </a:rPr>
              <a:t>indica la tabla y la columna de la que se recuperan los datos.</a:t>
            </a:r>
            <a:endParaRPr kumimoji="0" lang="es-CL" sz="1200" b="0" i="0" u="none" strike="noStrike" kern="1200" cap="none" spc="0" normalizeH="0" baseline="0" noProof="0" dirty="0">
              <a:ln>
                <a:noFill/>
              </a:ln>
              <a:solidFill>
                <a:prstClr val="black"/>
              </a:solidFill>
              <a:effectLst/>
              <a:uLnTx/>
              <a:uFillTx/>
              <a:latin typeface="Calibri"/>
              <a:ea typeface="Arial Unicode MS"/>
              <a:cs typeface="Times New Roman" pitchFamily="18" charset="0"/>
            </a:endParaRPr>
          </a:p>
          <a:p>
            <a:pPr marL="171450" marR="0" lvl="0" indent="-171450" algn="just"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kumimoji="0" lang="es-MX" sz="1200" b="1" i="0" u="none" strike="noStrike" kern="1200" cap="none" spc="0" normalizeH="0" baseline="0" noProof="0" dirty="0">
                <a:ln>
                  <a:noFill/>
                </a:ln>
                <a:solidFill>
                  <a:srgbClr val="000000"/>
                </a:solidFill>
                <a:effectLst/>
                <a:uLnTx/>
                <a:uFillTx/>
                <a:latin typeface="Calibri"/>
                <a:ea typeface="+mn-ea"/>
                <a:cs typeface="+mn-cs"/>
              </a:rPr>
              <a:t>CROSS JOIN:</a:t>
            </a:r>
            <a:r>
              <a:rPr kumimoji="0" lang="es-MX" sz="1200" b="0" i="0" u="none" strike="noStrike" kern="1200" cap="none" spc="0" normalizeH="0" baseline="0" noProof="0" dirty="0">
                <a:ln>
                  <a:noFill/>
                </a:ln>
                <a:solidFill>
                  <a:srgbClr val="000000"/>
                </a:solidFill>
                <a:effectLst/>
                <a:uLnTx/>
                <a:uFillTx/>
                <a:latin typeface="Calibri"/>
                <a:ea typeface="+mn-ea"/>
                <a:cs typeface="+mn-cs"/>
              </a:rPr>
              <a:t> Indica el </a:t>
            </a:r>
            <a:r>
              <a:rPr kumimoji="0" lang="es-MX" sz="1200" b="0" i="0" u="none" strike="noStrike" kern="1200" cap="none" spc="0" normalizeH="0" baseline="0" noProof="0" dirty="0" err="1">
                <a:ln>
                  <a:noFill/>
                </a:ln>
                <a:solidFill>
                  <a:srgbClr val="000000"/>
                </a:solidFill>
                <a:effectLst/>
                <a:uLnTx/>
                <a:uFillTx/>
                <a:latin typeface="Calibri"/>
                <a:ea typeface="+mn-ea"/>
                <a:cs typeface="+mn-cs"/>
              </a:rPr>
              <a:t>Join</a:t>
            </a:r>
            <a:r>
              <a:rPr kumimoji="0" lang="es-MX" sz="1200" b="0" i="0" u="none" strike="noStrike" kern="1200" cap="none" spc="0" normalizeH="0" baseline="0" noProof="0" dirty="0">
                <a:ln>
                  <a:noFill/>
                </a:ln>
                <a:solidFill>
                  <a:srgbClr val="000000"/>
                </a:solidFill>
                <a:effectLst/>
                <a:uLnTx/>
                <a:uFillTx/>
                <a:latin typeface="Calibri"/>
                <a:ea typeface="+mn-ea"/>
                <a:cs typeface="+mn-cs"/>
              </a:rPr>
              <a:t> debe cruzar cada una de las filas de la primera tabla con cada una de las filas de la segunda tabla.</a:t>
            </a:r>
            <a:endParaRPr kumimoji="0" lang="es-MX" sz="1200" b="0" i="0" u="none" strike="noStrike" kern="1200" cap="none" spc="0" normalizeH="0" baseline="0" noProof="0" dirty="0">
              <a:ln>
                <a:noFill/>
              </a:ln>
              <a:solidFill>
                <a:prstClr val="black"/>
              </a:solidFill>
              <a:effectLst/>
              <a:uLnTx/>
              <a:uFillTx/>
              <a:latin typeface="Calibri"/>
              <a:ea typeface="ＭＳ Ｐゴシック" pitchFamily="34" charset="-128"/>
              <a:cs typeface="Arial" pitchFamily="34" charset="0"/>
            </a:endParaRPr>
          </a:p>
          <a:p>
            <a:pPr marL="0" marR="0" lvl="0" indent="0" algn="l" defTabSz="914400" rtl="0" eaLnBrk="0" fontAlgn="base" latinLnBrk="0" hangingPunct="0">
              <a:lnSpc>
                <a:spcPct val="100000"/>
              </a:lnSpc>
              <a:spcBef>
                <a:spcPct val="30000"/>
              </a:spcBef>
              <a:spcAft>
                <a:spcPct val="0"/>
              </a:spcAft>
              <a:buClrTx/>
              <a:buSzTx/>
              <a:buFont typeface="Arial" pitchFamily="34" charset="0"/>
              <a:buNone/>
              <a:tabLst/>
              <a:defRPr/>
            </a:pPr>
            <a:endParaRPr kumimoji="0" lang="es-CL" sz="1200" b="0" i="0" u="none" strike="noStrike" kern="1200" cap="none" spc="0" normalizeH="0" baseline="0" noProof="0" dirty="0">
              <a:ln>
                <a:noFill/>
              </a:ln>
              <a:solidFill>
                <a:prstClr val="black"/>
              </a:solidFill>
              <a:effectLst/>
              <a:uLnTx/>
              <a:uFillTx/>
              <a:latin typeface="Calibri"/>
              <a:ea typeface="+mn-ea"/>
              <a:cs typeface="Arial" pitchFamily="34" charset="0"/>
            </a:endParaRPr>
          </a:p>
        </p:txBody>
      </p:sp>
    </p:spTree>
    <p:extLst>
      <p:ext uri="{BB962C8B-B14F-4D97-AF65-F5344CB8AC3E}">
        <p14:creationId xmlns:p14="http://schemas.microsoft.com/office/powerpoint/2010/main" val="10131399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just" defTabSz="914400" rtl="0" eaLnBrk="0" fontAlgn="base" latinLnBrk="0" hangingPunct="0">
              <a:lnSpc>
                <a:spcPct val="100000"/>
              </a:lnSpc>
              <a:spcBef>
                <a:spcPct val="30000"/>
              </a:spcBef>
              <a:spcAft>
                <a:spcPct val="0"/>
              </a:spcAft>
              <a:buClrTx/>
              <a:buSzTx/>
              <a:buFontTx/>
              <a:buNone/>
              <a:tabLst/>
              <a:defRPr/>
            </a:pPr>
            <a:r>
              <a:rPr kumimoji="0" lang="es-MX" sz="1200" b="1" i="0" u="none" strike="noStrike" kern="1200" cap="none" spc="0" normalizeH="0" baseline="0" noProof="0" dirty="0">
                <a:ln>
                  <a:noFill/>
                </a:ln>
                <a:solidFill>
                  <a:prstClr val="black"/>
                </a:solidFill>
                <a:effectLst/>
                <a:uLnTx/>
                <a:uFillTx/>
                <a:latin typeface="Calibri"/>
                <a:ea typeface="ＭＳ Ｐゴシック" pitchFamily="34" charset="-128"/>
                <a:cs typeface="Arial" charset="0"/>
              </a:rPr>
              <a:t>Creando CROSS JOIN</a:t>
            </a:r>
            <a:endParaRPr kumimoji="0" lang="es-CL" sz="1200" b="1" i="0" u="none" strike="noStrike" kern="1200" cap="none" spc="0" normalizeH="0" baseline="0" noProof="0" dirty="0">
              <a:ln>
                <a:noFill/>
              </a:ln>
              <a:solidFill>
                <a:prstClr val="black"/>
              </a:solidFill>
              <a:effectLst/>
              <a:uLnTx/>
              <a:uFillTx/>
              <a:latin typeface="Calibri"/>
              <a:ea typeface="+mn-ea"/>
              <a:cs typeface="+mn-cs"/>
            </a:endParaRPr>
          </a:p>
          <a:p>
            <a:pPr marL="0" marR="0" lvl="0" indent="0" algn="just" defTabSz="914400" rtl="0" eaLnBrk="0" fontAlgn="base" latinLnBrk="0" hangingPunct="0">
              <a:lnSpc>
                <a:spcPct val="100000"/>
              </a:lnSpc>
              <a:spcBef>
                <a:spcPct val="30000"/>
              </a:spcBef>
              <a:spcAft>
                <a:spcPct val="0"/>
              </a:spcAft>
              <a:buClrTx/>
              <a:buSzTx/>
              <a:buFontTx/>
              <a:buNone/>
              <a:tabLst/>
              <a:defRPr/>
            </a:pPr>
            <a:r>
              <a:rPr kumimoji="0" lang="es-CL" sz="1200" b="0" i="0" u="none" strike="noStrike" kern="1200" cap="none" spc="0" normalizeH="0" baseline="0" noProof="0" dirty="0">
                <a:ln>
                  <a:noFill/>
                </a:ln>
                <a:solidFill>
                  <a:prstClr val="black"/>
                </a:solidFill>
                <a:effectLst/>
                <a:uLnTx/>
                <a:uFillTx/>
                <a:latin typeface="Calibri"/>
                <a:ea typeface="ＭＳ Ｐゴシック" pitchFamily="34" charset="-128"/>
                <a:cs typeface="Arial" pitchFamily="34" charset="0"/>
              </a:rPr>
              <a:t>En la sentencia del ejemplo, se muestran 2889 filas. Lógicamente la información que se muestra no tiene ningún sentido ya que CROSS JOIN obtiene el producto cartesiano de las filas de las tablas EMPLOYEES (que tiene 107 filas) y DEPARTMENTS( que tiene 27 filas). </a:t>
            </a:r>
            <a:endParaRPr kumimoji="0" lang="es-MX" sz="1200" b="0" i="0" u="none" strike="noStrike" kern="1200" cap="none" spc="0" normalizeH="0" baseline="0" noProof="0" dirty="0">
              <a:ln>
                <a:noFill/>
              </a:ln>
              <a:solidFill>
                <a:prstClr val="black"/>
              </a:solidFill>
              <a:effectLst/>
              <a:uLnTx/>
              <a:uFillTx/>
              <a:latin typeface="Arial" pitchFamily="34" charset="0"/>
              <a:ea typeface="ＭＳ Ｐゴシック" pitchFamily="34" charset="-128"/>
              <a:cs typeface="Arial" pitchFamily="34" charset="0"/>
            </a:endParaRPr>
          </a:p>
          <a:p>
            <a:pPr marL="0" marR="0" lvl="0" indent="0" algn="l" defTabSz="914400" rtl="0" eaLnBrk="0" fontAlgn="base" latinLnBrk="0" hangingPunct="0">
              <a:lnSpc>
                <a:spcPct val="100000"/>
              </a:lnSpc>
              <a:spcBef>
                <a:spcPct val="30000"/>
              </a:spcBef>
              <a:spcAft>
                <a:spcPct val="0"/>
              </a:spcAft>
              <a:buClrTx/>
              <a:buSzTx/>
              <a:buFont typeface="Arial" pitchFamily="34" charset="0"/>
              <a:buNone/>
              <a:tabLst/>
              <a:defRPr/>
            </a:pPr>
            <a:endParaRPr kumimoji="0" lang="es-CL" sz="1200" b="0" i="0" u="none" strike="noStrike" kern="1200" cap="none" spc="0" normalizeH="0" baseline="0" noProof="0" dirty="0">
              <a:ln>
                <a:noFill/>
              </a:ln>
              <a:solidFill>
                <a:prstClr val="black"/>
              </a:solidFill>
              <a:effectLst/>
              <a:uLnTx/>
              <a:uFillTx/>
              <a:latin typeface="Calibri"/>
              <a:ea typeface="+mn-ea"/>
              <a:cs typeface="Arial" pitchFamily="34" charset="0"/>
            </a:endParaRPr>
          </a:p>
        </p:txBody>
      </p:sp>
    </p:spTree>
    <p:extLst>
      <p:ext uri="{BB962C8B-B14F-4D97-AF65-F5344CB8AC3E}">
        <p14:creationId xmlns:p14="http://schemas.microsoft.com/office/powerpoint/2010/main" val="206859499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just" defTabSz="914400" rtl="0" eaLnBrk="0" fontAlgn="base" latinLnBrk="0" hangingPunct="0">
              <a:lnSpc>
                <a:spcPct val="100000"/>
              </a:lnSpc>
              <a:spcBef>
                <a:spcPct val="30000"/>
              </a:spcBef>
              <a:spcAft>
                <a:spcPct val="0"/>
              </a:spcAft>
              <a:buClrTx/>
              <a:buSzTx/>
              <a:buFontTx/>
              <a:buNone/>
              <a:tabLst/>
              <a:defRPr/>
            </a:pPr>
            <a:r>
              <a:rPr kumimoji="0" lang="es-CL" sz="1200" b="1" i="0" u="none" strike="noStrike" kern="1200" cap="none" spc="0" normalizeH="0" baseline="0" noProof="0" dirty="0">
                <a:ln>
                  <a:noFill/>
                </a:ln>
                <a:solidFill>
                  <a:prstClr val="black"/>
                </a:solidFill>
                <a:effectLst/>
                <a:uLnTx/>
                <a:uFillTx/>
                <a:latin typeface="Calibri"/>
                <a:ea typeface="+mn-ea"/>
                <a:cs typeface="Arial" pitchFamily="34" charset="0"/>
              </a:rPr>
              <a:t>Creando JOINS con más de dos Tablas</a:t>
            </a:r>
          </a:p>
          <a:p>
            <a:pPr marL="0" marR="0" lvl="0" indent="0" algn="just" defTabSz="914400" rtl="0" eaLnBrk="0" fontAlgn="base" latinLnBrk="0" hangingPunct="0">
              <a:lnSpc>
                <a:spcPct val="100000"/>
              </a:lnSpc>
              <a:spcBef>
                <a:spcPct val="30000"/>
              </a:spcBef>
              <a:spcAft>
                <a:spcPct val="0"/>
              </a:spcAft>
              <a:buClrTx/>
              <a:buSzTx/>
              <a:buFontTx/>
              <a:buNone/>
              <a:tabLst/>
              <a:defRPr/>
            </a:pPr>
            <a:r>
              <a:rPr kumimoji="0" lang="es-CL" sz="1200" b="0" i="0" u="none" strike="noStrike" kern="1200" cap="none" spc="0" normalizeH="0" baseline="0" noProof="0" dirty="0">
                <a:ln>
                  <a:noFill/>
                </a:ln>
                <a:solidFill>
                  <a:prstClr val="black"/>
                </a:solidFill>
                <a:effectLst/>
                <a:uLnTx/>
                <a:uFillTx/>
                <a:latin typeface="Calibri"/>
                <a:ea typeface="+mn-ea"/>
                <a:cs typeface="+mn-cs"/>
              </a:rPr>
              <a:t>Hasta ahora hemos obtenido datos que se encuentran almacenadas en dos tablas diferentes. Sin embargo, la pregunta que se plantea de cómo saber cuál es ciudad trabaja el empleado nos obliga a tener que obtener ese dato desde una tercera tabla. Esto significa que se debe efectuar un JOIN entre más de dos tablas.</a:t>
            </a:r>
          </a:p>
          <a:p>
            <a:pPr marL="0" marR="0" lvl="0" indent="0" algn="just" defTabSz="914400" rtl="0" eaLnBrk="0" fontAlgn="base" latinLnBrk="0" hangingPunct="0">
              <a:lnSpc>
                <a:spcPct val="100000"/>
              </a:lnSpc>
              <a:spcBef>
                <a:spcPct val="30000"/>
              </a:spcBef>
              <a:spcAft>
                <a:spcPct val="0"/>
              </a:spcAft>
              <a:buClrTx/>
              <a:buSzTx/>
              <a:buFontTx/>
              <a:buNone/>
              <a:tabLst/>
              <a:defRPr/>
            </a:pPr>
            <a:r>
              <a:rPr kumimoji="0" lang="es-CL" sz="1200" b="0" i="0" u="none" strike="noStrike" kern="1200" cap="none" spc="0" normalizeH="0" baseline="0" noProof="0" dirty="0">
                <a:ln>
                  <a:noFill/>
                </a:ln>
                <a:solidFill>
                  <a:prstClr val="black"/>
                </a:solidFill>
                <a:effectLst/>
                <a:uLnTx/>
                <a:uFillTx/>
                <a:latin typeface="Calibri"/>
                <a:ea typeface="+mn-ea"/>
                <a:cs typeface="+mn-cs"/>
              </a:rPr>
              <a:t>Los </a:t>
            </a:r>
            <a:r>
              <a:rPr kumimoji="0" lang="es-CL" sz="1200" b="0" i="0" u="none" strike="noStrike" kern="1200" cap="none" spc="0" normalizeH="0" baseline="0" noProof="0" dirty="0" err="1">
                <a:ln>
                  <a:noFill/>
                </a:ln>
                <a:solidFill>
                  <a:prstClr val="black"/>
                </a:solidFill>
                <a:effectLst/>
                <a:uLnTx/>
                <a:uFillTx/>
                <a:latin typeface="Calibri"/>
                <a:ea typeface="+mn-ea"/>
                <a:cs typeface="+mn-cs"/>
              </a:rPr>
              <a:t>Join</a:t>
            </a:r>
            <a:r>
              <a:rPr kumimoji="0" lang="es-CL" sz="1200" b="0" i="0" u="none" strike="noStrike" kern="1200" cap="none" spc="0" normalizeH="0" baseline="0" noProof="0" dirty="0">
                <a:ln>
                  <a:noFill/>
                </a:ln>
                <a:solidFill>
                  <a:prstClr val="black"/>
                </a:solidFill>
                <a:effectLst/>
                <a:uLnTx/>
                <a:uFillTx/>
                <a:latin typeface="Calibri"/>
                <a:ea typeface="+mn-ea"/>
                <a:cs typeface="+mn-cs"/>
              </a:rPr>
              <a:t> entre varias tablas se ejecutan de izquierda a derecha. La condición del primer </a:t>
            </a:r>
            <a:r>
              <a:rPr kumimoji="0" lang="es-CL" sz="1200" b="0" i="0" u="none" strike="noStrike" kern="1200" cap="none" spc="0" normalizeH="0" baseline="0" noProof="0" dirty="0" err="1">
                <a:ln>
                  <a:noFill/>
                </a:ln>
                <a:solidFill>
                  <a:prstClr val="black"/>
                </a:solidFill>
                <a:effectLst/>
                <a:uLnTx/>
                <a:uFillTx/>
                <a:latin typeface="Calibri"/>
                <a:ea typeface="+mn-ea"/>
                <a:cs typeface="+mn-cs"/>
              </a:rPr>
              <a:t>Join</a:t>
            </a:r>
            <a:r>
              <a:rPr kumimoji="0" lang="es-CL" sz="1200" b="0" i="0" u="none" strike="noStrike" kern="1200" cap="none" spc="0" normalizeH="0" baseline="0" noProof="0" dirty="0">
                <a:ln>
                  <a:noFill/>
                </a:ln>
                <a:solidFill>
                  <a:prstClr val="black"/>
                </a:solidFill>
                <a:effectLst/>
                <a:uLnTx/>
                <a:uFillTx/>
                <a:latin typeface="Calibri"/>
                <a:ea typeface="+mn-ea"/>
                <a:cs typeface="+mn-cs"/>
              </a:rPr>
              <a:t> sólo puede referenciar las columnas de las tablas del primer </a:t>
            </a:r>
            <a:r>
              <a:rPr kumimoji="0" lang="es-CL" sz="1200" b="0" i="0" u="none" strike="noStrike" kern="1200" cap="none" spc="0" normalizeH="0" baseline="0" noProof="0" dirty="0" err="1">
                <a:ln>
                  <a:noFill/>
                </a:ln>
                <a:solidFill>
                  <a:prstClr val="black"/>
                </a:solidFill>
                <a:effectLst/>
                <a:uLnTx/>
                <a:uFillTx/>
                <a:latin typeface="Calibri"/>
                <a:ea typeface="+mn-ea"/>
                <a:cs typeface="+mn-cs"/>
              </a:rPr>
              <a:t>Join</a:t>
            </a:r>
            <a:r>
              <a:rPr kumimoji="0" lang="es-CL" sz="1200" b="0" i="0" u="none" strike="noStrike" kern="1200" cap="none" spc="0" normalizeH="0" baseline="0" noProof="0" dirty="0">
                <a:ln>
                  <a:noFill/>
                </a:ln>
                <a:solidFill>
                  <a:prstClr val="black"/>
                </a:solidFill>
                <a:effectLst/>
                <a:uLnTx/>
                <a:uFillTx/>
                <a:latin typeface="Calibri"/>
                <a:ea typeface="+mn-ea"/>
                <a:cs typeface="+mn-cs"/>
              </a:rPr>
              <a:t>. La condición del segundo </a:t>
            </a:r>
            <a:r>
              <a:rPr kumimoji="0" lang="es-CL" sz="1200" b="0" i="0" u="none" strike="noStrike" kern="1200" cap="none" spc="0" normalizeH="0" baseline="0" noProof="0" dirty="0" err="1">
                <a:ln>
                  <a:noFill/>
                </a:ln>
                <a:solidFill>
                  <a:prstClr val="black"/>
                </a:solidFill>
                <a:effectLst/>
                <a:uLnTx/>
                <a:uFillTx/>
                <a:latin typeface="Calibri"/>
                <a:ea typeface="+mn-ea"/>
                <a:cs typeface="+mn-cs"/>
              </a:rPr>
              <a:t>Join</a:t>
            </a:r>
            <a:r>
              <a:rPr kumimoji="0" lang="es-CL" sz="1200" b="0" i="0" u="none" strike="noStrike" kern="1200" cap="none" spc="0" normalizeH="0" baseline="0" noProof="0" dirty="0">
                <a:ln>
                  <a:noFill/>
                </a:ln>
                <a:solidFill>
                  <a:prstClr val="black"/>
                </a:solidFill>
                <a:effectLst/>
                <a:uLnTx/>
                <a:uFillTx/>
                <a:latin typeface="Calibri"/>
                <a:ea typeface="+mn-ea"/>
                <a:cs typeface="+mn-cs"/>
              </a:rPr>
              <a:t> sólo puede referenciar columnas de las tablas del primer y segundo </a:t>
            </a:r>
            <a:r>
              <a:rPr kumimoji="0" lang="es-CL" sz="1200" b="0" i="0" u="none" strike="noStrike" kern="1200" cap="none" spc="0" normalizeH="0" baseline="0" noProof="0" dirty="0" err="1">
                <a:ln>
                  <a:noFill/>
                </a:ln>
                <a:solidFill>
                  <a:prstClr val="black"/>
                </a:solidFill>
                <a:effectLst/>
                <a:uLnTx/>
                <a:uFillTx/>
                <a:latin typeface="Calibri"/>
                <a:ea typeface="+mn-ea"/>
                <a:cs typeface="+mn-cs"/>
              </a:rPr>
              <a:t>Join</a:t>
            </a:r>
            <a:r>
              <a:rPr kumimoji="0" lang="es-CL" sz="1200" b="0" i="0" u="none" strike="noStrike" kern="1200" cap="none" spc="0" normalizeH="0" baseline="0" noProof="0" dirty="0">
                <a:ln>
                  <a:noFill/>
                </a:ln>
                <a:solidFill>
                  <a:prstClr val="black"/>
                </a:solidFill>
                <a:effectLst/>
                <a:uLnTx/>
                <a:uFillTx/>
                <a:latin typeface="Calibri"/>
                <a:ea typeface="+mn-ea"/>
                <a:cs typeface="+mn-cs"/>
              </a:rPr>
              <a:t>. La condición del tercer </a:t>
            </a:r>
            <a:r>
              <a:rPr kumimoji="0" lang="es-CL" sz="1200" b="0" i="0" u="none" strike="noStrike" kern="1200" cap="none" spc="0" normalizeH="0" baseline="0" noProof="0" dirty="0" err="1">
                <a:ln>
                  <a:noFill/>
                </a:ln>
                <a:solidFill>
                  <a:prstClr val="black"/>
                </a:solidFill>
                <a:effectLst/>
                <a:uLnTx/>
                <a:uFillTx/>
                <a:latin typeface="Calibri"/>
                <a:ea typeface="+mn-ea"/>
                <a:cs typeface="+mn-cs"/>
              </a:rPr>
              <a:t>Join</a:t>
            </a:r>
            <a:r>
              <a:rPr kumimoji="0" lang="es-CL" sz="1200" b="0" i="0" u="none" strike="noStrike" kern="1200" cap="none" spc="0" normalizeH="0" baseline="0" noProof="0" dirty="0">
                <a:ln>
                  <a:noFill/>
                </a:ln>
                <a:solidFill>
                  <a:prstClr val="black"/>
                </a:solidFill>
                <a:effectLst/>
                <a:uLnTx/>
                <a:uFillTx/>
                <a:latin typeface="Calibri"/>
                <a:ea typeface="+mn-ea"/>
                <a:cs typeface="+mn-cs"/>
              </a:rPr>
              <a:t> sólo puede referenciar las columnas de las tablas del primer, segundo y tercer </a:t>
            </a:r>
            <a:r>
              <a:rPr kumimoji="0" lang="es-CL" sz="1200" b="0" i="0" u="none" strike="noStrike" kern="1200" cap="none" spc="0" normalizeH="0" baseline="0" noProof="0" dirty="0" err="1">
                <a:ln>
                  <a:noFill/>
                </a:ln>
                <a:solidFill>
                  <a:prstClr val="black"/>
                </a:solidFill>
                <a:effectLst/>
                <a:uLnTx/>
                <a:uFillTx/>
                <a:latin typeface="Calibri"/>
                <a:ea typeface="+mn-ea"/>
                <a:cs typeface="+mn-cs"/>
              </a:rPr>
              <a:t>Join</a:t>
            </a:r>
            <a:r>
              <a:rPr kumimoji="0" lang="es-CL" sz="1200" b="0" i="0" u="none" strike="noStrike" kern="1200" cap="none" spc="0" normalizeH="0" baseline="0" noProof="0" dirty="0">
                <a:ln>
                  <a:noFill/>
                </a:ln>
                <a:solidFill>
                  <a:prstClr val="black"/>
                </a:solidFill>
                <a:effectLst/>
                <a:uLnTx/>
                <a:uFillTx/>
                <a:latin typeface="Calibri"/>
                <a:ea typeface="+mn-ea"/>
                <a:cs typeface="+mn-cs"/>
              </a:rPr>
              <a:t> y así sucesivamente.  No existe límite de los </a:t>
            </a:r>
            <a:r>
              <a:rPr kumimoji="0" lang="es-CL" sz="1200" b="0" i="0" u="none" strike="noStrike" kern="1200" cap="none" spc="0" normalizeH="0" baseline="0" noProof="0" dirty="0" err="1">
                <a:ln>
                  <a:noFill/>
                </a:ln>
                <a:solidFill>
                  <a:prstClr val="black"/>
                </a:solidFill>
                <a:effectLst/>
                <a:uLnTx/>
                <a:uFillTx/>
                <a:latin typeface="Calibri"/>
                <a:ea typeface="+mn-ea"/>
                <a:cs typeface="+mn-cs"/>
              </a:rPr>
              <a:t>Join</a:t>
            </a:r>
            <a:r>
              <a:rPr kumimoji="0" lang="es-CL" sz="1200" b="0" i="0" u="none" strike="noStrike" kern="1200" cap="none" spc="0" normalizeH="0" baseline="0" noProof="0" dirty="0">
                <a:ln>
                  <a:noFill/>
                </a:ln>
                <a:solidFill>
                  <a:prstClr val="black"/>
                </a:solidFill>
                <a:effectLst/>
                <a:uLnTx/>
                <a:uFillTx/>
                <a:latin typeface="Calibri"/>
                <a:ea typeface="+mn-ea"/>
                <a:cs typeface="+mn-cs"/>
              </a:rPr>
              <a:t> que puede tener una sentencia SELECT.</a:t>
            </a:r>
            <a:endParaRPr kumimoji="0" lang="es-CL" sz="1200" b="0" i="0" u="none" strike="noStrike" kern="1200" cap="none" spc="0" normalizeH="0" baseline="0" noProof="0" dirty="0">
              <a:ln>
                <a:noFill/>
              </a:ln>
              <a:solidFill>
                <a:prstClr val="black"/>
              </a:solidFill>
              <a:effectLst/>
              <a:uLnTx/>
              <a:uFillTx/>
              <a:latin typeface="Calibri"/>
              <a:ea typeface="+mn-ea"/>
              <a:cs typeface="Arial" pitchFamily="34" charset="0"/>
            </a:endParaRPr>
          </a:p>
          <a:p>
            <a:pPr marL="0" marR="0" lvl="0" indent="0" algn="l" defTabSz="914400" rtl="0" eaLnBrk="0" fontAlgn="base" latinLnBrk="0" hangingPunct="0">
              <a:lnSpc>
                <a:spcPct val="100000"/>
              </a:lnSpc>
              <a:spcBef>
                <a:spcPct val="30000"/>
              </a:spcBef>
              <a:spcAft>
                <a:spcPct val="0"/>
              </a:spcAft>
              <a:buClrTx/>
              <a:buSzTx/>
              <a:buFont typeface="Arial" pitchFamily="34" charset="0"/>
              <a:buNone/>
              <a:tabLst/>
              <a:defRPr/>
            </a:pPr>
            <a:endParaRPr kumimoji="0" lang="es-CL" sz="1200" b="0" i="0" u="none" strike="noStrike" kern="1200" cap="none" spc="0" normalizeH="0" baseline="0" noProof="0" dirty="0">
              <a:ln>
                <a:noFill/>
              </a:ln>
              <a:solidFill>
                <a:prstClr val="black"/>
              </a:solidFill>
              <a:effectLst/>
              <a:uLnTx/>
              <a:uFillTx/>
              <a:latin typeface="Calibri"/>
              <a:ea typeface="+mn-ea"/>
              <a:cs typeface="Arial" pitchFamily="34" charset="0"/>
            </a:endParaRPr>
          </a:p>
        </p:txBody>
      </p:sp>
    </p:spTree>
    <p:extLst>
      <p:ext uri="{BB962C8B-B14F-4D97-AF65-F5344CB8AC3E}">
        <p14:creationId xmlns:p14="http://schemas.microsoft.com/office/powerpoint/2010/main" val="147391635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just" defTabSz="914400" rtl="0" eaLnBrk="0" fontAlgn="base" latinLnBrk="0" hangingPunct="0">
              <a:lnSpc>
                <a:spcPct val="100000"/>
              </a:lnSpc>
              <a:spcBef>
                <a:spcPct val="30000"/>
              </a:spcBef>
              <a:spcAft>
                <a:spcPct val="0"/>
              </a:spcAft>
              <a:buClrTx/>
              <a:buSzTx/>
              <a:buFontTx/>
              <a:buNone/>
              <a:tabLst/>
              <a:defRPr/>
            </a:pPr>
            <a:r>
              <a:rPr kumimoji="0" lang="es-CL" sz="1200" b="1" i="0" u="none" strike="noStrike" kern="1200" cap="none" spc="0" normalizeH="0" baseline="0" noProof="0" dirty="0">
                <a:ln>
                  <a:noFill/>
                </a:ln>
                <a:solidFill>
                  <a:prstClr val="black"/>
                </a:solidFill>
                <a:effectLst/>
                <a:uLnTx/>
                <a:uFillTx/>
                <a:latin typeface="Calibri"/>
                <a:ea typeface="+mn-ea"/>
                <a:cs typeface="Arial" pitchFamily="34" charset="0"/>
              </a:rPr>
              <a:t>Creando </a:t>
            </a:r>
            <a:r>
              <a:rPr kumimoji="0" lang="es-CL" sz="1200" b="1" i="0" u="none" strike="noStrike" kern="1200" cap="none" spc="0" normalizeH="0" baseline="0" noProof="0" dirty="0" err="1">
                <a:ln>
                  <a:noFill/>
                </a:ln>
                <a:solidFill>
                  <a:prstClr val="black"/>
                </a:solidFill>
                <a:effectLst/>
                <a:uLnTx/>
                <a:uFillTx/>
                <a:latin typeface="Calibri"/>
                <a:ea typeface="+mn-ea"/>
                <a:cs typeface="Arial" pitchFamily="34" charset="0"/>
              </a:rPr>
              <a:t>Joins</a:t>
            </a:r>
            <a:r>
              <a:rPr kumimoji="0" lang="es-CL" sz="1200" b="1" i="0" u="none" strike="noStrike" kern="1200" cap="none" spc="0" normalizeH="0" baseline="0" noProof="0" dirty="0">
                <a:ln>
                  <a:noFill/>
                </a:ln>
                <a:solidFill>
                  <a:prstClr val="black"/>
                </a:solidFill>
                <a:effectLst/>
                <a:uLnTx/>
                <a:uFillTx/>
                <a:latin typeface="Calibri"/>
                <a:ea typeface="+mn-ea"/>
                <a:cs typeface="Arial" pitchFamily="34" charset="0"/>
              </a:rPr>
              <a:t> con más de dos Tablas</a:t>
            </a:r>
          </a:p>
          <a:p>
            <a:pPr marL="0" marR="0" lvl="0" indent="0" algn="just" defTabSz="914400" rtl="0" eaLnBrk="0" fontAlgn="base" latinLnBrk="0" hangingPunct="0">
              <a:lnSpc>
                <a:spcPct val="100000"/>
              </a:lnSpc>
              <a:spcBef>
                <a:spcPct val="30000"/>
              </a:spcBef>
              <a:spcAft>
                <a:spcPct val="0"/>
              </a:spcAft>
              <a:buClrTx/>
              <a:buSzTx/>
              <a:buFontTx/>
              <a:buNone/>
              <a:tabLst/>
              <a:defRPr/>
            </a:pPr>
            <a:r>
              <a:rPr kumimoji="0" lang="es-CL" sz="1200" b="0" i="0" u="none" strike="noStrike" kern="1200" cap="none" spc="0" normalizeH="0" baseline="0" noProof="0" dirty="0">
                <a:ln>
                  <a:noFill/>
                </a:ln>
                <a:solidFill>
                  <a:prstClr val="black"/>
                </a:solidFill>
                <a:effectLst/>
                <a:uLnTx/>
                <a:uFillTx/>
                <a:latin typeface="Calibri"/>
                <a:ea typeface="+mn-ea"/>
                <a:cs typeface="+mn-cs"/>
              </a:rPr>
              <a:t>En el ejemplo, el primer </a:t>
            </a:r>
            <a:r>
              <a:rPr kumimoji="0" lang="es-CL" sz="1200" b="0" i="0" u="none" strike="noStrike" kern="1200" cap="none" spc="0" normalizeH="0" baseline="0" noProof="0" dirty="0" err="1">
                <a:ln>
                  <a:noFill/>
                </a:ln>
                <a:solidFill>
                  <a:prstClr val="black"/>
                </a:solidFill>
                <a:effectLst/>
                <a:uLnTx/>
                <a:uFillTx/>
                <a:latin typeface="Calibri"/>
                <a:ea typeface="+mn-ea"/>
                <a:cs typeface="+mn-cs"/>
              </a:rPr>
              <a:t>Join</a:t>
            </a:r>
            <a:r>
              <a:rPr kumimoji="0" lang="es-CL" sz="1200" b="0" i="0" u="none" strike="noStrike" kern="1200" cap="none" spc="0" normalizeH="0" baseline="0" noProof="0" dirty="0">
                <a:ln>
                  <a:noFill/>
                </a:ln>
                <a:solidFill>
                  <a:prstClr val="black"/>
                </a:solidFill>
                <a:effectLst/>
                <a:uLnTx/>
                <a:uFillTx/>
                <a:latin typeface="Calibri"/>
                <a:ea typeface="+mn-ea"/>
                <a:cs typeface="+mn-cs"/>
              </a:rPr>
              <a:t> que se ejecuta es entre las tablas EMPLOYEES y DEPARTMENTS. De cada departamento que retorna el primer </a:t>
            </a:r>
            <a:r>
              <a:rPr kumimoji="0" lang="es-CL" sz="1200" b="0" i="0" u="none" strike="noStrike" kern="1200" cap="none" spc="0" normalizeH="0" baseline="0" noProof="0" dirty="0" err="1">
                <a:ln>
                  <a:noFill/>
                </a:ln>
                <a:solidFill>
                  <a:prstClr val="black"/>
                </a:solidFill>
                <a:effectLst/>
                <a:uLnTx/>
                <a:uFillTx/>
                <a:latin typeface="Calibri"/>
                <a:ea typeface="+mn-ea"/>
                <a:cs typeface="+mn-cs"/>
              </a:rPr>
              <a:t>Join</a:t>
            </a:r>
            <a:r>
              <a:rPr kumimoji="0" lang="es-CL" sz="1200" b="0" i="0" u="none" strike="noStrike" kern="1200" cap="none" spc="0" normalizeH="0" baseline="0" noProof="0" dirty="0">
                <a:ln>
                  <a:noFill/>
                </a:ln>
                <a:solidFill>
                  <a:prstClr val="black"/>
                </a:solidFill>
                <a:effectLst/>
                <a:uLnTx/>
                <a:uFillTx/>
                <a:latin typeface="Calibri"/>
                <a:ea typeface="+mn-ea"/>
                <a:cs typeface="+mn-cs"/>
              </a:rPr>
              <a:t> se obtiene el nombre de la ciudad en la cual se ubica en el segundo </a:t>
            </a:r>
            <a:r>
              <a:rPr kumimoji="0" lang="es-CL" sz="1200" b="0" i="0" u="none" strike="noStrike" kern="1200" cap="none" spc="0" normalizeH="0" baseline="0" noProof="0" dirty="0" err="1">
                <a:ln>
                  <a:noFill/>
                </a:ln>
                <a:solidFill>
                  <a:prstClr val="black"/>
                </a:solidFill>
                <a:effectLst/>
                <a:uLnTx/>
                <a:uFillTx/>
                <a:latin typeface="Calibri"/>
                <a:ea typeface="+mn-ea"/>
                <a:cs typeface="+mn-cs"/>
              </a:rPr>
              <a:t>Join</a:t>
            </a:r>
            <a:r>
              <a:rPr kumimoji="0" lang="es-CL" sz="1200" b="0" i="0" u="none" strike="noStrike" kern="1200" cap="none" spc="0" normalizeH="0" baseline="0" noProof="0" dirty="0">
                <a:ln>
                  <a:noFill/>
                </a:ln>
                <a:solidFill>
                  <a:prstClr val="black"/>
                </a:solidFill>
                <a:effectLst/>
                <a:uLnTx/>
                <a:uFillTx/>
                <a:latin typeface="Calibri"/>
                <a:ea typeface="+mn-ea"/>
                <a:cs typeface="+mn-cs"/>
              </a:rPr>
              <a:t> entre las DEPARTMENTS con LOCATIONS.</a:t>
            </a:r>
          </a:p>
          <a:p>
            <a:pPr marL="0" marR="0" lvl="0" indent="0" algn="just" defTabSz="914400" rtl="0" eaLnBrk="0" fontAlgn="base" latinLnBrk="0" hangingPunct="0">
              <a:lnSpc>
                <a:spcPct val="100000"/>
              </a:lnSpc>
              <a:spcBef>
                <a:spcPct val="30000"/>
              </a:spcBef>
              <a:spcAft>
                <a:spcPct val="0"/>
              </a:spcAft>
              <a:buClrTx/>
              <a:buSzTx/>
              <a:buFontTx/>
              <a:buNone/>
              <a:tabLst/>
              <a:defRPr/>
            </a:pPr>
            <a:r>
              <a:rPr kumimoji="0" lang="es-CL" sz="1200" b="0" i="0" u="none" strike="noStrike" kern="1200" cap="none" spc="0" normalizeH="0" baseline="0" noProof="0" dirty="0">
                <a:ln>
                  <a:noFill/>
                </a:ln>
                <a:solidFill>
                  <a:prstClr val="black"/>
                </a:solidFill>
                <a:effectLst/>
                <a:uLnTx/>
                <a:uFillTx/>
                <a:latin typeface="Calibri"/>
                <a:ea typeface="+mn-ea"/>
                <a:cs typeface="+mn-cs"/>
              </a:rPr>
              <a:t>La condición del primer </a:t>
            </a:r>
            <a:r>
              <a:rPr kumimoji="0" lang="es-CL" sz="1200" b="0" i="0" u="none" strike="noStrike" kern="1200" cap="none" spc="0" normalizeH="0" baseline="0" noProof="0" dirty="0" err="1">
                <a:ln>
                  <a:noFill/>
                </a:ln>
                <a:solidFill>
                  <a:prstClr val="black"/>
                </a:solidFill>
                <a:effectLst/>
                <a:uLnTx/>
                <a:uFillTx/>
                <a:latin typeface="Calibri"/>
                <a:ea typeface="+mn-ea"/>
                <a:cs typeface="+mn-cs"/>
              </a:rPr>
              <a:t>Join</a:t>
            </a:r>
            <a:r>
              <a:rPr kumimoji="0" lang="es-CL" sz="1200" b="0" i="0" u="none" strike="noStrike" kern="1200" cap="none" spc="0" normalizeH="0" baseline="0" noProof="0" dirty="0">
                <a:ln>
                  <a:noFill/>
                </a:ln>
                <a:solidFill>
                  <a:prstClr val="black"/>
                </a:solidFill>
                <a:effectLst/>
                <a:uLnTx/>
                <a:uFillTx/>
                <a:latin typeface="Calibri"/>
                <a:ea typeface="+mn-ea"/>
                <a:cs typeface="+mn-cs"/>
              </a:rPr>
              <a:t> puede referenciar sólo las columnas de las tablas EMPLOYEES y DEPARTMENTS, pero no puede referenciar columnas de la tabla LOCATIONS. La condición del segundo </a:t>
            </a:r>
            <a:r>
              <a:rPr kumimoji="0" lang="es-CL" sz="1200" b="0" i="0" u="none" strike="noStrike" kern="1200" cap="none" spc="0" normalizeH="0" baseline="0" noProof="0" dirty="0" err="1">
                <a:ln>
                  <a:noFill/>
                </a:ln>
                <a:solidFill>
                  <a:prstClr val="black"/>
                </a:solidFill>
                <a:effectLst/>
                <a:uLnTx/>
                <a:uFillTx/>
                <a:latin typeface="Calibri"/>
                <a:ea typeface="+mn-ea"/>
                <a:cs typeface="+mn-cs"/>
              </a:rPr>
              <a:t>Join</a:t>
            </a:r>
            <a:r>
              <a:rPr kumimoji="0" lang="es-CL" sz="1200" b="0" i="0" u="none" strike="noStrike" kern="1200" cap="none" spc="0" normalizeH="0" baseline="0" noProof="0" dirty="0">
                <a:ln>
                  <a:noFill/>
                </a:ln>
                <a:solidFill>
                  <a:prstClr val="black"/>
                </a:solidFill>
                <a:effectLst/>
                <a:uLnTx/>
                <a:uFillTx/>
                <a:latin typeface="Calibri"/>
                <a:ea typeface="+mn-ea"/>
                <a:cs typeface="+mn-cs"/>
              </a:rPr>
              <a:t> puede referenciar columnas de las tres tablas (EMPLOYEES, DEPARTMENTS y LOCATIONS).</a:t>
            </a:r>
          </a:p>
          <a:p>
            <a:pPr marL="0" marR="0" lvl="0" indent="0" algn="just" defTabSz="914400" rtl="0" eaLnBrk="0" fontAlgn="base" latinLnBrk="0" hangingPunct="0">
              <a:lnSpc>
                <a:spcPct val="100000"/>
              </a:lnSpc>
              <a:spcBef>
                <a:spcPct val="30000"/>
              </a:spcBef>
              <a:spcAft>
                <a:spcPct val="0"/>
              </a:spcAft>
              <a:buClrTx/>
              <a:buSzTx/>
              <a:buFontTx/>
              <a:buNone/>
              <a:tabLst/>
              <a:defRPr/>
            </a:pPr>
            <a:r>
              <a:rPr kumimoji="0" lang="es-CL" sz="1200" b="0" i="0" u="none" strike="noStrike" kern="1200" cap="none" spc="0" normalizeH="0" baseline="0" noProof="0" dirty="0">
                <a:ln>
                  <a:noFill/>
                </a:ln>
                <a:solidFill>
                  <a:prstClr val="black"/>
                </a:solidFill>
                <a:effectLst/>
                <a:uLnTx/>
                <a:uFillTx/>
                <a:latin typeface="Calibri"/>
                <a:ea typeface="+mn-ea"/>
                <a:cs typeface="+mn-cs"/>
              </a:rPr>
              <a:t>En la sentencia, por lo tanto, se obtiene la identificación de los empleados, nombre del departamento y la ciudad en la que se encuentra el departamento. Como la sentencia es un </a:t>
            </a:r>
            <a:r>
              <a:rPr kumimoji="0" lang="es-CL" sz="1200" b="0" i="0" u="none" strike="noStrike" kern="1200" cap="none" spc="0" normalizeH="0" baseline="0" noProof="0" dirty="0" err="1">
                <a:ln>
                  <a:noFill/>
                </a:ln>
                <a:solidFill>
                  <a:prstClr val="black"/>
                </a:solidFill>
                <a:effectLst/>
                <a:uLnTx/>
                <a:uFillTx/>
                <a:latin typeface="Calibri"/>
                <a:ea typeface="+mn-ea"/>
                <a:cs typeface="+mn-cs"/>
              </a:rPr>
              <a:t>Outer</a:t>
            </a:r>
            <a:r>
              <a:rPr kumimoji="0" lang="es-CL" sz="1200" b="0" i="0" u="none" strike="noStrike" kern="1200" cap="none" spc="0" normalizeH="0" baseline="0" noProof="0" dirty="0">
                <a:ln>
                  <a:noFill/>
                </a:ln>
                <a:solidFill>
                  <a:prstClr val="black"/>
                </a:solidFill>
                <a:effectLst/>
                <a:uLnTx/>
                <a:uFillTx/>
                <a:latin typeface="Calibri"/>
                <a:ea typeface="+mn-ea"/>
                <a:cs typeface="+mn-cs"/>
              </a:rPr>
              <a:t> </a:t>
            </a:r>
            <a:r>
              <a:rPr kumimoji="0" lang="es-CL" sz="1200" b="0" i="0" u="none" strike="noStrike" kern="1200" cap="none" spc="0" normalizeH="0" baseline="0" noProof="0" dirty="0" err="1">
                <a:ln>
                  <a:noFill/>
                </a:ln>
                <a:solidFill>
                  <a:prstClr val="black"/>
                </a:solidFill>
                <a:effectLst/>
                <a:uLnTx/>
                <a:uFillTx/>
                <a:latin typeface="Calibri"/>
                <a:ea typeface="+mn-ea"/>
                <a:cs typeface="+mn-cs"/>
              </a:rPr>
              <a:t>Join</a:t>
            </a:r>
            <a:r>
              <a:rPr kumimoji="0" lang="es-CL" sz="1200" b="0" i="0" u="none" strike="noStrike" kern="1200" cap="none" spc="0" normalizeH="0" baseline="0" noProof="0" dirty="0">
                <a:ln>
                  <a:noFill/>
                </a:ln>
                <a:solidFill>
                  <a:prstClr val="black"/>
                </a:solidFill>
                <a:effectLst/>
                <a:uLnTx/>
                <a:uFillTx/>
                <a:latin typeface="Calibri"/>
                <a:ea typeface="+mn-ea"/>
                <a:cs typeface="+mn-cs"/>
              </a:rPr>
              <a:t>, en el resultado también aparece el empleado que posee valor nulo en la columna </a:t>
            </a:r>
            <a:r>
              <a:rPr kumimoji="0" lang="es-CL" sz="1200" b="0" i="0" u="none" strike="noStrike" kern="1200" cap="none" spc="0" normalizeH="0" baseline="0" noProof="0" dirty="0" err="1">
                <a:ln>
                  <a:noFill/>
                </a:ln>
                <a:solidFill>
                  <a:prstClr val="black"/>
                </a:solidFill>
                <a:effectLst/>
                <a:uLnTx/>
                <a:uFillTx/>
                <a:latin typeface="Calibri"/>
                <a:ea typeface="+mn-ea"/>
                <a:cs typeface="+mn-cs"/>
              </a:rPr>
              <a:t>departmento_id</a:t>
            </a:r>
            <a:r>
              <a:rPr kumimoji="0" lang="es-CL" sz="1200" b="0" i="0" u="none" strike="noStrike" kern="1200" cap="none" spc="0" normalizeH="0" baseline="0" noProof="0" dirty="0">
                <a:ln>
                  <a:noFill/>
                </a:ln>
                <a:solidFill>
                  <a:prstClr val="black"/>
                </a:solidFill>
                <a:effectLst/>
                <a:uLnTx/>
                <a:uFillTx/>
                <a:latin typeface="Calibri"/>
                <a:ea typeface="+mn-ea"/>
                <a:cs typeface="+mn-cs"/>
              </a:rPr>
              <a:t>.</a:t>
            </a:r>
            <a:endParaRPr kumimoji="0" lang="es-MX" sz="1200" b="0" i="0" u="none" strike="noStrike" kern="1200" cap="none" spc="0" normalizeH="0" baseline="0" noProof="0" dirty="0">
              <a:ln>
                <a:noFill/>
              </a:ln>
              <a:solidFill>
                <a:prstClr val="black"/>
              </a:solidFill>
              <a:effectLst/>
              <a:uLnTx/>
              <a:uFillTx/>
              <a:latin typeface="Calibri"/>
              <a:ea typeface="+mn-ea"/>
              <a:cs typeface="Arial" pitchFamily="34" charset="0"/>
            </a:endParaRPr>
          </a:p>
          <a:p>
            <a:pPr marL="0" marR="0" lvl="0" indent="0" algn="l" defTabSz="914400" rtl="0" eaLnBrk="0" fontAlgn="base" latinLnBrk="0" hangingPunct="0">
              <a:lnSpc>
                <a:spcPct val="100000"/>
              </a:lnSpc>
              <a:spcBef>
                <a:spcPct val="30000"/>
              </a:spcBef>
              <a:spcAft>
                <a:spcPct val="0"/>
              </a:spcAft>
              <a:buClrTx/>
              <a:buSzTx/>
              <a:buFont typeface="Arial" pitchFamily="34" charset="0"/>
              <a:buNone/>
              <a:tabLst/>
              <a:defRPr/>
            </a:pPr>
            <a:endParaRPr kumimoji="0" lang="es-CL" sz="1200" b="0" i="0" u="none" strike="noStrike" kern="1200" cap="none" spc="0" normalizeH="0" baseline="0" noProof="0" dirty="0">
              <a:ln>
                <a:noFill/>
              </a:ln>
              <a:solidFill>
                <a:prstClr val="black"/>
              </a:solidFill>
              <a:effectLst/>
              <a:uLnTx/>
              <a:uFillTx/>
              <a:latin typeface="Calibri"/>
              <a:ea typeface="+mn-ea"/>
              <a:cs typeface="Arial" pitchFamily="34" charset="0"/>
            </a:endParaRPr>
          </a:p>
        </p:txBody>
      </p:sp>
    </p:spTree>
    <p:extLst>
      <p:ext uri="{BB962C8B-B14F-4D97-AF65-F5344CB8AC3E}">
        <p14:creationId xmlns:p14="http://schemas.microsoft.com/office/powerpoint/2010/main" val="251830745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es-CL" sz="1200" b="1" i="0" u="none" strike="noStrike" kern="1200" cap="none" spc="0" normalizeH="0" baseline="0" noProof="0" dirty="0">
                <a:ln>
                  <a:noFill/>
                </a:ln>
                <a:solidFill>
                  <a:prstClr val="black"/>
                </a:solidFill>
                <a:effectLst/>
                <a:uLnTx/>
                <a:uFillTx/>
                <a:latin typeface="Calibri"/>
                <a:ea typeface="+mn-ea"/>
                <a:cs typeface="Arial" pitchFamily="34" charset="0"/>
              </a:rPr>
              <a:t>Creando </a:t>
            </a:r>
            <a:r>
              <a:rPr kumimoji="0" lang="es-CL" sz="1200" b="1" i="0" u="none" strike="noStrike" kern="1200" cap="none" spc="0" normalizeH="0" baseline="0" noProof="0" dirty="0" err="1">
                <a:ln>
                  <a:noFill/>
                </a:ln>
                <a:solidFill>
                  <a:prstClr val="black"/>
                </a:solidFill>
                <a:effectLst/>
                <a:uLnTx/>
                <a:uFillTx/>
                <a:latin typeface="Calibri"/>
                <a:ea typeface="+mn-ea"/>
                <a:cs typeface="Arial" pitchFamily="34" charset="0"/>
              </a:rPr>
              <a:t>Joins</a:t>
            </a:r>
            <a:r>
              <a:rPr kumimoji="0" lang="es-CL" sz="1200" b="1" i="0" u="none" strike="noStrike" kern="1200" cap="none" spc="0" normalizeH="0" baseline="0" noProof="0" dirty="0">
                <a:ln>
                  <a:noFill/>
                </a:ln>
                <a:solidFill>
                  <a:prstClr val="black"/>
                </a:solidFill>
                <a:effectLst/>
                <a:uLnTx/>
                <a:uFillTx/>
                <a:latin typeface="Calibri"/>
                <a:ea typeface="+mn-ea"/>
                <a:cs typeface="Arial" pitchFamily="34" charset="0"/>
              </a:rPr>
              <a:t> con más de dos Tablas</a:t>
            </a:r>
          </a:p>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es-CL" sz="1200" b="0" i="0" u="none" strike="noStrike" kern="1200" cap="none" spc="0" normalizeH="0" baseline="0" noProof="0" dirty="0">
                <a:ln>
                  <a:noFill/>
                </a:ln>
                <a:solidFill>
                  <a:prstClr val="black"/>
                </a:solidFill>
                <a:effectLst/>
                <a:uLnTx/>
                <a:uFillTx/>
                <a:latin typeface="Calibri"/>
                <a:ea typeface="+mn-ea"/>
                <a:cs typeface="+mn-cs"/>
              </a:rPr>
              <a:t>En el ejemplo, el primer </a:t>
            </a:r>
            <a:r>
              <a:rPr kumimoji="0" lang="es-CL" sz="1200" b="0" i="0" u="none" strike="noStrike" kern="1200" cap="none" spc="0" normalizeH="0" baseline="0" noProof="0" dirty="0" err="1">
                <a:ln>
                  <a:noFill/>
                </a:ln>
                <a:solidFill>
                  <a:prstClr val="black"/>
                </a:solidFill>
                <a:effectLst/>
                <a:uLnTx/>
                <a:uFillTx/>
                <a:latin typeface="Calibri"/>
                <a:ea typeface="+mn-ea"/>
                <a:cs typeface="+mn-cs"/>
              </a:rPr>
              <a:t>Join</a:t>
            </a:r>
            <a:r>
              <a:rPr kumimoji="0" lang="es-CL" sz="1200" b="0" i="0" u="none" strike="noStrike" kern="1200" cap="none" spc="0" normalizeH="0" baseline="0" noProof="0" dirty="0">
                <a:ln>
                  <a:noFill/>
                </a:ln>
                <a:solidFill>
                  <a:prstClr val="black"/>
                </a:solidFill>
                <a:effectLst/>
                <a:uLnTx/>
                <a:uFillTx/>
                <a:latin typeface="Calibri"/>
                <a:ea typeface="+mn-ea"/>
                <a:cs typeface="+mn-cs"/>
              </a:rPr>
              <a:t> entre las tablas EMPLOYEES y DEPARTMENTS obtiene el total de empleados por cada departamento. Da cada departamento que retorna el primer </a:t>
            </a:r>
            <a:r>
              <a:rPr kumimoji="0" lang="es-CL" sz="1200" b="0" i="0" u="none" strike="noStrike" kern="1200" cap="none" spc="0" normalizeH="0" baseline="0" noProof="0" dirty="0" err="1">
                <a:ln>
                  <a:noFill/>
                </a:ln>
                <a:solidFill>
                  <a:prstClr val="black"/>
                </a:solidFill>
                <a:effectLst/>
                <a:uLnTx/>
                <a:uFillTx/>
                <a:latin typeface="Calibri"/>
                <a:ea typeface="+mn-ea"/>
                <a:cs typeface="+mn-cs"/>
              </a:rPr>
              <a:t>Join</a:t>
            </a:r>
            <a:r>
              <a:rPr kumimoji="0" lang="es-CL" sz="1200" b="0" i="0" u="none" strike="noStrike" kern="1200" cap="none" spc="0" normalizeH="0" baseline="0" noProof="0" dirty="0">
                <a:ln>
                  <a:noFill/>
                </a:ln>
                <a:solidFill>
                  <a:prstClr val="black"/>
                </a:solidFill>
                <a:effectLst/>
                <a:uLnTx/>
                <a:uFillTx/>
                <a:latin typeface="Calibri"/>
                <a:ea typeface="+mn-ea"/>
                <a:cs typeface="+mn-cs"/>
              </a:rPr>
              <a:t> obtiene el nombre de la ciudad en la cual se ubica en el segundo </a:t>
            </a:r>
            <a:r>
              <a:rPr kumimoji="0" lang="es-CL" sz="1200" b="0" i="0" u="none" strike="noStrike" kern="1200" cap="none" spc="0" normalizeH="0" baseline="0" noProof="0" dirty="0" err="1">
                <a:ln>
                  <a:noFill/>
                </a:ln>
                <a:solidFill>
                  <a:prstClr val="black"/>
                </a:solidFill>
                <a:effectLst/>
                <a:uLnTx/>
                <a:uFillTx/>
                <a:latin typeface="Calibri"/>
                <a:ea typeface="+mn-ea"/>
                <a:cs typeface="+mn-cs"/>
              </a:rPr>
              <a:t>Join</a:t>
            </a:r>
            <a:r>
              <a:rPr kumimoji="0" lang="es-CL" sz="1200" b="0" i="0" u="none" strike="noStrike" kern="1200" cap="none" spc="0" normalizeH="0" baseline="0" noProof="0" dirty="0">
                <a:ln>
                  <a:noFill/>
                </a:ln>
                <a:solidFill>
                  <a:prstClr val="black"/>
                </a:solidFill>
                <a:effectLst/>
                <a:uLnTx/>
                <a:uFillTx/>
                <a:latin typeface="Calibri"/>
                <a:ea typeface="+mn-ea"/>
                <a:cs typeface="+mn-cs"/>
              </a:rPr>
              <a:t> entre las DEPARTMENTS con LOCATIONS.</a:t>
            </a:r>
          </a:p>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es-CL" sz="1200" b="0" i="0" u="none" strike="noStrike" kern="1200" cap="none" spc="0" normalizeH="0" baseline="0" noProof="0" dirty="0">
                <a:ln>
                  <a:noFill/>
                </a:ln>
                <a:solidFill>
                  <a:prstClr val="black"/>
                </a:solidFill>
                <a:effectLst/>
                <a:uLnTx/>
                <a:uFillTx/>
                <a:latin typeface="Calibri"/>
                <a:ea typeface="+mn-ea"/>
                <a:cs typeface="+mn-cs"/>
              </a:rPr>
              <a:t>La sentencia entonces obtiene el nombre del departamento, total de empleados que trabajan en el departamento y la ciudad en la que se encuentra el departamento. La condición adicional es que en el departamento deben trabajar más de 5 empleados para que pueda ser visualizado en el resultado final.</a:t>
            </a:r>
            <a:endParaRPr kumimoji="0" lang="es-MX" sz="1200" b="0" i="0" u="none" strike="noStrike" kern="1200" cap="none" spc="0" normalizeH="0" baseline="0" noProof="0" dirty="0">
              <a:ln>
                <a:noFill/>
              </a:ln>
              <a:solidFill>
                <a:prstClr val="black"/>
              </a:solidFill>
              <a:effectLst/>
              <a:uLnTx/>
              <a:uFillTx/>
              <a:latin typeface="Calibri"/>
              <a:ea typeface="+mn-ea"/>
              <a:cs typeface="Arial" pitchFamily="34" charset="0"/>
            </a:endParaRPr>
          </a:p>
          <a:p>
            <a:pPr marL="0" marR="0" lvl="0" indent="0" algn="l" defTabSz="914400" rtl="0" eaLnBrk="0" fontAlgn="base" latinLnBrk="0" hangingPunct="0">
              <a:lnSpc>
                <a:spcPct val="100000"/>
              </a:lnSpc>
              <a:spcBef>
                <a:spcPct val="30000"/>
              </a:spcBef>
              <a:spcAft>
                <a:spcPct val="0"/>
              </a:spcAft>
              <a:buClrTx/>
              <a:buSzTx/>
              <a:buFont typeface="Arial" pitchFamily="34" charset="0"/>
              <a:buNone/>
              <a:tabLst/>
              <a:defRPr/>
            </a:pPr>
            <a:endParaRPr kumimoji="0" lang="es-CL" sz="1200" b="0" i="0" u="none" strike="noStrike" kern="1200" cap="none" spc="0" normalizeH="0" baseline="0" noProof="0" dirty="0">
              <a:ln>
                <a:noFill/>
              </a:ln>
              <a:solidFill>
                <a:prstClr val="black"/>
              </a:solidFill>
              <a:effectLst/>
              <a:uLnTx/>
              <a:uFillTx/>
              <a:latin typeface="Calibri"/>
              <a:ea typeface="+mn-ea"/>
              <a:cs typeface="Arial" pitchFamily="34" charset="0"/>
            </a:endParaRPr>
          </a:p>
        </p:txBody>
      </p:sp>
    </p:spTree>
    <p:extLst>
      <p:ext uri="{BB962C8B-B14F-4D97-AF65-F5344CB8AC3E}">
        <p14:creationId xmlns:p14="http://schemas.microsoft.com/office/powerpoint/2010/main" val="190492625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es-CL" sz="1200" b="1" i="0" u="none" strike="noStrike" kern="1200" cap="none" spc="0" normalizeH="0" baseline="0" noProof="0" dirty="0">
                <a:ln>
                  <a:noFill/>
                </a:ln>
                <a:solidFill>
                  <a:prstClr val="black"/>
                </a:solidFill>
                <a:effectLst/>
                <a:uLnTx/>
                <a:uFillTx/>
                <a:latin typeface="Calibri"/>
                <a:ea typeface="+mn-ea"/>
                <a:cs typeface="Arial" pitchFamily="34" charset="0"/>
              </a:rPr>
              <a:t>Creando JOINS con más de dos Tablas</a:t>
            </a:r>
          </a:p>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es-CL" sz="1200" b="0" i="0" u="none" strike="noStrike" kern="1200" cap="none" spc="0" normalizeH="0" baseline="0" noProof="0" dirty="0">
                <a:ln>
                  <a:noFill/>
                </a:ln>
                <a:solidFill>
                  <a:prstClr val="black"/>
                </a:solidFill>
                <a:effectLst/>
                <a:uLnTx/>
                <a:uFillTx/>
                <a:latin typeface="Calibri"/>
                <a:ea typeface="+mn-ea"/>
                <a:cs typeface="+mn-cs"/>
              </a:rPr>
              <a:t>A la misma sentencia anterior ahora se incorpora una cuarta tabla (COUNTRIES) para mostrar el nombre del país de la ciudad en la que se encuentra cada departamento.</a:t>
            </a:r>
          </a:p>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es-CL" sz="1200" b="0" i="0" u="none" strike="noStrike" kern="1200" cap="none" spc="0" normalizeH="0" baseline="0" noProof="0" dirty="0">
                <a:ln>
                  <a:noFill/>
                </a:ln>
                <a:solidFill>
                  <a:prstClr val="black"/>
                </a:solidFill>
                <a:effectLst/>
                <a:uLnTx/>
                <a:uFillTx/>
                <a:latin typeface="Calibri"/>
                <a:ea typeface="+mn-ea"/>
                <a:cs typeface="+mn-cs"/>
              </a:rPr>
              <a:t>La sentencia finalmente obtiene el nombre del departamento, total de empleados que trabajan en el departamento, nombre de la ciudad y país en se encuentra el departamento. La condición adicional es que en el departamento deben trabajar más de 5 empleados para que pueda ser visualizado en el resultado final.</a:t>
            </a:r>
            <a:endParaRPr kumimoji="0" lang="es-MX" sz="1200" b="0" i="0" u="none" strike="noStrike" kern="1200" cap="none" spc="0" normalizeH="0" baseline="0" noProof="0" dirty="0">
              <a:ln>
                <a:noFill/>
              </a:ln>
              <a:solidFill>
                <a:prstClr val="black"/>
              </a:solidFill>
              <a:effectLst/>
              <a:uLnTx/>
              <a:uFillTx/>
              <a:latin typeface="Calibri"/>
              <a:ea typeface="+mn-ea"/>
              <a:cs typeface="Arial" pitchFamily="34" charset="0"/>
            </a:endParaRPr>
          </a:p>
          <a:p>
            <a:pPr marL="0" marR="0" lvl="0" indent="0" algn="l" defTabSz="914400" rtl="0" eaLnBrk="0" fontAlgn="base" latinLnBrk="0" hangingPunct="0">
              <a:lnSpc>
                <a:spcPct val="100000"/>
              </a:lnSpc>
              <a:spcBef>
                <a:spcPct val="30000"/>
              </a:spcBef>
              <a:spcAft>
                <a:spcPct val="0"/>
              </a:spcAft>
              <a:buClrTx/>
              <a:buSzTx/>
              <a:buFont typeface="Arial" pitchFamily="34" charset="0"/>
              <a:buNone/>
              <a:tabLst/>
              <a:defRPr/>
            </a:pPr>
            <a:endParaRPr kumimoji="0" lang="es-CL" sz="1200" b="0" i="0" u="none" strike="noStrike" kern="1200" cap="none" spc="0" normalizeH="0" baseline="0" noProof="0" dirty="0">
              <a:ln>
                <a:noFill/>
              </a:ln>
              <a:solidFill>
                <a:prstClr val="black"/>
              </a:solidFill>
              <a:effectLst/>
              <a:uLnTx/>
              <a:uFillTx/>
              <a:latin typeface="Calibri"/>
              <a:ea typeface="+mn-ea"/>
              <a:cs typeface="Arial" pitchFamily="34" charset="0"/>
            </a:endParaRPr>
          </a:p>
        </p:txBody>
      </p:sp>
    </p:spTree>
    <p:extLst>
      <p:ext uri="{BB962C8B-B14F-4D97-AF65-F5344CB8AC3E}">
        <p14:creationId xmlns:p14="http://schemas.microsoft.com/office/powerpoint/2010/main" val="94736437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userDrawn="1">
  <p:cSld name="TITLE">
    <p:bg>
      <p:bgPr>
        <a:solidFill>
          <a:schemeClr val="dk2"/>
        </a:solidFill>
        <a:effectLst/>
      </p:bgPr>
    </p:bg>
    <p:spTree>
      <p:nvGrpSpPr>
        <p:cNvPr id="1" name="Shape 9"/>
        <p:cNvGrpSpPr/>
        <p:nvPr/>
      </p:nvGrpSpPr>
      <p:grpSpPr>
        <a:xfrm>
          <a:off x="0" y="0"/>
          <a:ext cx="0" cy="0"/>
          <a:chOff x="0" y="0"/>
          <a:chExt cx="0" cy="0"/>
        </a:xfrm>
      </p:grpSpPr>
      <p:sp>
        <p:nvSpPr>
          <p:cNvPr id="10" name="Google Shape;10;p2"/>
          <p:cNvSpPr/>
          <p:nvPr/>
        </p:nvSpPr>
        <p:spPr>
          <a:xfrm flipH="1">
            <a:off x="-1" y="0"/>
            <a:ext cx="4629587" cy="6858000"/>
          </a:xfrm>
          <a:custGeom>
            <a:avLst/>
            <a:gdLst/>
            <a:ahLst/>
            <a:cxnLst/>
            <a:rect l="l" t="t" r="r" b="b"/>
            <a:pathLst>
              <a:path w="6172782" h="6858000" extrusionOk="0">
                <a:moveTo>
                  <a:pt x="6172782" y="0"/>
                </a:moveTo>
                <a:lnTo>
                  <a:pt x="69075" y="0"/>
                </a:lnTo>
                <a:lnTo>
                  <a:pt x="35131" y="267128"/>
                </a:lnTo>
                <a:cubicBezTo>
                  <a:pt x="11901" y="495874"/>
                  <a:pt x="0" y="727970"/>
                  <a:pt x="0" y="962845"/>
                </a:cubicBezTo>
                <a:cubicBezTo>
                  <a:pt x="0" y="3429034"/>
                  <a:pt x="1312002" y="5588789"/>
                  <a:pt x="3276103" y="6782205"/>
                </a:cubicBezTo>
                <a:lnTo>
                  <a:pt x="3407923" y="6858000"/>
                </a:lnTo>
                <a:lnTo>
                  <a:pt x="6172782" y="6858000"/>
                </a:lnTo>
                <a:close/>
              </a:path>
            </a:pathLst>
          </a:custGeom>
          <a:solidFill>
            <a:srgbClr val="FFFFFF">
              <a:alpha val="8000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pic>
        <p:nvPicPr>
          <p:cNvPr id="11" name="Google Shape;11;p2"/>
          <p:cNvPicPr preferRelativeResize="0"/>
          <p:nvPr/>
        </p:nvPicPr>
        <p:blipFill rotWithShape="1">
          <a:blip r:embed="rId2">
            <a:alphaModFix/>
          </a:blip>
          <a:srcRect/>
          <a:stretch/>
        </p:blipFill>
        <p:spPr>
          <a:xfrm>
            <a:off x="20" y="11958"/>
            <a:ext cx="4518116" cy="6840855"/>
          </a:xfrm>
          <a:custGeom>
            <a:avLst/>
            <a:gdLst/>
            <a:ahLst/>
            <a:cxnLst/>
            <a:rect l="l" t="t" r="r" b="b"/>
            <a:pathLst>
              <a:path w="6024154" h="6858000" extrusionOk="0">
                <a:moveTo>
                  <a:pt x="0" y="0"/>
                </a:moveTo>
                <a:lnTo>
                  <a:pt x="5953780" y="0"/>
                </a:lnTo>
                <a:lnTo>
                  <a:pt x="5989880" y="284091"/>
                </a:lnTo>
                <a:cubicBezTo>
                  <a:pt x="6012544" y="507260"/>
                  <a:pt x="6024154" y="733696"/>
                  <a:pt x="6024154" y="962844"/>
                </a:cubicBezTo>
                <a:cubicBezTo>
                  <a:pt x="6024154" y="3483472"/>
                  <a:pt x="4619336" y="5675986"/>
                  <a:pt x="2549934" y="6800152"/>
                </a:cubicBezTo>
                <a:lnTo>
                  <a:pt x="2436987" y="6858000"/>
                </a:lnTo>
                <a:lnTo>
                  <a:pt x="0" y="6858000"/>
                </a:lnTo>
                <a:close/>
              </a:path>
            </a:pathLst>
          </a:custGeom>
          <a:noFill/>
          <a:ln>
            <a:noFill/>
          </a:ln>
        </p:spPr>
      </p:pic>
      <p:pic>
        <p:nvPicPr>
          <p:cNvPr id="12" name="Google Shape;12;p2"/>
          <p:cNvPicPr preferRelativeResize="0"/>
          <p:nvPr/>
        </p:nvPicPr>
        <p:blipFill rotWithShape="1">
          <a:blip r:embed="rId3">
            <a:alphaModFix/>
          </a:blip>
          <a:srcRect/>
          <a:stretch/>
        </p:blipFill>
        <p:spPr>
          <a:xfrm>
            <a:off x="5190123" y="212270"/>
            <a:ext cx="3748263" cy="586221"/>
          </a:xfrm>
          <a:prstGeom prst="rect">
            <a:avLst/>
          </a:prstGeom>
          <a:noFill/>
          <a:ln>
            <a:noFill/>
          </a:ln>
        </p:spPr>
      </p:pic>
      <p:sp>
        <p:nvSpPr>
          <p:cNvPr id="14" name="Google Shape;14;p2"/>
          <p:cNvSpPr txBox="1">
            <a:spLocks noGrp="1"/>
          </p:cNvSpPr>
          <p:nvPr>
            <p:ph type="subTitle" idx="1"/>
          </p:nvPr>
        </p:nvSpPr>
        <p:spPr>
          <a:xfrm>
            <a:off x="5284700" y="5620875"/>
            <a:ext cx="3603900" cy="873900"/>
          </a:xfrm>
          <a:prstGeom prst="rect">
            <a:avLst/>
          </a:prstGeom>
          <a:solidFill>
            <a:srgbClr val="DE3075"/>
          </a:solidFill>
          <a:ln>
            <a:noFill/>
          </a:ln>
        </p:spPr>
        <p:txBody>
          <a:bodyPr spcFirstLastPara="1" wrap="square" lIns="91425" tIns="0" rIns="182875" bIns="0" anchor="t" anchorCtr="0">
            <a:noAutofit/>
          </a:bodyPr>
          <a:lstStyle>
            <a:lvl1pPr lvl="0" algn="r" rtl="0">
              <a:spcBef>
                <a:spcPts val="1000"/>
              </a:spcBef>
              <a:spcAft>
                <a:spcPts val="0"/>
              </a:spcAft>
              <a:buNone/>
              <a:defRPr sz="4800" b="1">
                <a:solidFill>
                  <a:srgbClr val="FFFFFF"/>
                </a:solidFill>
                <a:latin typeface="Calibri" panose="020F0502020204030204" pitchFamily="34" charset="0"/>
                <a:cs typeface="Calibri" panose="020F0502020204030204" pitchFamily="34" charset="0"/>
              </a:defRPr>
            </a:lvl1pPr>
            <a:lvl2pPr lvl="1" algn="r" rtl="0">
              <a:spcBef>
                <a:spcPts val="1000"/>
              </a:spcBef>
              <a:spcAft>
                <a:spcPts val="0"/>
              </a:spcAft>
              <a:buNone/>
              <a:defRPr sz="4800" b="1">
                <a:solidFill>
                  <a:srgbClr val="FFFFFF"/>
                </a:solidFill>
              </a:defRPr>
            </a:lvl2pPr>
            <a:lvl3pPr lvl="2" algn="r" rtl="0">
              <a:spcBef>
                <a:spcPts val="1000"/>
              </a:spcBef>
              <a:spcAft>
                <a:spcPts val="0"/>
              </a:spcAft>
              <a:buNone/>
              <a:defRPr sz="4800" b="1">
                <a:solidFill>
                  <a:srgbClr val="FFFFFF"/>
                </a:solidFill>
              </a:defRPr>
            </a:lvl3pPr>
            <a:lvl4pPr lvl="3" algn="r" rtl="0">
              <a:spcBef>
                <a:spcPts val="1000"/>
              </a:spcBef>
              <a:spcAft>
                <a:spcPts val="0"/>
              </a:spcAft>
              <a:buNone/>
              <a:defRPr sz="4800" b="1">
                <a:solidFill>
                  <a:srgbClr val="FFFFFF"/>
                </a:solidFill>
              </a:defRPr>
            </a:lvl4pPr>
            <a:lvl5pPr lvl="4" algn="r" rtl="0">
              <a:spcBef>
                <a:spcPts val="1000"/>
              </a:spcBef>
              <a:spcAft>
                <a:spcPts val="0"/>
              </a:spcAft>
              <a:buNone/>
              <a:defRPr sz="4800" b="1">
                <a:solidFill>
                  <a:srgbClr val="FFFFFF"/>
                </a:solidFill>
              </a:defRPr>
            </a:lvl5pPr>
            <a:lvl6pPr lvl="5" algn="r" rtl="0">
              <a:spcBef>
                <a:spcPts val="1000"/>
              </a:spcBef>
              <a:spcAft>
                <a:spcPts val="0"/>
              </a:spcAft>
              <a:buNone/>
              <a:defRPr sz="4800" b="1">
                <a:solidFill>
                  <a:srgbClr val="FFFFFF"/>
                </a:solidFill>
              </a:defRPr>
            </a:lvl6pPr>
            <a:lvl7pPr lvl="6" algn="r" rtl="0">
              <a:spcBef>
                <a:spcPts val="1000"/>
              </a:spcBef>
              <a:spcAft>
                <a:spcPts val="0"/>
              </a:spcAft>
              <a:buNone/>
              <a:defRPr sz="4800" b="1">
                <a:solidFill>
                  <a:srgbClr val="FFFFFF"/>
                </a:solidFill>
              </a:defRPr>
            </a:lvl7pPr>
            <a:lvl8pPr lvl="7" algn="r" rtl="0">
              <a:spcBef>
                <a:spcPts val="1000"/>
              </a:spcBef>
              <a:spcAft>
                <a:spcPts val="0"/>
              </a:spcAft>
              <a:buNone/>
              <a:defRPr sz="4800" b="1">
                <a:solidFill>
                  <a:srgbClr val="FFFFFF"/>
                </a:solidFill>
              </a:defRPr>
            </a:lvl8pPr>
            <a:lvl9pPr lvl="8" algn="r" rtl="0">
              <a:spcBef>
                <a:spcPts val="1000"/>
              </a:spcBef>
              <a:spcAft>
                <a:spcPts val="0"/>
              </a:spcAft>
              <a:buNone/>
              <a:defRPr sz="4800" b="1">
                <a:solidFill>
                  <a:srgbClr val="FFFFFF"/>
                </a:solidFill>
              </a:defRPr>
            </a:lvl9pPr>
          </a:lstStyle>
          <a:p>
            <a:endParaRPr/>
          </a:p>
        </p:txBody>
      </p:sp>
      <p:sp>
        <p:nvSpPr>
          <p:cNvPr id="7" name="Google Shape;13;p2">
            <a:extLst>
              <a:ext uri="{FF2B5EF4-FFF2-40B4-BE49-F238E27FC236}">
                <a16:creationId xmlns:a16="http://schemas.microsoft.com/office/drawing/2014/main" xmlns="" id="{64854533-8DCC-1C49-8946-547AD8D471A7}"/>
              </a:ext>
            </a:extLst>
          </p:cNvPr>
          <p:cNvSpPr txBox="1">
            <a:spLocks noGrp="1"/>
          </p:cNvSpPr>
          <p:nvPr>
            <p:ph type="title"/>
          </p:nvPr>
        </p:nvSpPr>
        <p:spPr>
          <a:xfrm>
            <a:off x="3993775" y="2487700"/>
            <a:ext cx="4894800" cy="2891100"/>
          </a:xfrm>
          <a:prstGeom prst="rect">
            <a:avLst/>
          </a:prstGeom>
        </p:spPr>
        <p:txBody>
          <a:bodyPr spcFirstLastPara="1" wrap="square" lIns="91425" tIns="45700" rIns="91425" bIns="45700" anchor="b" anchorCtr="0">
            <a:noAutofit/>
          </a:bodyPr>
          <a:lstStyle>
            <a:lvl1pPr lvl="0" algn="r" rtl="0">
              <a:spcBef>
                <a:spcPts val="0"/>
              </a:spcBef>
              <a:spcAft>
                <a:spcPts val="0"/>
              </a:spcAft>
              <a:buNone/>
              <a:defRPr sz="6600">
                <a:latin typeface="Calibri" panose="020F0502020204030204" pitchFamily="34" charset="0"/>
                <a:cs typeface="Calibri" panose="020F0502020204030204" pitchFamily="34" charset="0"/>
              </a:defRPr>
            </a:lvl1pPr>
            <a:lvl2pPr lvl="1" algn="r" rtl="0">
              <a:spcBef>
                <a:spcPts val="0"/>
              </a:spcBef>
              <a:spcAft>
                <a:spcPts val="0"/>
              </a:spcAft>
              <a:buNone/>
              <a:defRPr sz="5600"/>
            </a:lvl2pPr>
            <a:lvl3pPr lvl="2" algn="r" rtl="0">
              <a:spcBef>
                <a:spcPts val="0"/>
              </a:spcBef>
              <a:spcAft>
                <a:spcPts val="0"/>
              </a:spcAft>
              <a:buNone/>
              <a:defRPr sz="5600"/>
            </a:lvl3pPr>
            <a:lvl4pPr lvl="3" algn="r" rtl="0">
              <a:spcBef>
                <a:spcPts val="0"/>
              </a:spcBef>
              <a:spcAft>
                <a:spcPts val="0"/>
              </a:spcAft>
              <a:buNone/>
              <a:defRPr sz="5600"/>
            </a:lvl4pPr>
            <a:lvl5pPr lvl="4" algn="r" rtl="0">
              <a:spcBef>
                <a:spcPts val="0"/>
              </a:spcBef>
              <a:spcAft>
                <a:spcPts val="0"/>
              </a:spcAft>
              <a:buNone/>
              <a:defRPr sz="5600"/>
            </a:lvl5pPr>
            <a:lvl6pPr lvl="5" algn="r" rtl="0">
              <a:spcBef>
                <a:spcPts val="0"/>
              </a:spcBef>
              <a:spcAft>
                <a:spcPts val="0"/>
              </a:spcAft>
              <a:buNone/>
              <a:defRPr sz="5600"/>
            </a:lvl6pPr>
            <a:lvl7pPr lvl="6" algn="r" rtl="0">
              <a:spcBef>
                <a:spcPts val="0"/>
              </a:spcBef>
              <a:spcAft>
                <a:spcPts val="0"/>
              </a:spcAft>
              <a:buNone/>
              <a:defRPr sz="5600"/>
            </a:lvl7pPr>
            <a:lvl8pPr lvl="7" algn="r" rtl="0">
              <a:spcBef>
                <a:spcPts val="0"/>
              </a:spcBef>
              <a:spcAft>
                <a:spcPts val="0"/>
              </a:spcAft>
              <a:buNone/>
              <a:defRPr sz="5600"/>
            </a:lvl8pPr>
            <a:lvl9pPr lvl="8" algn="r" rtl="0">
              <a:spcBef>
                <a:spcPts val="0"/>
              </a:spcBef>
              <a:spcAft>
                <a:spcPts val="0"/>
              </a:spcAft>
              <a:buNone/>
              <a:defRPr sz="5600"/>
            </a:lvl9pPr>
          </a:lstStyle>
          <a:p>
            <a:endParaRPr lang="es-ES_tradnl" noProof="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Encabezado de sección 1">
  <p:cSld name="TITLE_4_1_1">
    <p:bg>
      <p:bgPr>
        <a:solidFill>
          <a:schemeClr val="dk2"/>
        </a:solidFill>
        <a:effectLst/>
      </p:bgPr>
    </p:bg>
    <p:spTree>
      <p:nvGrpSpPr>
        <p:cNvPr id="1" name="Shape 15"/>
        <p:cNvGrpSpPr/>
        <p:nvPr/>
      </p:nvGrpSpPr>
      <p:grpSpPr>
        <a:xfrm>
          <a:off x="0" y="0"/>
          <a:ext cx="0" cy="0"/>
          <a:chOff x="0" y="0"/>
          <a:chExt cx="0" cy="0"/>
        </a:xfrm>
      </p:grpSpPr>
      <p:pic>
        <p:nvPicPr>
          <p:cNvPr id="16" name="Google Shape;16;p3"/>
          <p:cNvPicPr preferRelativeResize="0"/>
          <p:nvPr/>
        </p:nvPicPr>
        <p:blipFill rotWithShape="1">
          <a:blip r:embed="rId2">
            <a:alphaModFix/>
          </a:blip>
          <a:srcRect/>
          <a:stretch/>
        </p:blipFill>
        <p:spPr>
          <a:xfrm>
            <a:off x="5177307" y="186298"/>
            <a:ext cx="3812148" cy="601304"/>
          </a:xfrm>
          <a:prstGeom prst="rect">
            <a:avLst/>
          </a:prstGeom>
          <a:noFill/>
          <a:ln>
            <a:noFill/>
          </a:ln>
        </p:spPr>
      </p:pic>
      <p:grpSp>
        <p:nvGrpSpPr>
          <p:cNvPr id="18" name="Google Shape;18;p3"/>
          <p:cNvGrpSpPr/>
          <p:nvPr/>
        </p:nvGrpSpPr>
        <p:grpSpPr>
          <a:xfrm>
            <a:off x="0" y="-124"/>
            <a:ext cx="4853665" cy="5740374"/>
            <a:chOff x="0" y="-126"/>
            <a:chExt cx="4554438" cy="5386482"/>
          </a:xfrm>
        </p:grpSpPr>
        <p:sp>
          <p:nvSpPr>
            <p:cNvPr id="19" name="Google Shape;19;p3"/>
            <p:cNvSpPr/>
            <p:nvPr/>
          </p:nvSpPr>
          <p:spPr>
            <a:xfrm rot="10800000" flipH="1">
              <a:off x="0" y="-126"/>
              <a:ext cx="4554438" cy="5386482"/>
            </a:xfrm>
            <a:custGeom>
              <a:avLst/>
              <a:gdLst/>
              <a:ahLst/>
              <a:cxnLst/>
              <a:rect l="l" t="t" r="r" b="b"/>
              <a:pathLst>
                <a:path w="5389868" h="6374535" extrusionOk="0">
                  <a:moveTo>
                    <a:pt x="620377" y="6374535"/>
                  </a:moveTo>
                  <a:lnTo>
                    <a:pt x="3459520" y="6374535"/>
                  </a:lnTo>
                  <a:lnTo>
                    <a:pt x="3638761" y="6288190"/>
                  </a:lnTo>
                  <a:cubicBezTo>
                    <a:pt x="4681799" y="5721578"/>
                    <a:pt x="5389868" y="4616487"/>
                    <a:pt x="5389868" y="3346018"/>
                  </a:cubicBezTo>
                  <a:cubicBezTo>
                    <a:pt x="5389868" y="1498063"/>
                    <a:pt x="3891805" y="0"/>
                    <a:pt x="2043850" y="0"/>
                  </a:cubicBezTo>
                  <a:cubicBezTo>
                    <a:pt x="1336430" y="0"/>
                    <a:pt x="680285" y="219535"/>
                    <a:pt x="139826" y="594192"/>
                  </a:cubicBezTo>
                  <a:lnTo>
                    <a:pt x="0" y="700065"/>
                  </a:lnTo>
                  <a:lnTo>
                    <a:pt x="0" y="5991971"/>
                  </a:lnTo>
                  <a:lnTo>
                    <a:pt x="139827" y="6097845"/>
                  </a:lnTo>
                  <a:cubicBezTo>
                    <a:pt x="217035" y="6151367"/>
                    <a:pt x="296605" y="6201724"/>
                    <a:pt x="378347" y="6248727"/>
                  </a:cubicBezTo>
                  <a:close/>
                </a:path>
              </a:pathLst>
            </a:custGeom>
            <a:solidFill>
              <a:srgbClr val="FFFFFF">
                <a:alpha val="8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b="0" i="0" u="none" strike="noStrike" cap="none">
                <a:solidFill>
                  <a:srgbClr val="FFFFFF"/>
                </a:solidFill>
                <a:latin typeface="Calibri"/>
                <a:ea typeface="Calibri"/>
                <a:cs typeface="Calibri"/>
                <a:sym typeface="Calibri"/>
              </a:endParaRPr>
            </a:p>
          </p:txBody>
        </p:sp>
        <p:pic>
          <p:nvPicPr>
            <p:cNvPr id="20" name="Google Shape;20;p3" descr="Una caricatura de una ciudad&#10;&#10;Descripción generada automáticamente"/>
            <p:cNvPicPr preferRelativeResize="0"/>
            <p:nvPr/>
          </p:nvPicPr>
          <p:blipFill rotWithShape="1">
            <a:blip r:embed="rId3">
              <a:alphaModFix/>
            </a:blip>
            <a:srcRect l="9870" r="6482"/>
            <a:stretch/>
          </p:blipFill>
          <p:spPr>
            <a:xfrm>
              <a:off x="1" y="-1"/>
              <a:ext cx="4423169" cy="5247982"/>
            </a:xfrm>
            <a:custGeom>
              <a:avLst/>
              <a:gdLst/>
              <a:ahLst/>
              <a:cxnLst/>
              <a:rect l="l" t="t" r="r" b="b"/>
              <a:pathLst>
                <a:path w="5234519" h="6210629" extrusionOk="0">
                  <a:moveTo>
                    <a:pt x="1082595" y="0"/>
                  </a:moveTo>
                  <a:lnTo>
                    <a:pt x="3027450" y="0"/>
                  </a:lnTo>
                  <a:lnTo>
                    <a:pt x="3291029" y="96471"/>
                  </a:lnTo>
                  <a:cubicBezTo>
                    <a:pt x="4433137" y="579542"/>
                    <a:pt x="5234519" y="1710443"/>
                    <a:pt x="5234519" y="3028517"/>
                  </a:cubicBezTo>
                  <a:cubicBezTo>
                    <a:pt x="5234519" y="4785949"/>
                    <a:pt x="3809839" y="6210629"/>
                    <a:pt x="2052407" y="6210629"/>
                  </a:cubicBezTo>
                  <a:cubicBezTo>
                    <a:pt x="1283531" y="6210629"/>
                    <a:pt x="578345" y="5937936"/>
                    <a:pt x="28288" y="5483989"/>
                  </a:cubicBezTo>
                  <a:lnTo>
                    <a:pt x="0" y="5458279"/>
                  </a:lnTo>
                  <a:lnTo>
                    <a:pt x="0" y="598754"/>
                  </a:lnTo>
                  <a:lnTo>
                    <a:pt x="28288" y="573044"/>
                  </a:lnTo>
                  <a:cubicBezTo>
                    <a:pt x="303317" y="346070"/>
                    <a:pt x="617127" y="164410"/>
                    <a:pt x="958290" y="39494"/>
                  </a:cubicBezTo>
                  <a:close/>
                </a:path>
              </a:pathLst>
            </a:custGeom>
            <a:noFill/>
            <a:ln>
              <a:noFill/>
            </a:ln>
          </p:spPr>
        </p:pic>
      </p:grpSp>
      <p:sp>
        <p:nvSpPr>
          <p:cNvPr id="21" name="Google Shape;21;p3"/>
          <p:cNvSpPr txBox="1">
            <a:spLocks noGrp="1"/>
          </p:cNvSpPr>
          <p:nvPr>
            <p:ph type="title"/>
          </p:nvPr>
        </p:nvSpPr>
        <p:spPr>
          <a:xfrm>
            <a:off x="3004575" y="3476150"/>
            <a:ext cx="5995800" cy="1603200"/>
          </a:xfrm>
          <a:prstGeom prst="rect">
            <a:avLst/>
          </a:prstGeom>
          <a:solidFill>
            <a:srgbClr val="DE3075">
              <a:alpha val="64290"/>
            </a:srgbClr>
          </a:solidFill>
          <a:ln>
            <a:noFill/>
          </a:ln>
        </p:spPr>
        <p:txBody>
          <a:bodyPr spcFirstLastPara="1" wrap="square" lIns="91425" tIns="45700" rIns="91425" bIns="45700" anchor="t" anchorCtr="0">
            <a:noAutofit/>
          </a:bodyPr>
          <a:lstStyle>
            <a:lvl1pPr lvl="0" algn="r" rtl="0">
              <a:spcBef>
                <a:spcPts val="0"/>
              </a:spcBef>
              <a:spcAft>
                <a:spcPts val="0"/>
              </a:spcAft>
              <a:buNone/>
              <a:defRPr sz="5400">
                <a:latin typeface="Calibri" panose="020F0502020204030204" pitchFamily="34" charset="0"/>
                <a:cs typeface="Calibri" panose="020F0502020204030204" pitchFamily="34" charset="0"/>
              </a:defRPr>
            </a:lvl1pPr>
            <a:lvl2pPr lvl="1" algn="r" rtl="0">
              <a:spcBef>
                <a:spcPts val="0"/>
              </a:spcBef>
              <a:spcAft>
                <a:spcPts val="0"/>
              </a:spcAft>
              <a:buNone/>
              <a:defRPr sz="5400"/>
            </a:lvl2pPr>
            <a:lvl3pPr lvl="2" algn="r" rtl="0">
              <a:spcBef>
                <a:spcPts val="0"/>
              </a:spcBef>
              <a:spcAft>
                <a:spcPts val="0"/>
              </a:spcAft>
              <a:buNone/>
              <a:defRPr sz="5400"/>
            </a:lvl3pPr>
            <a:lvl4pPr lvl="3" algn="r" rtl="0">
              <a:spcBef>
                <a:spcPts val="0"/>
              </a:spcBef>
              <a:spcAft>
                <a:spcPts val="0"/>
              </a:spcAft>
              <a:buNone/>
              <a:defRPr sz="5400"/>
            </a:lvl4pPr>
            <a:lvl5pPr lvl="4" algn="r" rtl="0">
              <a:spcBef>
                <a:spcPts val="0"/>
              </a:spcBef>
              <a:spcAft>
                <a:spcPts val="0"/>
              </a:spcAft>
              <a:buNone/>
              <a:defRPr sz="5400"/>
            </a:lvl5pPr>
            <a:lvl6pPr lvl="5" algn="r" rtl="0">
              <a:spcBef>
                <a:spcPts val="0"/>
              </a:spcBef>
              <a:spcAft>
                <a:spcPts val="0"/>
              </a:spcAft>
              <a:buNone/>
              <a:defRPr sz="5400"/>
            </a:lvl6pPr>
            <a:lvl7pPr lvl="6" algn="r" rtl="0">
              <a:spcBef>
                <a:spcPts val="0"/>
              </a:spcBef>
              <a:spcAft>
                <a:spcPts val="0"/>
              </a:spcAft>
              <a:buNone/>
              <a:defRPr sz="5400"/>
            </a:lvl7pPr>
            <a:lvl8pPr lvl="7" algn="r" rtl="0">
              <a:spcBef>
                <a:spcPts val="0"/>
              </a:spcBef>
              <a:spcAft>
                <a:spcPts val="0"/>
              </a:spcAft>
              <a:buNone/>
              <a:defRPr sz="5400"/>
            </a:lvl8pPr>
            <a:lvl9pPr lvl="8" algn="r" rtl="0">
              <a:spcBef>
                <a:spcPts val="0"/>
              </a:spcBef>
              <a:spcAft>
                <a:spcPts val="0"/>
              </a:spcAft>
              <a:buNone/>
              <a:defRPr sz="5400"/>
            </a:lvl9pPr>
          </a:lstStyle>
          <a:p>
            <a:endParaRPr lang="es-ES_tradnl" noProof="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cabezado de sección 3">
  <p:cSld name="TITLE_1_1">
    <p:bg>
      <p:bgPr>
        <a:solidFill>
          <a:schemeClr val="accent2"/>
        </a:solidFill>
        <a:effectLst/>
      </p:bgPr>
    </p:bg>
    <p:spTree>
      <p:nvGrpSpPr>
        <p:cNvPr id="1" name="Shape 29"/>
        <p:cNvGrpSpPr/>
        <p:nvPr/>
      </p:nvGrpSpPr>
      <p:grpSpPr>
        <a:xfrm>
          <a:off x="0" y="0"/>
          <a:ext cx="0" cy="0"/>
          <a:chOff x="0" y="0"/>
          <a:chExt cx="0" cy="0"/>
        </a:xfrm>
      </p:grpSpPr>
      <p:sp>
        <p:nvSpPr>
          <p:cNvPr id="30" name="Google Shape;30;p5"/>
          <p:cNvSpPr/>
          <p:nvPr/>
        </p:nvSpPr>
        <p:spPr>
          <a:xfrm rot="10800000" flipH="1">
            <a:off x="0" y="3085"/>
            <a:ext cx="4850881" cy="5737081"/>
          </a:xfrm>
          <a:custGeom>
            <a:avLst/>
            <a:gdLst/>
            <a:ahLst/>
            <a:cxnLst/>
            <a:rect l="l" t="t" r="r" b="b"/>
            <a:pathLst>
              <a:path w="5389868" h="6374535" extrusionOk="0">
                <a:moveTo>
                  <a:pt x="620377" y="6374535"/>
                </a:moveTo>
                <a:lnTo>
                  <a:pt x="3459520" y="6374535"/>
                </a:lnTo>
                <a:lnTo>
                  <a:pt x="3638761" y="6288190"/>
                </a:lnTo>
                <a:cubicBezTo>
                  <a:pt x="4681799" y="5721578"/>
                  <a:pt x="5389868" y="4616487"/>
                  <a:pt x="5389868" y="3346018"/>
                </a:cubicBezTo>
                <a:cubicBezTo>
                  <a:pt x="5389868" y="1498063"/>
                  <a:pt x="3891805" y="0"/>
                  <a:pt x="2043850" y="0"/>
                </a:cubicBezTo>
                <a:cubicBezTo>
                  <a:pt x="1336430" y="0"/>
                  <a:pt x="680285" y="219535"/>
                  <a:pt x="139826" y="594192"/>
                </a:cubicBezTo>
                <a:lnTo>
                  <a:pt x="0" y="700065"/>
                </a:lnTo>
                <a:lnTo>
                  <a:pt x="0" y="5991971"/>
                </a:lnTo>
                <a:lnTo>
                  <a:pt x="139827" y="6097845"/>
                </a:lnTo>
                <a:cubicBezTo>
                  <a:pt x="217035" y="6151367"/>
                  <a:pt x="296605" y="6201724"/>
                  <a:pt x="378347" y="6248727"/>
                </a:cubicBezTo>
                <a:close/>
              </a:path>
            </a:pathLst>
          </a:custGeom>
          <a:solidFill>
            <a:srgbClr val="FFFFFF">
              <a:alpha val="8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b="0" i="0" u="none" strike="noStrike" cap="none">
              <a:solidFill>
                <a:srgbClr val="FFFFFF"/>
              </a:solidFill>
              <a:latin typeface="Calibri"/>
              <a:ea typeface="Calibri"/>
              <a:cs typeface="Calibri"/>
              <a:sym typeface="Calibri"/>
            </a:endParaRPr>
          </a:p>
        </p:txBody>
      </p:sp>
      <p:pic>
        <p:nvPicPr>
          <p:cNvPr id="31" name="Google Shape;31;p5"/>
          <p:cNvPicPr preferRelativeResize="0"/>
          <p:nvPr/>
        </p:nvPicPr>
        <p:blipFill rotWithShape="1">
          <a:blip r:embed="rId2">
            <a:alphaModFix/>
          </a:blip>
          <a:srcRect/>
          <a:stretch/>
        </p:blipFill>
        <p:spPr>
          <a:xfrm>
            <a:off x="5177307" y="186298"/>
            <a:ext cx="3812148" cy="601304"/>
          </a:xfrm>
          <a:prstGeom prst="rect">
            <a:avLst/>
          </a:prstGeom>
          <a:noFill/>
          <a:ln>
            <a:noFill/>
          </a:ln>
        </p:spPr>
      </p:pic>
      <p:pic>
        <p:nvPicPr>
          <p:cNvPr id="32" name="Google Shape;32;p5" descr="Una caricatura de una ciudad&#10;&#10;Descripción generada automáticamente"/>
          <p:cNvPicPr preferRelativeResize="0"/>
          <p:nvPr/>
        </p:nvPicPr>
        <p:blipFill rotWithShape="1">
          <a:blip r:embed="rId3">
            <a:alphaModFix/>
          </a:blip>
          <a:srcRect l="9870" r="6482"/>
          <a:stretch/>
        </p:blipFill>
        <p:spPr>
          <a:xfrm>
            <a:off x="1" y="10"/>
            <a:ext cx="4711067" cy="5589566"/>
          </a:xfrm>
          <a:custGeom>
            <a:avLst/>
            <a:gdLst/>
            <a:ahLst/>
            <a:cxnLst/>
            <a:rect l="l" t="t" r="r" b="b"/>
            <a:pathLst>
              <a:path w="5234519" h="6210629" extrusionOk="0">
                <a:moveTo>
                  <a:pt x="1082595" y="0"/>
                </a:moveTo>
                <a:lnTo>
                  <a:pt x="3027450" y="0"/>
                </a:lnTo>
                <a:lnTo>
                  <a:pt x="3291029" y="96471"/>
                </a:lnTo>
                <a:cubicBezTo>
                  <a:pt x="4433137" y="579542"/>
                  <a:pt x="5234519" y="1710443"/>
                  <a:pt x="5234519" y="3028517"/>
                </a:cubicBezTo>
                <a:cubicBezTo>
                  <a:pt x="5234519" y="4785949"/>
                  <a:pt x="3809839" y="6210629"/>
                  <a:pt x="2052407" y="6210629"/>
                </a:cubicBezTo>
                <a:cubicBezTo>
                  <a:pt x="1283531" y="6210629"/>
                  <a:pt x="578345" y="5937936"/>
                  <a:pt x="28288" y="5483989"/>
                </a:cubicBezTo>
                <a:lnTo>
                  <a:pt x="0" y="5458279"/>
                </a:lnTo>
                <a:lnTo>
                  <a:pt x="0" y="598754"/>
                </a:lnTo>
                <a:lnTo>
                  <a:pt x="28288" y="573044"/>
                </a:lnTo>
                <a:cubicBezTo>
                  <a:pt x="303317" y="346070"/>
                  <a:pt x="617127" y="164410"/>
                  <a:pt x="958290" y="39494"/>
                </a:cubicBezTo>
                <a:close/>
              </a:path>
            </a:pathLst>
          </a:custGeom>
          <a:noFill/>
          <a:ln>
            <a:noFill/>
          </a:ln>
        </p:spPr>
      </p:pic>
      <p:sp>
        <p:nvSpPr>
          <p:cNvPr id="34" name="Google Shape;34;p5"/>
          <p:cNvSpPr txBox="1">
            <a:spLocks noGrp="1"/>
          </p:cNvSpPr>
          <p:nvPr>
            <p:ph type="title"/>
          </p:nvPr>
        </p:nvSpPr>
        <p:spPr>
          <a:xfrm>
            <a:off x="3004575" y="3476150"/>
            <a:ext cx="5995800" cy="1603200"/>
          </a:xfrm>
          <a:prstGeom prst="rect">
            <a:avLst/>
          </a:prstGeom>
          <a:solidFill>
            <a:srgbClr val="898B90">
              <a:alpha val="68300"/>
            </a:srgbClr>
          </a:solidFill>
          <a:ln>
            <a:noFill/>
          </a:ln>
        </p:spPr>
        <p:txBody>
          <a:bodyPr spcFirstLastPara="1" wrap="square" lIns="91425" tIns="45700" rIns="91425" bIns="45700" anchor="t" anchorCtr="0">
            <a:noAutofit/>
          </a:bodyPr>
          <a:lstStyle>
            <a:lvl1pPr lvl="0" algn="r" rtl="0">
              <a:spcBef>
                <a:spcPts val="0"/>
              </a:spcBef>
              <a:spcAft>
                <a:spcPts val="0"/>
              </a:spcAft>
              <a:buNone/>
              <a:defRPr sz="5400">
                <a:latin typeface="Calibri" panose="020F0502020204030204" pitchFamily="34" charset="0"/>
                <a:cs typeface="Calibri" panose="020F0502020204030204" pitchFamily="34" charset="0"/>
              </a:defRPr>
            </a:lvl1pPr>
            <a:lvl2pPr lvl="1" algn="r" rtl="0">
              <a:spcBef>
                <a:spcPts val="0"/>
              </a:spcBef>
              <a:spcAft>
                <a:spcPts val="0"/>
              </a:spcAft>
              <a:buNone/>
              <a:defRPr sz="5400"/>
            </a:lvl2pPr>
            <a:lvl3pPr lvl="2" algn="r" rtl="0">
              <a:spcBef>
                <a:spcPts val="0"/>
              </a:spcBef>
              <a:spcAft>
                <a:spcPts val="0"/>
              </a:spcAft>
              <a:buNone/>
              <a:defRPr sz="5400"/>
            </a:lvl3pPr>
            <a:lvl4pPr lvl="3" algn="r" rtl="0">
              <a:spcBef>
                <a:spcPts val="0"/>
              </a:spcBef>
              <a:spcAft>
                <a:spcPts val="0"/>
              </a:spcAft>
              <a:buNone/>
              <a:defRPr sz="5400"/>
            </a:lvl4pPr>
            <a:lvl5pPr lvl="4" algn="r" rtl="0">
              <a:spcBef>
                <a:spcPts val="0"/>
              </a:spcBef>
              <a:spcAft>
                <a:spcPts val="0"/>
              </a:spcAft>
              <a:buNone/>
              <a:defRPr sz="5400"/>
            </a:lvl5pPr>
            <a:lvl6pPr lvl="5" algn="r" rtl="0">
              <a:spcBef>
                <a:spcPts val="0"/>
              </a:spcBef>
              <a:spcAft>
                <a:spcPts val="0"/>
              </a:spcAft>
              <a:buNone/>
              <a:defRPr sz="5400"/>
            </a:lvl6pPr>
            <a:lvl7pPr lvl="6" algn="r" rtl="0">
              <a:spcBef>
                <a:spcPts val="0"/>
              </a:spcBef>
              <a:spcAft>
                <a:spcPts val="0"/>
              </a:spcAft>
              <a:buNone/>
              <a:defRPr sz="5400"/>
            </a:lvl7pPr>
            <a:lvl8pPr lvl="7" algn="r" rtl="0">
              <a:spcBef>
                <a:spcPts val="0"/>
              </a:spcBef>
              <a:spcAft>
                <a:spcPts val="0"/>
              </a:spcAft>
              <a:buNone/>
              <a:defRPr sz="5400"/>
            </a:lvl8pPr>
            <a:lvl9pPr lvl="8" algn="r" rtl="0">
              <a:spcBef>
                <a:spcPts val="0"/>
              </a:spcBef>
              <a:spcAft>
                <a:spcPts val="0"/>
              </a:spcAft>
              <a:buNone/>
              <a:defRPr sz="54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ítulo y objetos 1" preserve="1">
  <p:cSld name="Título y objetos 1">
    <p:spTree>
      <p:nvGrpSpPr>
        <p:cNvPr id="1" name="Shape 83"/>
        <p:cNvGrpSpPr/>
        <p:nvPr/>
      </p:nvGrpSpPr>
      <p:grpSpPr>
        <a:xfrm>
          <a:off x="0" y="0"/>
          <a:ext cx="0" cy="0"/>
          <a:chOff x="0" y="0"/>
          <a:chExt cx="0" cy="0"/>
        </a:xfrm>
      </p:grpSpPr>
      <p:sp>
        <p:nvSpPr>
          <p:cNvPr id="84" name="Google Shape;84;p14"/>
          <p:cNvSpPr/>
          <p:nvPr/>
        </p:nvSpPr>
        <p:spPr>
          <a:xfrm>
            <a:off x="1372975" y="212725"/>
            <a:ext cx="4806374" cy="813000"/>
          </a:xfrm>
          <a:prstGeom prst="parallelogram">
            <a:avLst>
              <a:gd name="adj" fmla="val 4531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Bebas Neue" panose="020B0606020202050201" pitchFamily="34" charset="77"/>
            </a:endParaRPr>
          </a:p>
        </p:txBody>
      </p:sp>
      <p:sp>
        <p:nvSpPr>
          <p:cNvPr id="85" name="Google Shape;85;p14"/>
          <p:cNvSpPr/>
          <p:nvPr/>
        </p:nvSpPr>
        <p:spPr>
          <a:xfrm>
            <a:off x="770850" y="212725"/>
            <a:ext cx="903600" cy="813000"/>
          </a:xfrm>
          <a:prstGeom prst="parallelogram">
            <a:avLst>
              <a:gd name="adj" fmla="val 45310"/>
            </a:avLst>
          </a:prstGeom>
          <a:solidFill>
            <a:srgbClr val="8189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14"/>
          <p:cNvSpPr/>
          <p:nvPr/>
        </p:nvSpPr>
        <p:spPr>
          <a:xfrm>
            <a:off x="146422" y="212725"/>
            <a:ext cx="903600" cy="813000"/>
          </a:xfrm>
          <a:prstGeom prst="parallelogram">
            <a:avLst>
              <a:gd name="adj" fmla="val 45310"/>
            </a:avLst>
          </a:prstGeom>
          <a:gradFill>
            <a:gsLst>
              <a:gs pos="0">
                <a:srgbClr val="FFFFFF"/>
              </a:gs>
              <a:gs pos="65000">
                <a:schemeClr val="dk2"/>
              </a:gs>
              <a:gs pos="100000">
                <a:schemeClr val="dk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14"/>
          <p:cNvSpPr txBox="1">
            <a:spLocks noGrp="1"/>
          </p:cNvSpPr>
          <p:nvPr>
            <p:ph type="title"/>
          </p:nvPr>
        </p:nvSpPr>
        <p:spPr>
          <a:xfrm>
            <a:off x="1763699" y="212725"/>
            <a:ext cx="4288185" cy="813000"/>
          </a:xfrm>
          <a:prstGeom prst="rect">
            <a:avLst/>
          </a:prstGeom>
          <a:noFill/>
          <a:ln>
            <a:noFill/>
          </a:ln>
        </p:spPr>
        <p:txBody>
          <a:bodyPr spcFirstLastPara="1" wrap="square" lIns="91425" tIns="45700" rIns="91425" bIns="45700" anchor="ctr" anchorCtr="0">
            <a:noAutofit/>
          </a:bodyPr>
          <a:lstStyle>
            <a:lvl1pPr lvl="0" algn="l" rtl="0">
              <a:lnSpc>
                <a:spcPct val="90000"/>
              </a:lnSpc>
              <a:spcBef>
                <a:spcPts val="0"/>
              </a:spcBef>
              <a:spcAft>
                <a:spcPts val="0"/>
              </a:spcAft>
              <a:buClr>
                <a:srgbClr val="818990"/>
              </a:buClr>
              <a:buSzPts val="1800"/>
              <a:buNone/>
              <a:defRPr>
                <a:latin typeface="Calibri" panose="020F0502020204030204" pitchFamily="34" charset="0"/>
                <a:cs typeface="Calibri" panose="020F0502020204030204" pitchFamily="34" charset="0"/>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lang="es-ES_tradnl" noProof="0" dirty="0"/>
          </a:p>
        </p:txBody>
      </p:sp>
      <p:pic>
        <p:nvPicPr>
          <p:cNvPr id="89" name="Google Shape;89;p14"/>
          <p:cNvPicPr preferRelativeResize="0"/>
          <p:nvPr/>
        </p:nvPicPr>
        <p:blipFill>
          <a:blip r:embed="rId2">
            <a:alphaModFix/>
          </a:blip>
          <a:stretch>
            <a:fillRect/>
          </a:stretch>
        </p:blipFill>
        <p:spPr>
          <a:xfrm>
            <a:off x="6179349" y="389413"/>
            <a:ext cx="2746703" cy="459625"/>
          </a:xfrm>
          <a:prstGeom prst="rect">
            <a:avLst/>
          </a:prstGeom>
          <a:noFill/>
          <a:ln>
            <a:noFill/>
          </a:ln>
        </p:spPr>
      </p:pic>
      <p:sp>
        <p:nvSpPr>
          <p:cNvPr id="90" name="Google Shape;90;p14"/>
          <p:cNvSpPr txBox="1">
            <a:spLocks noGrp="1"/>
          </p:cNvSpPr>
          <p:nvPr>
            <p:ph type="body" idx="1"/>
          </p:nvPr>
        </p:nvSpPr>
        <p:spPr>
          <a:xfrm>
            <a:off x="294150" y="1218600"/>
            <a:ext cx="8555700" cy="51378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rgbClr val="DE3075"/>
              </a:buClr>
              <a:buSzPts val="2800"/>
              <a:buFont typeface="Franklin Gothic"/>
              <a:buChar char="»"/>
              <a:defRPr sz="2400" i="0" u="none" strike="noStrike" cap="none">
                <a:solidFill>
                  <a:srgbClr val="818990"/>
                </a:solidFill>
                <a:latin typeface="Calibri" panose="020F0502020204030204" pitchFamily="34" charset="0"/>
                <a:ea typeface="Calibri" panose="020F0502020204030204" pitchFamily="34" charset="0"/>
                <a:cs typeface="Calibri" panose="020F0502020204030204" pitchFamily="34" charset="0"/>
                <a:sym typeface="Franklin Gothic"/>
              </a:defRPr>
            </a:lvl1pPr>
            <a:lvl2pPr marL="914400" marR="0" lvl="1" indent="-381000" algn="l" rtl="0">
              <a:lnSpc>
                <a:spcPct val="90000"/>
              </a:lnSpc>
              <a:spcBef>
                <a:spcPts val="500"/>
              </a:spcBef>
              <a:spcAft>
                <a:spcPts val="0"/>
              </a:spcAft>
              <a:buClr>
                <a:schemeClr val="accent2"/>
              </a:buClr>
              <a:buSzPts val="2400"/>
              <a:buFont typeface="Franklin Gothic"/>
              <a:buChar char="•"/>
              <a:defRPr sz="2000" i="0" u="none" strike="noStrike" cap="none">
                <a:solidFill>
                  <a:srgbClr val="818990"/>
                </a:solidFill>
                <a:latin typeface="Franklin Gothic"/>
                <a:ea typeface="Franklin Gothic"/>
                <a:cs typeface="Franklin Gothic"/>
                <a:sym typeface="Franklin Gothic"/>
              </a:defRPr>
            </a:lvl2pPr>
            <a:lvl3pPr marL="1371600" marR="0" lvl="2" indent="-342900" algn="l" rtl="0">
              <a:lnSpc>
                <a:spcPct val="90000"/>
              </a:lnSpc>
              <a:spcBef>
                <a:spcPts val="500"/>
              </a:spcBef>
              <a:spcAft>
                <a:spcPts val="0"/>
              </a:spcAft>
              <a:buClr>
                <a:schemeClr val="dk2"/>
              </a:buClr>
              <a:buSzPts val="1800"/>
              <a:buFont typeface="Franklin Gothic"/>
              <a:buChar char="○"/>
              <a:defRPr sz="1800" i="0" u="none" strike="noStrike" cap="none">
                <a:solidFill>
                  <a:schemeClr val="dk2"/>
                </a:solidFill>
                <a:latin typeface="Franklin Gothic"/>
                <a:ea typeface="Franklin Gothic"/>
                <a:cs typeface="Franklin Gothic"/>
                <a:sym typeface="Franklin Gothic"/>
              </a:defRPr>
            </a:lvl3pPr>
            <a:lvl4pPr marL="1828800" marR="0" lvl="3" indent="-330200" algn="l" rtl="0">
              <a:lnSpc>
                <a:spcPct val="90000"/>
              </a:lnSpc>
              <a:spcBef>
                <a:spcPts val="500"/>
              </a:spcBef>
              <a:spcAft>
                <a:spcPts val="0"/>
              </a:spcAft>
              <a:buClr>
                <a:schemeClr val="dk2"/>
              </a:buClr>
              <a:buSzPts val="1600"/>
              <a:buFont typeface="Franklin Gothic"/>
              <a:buChar char="•"/>
              <a:defRPr sz="1600" i="0" u="none" strike="noStrike" cap="none">
                <a:solidFill>
                  <a:schemeClr val="dk2"/>
                </a:solidFill>
                <a:latin typeface="Franklin Gothic"/>
                <a:ea typeface="Franklin Gothic"/>
                <a:cs typeface="Franklin Gothic"/>
                <a:sym typeface="Franklin Gothic"/>
              </a:defRPr>
            </a:lvl4pPr>
            <a:lvl5pPr marL="2286000" marR="0" lvl="4" indent="-317500" algn="l" rtl="0">
              <a:lnSpc>
                <a:spcPct val="90000"/>
              </a:lnSpc>
              <a:spcBef>
                <a:spcPts val="500"/>
              </a:spcBef>
              <a:spcAft>
                <a:spcPts val="0"/>
              </a:spcAft>
              <a:buClr>
                <a:schemeClr val="dk2"/>
              </a:buClr>
              <a:buSzPts val="1400"/>
              <a:buFont typeface="Franklin Gothic"/>
              <a:buChar char="•"/>
              <a:defRPr i="0" u="none" strike="noStrike" cap="none">
                <a:solidFill>
                  <a:schemeClr val="dk2"/>
                </a:solidFill>
                <a:latin typeface="Franklin Gothic"/>
                <a:ea typeface="Franklin Gothic"/>
                <a:cs typeface="Franklin Gothic"/>
                <a:sym typeface="Franklin Gothic"/>
              </a:defRPr>
            </a:lvl5pPr>
            <a:lvl6pPr marL="2743200" marR="0" lvl="5" indent="-304800" algn="l" rtl="0">
              <a:lnSpc>
                <a:spcPct val="90000"/>
              </a:lnSpc>
              <a:spcBef>
                <a:spcPts val="500"/>
              </a:spcBef>
              <a:spcAft>
                <a:spcPts val="0"/>
              </a:spcAft>
              <a:buClr>
                <a:schemeClr val="dk2"/>
              </a:buClr>
              <a:buSzPts val="1200"/>
              <a:buFont typeface="Franklin Gothic"/>
              <a:buChar char="•"/>
              <a:defRPr sz="1200" i="0" u="none" strike="noStrike" cap="none">
                <a:solidFill>
                  <a:schemeClr val="dk2"/>
                </a:solidFill>
                <a:latin typeface="Franklin Gothic"/>
                <a:ea typeface="Franklin Gothic"/>
                <a:cs typeface="Franklin Gothic"/>
                <a:sym typeface="Franklin Gothic"/>
              </a:defRPr>
            </a:lvl6pPr>
            <a:lvl7pPr marL="3200400" marR="0" lvl="6" indent="-292100" algn="l" rtl="0">
              <a:lnSpc>
                <a:spcPct val="90000"/>
              </a:lnSpc>
              <a:spcBef>
                <a:spcPts val="500"/>
              </a:spcBef>
              <a:spcAft>
                <a:spcPts val="0"/>
              </a:spcAft>
              <a:buClr>
                <a:schemeClr val="dk2"/>
              </a:buClr>
              <a:buSzPts val="1000"/>
              <a:buFont typeface="Franklin Gothic"/>
              <a:buChar char="•"/>
              <a:defRPr sz="1000" i="0" u="none" strike="noStrike" cap="none">
                <a:solidFill>
                  <a:schemeClr val="dk2"/>
                </a:solidFill>
                <a:latin typeface="Franklin Gothic"/>
                <a:ea typeface="Franklin Gothic"/>
                <a:cs typeface="Franklin Gothic"/>
                <a:sym typeface="Franklin Gothic"/>
              </a:defRPr>
            </a:lvl7pPr>
            <a:lvl8pPr marL="3657600" marR="0" lvl="7" indent="-279400" algn="l" rtl="0">
              <a:lnSpc>
                <a:spcPct val="90000"/>
              </a:lnSpc>
              <a:spcBef>
                <a:spcPts val="500"/>
              </a:spcBef>
              <a:spcAft>
                <a:spcPts val="0"/>
              </a:spcAft>
              <a:buClr>
                <a:schemeClr val="dk2"/>
              </a:buClr>
              <a:buSzPts val="800"/>
              <a:buFont typeface="Franklin Gothic"/>
              <a:buChar char="•"/>
              <a:defRPr sz="800" i="0" u="none" strike="noStrike" cap="none">
                <a:solidFill>
                  <a:schemeClr val="dk2"/>
                </a:solidFill>
                <a:latin typeface="Franklin Gothic"/>
                <a:ea typeface="Franklin Gothic"/>
                <a:cs typeface="Franklin Gothic"/>
                <a:sym typeface="Franklin Gothic"/>
              </a:defRPr>
            </a:lvl8pPr>
            <a:lvl9pPr marL="4114800" marR="0" lvl="8" indent="-266700" algn="l" rtl="0">
              <a:lnSpc>
                <a:spcPct val="90000"/>
              </a:lnSpc>
              <a:spcBef>
                <a:spcPts val="500"/>
              </a:spcBef>
              <a:spcAft>
                <a:spcPts val="0"/>
              </a:spcAft>
              <a:buClr>
                <a:schemeClr val="dk2"/>
              </a:buClr>
              <a:buSzPts val="600"/>
              <a:buFont typeface="Franklin Gothic"/>
              <a:buChar char="•"/>
              <a:defRPr sz="600" i="0" u="none" strike="noStrike" cap="none">
                <a:solidFill>
                  <a:schemeClr val="dk2"/>
                </a:solidFill>
                <a:latin typeface="Franklin Gothic"/>
                <a:ea typeface="Franklin Gothic"/>
                <a:cs typeface="Franklin Gothic"/>
                <a:sym typeface="Franklin Gothic"/>
              </a:defRPr>
            </a:lvl9pPr>
          </a:lstStyle>
          <a:p>
            <a:endParaRPr lang="es-ES_tradnl" noProof="0" dirty="0"/>
          </a:p>
        </p:txBody>
      </p:sp>
      <p:sp>
        <p:nvSpPr>
          <p:cNvPr id="9" name="Google Shape;7;p1">
            <a:extLst>
              <a:ext uri="{FF2B5EF4-FFF2-40B4-BE49-F238E27FC236}">
                <a16:creationId xmlns:a16="http://schemas.microsoft.com/office/drawing/2014/main" xmlns="" id="{0B5789D4-A1BB-0442-8135-68C7C82B7CE3}"/>
              </a:ext>
            </a:extLst>
          </p:cNvPr>
          <p:cNvSpPr txBox="1">
            <a:spLocks/>
          </p:cNvSpPr>
          <p:nvPr userDrawn="1"/>
        </p:nvSpPr>
        <p:spPr>
          <a:xfrm>
            <a:off x="6915150" y="6356351"/>
            <a:ext cx="2057400" cy="3651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1pPr>
            <a:lvl2pPr marL="0" marR="0" lvl="1"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2pPr>
            <a:lvl3pPr marL="0" marR="0" lvl="2"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3pPr>
            <a:lvl4pPr marL="0" marR="0" lvl="3"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4pPr>
            <a:lvl5pPr marL="0" marR="0" lvl="4"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5pPr>
            <a:lvl6pPr marL="0" marR="0" lvl="5"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6pPr>
            <a:lvl7pPr marL="0" marR="0" lvl="6"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7pPr>
            <a:lvl8pPr marL="0" marR="0" lvl="7"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8pPr>
            <a:lvl9pPr marL="0" marR="0" lvl="8"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9pPr>
          </a:lstStyle>
          <a:p>
            <a:fld id="{00000000-1234-1234-1234-123412341234}" type="slidenum">
              <a:rPr lang="en-US" smtClean="0"/>
              <a:pPr/>
              <a:t>‹Nº›</a:t>
            </a:fld>
            <a:endParaRPr lang="en-US"/>
          </a:p>
        </p:txBody>
      </p:sp>
    </p:spTree>
    <p:extLst>
      <p:ext uri="{BB962C8B-B14F-4D97-AF65-F5344CB8AC3E}">
        <p14:creationId xmlns:p14="http://schemas.microsoft.com/office/powerpoint/2010/main" val="4235798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ítulo y objetos 2" userDrawn="1">
  <p:cSld name="OBJECT">
    <p:spTree>
      <p:nvGrpSpPr>
        <p:cNvPr id="1" name="Shape 91"/>
        <p:cNvGrpSpPr/>
        <p:nvPr/>
      </p:nvGrpSpPr>
      <p:grpSpPr>
        <a:xfrm>
          <a:off x="0" y="0"/>
          <a:ext cx="0" cy="0"/>
          <a:chOff x="0" y="0"/>
          <a:chExt cx="0" cy="0"/>
        </a:xfrm>
      </p:grpSpPr>
      <p:sp>
        <p:nvSpPr>
          <p:cNvPr id="93" name="Google Shape;93;p15"/>
          <p:cNvSpPr/>
          <p:nvPr/>
        </p:nvSpPr>
        <p:spPr>
          <a:xfrm>
            <a:off x="770850" y="212725"/>
            <a:ext cx="903600" cy="813000"/>
          </a:xfrm>
          <a:prstGeom prst="parallelogram">
            <a:avLst>
              <a:gd name="adj" fmla="val 4531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15"/>
          <p:cNvSpPr/>
          <p:nvPr/>
        </p:nvSpPr>
        <p:spPr>
          <a:xfrm>
            <a:off x="146422" y="212725"/>
            <a:ext cx="903600" cy="813000"/>
          </a:xfrm>
          <a:prstGeom prst="parallelogram">
            <a:avLst>
              <a:gd name="adj" fmla="val 45310"/>
            </a:avLst>
          </a:prstGeom>
          <a:gradFill>
            <a:gsLst>
              <a:gs pos="0">
                <a:srgbClr val="FFFFFF"/>
              </a:gs>
              <a:gs pos="65000">
                <a:schemeClr val="accent1"/>
              </a:gs>
              <a:gs pos="100000">
                <a:schemeClr val="accen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97" name="Google Shape;97;p15"/>
          <p:cNvPicPr preferRelativeResize="0"/>
          <p:nvPr/>
        </p:nvPicPr>
        <p:blipFill>
          <a:blip r:embed="rId2">
            <a:alphaModFix/>
          </a:blip>
          <a:stretch>
            <a:fillRect/>
          </a:stretch>
        </p:blipFill>
        <p:spPr>
          <a:xfrm>
            <a:off x="6179349" y="389413"/>
            <a:ext cx="2746703" cy="459625"/>
          </a:xfrm>
          <a:prstGeom prst="rect">
            <a:avLst/>
          </a:prstGeom>
          <a:noFill/>
          <a:ln>
            <a:noFill/>
          </a:ln>
        </p:spPr>
      </p:pic>
      <p:sp>
        <p:nvSpPr>
          <p:cNvPr id="98" name="Google Shape;98;p15"/>
          <p:cNvSpPr txBox="1">
            <a:spLocks noGrp="1"/>
          </p:cNvSpPr>
          <p:nvPr>
            <p:ph type="body" idx="1"/>
          </p:nvPr>
        </p:nvSpPr>
        <p:spPr>
          <a:xfrm>
            <a:off x="294150" y="1218600"/>
            <a:ext cx="8555700" cy="51378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rgbClr val="DE3075"/>
              </a:buClr>
              <a:buSzPts val="2800"/>
              <a:buFont typeface="Franklin Gothic"/>
              <a:buChar char="»"/>
              <a:defRPr sz="2400" i="0" u="none" strike="noStrike" cap="none">
                <a:solidFill>
                  <a:srgbClr val="818990"/>
                </a:solidFill>
                <a:latin typeface="Calibri" panose="020F0502020204030204" pitchFamily="34" charset="0"/>
                <a:ea typeface="Calibri" panose="020F0502020204030204" pitchFamily="34" charset="0"/>
                <a:cs typeface="Calibri" panose="020F0502020204030204" pitchFamily="34" charset="0"/>
                <a:sym typeface="Franklin Gothic"/>
              </a:defRPr>
            </a:lvl1pPr>
            <a:lvl2pPr marL="914400" marR="0" lvl="1" indent="-381000" algn="l" rtl="0">
              <a:lnSpc>
                <a:spcPct val="90000"/>
              </a:lnSpc>
              <a:spcBef>
                <a:spcPts val="500"/>
              </a:spcBef>
              <a:spcAft>
                <a:spcPts val="0"/>
              </a:spcAft>
              <a:buClr>
                <a:schemeClr val="accent2"/>
              </a:buClr>
              <a:buSzPts val="2400"/>
              <a:buFont typeface="Franklin Gothic"/>
              <a:buChar char="•"/>
              <a:defRPr sz="2000" i="0" u="none" strike="noStrike" cap="none">
                <a:solidFill>
                  <a:srgbClr val="818990"/>
                </a:solidFill>
                <a:latin typeface="Franklin Gothic"/>
                <a:ea typeface="Franklin Gothic"/>
                <a:cs typeface="Franklin Gothic"/>
                <a:sym typeface="Franklin Gothic"/>
              </a:defRPr>
            </a:lvl2pPr>
            <a:lvl3pPr marL="1371600" marR="0" lvl="2" indent="-342900" algn="l" rtl="0">
              <a:lnSpc>
                <a:spcPct val="90000"/>
              </a:lnSpc>
              <a:spcBef>
                <a:spcPts val="500"/>
              </a:spcBef>
              <a:spcAft>
                <a:spcPts val="0"/>
              </a:spcAft>
              <a:buClr>
                <a:schemeClr val="dk2"/>
              </a:buClr>
              <a:buSzPts val="1800"/>
              <a:buFont typeface="Franklin Gothic"/>
              <a:buChar char="○"/>
              <a:defRPr sz="1800" i="0" u="none" strike="noStrike" cap="none">
                <a:solidFill>
                  <a:schemeClr val="dk2"/>
                </a:solidFill>
                <a:latin typeface="Franklin Gothic"/>
                <a:ea typeface="Franklin Gothic"/>
                <a:cs typeface="Franklin Gothic"/>
                <a:sym typeface="Franklin Gothic"/>
              </a:defRPr>
            </a:lvl3pPr>
            <a:lvl4pPr marL="1828800" marR="0" lvl="3" indent="-330200" algn="l" rtl="0">
              <a:lnSpc>
                <a:spcPct val="90000"/>
              </a:lnSpc>
              <a:spcBef>
                <a:spcPts val="500"/>
              </a:spcBef>
              <a:spcAft>
                <a:spcPts val="0"/>
              </a:spcAft>
              <a:buClr>
                <a:schemeClr val="dk2"/>
              </a:buClr>
              <a:buSzPts val="1600"/>
              <a:buFont typeface="Franklin Gothic"/>
              <a:buChar char="•"/>
              <a:defRPr sz="1600" i="0" u="none" strike="noStrike" cap="none">
                <a:solidFill>
                  <a:schemeClr val="dk2"/>
                </a:solidFill>
                <a:latin typeface="Franklin Gothic"/>
                <a:ea typeface="Franklin Gothic"/>
                <a:cs typeface="Franklin Gothic"/>
                <a:sym typeface="Franklin Gothic"/>
              </a:defRPr>
            </a:lvl4pPr>
            <a:lvl5pPr marL="2286000" marR="0" lvl="4" indent="-317500" algn="l" rtl="0">
              <a:lnSpc>
                <a:spcPct val="90000"/>
              </a:lnSpc>
              <a:spcBef>
                <a:spcPts val="500"/>
              </a:spcBef>
              <a:spcAft>
                <a:spcPts val="0"/>
              </a:spcAft>
              <a:buClr>
                <a:schemeClr val="dk2"/>
              </a:buClr>
              <a:buSzPts val="1400"/>
              <a:buFont typeface="Franklin Gothic"/>
              <a:buChar char="•"/>
              <a:defRPr i="0" u="none" strike="noStrike" cap="none">
                <a:solidFill>
                  <a:schemeClr val="dk2"/>
                </a:solidFill>
                <a:latin typeface="Franklin Gothic"/>
                <a:ea typeface="Franklin Gothic"/>
                <a:cs typeface="Franklin Gothic"/>
                <a:sym typeface="Franklin Gothic"/>
              </a:defRPr>
            </a:lvl5pPr>
            <a:lvl6pPr marL="2743200" marR="0" lvl="5" indent="-304800" algn="l" rtl="0">
              <a:lnSpc>
                <a:spcPct val="90000"/>
              </a:lnSpc>
              <a:spcBef>
                <a:spcPts val="500"/>
              </a:spcBef>
              <a:spcAft>
                <a:spcPts val="0"/>
              </a:spcAft>
              <a:buClr>
                <a:schemeClr val="dk2"/>
              </a:buClr>
              <a:buSzPts val="1200"/>
              <a:buFont typeface="Franklin Gothic"/>
              <a:buChar char="•"/>
              <a:defRPr sz="1200" i="0" u="none" strike="noStrike" cap="none">
                <a:solidFill>
                  <a:schemeClr val="dk2"/>
                </a:solidFill>
                <a:latin typeface="Franklin Gothic"/>
                <a:ea typeface="Franklin Gothic"/>
                <a:cs typeface="Franklin Gothic"/>
                <a:sym typeface="Franklin Gothic"/>
              </a:defRPr>
            </a:lvl6pPr>
            <a:lvl7pPr marL="3200400" marR="0" lvl="6" indent="-292100" algn="l" rtl="0">
              <a:lnSpc>
                <a:spcPct val="90000"/>
              </a:lnSpc>
              <a:spcBef>
                <a:spcPts val="500"/>
              </a:spcBef>
              <a:spcAft>
                <a:spcPts val="0"/>
              </a:spcAft>
              <a:buClr>
                <a:schemeClr val="dk2"/>
              </a:buClr>
              <a:buSzPts val="1000"/>
              <a:buFont typeface="Franklin Gothic"/>
              <a:buChar char="•"/>
              <a:defRPr sz="1000" i="0" u="none" strike="noStrike" cap="none">
                <a:solidFill>
                  <a:schemeClr val="dk2"/>
                </a:solidFill>
                <a:latin typeface="Franklin Gothic"/>
                <a:ea typeface="Franklin Gothic"/>
                <a:cs typeface="Franklin Gothic"/>
                <a:sym typeface="Franklin Gothic"/>
              </a:defRPr>
            </a:lvl7pPr>
            <a:lvl8pPr marL="3657600" marR="0" lvl="7" indent="-279400" algn="l" rtl="0">
              <a:lnSpc>
                <a:spcPct val="90000"/>
              </a:lnSpc>
              <a:spcBef>
                <a:spcPts val="500"/>
              </a:spcBef>
              <a:spcAft>
                <a:spcPts val="0"/>
              </a:spcAft>
              <a:buClr>
                <a:schemeClr val="dk2"/>
              </a:buClr>
              <a:buSzPts val="800"/>
              <a:buFont typeface="Franklin Gothic"/>
              <a:buChar char="•"/>
              <a:defRPr sz="800" i="0" u="none" strike="noStrike" cap="none">
                <a:solidFill>
                  <a:schemeClr val="dk2"/>
                </a:solidFill>
                <a:latin typeface="Franklin Gothic"/>
                <a:ea typeface="Franklin Gothic"/>
                <a:cs typeface="Franklin Gothic"/>
                <a:sym typeface="Franklin Gothic"/>
              </a:defRPr>
            </a:lvl8pPr>
            <a:lvl9pPr marL="4114800" marR="0" lvl="8" indent="-266700" algn="l" rtl="0">
              <a:lnSpc>
                <a:spcPct val="90000"/>
              </a:lnSpc>
              <a:spcBef>
                <a:spcPts val="500"/>
              </a:spcBef>
              <a:spcAft>
                <a:spcPts val="0"/>
              </a:spcAft>
              <a:buClr>
                <a:schemeClr val="dk2"/>
              </a:buClr>
              <a:buSzPts val="600"/>
              <a:buFont typeface="Franklin Gothic"/>
              <a:buChar char="•"/>
              <a:defRPr sz="600" i="0" u="none" strike="noStrike" cap="none">
                <a:solidFill>
                  <a:schemeClr val="dk2"/>
                </a:solidFill>
                <a:latin typeface="Franklin Gothic"/>
                <a:ea typeface="Franklin Gothic"/>
                <a:cs typeface="Franklin Gothic"/>
                <a:sym typeface="Franklin Gothic"/>
              </a:defRPr>
            </a:lvl9pPr>
          </a:lstStyle>
          <a:p>
            <a:endParaRPr lang="es-ES_tradnl" noProof="0" dirty="0"/>
          </a:p>
        </p:txBody>
      </p:sp>
      <p:sp>
        <p:nvSpPr>
          <p:cNvPr id="10" name="Google Shape;84;p14">
            <a:extLst>
              <a:ext uri="{FF2B5EF4-FFF2-40B4-BE49-F238E27FC236}">
                <a16:creationId xmlns:a16="http://schemas.microsoft.com/office/drawing/2014/main" xmlns="" id="{4F836A24-6D51-4D40-AB79-0230302D1457}"/>
              </a:ext>
            </a:extLst>
          </p:cNvPr>
          <p:cNvSpPr/>
          <p:nvPr userDrawn="1"/>
        </p:nvSpPr>
        <p:spPr>
          <a:xfrm>
            <a:off x="1372975" y="212725"/>
            <a:ext cx="4806374" cy="813000"/>
          </a:xfrm>
          <a:prstGeom prst="parallelogram">
            <a:avLst>
              <a:gd name="adj" fmla="val 4531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Bebas Neue" panose="020B0606020202050201" pitchFamily="34" charset="77"/>
            </a:endParaRPr>
          </a:p>
        </p:txBody>
      </p:sp>
      <p:sp>
        <p:nvSpPr>
          <p:cNvPr id="11" name="Google Shape;87;p14">
            <a:extLst>
              <a:ext uri="{FF2B5EF4-FFF2-40B4-BE49-F238E27FC236}">
                <a16:creationId xmlns:a16="http://schemas.microsoft.com/office/drawing/2014/main" xmlns="" id="{3BFC4BEF-06F5-F149-88A2-FDD96288DC2E}"/>
              </a:ext>
            </a:extLst>
          </p:cNvPr>
          <p:cNvSpPr txBox="1">
            <a:spLocks noGrp="1"/>
          </p:cNvSpPr>
          <p:nvPr>
            <p:ph type="title"/>
          </p:nvPr>
        </p:nvSpPr>
        <p:spPr>
          <a:xfrm>
            <a:off x="1763699" y="212725"/>
            <a:ext cx="4288185" cy="813000"/>
          </a:xfrm>
          <a:prstGeom prst="rect">
            <a:avLst/>
          </a:prstGeom>
          <a:noFill/>
          <a:ln>
            <a:noFill/>
          </a:ln>
        </p:spPr>
        <p:txBody>
          <a:bodyPr spcFirstLastPara="1" wrap="square" lIns="91425" tIns="45700" rIns="91425" bIns="45700" anchor="ctr" anchorCtr="0">
            <a:noAutofit/>
          </a:bodyPr>
          <a:lstStyle>
            <a:lvl1pPr lvl="0" algn="l" rtl="0">
              <a:lnSpc>
                <a:spcPct val="90000"/>
              </a:lnSpc>
              <a:spcBef>
                <a:spcPts val="0"/>
              </a:spcBef>
              <a:spcAft>
                <a:spcPts val="0"/>
              </a:spcAft>
              <a:buClr>
                <a:srgbClr val="818990"/>
              </a:buClr>
              <a:buSzPts val="1800"/>
              <a:buNone/>
              <a:defRPr>
                <a:latin typeface="Calibri" panose="020F0502020204030204" pitchFamily="34" charset="0"/>
                <a:cs typeface="Calibri" panose="020F0502020204030204" pitchFamily="34" charset="0"/>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lang="es-ES_tradnl" noProof="0" dirty="0"/>
          </a:p>
        </p:txBody>
      </p:sp>
      <p:sp>
        <p:nvSpPr>
          <p:cNvPr id="12" name="Google Shape;7;p1">
            <a:extLst>
              <a:ext uri="{FF2B5EF4-FFF2-40B4-BE49-F238E27FC236}">
                <a16:creationId xmlns:a16="http://schemas.microsoft.com/office/drawing/2014/main" xmlns="" id="{0D7DAA7F-11AA-0147-9DA0-85C0C21C9491}"/>
              </a:ext>
            </a:extLst>
          </p:cNvPr>
          <p:cNvSpPr txBox="1">
            <a:spLocks/>
          </p:cNvSpPr>
          <p:nvPr userDrawn="1"/>
        </p:nvSpPr>
        <p:spPr>
          <a:xfrm>
            <a:off x="6915150" y="6356351"/>
            <a:ext cx="2057400" cy="3651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1pPr>
            <a:lvl2pPr marL="0" marR="0" lvl="1"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2pPr>
            <a:lvl3pPr marL="0" marR="0" lvl="2"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3pPr>
            <a:lvl4pPr marL="0" marR="0" lvl="3"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4pPr>
            <a:lvl5pPr marL="0" marR="0" lvl="4"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5pPr>
            <a:lvl6pPr marL="0" marR="0" lvl="5"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6pPr>
            <a:lvl7pPr marL="0" marR="0" lvl="6"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7pPr>
            <a:lvl8pPr marL="0" marR="0" lvl="7"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8pPr>
            <a:lvl9pPr marL="0" marR="0" lvl="8"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9pPr>
          </a:lstStyle>
          <a:p>
            <a:fld id="{00000000-1234-1234-1234-123412341234}"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ítulo y objetos 3" userDrawn="1">
  <p:cSld name="OBJECT_1">
    <p:spTree>
      <p:nvGrpSpPr>
        <p:cNvPr id="1" name="Shape 99"/>
        <p:cNvGrpSpPr/>
        <p:nvPr/>
      </p:nvGrpSpPr>
      <p:grpSpPr>
        <a:xfrm>
          <a:off x="0" y="0"/>
          <a:ext cx="0" cy="0"/>
          <a:chOff x="0" y="0"/>
          <a:chExt cx="0" cy="0"/>
        </a:xfrm>
      </p:grpSpPr>
      <p:sp>
        <p:nvSpPr>
          <p:cNvPr id="101" name="Google Shape;101;p16"/>
          <p:cNvSpPr/>
          <p:nvPr/>
        </p:nvSpPr>
        <p:spPr>
          <a:xfrm>
            <a:off x="770850" y="212725"/>
            <a:ext cx="903600" cy="813000"/>
          </a:xfrm>
          <a:prstGeom prst="parallelogram">
            <a:avLst>
              <a:gd name="adj" fmla="val 45310"/>
            </a:avLst>
          </a:prstGeom>
          <a:solidFill>
            <a:srgbClr val="7027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16"/>
          <p:cNvSpPr/>
          <p:nvPr/>
        </p:nvSpPr>
        <p:spPr>
          <a:xfrm>
            <a:off x="146422" y="212725"/>
            <a:ext cx="903600" cy="813000"/>
          </a:xfrm>
          <a:prstGeom prst="parallelogram">
            <a:avLst>
              <a:gd name="adj" fmla="val 45310"/>
            </a:avLst>
          </a:prstGeom>
          <a:gradFill>
            <a:gsLst>
              <a:gs pos="0">
                <a:srgbClr val="FFFFFF"/>
              </a:gs>
              <a:gs pos="65000">
                <a:schemeClr val="accent2"/>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05" name="Google Shape;105;p16"/>
          <p:cNvPicPr preferRelativeResize="0"/>
          <p:nvPr/>
        </p:nvPicPr>
        <p:blipFill>
          <a:blip r:embed="rId2">
            <a:alphaModFix/>
          </a:blip>
          <a:stretch>
            <a:fillRect/>
          </a:stretch>
        </p:blipFill>
        <p:spPr>
          <a:xfrm>
            <a:off x="6179349" y="389413"/>
            <a:ext cx="2746703" cy="459625"/>
          </a:xfrm>
          <a:prstGeom prst="rect">
            <a:avLst/>
          </a:prstGeom>
          <a:noFill/>
          <a:ln>
            <a:noFill/>
          </a:ln>
        </p:spPr>
      </p:pic>
      <p:sp>
        <p:nvSpPr>
          <p:cNvPr id="106" name="Google Shape;106;p16"/>
          <p:cNvSpPr txBox="1">
            <a:spLocks noGrp="1"/>
          </p:cNvSpPr>
          <p:nvPr>
            <p:ph type="body" idx="1"/>
          </p:nvPr>
        </p:nvSpPr>
        <p:spPr>
          <a:xfrm>
            <a:off x="294150" y="1218600"/>
            <a:ext cx="8555700" cy="51378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rgbClr val="DE3075"/>
              </a:buClr>
              <a:buSzPts val="2800"/>
              <a:buFont typeface="Franklin Gothic"/>
              <a:buChar char="»"/>
              <a:defRPr sz="2400" i="0" u="none" strike="noStrike" cap="none">
                <a:solidFill>
                  <a:srgbClr val="818990"/>
                </a:solidFill>
                <a:latin typeface="Calibri" panose="020F0502020204030204" pitchFamily="34" charset="0"/>
                <a:ea typeface="Calibri" panose="020F0502020204030204" pitchFamily="34" charset="0"/>
                <a:cs typeface="Calibri" panose="020F0502020204030204" pitchFamily="34" charset="0"/>
                <a:sym typeface="Franklin Gothic"/>
              </a:defRPr>
            </a:lvl1pPr>
            <a:lvl2pPr marL="914400" marR="0" lvl="1" indent="-381000" algn="l" rtl="0">
              <a:lnSpc>
                <a:spcPct val="90000"/>
              </a:lnSpc>
              <a:spcBef>
                <a:spcPts val="500"/>
              </a:spcBef>
              <a:spcAft>
                <a:spcPts val="0"/>
              </a:spcAft>
              <a:buClr>
                <a:schemeClr val="accent2"/>
              </a:buClr>
              <a:buSzPts val="2400"/>
              <a:buFont typeface="Franklin Gothic"/>
              <a:buChar char="•"/>
              <a:defRPr sz="2000" i="0" u="none" strike="noStrike" cap="none">
                <a:solidFill>
                  <a:srgbClr val="818990"/>
                </a:solidFill>
                <a:latin typeface="Franklin Gothic"/>
                <a:ea typeface="Franklin Gothic"/>
                <a:cs typeface="Franklin Gothic"/>
                <a:sym typeface="Franklin Gothic"/>
              </a:defRPr>
            </a:lvl2pPr>
            <a:lvl3pPr marL="1371600" marR="0" lvl="2" indent="-342900" algn="l" rtl="0">
              <a:lnSpc>
                <a:spcPct val="90000"/>
              </a:lnSpc>
              <a:spcBef>
                <a:spcPts val="500"/>
              </a:spcBef>
              <a:spcAft>
                <a:spcPts val="0"/>
              </a:spcAft>
              <a:buClr>
                <a:schemeClr val="dk2"/>
              </a:buClr>
              <a:buSzPts val="1800"/>
              <a:buFont typeface="Franklin Gothic"/>
              <a:buChar char="○"/>
              <a:defRPr sz="1800" i="0" u="none" strike="noStrike" cap="none">
                <a:solidFill>
                  <a:schemeClr val="dk2"/>
                </a:solidFill>
                <a:latin typeface="Franklin Gothic"/>
                <a:ea typeface="Franklin Gothic"/>
                <a:cs typeface="Franklin Gothic"/>
                <a:sym typeface="Franklin Gothic"/>
              </a:defRPr>
            </a:lvl3pPr>
            <a:lvl4pPr marL="1828800" marR="0" lvl="3" indent="-330200" algn="l" rtl="0">
              <a:lnSpc>
                <a:spcPct val="90000"/>
              </a:lnSpc>
              <a:spcBef>
                <a:spcPts val="500"/>
              </a:spcBef>
              <a:spcAft>
                <a:spcPts val="0"/>
              </a:spcAft>
              <a:buClr>
                <a:schemeClr val="dk2"/>
              </a:buClr>
              <a:buSzPts val="1600"/>
              <a:buFont typeface="Franklin Gothic"/>
              <a:buChar char="•"/>
              <a:defRPr sz="1600" i="0" u="none" strike="noStrike" cap="none">
                <a:solidFill>
                  <a:schemeClr val="dk2"/>
                </a:solidFill>
                <a:latin typeface="Franklin Gothic"/>
                <a:ea typeface="Franklin Gothic"/>
                <a:cs typeface="Franklin Gothic"/>
                <a:sym typeface="Franklin Gothic"/>
              </a:defRPr>
            </a:lvl4pPr>
            <a:lvl5pPr marL="2286000" marR="0" lvl="4" indent="-317500" algn="l" rtl="0">
              <a:lnSpc>
                <a:spcPct val="90000"/>
              </a:lnSpc>
              <a:spcBef>
                <a:spcPts val="500"/>
              </a:spcBef>
              <a:spcAft>
                <a:spcPts val="0"/>
              </a:spcAft>
              <a:buClr>
                <a:schemeClr val="dk2"/>
              </a:buClr>
              <a:buSzPts val="1400"/>
              <a:buFont typeface="Franklin Gothic"/>
              <a:buChar char="•"/>
              <a:defRPr i="0" u="none" strike="noStrike" cap="none">
                <a:solidFill>
                  <a:schemeClr val="dk2"/>
                </a:solidFill>
                <a:latin typeface="Franklin Gothic"/>
                <a:ea typeface="Franklin Gothic"/>
                <a:cs typeface="Franklin Gothic"/>
                <a:sym typeface="Franklin Gothic"/>
              </a:defRPr>
            </a:lvl5pPr>
            <a:lvl6pPr marL="2743200" marR="0" lvl="5" indent="-304800" algn="l" rtl="0">
              <a:lnSpc>
                <a:spcPct val="90000"/>
              </a:lnSpc>
              <a:spcBef>
                <a:spcPts val="500"/>
              </a:spcBef>
              <a:spcAft>
                <a:spcPts val="0"/>
              </a:spcAft>
              <a:buClr>
                <a:schemeClr val="dk2"/>
              </a:buClr>
              <a:buSzPts val="1200"/>
              <a:buFont typeface="Franklin Gothic"/>
              <a:buChar char="•"/>
              <a:defRPr sz="1200" i="0" u="none" strike="noStrike" cap="none">
                <a:solidFill>
                  <a:schemeClr val="dk2"/>
                </a:solidFill>
                <a:latin typeface="Franklin Gothic"/>
                <a:ea typeface="Franklin Gothic"/>
                <a:cs typeface="Franklin Gothic"/>
                <a:sym typeface="Franklin Gothic"/>
              </a:defRPr>
            </a:lvl6pPr>
            <a:lvl7pPr marL="3200400" marR="0" lvl="6" indent="-292100" algn="l" rtl="0">
              <a:lnSpc>
                <a:spcPct val="90000"/>
              </a:lnSpc>
              <a:spcBef>
                <a:spcPts val="500"/>
              </a:spcBef>
              <a:spcAft>
                <a:spcPts val="0"/>
              </a:spcAft>
              <a:buClr>
                <a:schemeClr val="dk2"/>
              </a:buClr>
              <a:buSzPts val="1000"/>
              <a:buFont typeface="Franklin Gothic"/>
              <a:buChar char="•"/>
              <a:defRPr sz="1000" i="0" u="none" strike="noStrike" cap="none">
                <a:solidFill>
                  <a:schemeClr val="dk2"/>
                </a:solidFill>
                <a:latin typeface="Franklin Gothic"/>
                <a:ea typeface="Franklin Gothic"/>
                <a:cs typeface="Franklin Gothic"/>
                <a:sym typeface="Franklin Gothic"/>
              </a:defRPr>
            </a:lvl7pPr>
            <a:lvl8pPr marL="3657600" marR="0" lvl="7" indent="-279400" algn="l" rtl="0">
              <a:lnSpc>
                <a:spcPct val="90000"/>
              </a:lnSpc>
              <a:spcBef>
                <a:spcPts val="500"/>
              </a:spcBef>
              <a:spcAft>
                <a:spcPts val="0"/>
              </a:spcAft>
              <a:buClr>
                <a:schemeClr val="dk2"/>
              </a:buClr>
              <a:buSzPts val="800"/>
              <a:buFont typeface="Franklin Gothic"/>
              <a:buChar char="•"/>
              <a:defRPr sz="800" i="0" u="none" strike="noStrike" cap="none">
                <a:solidFill>
                  <a:schemeClr val="dk2"/>
                </a:solidFill>
                <a:latin typeface="Franklin Gothic"/>
                <a:ea typeface="Franklin Gothic"/>
                <a:cs typeface="Franklin Gothic"/>
                <a:sym typeface="Franklin Gothic"/>
              </a:defRPr>
            </a:lvl8pPr>
            <a:lvl9pPr marL="4114800" marR="0" lvl="8" indent="-266700" algn="l" rtl="0">
              <a:lnSpc>
                <a:spcPct val="90000"/>
              </a:lnSpc>
              <a:spcBef>
                <a:spcPts val="500"/>
              </a:spcBef>
              <a:spcAft>
                <a:spcPts val="0"/>
              </a:spcAft>
              <a:buClr>
                <a:schemeClr val="dk2"/>
              </a:buClr>
              <a:buSzPts val="600"/>
              <a:buFont typeface="Franklin Gothic"/>
              <a:buChar char="•"/>
              <a:defRPr sz="600" i="0" u="none" strike="noStrike" cap="none">
                <a:solidFill>
                  <a:schemeClr val="dk2"/>
                </a:solidFill>
                <a:latin typeface="Franklin Gothic"/>
                <a:ea typeface="Franklin Gothic"/>
                <a:cs typeface="Franklin Gothic"/>
                <a:sym typeface="Franklin Gothic"/>
              </a:defRPr>
            </a:lvl9pPr>
          </a:lstStyle>
          <a:p>
            <a:endParaRPr lang="es-ES_tradnl" noProof="0" dirty="0"/>
          </a:p>
        </p:txBody>
      </p:sp>
      <p:sp>
        <p:nvSpPr>
          <p:cNvPr id="9" name="Google Shape;84;p14">
            <a:extLst>
              <a:ext uri="{FF2B5EF4-FFF2-40B4-BE49-F238E27FC236}">
                <a16:creationId xmlns:a16="http://schemas.microsoft.com/office/drawing/2014/main" xmlns="" id="{BB89A5F1-01F7-AA47-B434-101A27DE7BC0}"/>
              </a:ext>
            </a:extLst>
          </p:cNvPr>
          <p:cNvSpPr/>
          <p:nvPr userDrawn="1"/>
        </p:nvSpPr>
        <p:spPr>
          <a:xfrm>
            <a:off x="1372975" y="212725"/>
            <a:ext cx="4806374" cy="813000"/>
          </a:xfrm>
          <a:prstGeom prst="parallelogram">
            <a:avLst>
              <a:gd name="adj" fmla="val 4531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Bebas Neue" panose="020B0606020202050201" pitchFamily="34" charset="77"/>
            </a:endParaRPr>
          </a:p>
        </p:txBody>
      </p:sp>
      <p:sp>
        <p:nvSpPr>
          <p:cNvPr id="10" name="Google Shape;87;p14">
            <a:extLst>
              <a:ext uri="{FF2B5EF4-FFF2-40B4-BE49-F238E27FC236}">
                <a16:creationId xmlns:a16="http://schemas.microsoft.com/office/drawing/2014/main" xmlns="" id="{8DC17925-3C94-8F46-871B-B63E680B4A39}"/>
              </a:ext>
            </a:extLst>
          </p:cNvPr>
          <p:cNvSpPr txBox="1">
            <a:spLocks noGrp="1"/>
          </p:cNvSpPr>
          <p:nvPr>
            <p:ph type="title"/>
          </p:nvPr>
        </p:nvSpPr>
        <p:spPr>
          <a:xfrm>
            <a:off x="1763699" y="212725"/>
            <a:ext cx="4288185" cy="813000"/>
          </a:xfrm>
          <a:prstGeom prst="rect">
            <a:avLst/>
          </a:prstGeom>
          <a:noFill/>
          <a:ln>
            <a:noFill/>
          </a:ln>
        </p:spPr>
        <p:txBody>
          <a:bodyPr spcFirstLastPara="1" wrap="square" lIns="91425" tIns="45700" rIns="91425" bIns="45700" anchor="ctr" anchorCtr="0">
            <a:noAutofit/>
          </a:bodyPr>
          <a:lstStyle>
            <a:lvl1pPr lvl="0" algn="l" rtl="0">
              <a:lnSpc>
                <a:spcPct val="90000"/>
              </a:lnSpc>
              <a:spcBef>
                <a:spcPts val="0"/>
              </a:spcBef>
              <a:spcAft>
                <a:spcPts val="0"/>
              </a:spcAft>
              <a:buClr>
                <a:srgbClr val="818990"/>
              </a:buClr>
              <a:buSzPts val="1800"/>
              <a:buNone/>
              <a:defRPr>
                <a:latin typeface="Calibri" panose="020F0502020204030204" pitchFamily="34" charset="0"/>
                <a:cs typeface="Calibri" panose="020F0502020204030204" pitchFamily="34" charset="0"/>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lang="es-ES_tradnl" noProof="0" dirty="0"/>
          </a:p>
        </p:txBody>
      </p:sp>
      <p:sp>
        <p:nvSpPr>
          <p:cNvPr id="11" name="Google Shape;7;p1">
            <a:extLst>
              <a:ext uri="{FF2B5EF4-FFF2-40B4-BE49-F238E27FC236}">
                <a16:creationId xmlns:a16="http://schemas.microsoft.com/office/drawing/2014/main" xmlns="" id="{3C188FE6-8EF7-F044-9027-21CDC308C75A}"/>
              </a:ext>
            </a:extLst>
          </p:cNvPr>
          <p:cNvSpPr txBox="1">
            <a:spLocks/>
          </p:cNvSpPr>
          <p:nvPr userDrawn="1"/>
        </p:nvSpPr>
        <p:spPr>
          <a:xfrm>
            <a:off x="6915150" y="6356351"/>
            <a:ext cx="2057400" cy="3651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1pPr>
            <a:lvl2pPr marL="0" marR="0" lvl="1"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2pPr>
            <a:lvl3pPr marL="0" marR="0" lvl="2"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3pPr>
            <a:lvl4pPr marL="0" marR="0" lvl="3"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4pPr>
            <a:lvl5pPr marL="0" marR="0" lvl="4"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5pPr>
            <a:lvl6pPr marL="0" marR="0" lvl="5"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6pPr>
            <a:lvl7pPr marL="0" marR="0" lvl="6"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7pPr>
            <a:lvl8pPr marL="0" marR="0" lvl="7"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8pPr>
            <a:lvl9pPr marL="0" marR="0" lvl="8"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9pPr>
          </a:lstStyle>
          <a:p>
            <a:fld id="{00000000-1234-1234-1234-123412341234}"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seño personalizado">
    <p:bg>
      <p:bgPr>
        <a:solidFill>
          <a:schemeClr val="bg2"/>
        </a:solidFill>
        <a:effectLst/>
      </p:bgPr>
    </p:bg>
    <p:spTree>
      <p:nvGrpSpPr>
        <p:cNvPr id="1" name=""/>
        <p:cNvGrpSpPr/>
        <p:nvPr/>
      </p:nvGrpSpPr>
      <p:grpSpPr>
        <a:xfrm>
          <a:off x="0" y="0"/>
          <a:ext cx="0" cy="0"/>
          <a:chOff x="0" y="0"/>
          <a:chExt cx="0" cy="0"/>
        </a:xfrm>
      </p:grpSpPr>
      <p:sp>
        <p:nvSpPr>
          <p:cNvPr id="5" name="Marcador de texto 4">
            <a:extLst>
              <a:ext uri="{FF2B5EF4-FFF2-40B4-BE49-F238E27FC236}">
                <a16:creationId xmlns:a16="http://schemas.microsoft.com/office/drawing/2014/main" xmlns="" id="{EC7D9485-9D22-5647-86A2-61337F2EBDAC}"/>
              </a:ext>
            </a:extLst>
          </p:cNvPr>
          <p:cNvSpPr>
            <a:spLocks noGrp="1"/>
          </p:cNvSpPr>
          <p:nvPr>
            <p:ph type="body" sz="quarter" idx="11"/>
          </p:nvPr>
        </p:nvSpPr>
        <p:spPr>
          <a:xfrm>
            <a:off x="560387" y="2634922"/>
            <a:ext cx="8023225" cy="2275770"/>
          </a:xfrm>
          <a:prstGeom prst="rect">
            <a:avLst/>
          </a:prstGeom>
        </p:spPr>
        <p:txBody>
          <a:bodyPr anchor="ctr"/>
          <a:lstStyle>
            <a:lvl1pPr marL="50800" indent="0" algn="ctr">
              <a:buNone/>
              <a:defRPr sz="4000">
                <a:solidFill>
                  <a:schemeClr val="bg1"/>
                </a:solidFill>
                <a:latin typeface="Calibri" panose="020F0502020204030204" pitchFamily="34" charset="0"/>
                <a:cs typeface="Calibri" panose="020F0502020204030204" pitchFamily="34" charset="0"/>
              </a:defRPr>
            </a:lvl1pPr>
          </a:lstStyle>
          <a:p>
            <a:pPr lvl="0"/>
            <a:endParaRPr lang="es-ES_tradnl" dirty="0"/>
          </a:p>
        </p:txBody>
      </p:sp>
      <p:pic>
        <p:nvPicPr>
          <p:cNvPr id="6" name="Google Shape;12;p2">
            <a:extLst>
              <a:ext uri="{FF2B5EF4-FFF2-40B4-BE49-F238E27FC236}">
                <a16:creationId xmlns:a16="http://schemas.microsoft.com/office/drawing/2014/main" xmlns="" id="{0D343A73-BC54-BF4C-A259-A0C913A07BC0}"/>
              </a:ext>
            </a:extLst>
          </p:cNvPr>
          <p:cNvPicPr preferRelativeResize="0"/>
          <p:nvPr userDrawn="1"/>
        </p:nvPicPr>
        <p:blipFill rotWithShape="1">
          <a:blip r:embed="rId2">
            <a:alphaModFix/>
          </a:blip>
          <a:srcRect/>
          <a:stretch/>
        </p:blipFill>
        <p:spPr>
          <a:xfrm>
            <a:off x="6179349" y="392750"/>
            <a:ext cx="2759037" cy="459625"/>
          </a:xfrm>
          <a:prstGeom prst="rect">
            <a:avLst/>
          </a:prstGeom>
          <a:noFill/>
          <a:ln>
            <a:noFill/>
          </a:ln>
        </p:spPr>
      </p:pic>
      <p:sp>
        <p:nvSpPr>
          <p:cNvPr id="10" name="Marcador de texto 4">
            <a:extLst>
              <a:ext uri="{FF2B5EF4-FFF2-40B4-BE49-F238E27FC236}">
                <a16:creationId xmlns:a16="http://schemas.microsoft.com/office/drawing/2014/main" xmlns="" id="{A2F63D34-FBAE-5442-A997-D0933D828667}"/>
              </a:ext>
            </a:extLst>
          </p:cNvPr>
          <p:cNvSpPr>
            <a:spLocks noGrp="1"/>
          </p:cNvSpPr>
          <p:nvPr>
            <p:ph type="body" sz="quarter" idx="12"/>
          </p:nvPr>
        </p:nvSpPr>
        <p:spPr>
          <a:xfrm>
            <a:off x="560387" y="1632286"/>
            <a:ext cx="8023225" cy="665749"/>
          </a:xfrm>
          <a:prstGeom prst="rect">
            <a:avLst/>
          </a:prstGeom>
          <a:solidFill>
            <a:schemeClr val="accent1"/>
          </a:solidFill>
        </p:spPr>
        <p:txBody>
          <a:bodyPr/>
          <a:lstStyle>
            <a:lvl1pPr marL="50800" indent="0" algn="ctr">
              <a:buNone/>
              <a:defRPr sz="2800">
                <a:solidFill>
                  <a:schemeClr val="bg1"/>
                </a:solidFill>
                <a:latin typeface="Calibri" panose="020F0502020204030204" pitchFamily="34" charset="0"/>
                <a:cs typeface="Calibri" panose="020F0502020204030204" pitchFamily="34" charset="0"/>
              </a:defRPr>
            </a:lvl1pPr>
          </a:lstStyle>
          <a:p>
            <a:pPr lvl="0"/>
            <a:endParaRPr lang="es-ES_tradnl" dirty="0"/>
          </a:p>
        </p:txBody>
      </p:sp>
      <p:sp>
        <p:nvSpPr>
          <p:cNvPr id="11" name="Google Shape;165;p24">
            <a:extLst>
              <a:ext uri="{FF2B5EF4-FFF2-40B4-BE49-F238E27FC236}">
                <a16:creationId xmlns:a16="http://schemas.microsoft.com/office/drawing/2014/main" xmlns="" id="{ED241A5B-D2F8-1D45-8F9D-D1D4B48E7814}"/>
              </a:ext>
            </a:extLst>
          </p:cNvPr>
          <p:cNvSpPr/>
          <p:nvPr userDrawn="1"/>
        </p:nvSpPr>
        <p:spPr>
          <a:xfrm>
            <a:off x="770850" y="212725"/>
            <a:ext cx="903600" cy="813000"/>
          </a:xfrm>
          <a:prstGeom prst="parallelogram">
            <a:avLst>
              <a:gd name="adj" fmla="val 45310"/>
            </a:avLst>
          </a:prstGeom>
          <a:solidFill>
            <a:schemeClr val="bg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66;p24">
            <a:extLst>
              <a:ext uri="{FF2B5EF4-FFF2-40B4-BE49-F238E27FC236}">
                <a16:creationId xmlns:a16="http://schemas.microsoft.com/office/drawing/2014/main" xmlns="" id="{990F690A-789C-6740-B34D-11153A9BBDDB}"/>
              </a:ext>
            </a:extLst>
          </p:cNvPr>
          <p:cNvSpPr/>
          <p:nvPr userDrawn="1"/>
        </p:nvSpPr>
        <p:spPr>
          <a:xfrm>
            <a:off x="146422" y="212725"/>
            <a:ext cx="903600" cy="813000"/>
          </a:xfrm>
          <a:prstGeom prst="parallelogram">
            <a:avLst>
              <a:gd name="adj" fmla="val 45310"/>
            </a:avLst>
          </a:prstGeom>
          <a:gradFill>
            <a:gsLst>
              <a:gs pos="0">
                <a:schemeClr val="bg2"/>
              </a:gs>
              <a:gs pos="65000">
                <a:schemeClr val="bg1"/>
              </a:gs>
              <a:gs pos="100000">
                <a:schemeClr val="bg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84;p14">
            <a:extLst>
              <a:ext uri="{FF2B5EF4-FFF2-40B4-BE49-F238E27FC236}">
                <a16:creationId xmlns:a16="http://schemas.microsoft.com/office/drawing/2014/main" xmlns="" id="{7FF938C0-C0B1-8543-A7DC-F3B0AA5BE94F}"/>
              </a:ext>
            </a:extLst>
          </p:cNvPr>
          <p:cNvSpPr/>
          <p:nvPr userDrawn="1"/>
        </p:nvSpPr>
        <p:spPr>
          <a:xfrm>
            <a:off x="1372975" y="212725"/>
            <a:ext cx="4806374" cy="813000"/>
          </a:xfrm>
          <a:prstGeom prst="parallelogram">
            <a:avLst>
              <a:gd name="adj" fmla="val 45310"/>
            </a:avLst>
          </a:prstGeom>
          <a:solidFill>
            <a:schemeClr val="bg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CL" dirty="0">
              <a:latin typeface="Bebas Neue" panose="020B0606020202050201" pitchFamily="34" charset="77"/>
            </a:endParaRPr>
          </a:p>
        </p:txBody>
      </p:sp>
      <p:sp>
        <p:nvSpPr>
          <p:cNvPr id="15" name="Google Shape;87;p14">
            <a:extLst>
              <a:ext uri="{FF2B5EF4-FFF2-40B4-BE49-F238E27FC236}">
                <a16:creationId xmlns:a16="http://schemas.microsoft.com/office/drawing/2014/main" xmlns="" id="{D9228F07-B61E-0645-862B-247F10F5B15E}"/>
              </a:ext>
            </a:extLst>
          </p:cNvPr>
          <p:cNvSpPr txBox="1">
            <a:spLocks noGrp="1"/>
          </p:cNvSpPr>
          <p:nvPr>
            <p:ph type="title"/>
          </p:nvPr>
        </p:nvSpPr>
        <p:spPr>
          <a:xfrm>
            <a:off x="1763699" y="212725"/>
            <a:ext cx="4288185" cy="813000"/>
          </a:xfrm>
          <a:prstGeom prst="rect">
            <a:avLst/>
          </a:prstGeom>
          <a:noFill/>
          <a:ln>
            <a:noFill/>
          </a:ln>
        </p:spPr>
        <p:txBody>
          <a:bodyPr spcFirstLastPara="1" wrap="square" lIns="91425" tIns="45700" rIns="91425" bIns="45700" anchor="ctr" anchorCtr="0">
            <a:noAutofit/>
          </a:bodyPr>
          <a:lstStyle>
            <a:lvl1pPr lvl="0" algn="l" rtl="0">
              <a:lnSpc>
                <a:spcPct val="90000"/>
              </a:lnSpc>
              <a:spcBef>
                <a:spcPts val="0"/>
              </a:spcBef>
              <a:spcAft>
                <a:spcPts val="0"/>
              </a:spcAft>
              <a:buClr>
                <a:srgbClr val="818990"/>
              </a:buClr>
              <a:buSzPts val="1800"/>
              <a:buNone/>
              <a:defRPr>
                <a:solidFill>
                  <a:schemeClr val="accent1"/>
                </a:solidFill>
                <a:latin typeface="Calibri" panose="020F0502020204030204" pitchFamily="34" charset="0"/>
                <a:cs typeface="Calibri" panose="020F0502020204030204" pitchFamily="34" charset="0"/>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lang="es-CL" dirty="0"/>
          </a:p>
        </p:txBody>
      </p:sp>
    </p:spTree>
    <p:extLst>
      <p:ext uri="{BB962C8B-B14F-4D97-AF65-F5344CB8AC3E}">
        <p14:creationId xmlns:p14="http://schemas.microsoft.com/office/powerpoint/2010/main" val="3594575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En blanco" type="blank" preserve="1">
  <p:cSld name="1_En blanco">
    <p:spTree>
      <p:nvGrpSpPr>
        <p:cNvPr id="1" name="Shape 205"/>
        <p:cNvGrpSpPr/>
        <p:nvPr/>
      </p:nvGrpSpPr>
      <p:grpSpPr>
        <a:xfrm>
          <a:off x="0" y="0"/>
          <a:ext cx="0" cy="0"/>
          <a:chOff x="0" y="0"/>
          <a:chExt cx="0" cy="0"/>
        </a:xfrm>
      </p:grpSpPr>
      <p:sp>
        <p:nvSpPr>
          <p:cNvPr id="4" name="Google Shape;7;p1">
            <a:extLst>
              <a:ext uri="{FF2B5EF4-FFF2-40B4-BE49-F238E27FC236}">
                <a16:creationId xmlns:a16="http://schemas.microsoft.com/office/drawing/2014/main" xmlns="" id="{FCAE1A83-104E-8B4E-949F-BE3A9ADE6BA0}"/>
              </a:ext>
            </a:extLst>
          </p:cNvPr>
          <p:cNvSpPr txBox="1">
            <a:spLocks/>
          </p:cNvSpPr>
          <p:nvPr userDrawn="1"/>
        </p:nvSpPr>
        <p:spPr>
          <a:xfrm>
            <a:off x="6915150" y="6356351"/>
            <a:ext cx="2057400" cy="3651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1pPr>
            <a:lvl2pPr marL="0" marR="0" lvl="1"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2pPr>
            <a:lvl3pPr marL="0" marR="0" lvl="2"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3pPr>
            <a:lvl4pPr marL="0" marR="0" lvl="3"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4pPr>
            <a:lvl5pPr marL="0" marR="0" lvl="4"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5pPr>
            <a:lvl6pPr marL="0" marR="0" lvl="5"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6pPr>
            <a:lvl7pPr marL="0" marR="0" lvl="6"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7pPr>
            <a:lvl8pPr marL="0" marR="0" lvl="7"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8pPr>
            <a:lvl9pPr marL="0" marR="0" lvl="8"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9pPr>
          </a:lstStyle>
          <a:p>
            <a:fld id="{00000000-1234-1234-1234-123412341234}" type="slidenum">
              <a:rPr lang="en-US" smtClean="0"/>
              <a:pPr/>
              <a:t>‹Nº›</a:t>
            </a:fld>
            <a:endParaRPr lang="en-US"/>
          </a:p>
        </p:txBody>
      </p:sp>
    </p:spTree>
    <p:extLst>
      <p:ext uri="{BB962C8B-B14F-4D97-AF65-F5344CB8AC3E}">
        <p14:creationId xmlns:p14="http://schemas.microsoft.com/office/powerpoint/2010/main" val="9778142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Encabezado de sección 2">
  <p:cSld name="Encabezado de sección 2">
    <p:bg>
      <p:bgPr>
        <a:solidFill>
          <a:schemeClr val="accent1"/>
        </a:solidFill>
        <a:effectLst/>
      </p:bgPr>
    </p:bg>
    <p:spTree>
      <p:nvGrpSpPr>
        <p:cNvPr id="1" name="Shape 22"/>
        <p:cNvGrpSpPr/>
        <p:nvPr/>
      </p:nvGrpSpPr>
      <p:grpSpPr>
        <a:xfrm>
          <a:off x="0" y="0"/>
          <a:ext cx="0" cy="0"/>
          <a:chOff x="0" y="0"/>
          <a:chExt cx="0" cy="0"/>
        </a:xfrm>
      </p:grpSpPr>
      <p:grpSp>
        <p:nvGrpSpPr>
          <p:cNvPr id="23" name="Google Shape;23;p4"/>
          <p:cNvGrpSpPr/>
          <p:nvPr/>
        </p:nvGrpSpPr>
        <p:grpSpPr>
          <a:xfrm>
            <a:off x="0" y="-124"/>
            <a:ext cx="4853665" cy="5740374"/>
            <a:chOff x="0" y="-126"/>
            <a:chExt cx="4554438" cy="5386482"/>
          </a:xfrm>
        </p:grpSpPr>
        <p:sp>
          <p:nvSpPr>
            <p:cNvPr id="24" name="Google Shape;24;p4"/>
            <p:cNvSpPr/>
            <p:nvPr/>
          </p:nvSpPr>
          <p:spPr>
            <a:xfrm rot="10800000" flipH="1">
              <a:off x="0" y="-126"/>
              <a:ext cx="4554438" cy="5386482"/>
            </a:xfrm>
            <a:custGeom>
              <a:avLst/>
              <a:gdLst/>
              <a:ahLst/>
              <a:cxnLst/>
              <a:rect l="l" t="t" r="r" b="b"/>
              <a:pathLst>
                <a:path w="5389868" h="6374535" extrusionOk="0">
                  <a:moveTo>
                    <a:pt x="620377" y="6374535"/>
                  </a:moveTo>
                  <a:lnTo>
                    <a:pt x="3459520" y="6374535"/>
                  </a:lnTo>
                  <a:lnTo>
                    <a:pt x="3638761" y="6288190"/>
                  </a:lnTo>
                  <a:cubicBezTo>
                    <a:pt x="4681799" y="5721578"/>
                    <a:pt x="5389868" y="4616487"/>
                    <a:pt x="5389868" y="3346018"/>
                  </a:cubicBezTo>
                  <a:cubicBezTo>
                    <a:pt x="5389868" y="1498063"/>
                    <a:pt x="3891805" y="0"/>
                    <a:pt x="2043850" y="0"/>
                  </a:cubicBezTo>
                  <a:cubicBezTo>
                    <a:pt x="1336430" y="0"/>
                    <a:pt x="680285" y="219535"/>
                    <a:pt x="139826" y="594192"/>
                  </a:cubicBezTo>
                  <a:lnTo>
                    <a:pt x="0" y="700065"/>
                  </a:lnTo>
                  <a:lnTo>
                    <a:pt x="0" y="5991971"/>
                  </a:lnTo>
                  <a:lnTo>
                    <a:pt x="139827" y="6097845"/>
                  </a:lnTo>
                  <a:cubicBezTo>
                    <a:pt x="217035" y="6151367"/>
                    <a:pt x="296605" y="6201724"/>
                    <a:pt x="378347" y="6248727"/>
                  </a:cubicBezTo>
                  <a:close/>
                </a:path>
              </a:pathLst>
            </a:custGeom>
            <a:solidFill>
              <a:srgbClr val="FFFFFF">
                <a:alpha val="8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b="0" i="0" u="none" strike="noStrike" cap="none">
                <a:solidFill>
                  <a:srgbClr val="FFFFFF"/>
                </a:solidFill>
                <a:latin typeface="Calibri"/>
                <a:ea typeface="Calibri"/>
                <a:cs typeface="Calibri"/>
                <a:sym typeface="Calibri"/>
              </a:endParaRPr>
            </a:p>
          </p:txBody>
        </p:sp>
        <p:pic>
          <p:nvPicPr>
            <p:cNvPr id="25" name="Google Shape;25;p4" descr="Imagen que contiene persona, foto, hombre, mujer&#10;&#10;Descripción generada automáticamente"/>
            <p:cNvPicPr preferRelativeResize="0"/>
            <p:nvPr/>
          </p:nvPicPr>
          <p:blipFill rotWithShape="1">
            <a:blip r:embed="rId2">
              <a:alphaModFix/>
            </a:blip>
            <a:srcRect r="16352"/>
            <a:stretch/>
          </p:blipFill>
          <p:spPr>
            <a:xfrm>
              <a:off x="1" y="-1"/>
              <a:ext cx="4423169" cy="5247982"/>
            </a:xfrm>
            <a:custGeom>
              <a:avLst/>
              <a:gdLst/>
              <a:ahLst/>
              <a:cxnLst/>
              <a:rect l="l" t="t" r="r" b="b"/>
              <a:pathLst>
                <a:path w="5234519" h="6210629" extrusionOk="0">
                  <a:moveTo>
                    <a:pt x="1082595" y="0"/>
                  </a:moveTo>
                  <a:lnTo>
                    <a:pt x="3027450" y="0"/>
                  </a:lnTo>
                  <a:lnTo>
                    <a:pt x="3291029" y="96471"/>
                  </a:lnTo>
                  <a:cubicBezTo>
                    <a:pt x="4433137" y="579542"/>
                    <a:pt x="5234519" y="1710443"/>
                    <a:pt x="5234519" y="3028517"/>
                  </a:cubicBezTo>
                  <a:cubicBezTo>
                    <a:pt x="5234519" y="4785949"/>
                    <a:pt x="3809839" y="6210629"/>
                    <a:pt x="2052407" y="6210629"/>
                  </a:cubicBezTo>
                  <a:cubicBezTo>
                    <a:pt x="1283531" y="6210629"/>
                    <a:pt x="578345" y="5937936"/>
                    <a:pt x="28288" y="5483989"/>
                  </a:cubicBezTo>
                  <a:lnTo>
                    <a:pt x="0" y="5458279"/>
                  </a:lnTo>
                  <a:lnTo>
                    <a:pt x="0" y="598754"/>
                  </a:lnTo>
                  <a:lnTo>
                    <a:pt x="28288" y="573044"/>
                  </a:lnTo>
                  <a:cubicBezTo>
                    <a:pt x="303317" y="346070"/>
                    <a:pt x="617127" y="164410"/>
                    <a:pt x="958290" y="39494"/>
                  </a:cubicBezTo>
                  <a:close/>
                </a:path>
              </a:pathLst>
            </a:custGeom>
            <a:noFill/>
            <a:ln>
              <a:noFill/>
            </a:ln>
          </p:spPr>
        </p:pic>
      </p:grpSp>
      <p:sp>
        <p:nvSpPr>
          <p:cNvPr id="26" name="Google Shape;26;p4"/>
          <p:cNvSpPr txBox="1">
            <a:spLocks noGrp="1"/>
          </p:cNvSpPr>
          <p:nvPr>
            <p:ph type="title"/>
          </p:nvPr>
        </p:nvSpPr>
        <p:spPr>
          <a:xfrm>
            <a:off x="3004575" y="3476150"/>
            <a:ext cx="5995800" cy="1603200"/>
          </a:xfrm>
          <a:prstGeom prst="rect">
            <a:avLst/>
          </a:prstGeom>
          <a:solidFill>
            <a:srgbClr val="898B90">
              <a:alpha val="68300"/>
            </a:srgbClr>
          </a:solidFill>
          <a:ln>
            <a:noFill/>
          </a:ln>
        </p:spPr>
        <p:txBody>
          <a:bodyPr spcFirstLastPara="1" wrap="square" lIns="91425" tIns="45700" rIns="91425" bIns="45700" anchor="t" anchorCtr="0">
            <a:noAutofit/>
          </a:bodyPr>
          <a:lstStyle>
            <a:lvl1pPr lvl="0" algn="r" rtl="0">
              <a:spcBef>
                <a:spcPts val="0"/>
              </a:spcBef>
              <a:spcAft>
                <a:spcPts val="0"/>
              </a:spcAft>
              <a:buNone/>
              <a:defRPr sz="5400">
                <a:latin typeface="Calibri" panose="020F0502020204030204" pitchFamily="34" charset="0"/>
                <a:cs typeface="Calibri" panose="020F0502020204030204" pitchFamily="34" charset="0"/>
              </a:defRPr>
            </a:lvl1pPr>
            <a:lvl2pPr lvl="1" algn="r" rtl="0">
              <a:spcBef>
                <a:spcPts val="0"/>
              </a:spcBef>
              <a:spcAft>
                <a:spcPts val="0"/>
              </a:spcAft>
              <a:buNone/>
              <a:defRPr sz="5400"/>
            </a:lvl2pPr>
            <a:lvl3pPr lvl="2" algn="r" rtl="0">
              <a:spcBef>
                <a:spcPts val="0"/>
              </a:spcBef>
              <a:spcAft>
                <a:spcPts val="0"/>
              </a:spcAft>
              <a:buNone/>
              <a:defRPr sz="5400"/>
            </a:lvl3pPr>
            <a:lvl4pPr lvl="3" algn="r" rtl="0">
              <a:spcBef>
                <a:spcPts val="0"/>
              </a:spcBef>
              <a:spcAft>
                <a:spcPts val="0"/>
              </a:spcAft>
              <a:buNone/>
              <a:defRPr sz="5400"/>
            </a:lvl4pPr>
            <a:lvl5pPr lvl="4" algn="r" rtl="0">
              <a:spcBef>
                <a:spcPts val="0"/>
              </a:spcBef>
              <a:spcAft>
                <a:spcPts val="0"/>
              </a:spcAft>
              <a:buNone/>
              <a:defRPr sz="5400"/>
            </a:lvl5pPr>
            <a:lvl6pPr lvl="5" algn="r" rtl="0">
              <a:spcBef>
                <a:spcPts val="0"/>
              </a:spcBef>
              <a:spcAft>
                <a:spcPts val="0"/>
              </a:spcAft>
              <a:buNone/>
              <a:defRPr sz="5400"/>
            </a:lvl6pPr>
            <a:lvl7pPr lvl="6" algn="r" rtl="0">
              <a:spcBef>
                <a:spcPts val="0"/>
              </a:spcBef>
              <a:spcAft>
                <a:spcPts val="0"/>
              </a:spcAft>
              <a:buNone/>
              <a:defRPr sz="5400"/>
            </a:lvl7pPr>
            <a:lvl8pPr lvl="7" algn="r" rtl="0">
              <a:spcBef>
                <a:spcPts val="0"/>
              </a:spcBef>
              <a:spcAft>
                <a:spcPts val="0"/>
              </a:spcAft>
              <a:buNone/>
              <a:defRPr sz="5400"/>
            </a:lvl8pPr>
            <a:lvl9pPr lvl="8" algn="r" rtl="0">
              <a:spcBef>
                <a:spcPts val="0"/>
              </a:spcBef>
              <a:spcAft>
                <a:spcPts val="0"/>
              </a:spcAft>
              <a:buNone/>
              <a:defRPr sz="5400"/>
            </a:lvl9pPr>
          </a:lstStyle>
          <a:p>
            <a:endParaRPr lang="es-ES_tradnl" noProof="0" dirty="0"/>
          </a:p>
        </p:txBody>
      </p:sp>
      <p:pic>
        <p:nvPicPr>
          <p:cNvPr id="27" name="Google Shape;27;p4"/>
          <p:cNvPicPr preferRelativeResize="0"/>
          <p:nvPr/>
        </p:nvPicPr>
        <p:blipFill rotWithShape="1">
          <a:blip r:embed="rId3">
            <a:alphaModFix/>
          </a:blip>
          <a:srcRect/>
          <a:stretch/>
        </p:blipFill>
        <p:spPr>
          <a:xfrm>
            <a:off x="5177307" y="186298"/>
            <a:ext cx="3812148" cy="601304"/>
          </a:xfrm>
          <a:prstGeom prst="rect">
            <a:avLst/>
          </a:prstGeom>
          <a:noFill/>
          <a:ln>
            <a:noFill/>
          </a:ln>
        </p:spPr>
      </p:pic>
    </p:spTree>
    <p:extLst>
      <p:ext uri="{BB962C8B-B14F-4D97-AF65-F5344CB8AC3E}">
        <p14:creationId xmlns:p14="http://schemas.microsoft.com/office/powerpoint/2010/main" val="22028962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body" idx="1"/>
          </p:nvPr>
        </p:nvSpPr>
        <p:spPr>
          <a:xfrm>
            <a:off x="294150" y="1218600"/>
            <a:ext cx="8555700" cy="5137800"/>
          </a:xfrm>
          <a:prstGeom prst="rect">
            <a:avLst/>
          </a:prstGeom>
          <a:noFill/>
          <a:ln>
            <a:noFill/>
          </a:ln>
        </p:spPr>
        <p:txBody>
          <a:bodyPr spcFirstLastPara="1" wrap="square" lIns="90000" tIns="45700" rIns="91425" bIns="45700" anchor="t" anchorCtr="0">
            <a:noAutofit/>
          </a:bodyPr>
          <a:lstStyle>
            <a:lvl1pPr marL="457200" marR="0" lvl="0" indent="-406400" algn="l" rtl="0">
              <a:lnSpc>
                <a:spcPct val="90000"/>
              </a:lnSpc>
              <a:spcBef>
                <a:spcPts val="1000"/>
              </a:spcBef>
              <a:spcAft>
                <a:spcPts val="0"/>
              </a:spcAft>
              <a:buClr>
                <a:srgbClr val="DE3075"/>
              </a:buClr>
              <a:buSzPts val="2800"/>
              <a:buFont typeface="Franklin Gothic"/>
              <a:buChar char="»"/>
              <a:defRPr sz="2400" i="0" u="none" strike="noStrike" cap="none">
                <a:solidFill>
                  <a:srgbClr val="818990"/>
                </a:solidFill>
                <a:latin typeface="Franklin Gothic"/>
                <a:ea typeface="Franklin Gothic"/>
                <a:cs typeface="Franklin Gothic"/>
                <a:sym typeface="Franklin Gothic"/>
              </a:defRPr>
            </a:lvl1pPr>
            <a:lvl2pPr marL="914400" marR="0" lvl="1" indent="-381000" algn="l" rtl="0">
              <a:lnSpc>
                <a:spcPct val="90000"/>
              </a:lnSpc>
              <a:spcBef>
                <a:spcPts val="500"/>
              </a:spcBef>
              <a:spcAft>
                <a:spcPts val="0"/>
              </a:spcAft>
              <a:buClr>
                <a:schemeClr val="accent2"/>
              </a:buClr>
              <a:buSzPts val="2400"/>
              <a:buFont typeface="Franklin Gothic"/>
              <a:buChar char="•"/>
              <a:defRPr sz="2000" i="0" u="none" strike="noStrike" cap="none">
                <a:solidFill>
                  <a:srgbClr val="818990"/>
                </a:solidFill>
                <a:latin typeface="Franklin Gothic"/>
                <a:ea typeface="Franklin Gothic"/>
                <a:cs typeface="Franklin Gothic"/>
                <a:sym typeface="Franklin Gothic"/>
              </a:defRPr>
            </a:lvl2pPr>
            <a:lvl3pPr marL="1371600" marR="0" lvl="2" indent="-342900" algn="l" rtl="0">
              <a:lnSpc>
                <a:spcPct val="90000"/>
              </a:lnSpc>
              <a:spcBef>
                <a:spcPts val="500"/>
              </a:spcBef>
              <a:spcAft>
                <a:spcPts val="0"/>
              </a:spcAft>
              <a:buClr>
                <a:schemeClr val="dk2"/>
              </a:buClr>
              <a:buSzPts val="1800"/>
              <a:buFont typeface="Franklin Gothic"/>
              <a:buChar char="○"/>
              <a:defRPr sz="1800" i="0" u="none" strike="noStrike" cap="none">
                <a:solidFill>
                  <a:schemeClr val="dk2"/>
                </a:solidFill>
                <a:latin typeface="Franklin Gothic"/>
                <a:ea typeface="Franklin Gothic"/>
                <a:cs typeface="Franklin Gothic"/>
                <a:sym typeface="Franklin Gothic"/>
              </a:defRPr>
            </a:lvl3pPr>
            <a:lvl4pPr marL="1828800" marR="0" lvl="3" indent="-330200" algn="l" rtl="0">
              <a:lnSpc>
                <a:spcPct val="90000"/>
              </a:lnSpc>
              <a:spcBef>
                <a:spcPts val="500"/>
              </a:spcBef>
              <a:spcAft>
                <a:spcPts val="0"/>
              </a:spcAft>
              <a:buClr>
                <a:schemeClr val="dk2"/>
              </a:buClr>
              <a:buSzPts val="1600"/>
              <a:buFont typeface="Franklin Gothic"/>
              <a:buChar char="•"/>
              <a:defRPr sz="1600" i="0" u="none" strike="noStrike" cap="none">
                <a:solidFill>
                  <a:schemeClr val="dk2"/>
                </a:solidFill>
                <a:latin typeface="Franklin Gothic"/>
                <a:ea typeface="Franklin Gothic"/>
                <a:cs typeface="Franklin Gothic"/>
                <a:sym typeface="Franklin Gothic"/>
              </a:defRPr>
            </a:lvl4pPr>
            <a:lvl5pPr marL="2286000" marR="0" lvl="4" indent="-317500" algn="l" rtl="0">
              <a:lnSpc>
                <a:spcPct val="90000"/>
              </a:lnSpc>
              <a:spcBef>
                <a:spcPts val="500"/>
              </a:spcBef>
              <a:spcAft>
                <a:spcPts val="0"/>
              </a:spcAft>
              <a:buClr>
                <a:schemeClr val="dk2"/>
              </a:buClr>
              <a:buSzPts val="1400"/>
              <a:buFont typeface="Franklin Gothic"/>
              <a:buChar char="•"/>
              <a:defRPr i="0" u="none" strike="noStrike" cap="none">
                <a:solidFill>
                  <a:schemeClr val="dk2"/>
                </a:solidFill>
                <a:latin typeface="Franklin Gothic"/>
                <a:ea typeface="Franklin Gothic"/>
                <a:cs typeface="Franklin Gothic"/>
                <a:sym typeface="Franklin Gothic"/>
              </a:defRPr>
            </a:lvl5pPr>
            <a:lvl6pPr marL="2743200" marR="0" lvl="5" indent="-304800" algn="l" rtl="0">
              <a:lnSpc>
                <a:spcPct val="90000"/>
              </a:lnSpc>
              <a:spcBef>
                <a:spcPts val="500"/>
              </a:spcBef>
              <a:spcAft>
                <a:spcPts val="0"/>
              </a:spcAft>
              <a:buClr>
                <a:schemeClr val="dk2"/>
              </a:buClr>
              <a:buSzPts val="1200"/>
              <a:buFont typeface="Franklin Gothic"/>
              <a:buChar char="•"/>
              <a:defRPr sz="1200" i="0" u="none" strike="noStrike" cap="none">
                <a:solidFill>
                  <a:schemeClr val="dk2"/>
                </a:solidFill>
                <a:latin typeface="Franklin Gothic"/>
                <a:ea typeface="Franklin Gothic"/>
                <a:cs typeface="Franklin Gothic"/>
                <a:sym typeface="Franklin Gothic"/>
              </a:defRPr>
            </a:lvl6pPr>
            <a:lvl7pPr marL="3200400" marR="0" lvl="6" indent="-292100" algn="l" rtl="0">
              <a:lnSpc>
                <a:spcPct val="90000"/>
              </a:lnSpc>
              <a:spcBef>
                <a:spcPts val="500"/>
              </a:spcBef>
              <a:spcAft>
                <a:spcPts val="0"/>
              </a:spcAft>
              <a:buClr>
                <a:schemeClr val="dk2"/>
              </a:buClr>
              <a:buSzPts val="1000"/>
              <a:buFont typeface="Franklin Gothic"/>
              <a:buChar char="•"/>
              <a:defRPr sz="1000" i="0" u="none" strike="noStrike" cap="none">
                <a:solidFill>
                  <a:schemeClr val="dk2"/>
                </a:solidFill>
                <a:latin typeface="Franklin Gothic"/>
                <a:ea typeface="Franklin Gothic"/>
                <a:cs typeface="Franklin Gothic"/>
                <a:sym typeface="Franklin Gothic"/>
              </a:defRPr>
            </a:lvl7pPr>
            <a:lvl8pPr marL="3657600" marR="0" lvl="7" indent="-279400" algn="l" rtl="0">
              <a:lnSpc>
                <a:spcPct val="90000"/>
              </a:lnSpc>
              <a:spcBef>
                <a:spcPts val="500"/>
              </a:spcBef>
              <a:spcAft>
                <a:spcPts val="0"/>
              </a:spcAft>
              <a:buClr>
                <a:schemeClr val="dk2"/>
              </a:buClr>
              <a:buSzPts val="800"/>
              <a:buFont typeface="Franklin Gothic"/>
              <a:buChar char="•"/>
              <a:defRPr sz="800" i="0" u="none" strike="noStrike" cap="none">
                <a:solidFill>
                  <a:schemeClr val="dk2"/>
                </a:solidFill>
                <a:latin typeface="Franklin Gothic"/>
                <a:ea typeface="Franklin Gothic"/>
                <a:cs typeface="Franklin Gothic"/>
                <a:sym typeface="Franklin Gothic"/>
              </a:defRPr>
            </a:lvl8pPr>
            <a:lvl9pPr marL="4114800" marR="0" lvl="8" indent="-266700" algn="l" rtl="0">
              <a:lnSpc>
                <a:spcPct val="90000"/>
              </a:lnSpc>
              <a:spcBef>
                <a:spcPts val="500"/>
              </a:spcBef>
              <a:spcAft>
                <a:spcPts val="0"/>
              </a:spcAft>
              <a:buClr>
                <a:schemeClr val="dk2"/>
              </a:buClr>
              <a:buSzPts val="600"/>
              <a:buFont typeface="Franklin Gothic"/>
              <a:buChar char="•"/>
              <a:defRPr sz="600" i="0" u="none" strike="noStrike" cap="none">
                <a:solidFill>
                  <a:schemeClr val="dk2"/>
                </a:solidFill>
                <a:latin typeface="Franklin Gothic"/>
                <a:ea typeface="Franklin Gothic"/>
                <a:cs typeface="Franklin Gothic"/>
                <a:sym typeface="Franklin Gothic"/>
              </a:defRPr>
            </a:lvl9pPr>
          </a:lstStyle>
          <a:p>
            <a:endParaRPr dirty="0"/>
          </a:p>
        </p:txBody>
      </p:sp>
      <p:sp>
        <p:nvSpPr>
          <p:cNvPr id="7" name="Google Shape;7;p1"/>
          <p:cNvSpPr txBox="1">
            <a:spLocks noGrp="1"/>
          </p:cNvSpPr>
          <p:nvPr>
            <p:ph type="sldNum" idx="12"/>
          </p:nvPr>
        </p:nvSpPr>
        <p:spPr>
          <a:xfrm>
            <a:off x="6915150" y="6356351"/>
            <a:ext cx="20574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i="0" u="none" strike="noStrike" cap="none">
                <a:solidFill>
                  <a:srgbClr val="6C7A8A"/>
                </a:solidFill>
                <a:latin typeface="Calibri" panose="020F0502020204030204" pitchFamily="34" charset="0"/>
                <a:ea typeface="Roboto Mono"/>
                <a:cs typeface="Calibri" panose="020F0502020204030204" pitchFamily="34" charset="0"/>
                <a:sym typeface="Roboto Mono"/>
              </a:defRPr>
            </a:lvl1pPr>
            <a:lvl2pPr marL="0" marR="0" lvl="1" indent="0" algn="r" rtl="0">
              <a:spcBef>
                <a:spcPts val="0"/>
              </a:spcBef>
              <a:buNone/>
              <a:defRPr sz="1200" i="0" u="none" strike="noStrike" cap="none">
                <a:solidFill>
                  <a:srgbClr val="6C7A8A"/>
                </a:solidFill>
                <a:latin typeface="Roboto Mono"/>
                <a:ea typeface="Roboto Mono"/>
                <a:cs typeface="Roboto Mono"/>
                <a:sym typeface="Roboto Mono"/>
              </a:defRPr>
            </a:lvl2pPr>
            <a:lvl3pPr marL="0" marR="0" lvl="2" indent="0" algn="r" rtl="0">
              <a:spcBef>
                <a:spcPts val="0"/>
              </a:spcBef>
              <a:buNone/>
              <a:defRPr sz="1200" i="0" u="none" strike="noStrike" cap="none">
                <a:solidFill>
                  <a:srgbClr val="6C7A8A"/>
                </a:solidFill>
                <a:latin typeface="Roboto Mono"/>
                <a:ea typeface="Roboto Mono"/>
                <a:cs typeface="Roboto Mono"/>
                <a:sym typeface="Roboto Mono"/>
              </a:defRPr>
            </a:lvl3pPr>
            <a:lvl4pPr marL="0" marR="0" lvl="3" indent="0" algn="r" rtl="0">
              <a:spcBef>
                <a:spcPts val="0"/>
              </a:spcBef>
              <a:buNone/>
              <a:defRPr sz="1200" i="0" u="none" strike="noStrike" cap="none">
                <a:solidFill>
                  <a:srgbClr val="6C7A8A"/>
                </a:solidFill>
                <a:latin typeface="Roboto Mono"/>
                <a:ea typeface="Roboto Mono"/>
                <a:cs typeface="Roboto Mono"/>
                <a:sym typeface="Roboto Mono"/>
              </a:defRPr>
            </a:lvl4pPr>
            <a:lvl5pPr marL="0" marR="0" lvl="4" indent="0" algn="r" rtl="0">
              <a:spcBef>
                <a:spcPts val="0"/>
              </a:spcBef>
              <a:buNone/>
              <a:defRPr sz="1200" i="0" u="none" strike="noStrike" cap="none">
                <a:solidFill>
                  <a:srgbClr val="6C7A8A"/>
                </a:solidFill>
                <a:latin typeface="Roboto Mono"/>
                <a:ea typeface="Roboto Mono"/>
                <a:cs typeface="Roboto Mono"/>
                <a:sym typeface="Roboto Mono"/>
              </a:defRPr>
            </a:lvl5pPr>
            <a:lvl6pPr marL="0" marR="0" lvl="5" indent="0" algn="r" rtl="0">
              <a:spcBef>
                <a:spcPts val="0"/>
              </a:spcBef>
              <a:buNone/>
              <a:defRPr sz="1200" i="0" u="none" strike="noStrike" cap="none">
                <a:solidFill>
                  <a:srgbClr val="6C7A8A"/>
                </a:solidFill>
                <a:latin typeface="Roboto Mono"/>
                <a:ea typeface="Roboto Mono"/>
                <a:cs typeface="Roboto Mono"/>
                <a:sym typeface="Roboto Mono"/>
              </a:defRPr>
            </a:lvl6pPr>
            <a:lvl7pPr marL="0" marR="0" lvl="6" indent="0" algn="r" rtl="0">
              <a:spcBef>
                <a:spcPts val="0"/>
              </a:spcBef>
              <a:buNone/>
              <a:defRPr sz="1200" i="0" u="none" strike="noStrike" cap="none">
                <a:solidFill>
                  <a:srgbClr val="6C7A8A"/>
                </a:solidFill>
                <a:latin typeface="Roboto Mono"/>
                <a:ea typeface="Roboto Mono"/>
                <a:cs typeface="Roboto Mono"/>
                <a:sym typeface="Roboto Mono"/>
              </a:defRPr>
            </a:lvl7pPr>
            <a:lvl8pPr marL="0" marR="0" lvl="7" indent="0" algn="r" rtl="0">
              <a:spcBef>
                <a:spcPts val="0"/>
              </a:spcBef>
              <a:buNone/>
              <a:defRPr sz="1200" i="0" u="none" strike="noStrike" cap="none">
                <a:solidFill>
                  <a:srgbClr val="6C7A8A"/>
                </a:solidFill>
                <a:latin typeface="Roboto Mono"/>
                <a:ea typeface="Roboto Mono"/>
                <a:cs typeface="Roboto Mono"/>
                <a:sym typeface="Roboto Mono"/>
              </a:defRPr>
            </a:lvl8pPr>
            <a:lvl9pPr marL="0" marR="0" lvl="8" indent="0" algn="r" rtl="0">
              <a:spcBef>
                <a:spcPts val="0"/>
              </a:spcBef>
              <a:buNone/>
              <a:defRPr sz="1200" i="0" u="none" strike="noStrike" cap="none">
                <a:solidFill>
                  <a:srgbClr val="6C7A8A"/>
                </a:solidFill>
                <a:latin typeface="Roboto Mono"/>
                <a:ea typeface="Roboto Mono"/>
                <a:cs typeface="Roboto Mono"/>
                <a:sym typeface="Roboto Mono"/>
              </a:defRPr>
            </a:lvl9pPr>
          </a:lstStyle>
          <a:p>
            <a:fld id="{00000000-1234-1234-1234-123412341234}" type="slidenum">
              <a:rPr lang="en-US" smtClean="0"/>
              <a:pPr/>
              <a:t>‹Nº›</a:t>
            </a:fld>
            <a:endParaRPr lang="en-US" dirty="0"/>
          </a:p>
        </p:txBody>
      </p:sp>
      <p:sp>
        <p:nvSpPr>
          <p:cNvPr id="8" name="Google Shape;8;p1"/>
          <p:cNvSpPr txBox="1">
            <a:spLocks noGrp="1"/>
          </p:cNvSpPr>
          <p:nvPr>
            <p:ph type="title"/>
          </p:nvPr>
        </p:nvSpPr>
        <p:spPr>
          <a:xfrm>
            <a:off x="1763700" y="212725"/>
            <a:ext cx="6751800" cy="8130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rgbClr val="FFFFFF"/>
              </a:buClr>
              <a:buSzPts val="3000"/>
              <a:buFont typeface="Roboto Condensed"/>
              <a:buNone/>
              <a:defRPr sz="3000" i="0" u="none" strike="noStrike" cap="none">
                <a:solidFill>
                  <a:srgbClr val="FFFFFF"/>
                </a:solidFill>
                <a:latin typeface="Roboto Condensed"/>
                <a:ea typeface="Roboto Condensed"/>
                <a:cs typeface="Roboto Condensed"/>
                <a:sym typeface="Roboto Condensed"/>
              </a:defRPr>
            </a:lvl1pPr>
            <a:lvl2pPr lvl="1" rtl="0">
              <a:spcBef>
                <a:spcPts val="0"/>
              </a:spcBef>
              <a:spcAft>
                <a:spcPts val="0"/>
              </a:spcAft>
              <a:buClr>
                <a:srgbClr val="FFFFFF"/>
              </a:buClr>
              <a:buSzPts val="3000"/>
              <a:buFont typeface="Roboto Condensed"/>
              <a:buNone/>
              <a:defRPr sz="3000">
                <a:solidFill>
                  <a:srgbClr val="FFFFFF"/>
                </a:solidFill>
                <a:latin typeface="Roboto Condensed"/>
                <a:ea typeface="Roboto Condensed"/>
                <a:cs typeface="Roboto Condensed"/>
                <a:sym typeface="Roboto Condensed"/>
              </a:defRPr>
            </a:lvl2pPr>
            <a:lvl3pPr lvl="2" rtl="0">
              <a:spcBef>
                <a:spcPts val="0"/>
              </a:spcBef>
              <a:spcAft>
                <a:spcPts val="0"/>
              </a:spcAft>
              <a:buClr>
                <a:srgbClr val="FFFFFF"/>
              </a:buClr>
              <a:buSzPts val="3000"/>
              <a:buFont typeface="Roboto Condensed"/>
              <a:buNone/>
              <a:defRPr sz="3000">
                <a:solidFill>
                  <a:srgbClr val="FFFFFF"/>
                </a:solidFill>
                <a:latin typeface="Roboto Condensed"/>
                <a:ea typeface="Roboto Condensed"/>
                <a:cs typeface="Roboto Condensed"/>
                <a:sym typeface="Roboto Condensed"/>
              </a:defRPr>
            </a:lvl3pPr>
            <a:lvl4pPr lvl="3" rtl="0">
              <a:spcBef>
                <a:spcPts val="0"/>
              </a:spcBef>
              <a:spcAft>
                <a:spcPts val="0"/>
              </a:spcAft>
              <a:buClr>
                <a:srgbClr val="FFFFFF"/>
              </a:buClr>
              <a:buSzPts val="3000"/>
              <a:buFont typeface="Roboto Condensed"/>
              <a:buNone/>
              <a:defRPr sz="3000">
                <a:solidFill>
                  <a:srgbClr val="FFFFFF"/>
                </a:solidFill>
                <a:latin typeface="Roboto Condensed"/>
                <a:ea typeface="Roboto Condensed"/>
                <a:cs typeface="Roboto Condensed"/>
                <a:sym typeface="Roboto Condensed"/>
              </a:defRPr>
            </a:lvl4pPr>
            <a:lvl5pPr lvl="4" rtl="0">
              <a:spcBef>
                <a:spcPts val="0"/>
              </a:spcBef>
              <a:spcAft>
                <a:spcPts val="0"/>
              </a:spcAft>
              <a:buClr>
                <a:srgbClr val="FFFFFF"/>
              </a:buClr>
              <a:buSzPts val="3000"/>
              <a:buFont typeface="Roboto Condensed"/>
              <a:buNone/>
              <a:defRPr sz="3000">
                <a:solidFill>
                  <a:srgbClr val="FFFFFF"/>
                </a:solidFill>
                <a:latin typeface="Roboto Condensed"/>
                <a:ea typeface="Roboto Condensed"/>
                <a:cs typeface="Roboto Condensed"/>
                <a:sym typeface="Roboto Condensed"/>
              </a:defRPr>
            </a:lvl5pPr>
            <a:lvl6pPr lvl="5" rtl="0">
              <a:spcBef>
                <a:spcPts val="0"/>
              </a:spcBef>
              <a:spcAft>
                <a:spcPts val="0"/>
              </a:spcAft>
              <a:buClr>
                <a:srgbClr val="FFFFFF"/>
              </a:buClr>
              <a:buSzPts val="3000"/>
              <a:buFont typeface="Roboto Condensed"/>
              <a:buNone/>
              <a:defRPr sz="3000">
                <a:solidFill>
                  <a:srgbClr val="FFFFFF"/>
                </a:solidFill>
                <a:latin typeface="Roboto Condensed"/>
                <a:ea typeface="Roboto Condensed"/>
                <a:cs typeface="Roboto Condensed"/>
                <a:sym typeface="Roboto Condensed"/>
              </a:defRPr>
            </a:lvl6pPr>
            <a:lvl7pPr lvl="6" rtl="0">
              <a:spcBef>
                <a:spcPts val="0"/>
              </a:spcBef>
              <a:spcAft>
                <a:spcPts val="0"/>
              </a:spcAft>
              <a:buClr>
                <a:srgbClr val="FFFFFF"/>
              </a:buClr>
              <a:buSzPts val="3000"/>
              <a:buFont typeface="Roboto Condensed"/>
              <a:buNone/>
              <a:defRPr sz="3000">
                <a:solidFill>
                  <a:srgbClr val="FFFFFF"/>
                </a:solidFill>
                <a:latin typeface="Roboto Condensed"/>
                <a:ea typeface="Roboto Condensed"/>
                <a:cs typeface="Roboto Condensed"/>
                <a:sym typeface="Roboto Condensed"/>
              </a:defRPr>
            </a:lvl7pPr>
            <a:lvl8pPr lvl="7" rtl="0">
              <a:spcBef>
                <a:spcPts val="0"/>
              </a:spcBef>
              <a:spcAft>
                <a:spcPts val="0"/>
              </a:spcAft>
              <a:buClr>
                <a:srgbClr val="FFFFFF"/>
              </a:buClr>
              <a:buSzPts val="3000"/>
              <a:buFont typeface="Roboto Condensed"/>
              <a:buNone/>
              <a:defRPr sz="3000">
                <a:solidFill>
                  <a:srgbClr val="FFFFFF"/>
                </a:solidFill>
                <a:latin typeface="Roboto Condensed"/>
                <a:ea typeface="Roboto Condensed"/>
                <a:cs typeface="Roboto Condensed"/>
                <a:sym typeface="Roboto Condensed"/>
              </a:defRPr>
            </a:lvl8pPr>
            <a:lvl9pPr lvl="8" rtl="0">
              <a:spcBef>
                <a:spcPts val="0"/>
              </a:spcBef>
              <a:spcAft>
                <a:spcPts val="0"/>
              </a:spcAft>
              <a:buClr>
                <a:srgbClr val="FFFFFF"/>
              </a:buClr>
              <a:buSzPts val="3000"/>
              <a:buFont typeface="Roboto Condensed"/>
              <a:buNone/>
              <a:defRPr sz="3000">
                <a:solidFill>
                  <a:srgbClr val="FFFFFF"/>
                </a:solidFill>
                <a:latin typeface="Roboto Condensed"/>
                <a:ea typeface="Roboto Condensed"/>
                <a:cs typeface="Roboto Condensed"/>
                <a:sym typeface="Roboto Condensed"/>
              </a:defRPr>
            </a:lvl9pPr>
          </a:lstStyle>
          <a:p>
            <a:endParaRPr lang="es-CL" dirty="0"/>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79" r:id="rId4"/>
    <p:sldLayoutId id="2147483661" r:id="rId5"/>
    <p:sldLayoutId id="2147483662" r:id="rId6"/>
    <p:sldLayoutId id="2147483678" r:id="rId7"/>
    <p:sldLayoutId id="2147483677" r:id="rId8"/>
    <p:sldLayoutId id="2147483680"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Calibri" panose="020F0502020204030204" pitchFamily="34" charset="0"/>
          <a:ea typeface="Calibri" panose="020F0502020204030204" pitchFamily="34" charset="0"/>
          <a:cs typeface="Calibri" panose="020F0502020204030204" pitchFamily="34"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Calibri" panose="020F0502020204030204" pitchFamily="34" charset="0"/>
          <a:ea typeface="Roboto" panose="02000000000000000000" pitchFamily="2" charset="0"/>
          <a:cs typeface="Calibri" panose="020F0502020204030204" pitchFamily="34"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30"/>
          <p:cNvSpPr txBox="1">
            <a:spLocks noGrp="1"/>
          </p:cNvSpPr>
          <p:nvPr>
            <p:ph type="title"/>
          </p:nvPr>
        </p:nvSpPr>
        <p:spPr>
          <a:xfrm>
            <a:off x="3303037" y="2452947"/>
            <a:ext cx="5758963" cy="2891100"/>
          </a:xfrm>
          <a:prstGeom prst="rect">
            <a:avLst/>
          </a:prstGeom>
        </p:spPr>
        <p:txBody>
          <a:bodyPr spcFirstLastPara="1" wrap="square" lIns="91425" tIns="45700" rIns="91425" bIns="45700" anchor="b" anchorCtr="0">
            <a:noAutofit/>
          </a:bodyPr>
          <a:lstStyle/>
          <a:p>
            <a:pPr lvl="0"/>
            <a:r>
              <a:rPr lang="es-CL" sz="5800" b="1" dirty="0"/>
              <a:t>Mostrando Datos de  Múltiples</a:t>
            </a:r>
            <a:br>
              <a:rPr lang="es-CL" sz="5800" b="1" dirty="0"/>
            </a:br>
            <a:r>
              <a:rPr lang="es-CL" sz="5800" b="1" dirty="0"/>
              <a:t>Tablas usando JOIN Complejos</a:t>
            </a:r>
          </a:p>
        </p:txBody>
      </p:sp>
      <p:sp>
        <p:nvSpPr>
          <p:cNvPr id="213" name="Google Shape;213;p30"/>
          <p:cNvSpPr txBox="1">
            <a:spLocks noGrp="1"/>
          </p:cNvSpPr>
          <p:nvPr>
            <p:ph type="subTitle" idx="1"/>
          </p:nvPr>
        </p:nvSpPr>
        <p:spPr>
          <a:xfrm>
            <a:off x="6386512" y="5620875"/>
            <a:ext cx="2502087" cy="873900"/>
          </a:xfrm>
          <a:prstGeom prst="roundRect">
            <a:avLst/>
          </a:prstGeom>
        </p:spPr>
        <p:txBody>
          <a:bodyPr spcFirstLastPara="1" wrap="square" lIns="91425" tIns="0" rIns="182875" bIns="0" anchor="t" anchorCtr="0">
            <a:noAutofit/>
          </a:bodyPr>
          <a:lstStyle/>
          <a:p>
            <a:pPr marL="0" lvl="0" indent="0" algn="ctr"/>
            <a:r>
              <a:rPr lang="en-US" sz="3600" dirty="0"/>
              <a:t>MDY2131</a:t>
            </a:r>
            <a:endParaRPr sz="3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a 6">
            <a:extLst>
              <a:ext uri="{FF2B5EF4-FFF2-40B4-BE49-F238E27FC236}">
                <a16:creationId xmlns:a16="http://schemas.microsoft.com/office/drawing/2014/main" xmlns="" id="{FB9E9EC4-1442-454F-96A7-8DBD75B3E084}"/>
              </a:ext>
            </a:extLst>
          </p:cNvPr>
          <p:cNvGraphicFramePr>
            <a:graphicFrameLocks noGrp="1"/>
          </p:cNvGraphicFramePr>
          <p:nvPr/>
        </p:nvGraphicFramePr>
        <p:xfrm>
          <a:off x="428622" y="1668467"/>
          <a:ext cx="8315325" cy="3939090"/>
        </p:xfrm>
        <a:graphic>
          <a:graphicData uri="http://schemas.openxmlformats.org/drawingml/2006/table">
            <a:tbl>
              <a:tblPr firstRow="1" bandRow="1">
                <a:tableStyleId>{073A0DAA-6AF3-43AB-8588-CEC1D06C72B9}</a:tableStyleId>
              </a:tblPr>
              <a:tblGrid>
                <a:gridCol w="1457328">
                  <a:extLst>
                    <a:ext uri="{9D8B030D-6E8A-4147-A177-3AD203B41FA5}">
                      <a16:colId xmlns:a16="http://schemas.microsoft.com/office/drawing/2014/main" xmlns="" val="447460705"/>
                    </a:ext>
                  </a:extLst>
                </a:gridCol>
                <a:gridCol w="2928935">
                  <a:extLst>
                    <a:ext uri="{9D8B030D-6E8A-4147-A177-3AD203B41FA5}">
                      <a16:colId xmlns:a16="http://schemas.microsoft.com/office/drawing/2014/main" xmlns="" val="745656918"/>
                    </a:ext>
                  </a:extLst>
                </a:gridCol>
                <a:gridCol w="3929062">
                  <a:extLst>
                    <a:ext uri="{9D8B030D-6E8A-4147-A177-3AD203B41FA5}">
                      <a16:colId xmlns:a16="http://schemas.microsoft.com/office/drawing/2014/main" xmlns="" val="4006272735"/>
                    </a:ext>
                  </a:extLst>
                </a:gridCol>
              </a:tblGrid>
              <a:tr h="1205362">
                <a:tc>
                  <a:txBody>
                    <a:bodyPr/>
                    <a:lstStyle/>
                    <a:p>
                      <a:pPr algn="ctr"/>
                      <a:r>
                        <a:rPr kumimoji="0" lang="es-ES_tradnl" sz="1800" b="1" i="0" u="none" strike="noStrike" kern="0" cap="none" spc="0" normalizeH="0" baseline="0" noProof="0" dirty="0">
                          <a:ln>
                            <a:noFill/>
                          </a:ln>
                          <a:solidFill>
                            <a:srgbClr val="FFFFFF"/>
                          </a:solidFill>
                          <a:effectLst/>
                          <a:uLnTx/>
                          <a:uFillTx/>
                          <a:latin typeface="Calibri" panose="020F0502020204030204" pitchFamily="34" charset="0"/>
                          <a:ea typeface="Roboto" panose="02000000000000000000" pitchFamily="2" charset="0"/>
                          <a:cs typeface="Calibri" panose="020F0502020204030204" pitchFamily="34" charset="0"/>
                          <a:sym typeface="Arial"/>
                        </a:rPr>
                        <a:t>Experiencia</a:t>
                      </a:r>
                      <a:endParaRPr lang="es-CL" dirty="0"/>
                    </a:p>
                  </a:txBody>
                  <a:tcPr anchor="ctr"/>
                </a:tc>
                <a:tc>
                  <a:txBody>
                    <a:bodyPr/>
                    <a:lstStyle/>
                    <a:p>
                      <a:pPr algn="ctr"/>
                      <a:r>
                        <a:rPr kumimoji="0" lang="es-ES_tradnl" sz="1800" b="1" i="0" u="none" strike="noStrike" kern="0" cap="none" spc="0" normalizeH="0" baseline="0" noProof="0" dirty="0">
                          <a:ln>
                            <a:noFill/>
                          </a:ln>
                          <a:solidFill>
                            <a:srgbClr val="FFFFFF"/>
                          </a:solidFill>
                          <a:effectLst/>
                          <a:uLnTx/>
                          <a:uFillTx/>
                          <a:latin typeface="Calibri" panose="020F0502020204030204" pitchFamily="34" charset="0"/>
                          <a:ea typeface="Roboto" panose="02000000000000000000" pitchFamily="2" charset="0"/>
                          <a:cs typeface="Calibri" panose="020F0502020204030204" pitchFamily="34" charset="0"/>
                          <a:sym typeface="Arial"/>
                        </a:rPr>
                        <a:t>Nombre</a:t>
                      </a:r>
                      <a:endParaRPr lang="es-CL" dirty="0"/>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s-CL" sz="1800" b="1" i="0" u="none" strike="noStrike" kern="0" cap="none" spc="0" normalizeH="0" baseline="0" noProof="0" dirty="0">
                          <a:ln>
                            <a:noFill/>
                          </a:ln>
                          <a:solidFill>
                            <a:srgbClr val="FFFFFF"/>
                          </a:solidFill>
                          <a:effectLst/>
                          <a:uLnTx/>
                          <a:uFillTx/>
                          <a:latin typeface="Calibri" panose="020F0502020204030204" pitchFamily="34" charset="0"/>
                          <a:ea typeface="Roboto" panose="02000000000000000000" pitchFamily="2" charset="0"/>
                          <a:cs typeface="Calibri" panose="020F0502020204030204" pitchFamily="34" charset="0"/>
                          <a:sym typeface="Arial"/>
                        </a:rPr>
                        <a:t>Unidad de Competencia Especialidad – Nivel de la Competencia de Empleabilidad</a:t>
                      </a:r>
                      <a:endParaRPr lang="es-CL" dirty="0"/>
                    </a:p>
                  </a:txBody>
                  <a:tcPr anchor="ctr"/>
                </a:tc>
                <a:extLst>
                  <a:ext uri="{0D108BD9-81ED-4DB2-BD59-A6C34878D82A}">
                    <a16:rowId xmlns:a16="http://schemas.microsoft.com/office/drawing/2014/main" xmlns="" val="1379131601"/>
                  </a:ext>
                </a:extLst>
              </a:tr>
              <a:tr h="722048">
                <a:tc row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s-ES_tradnl" sz="1800" b="0" i="0" u="none" strike="noStrike" kern="0" cap="none" spc="0" normalizeH="0" baseline="0" noProof="0" dirty="0" err="1">
                          <a:ln>
                            <a:noFill/>
                          </a:ln>
                          <a:solidFill>
                            <a:srgbClr val="172740"/>
                          </a:solidFill>
                          <a:effectLst/>
                          <a:uLnTx/>
                          <a:uFillTx/>
                          <a:latin typeface="Calibri" panose="020F0502020204030204" pitchFamily="34" charset="0"/>
                          <a:ea typeface="Roboto" panose="02000000000000000000" pitchFamily="2" charset="0"/>
                          <a:cs typeface="Calibri" panose="020F0502020204030204" pitchFamily="34" charset="0"/>
                          <a:sym typeface="Arial"/>
                        </a:rPr>
                        <a:t>Nº</a:t>
                      </a:r>
                      <a:r>
                        <a:rPr kumimoji="0" lang="es-ES_tradnl" sz="1800" b="0" i="0" u="none" strike="noStrike" kern="0" cap="none" spc="0" normalizeH="0" baseline="0" noProof="0" dirty="0">
                          <a:ln>
                            <a:noFill/>
                          </a:ln>
                          <a:solidFill>
                            <a:srgbClr val="172740"/>
                          </a:solidFill>
                          <a:effectLst/>
                          <a:uLnTx/>
                          <a:uFillTx/>
                          <a:latin typeface="Calibri" panose="020F0502020204030204" pitchFamily="34" charset="0"/>
                          <a:ea typeface="Roboto" panose="02000000000000000000" pitchFamily="2" charset="0"/>
                          <a:cs typeface="Calibri" panose="020F0502020204030204" pitchFamily="34" charset="0"/>
                          <a:sym typeface="Arial"/>
                        </a:rPr>
                        <a:t> 2</a:t>
                      </a:r>
                    </a:p>
                    <a:p>
                      <a:endParaRPr lang="es-CL" dirty="0"/>
                    </a:p>
                  </a:txBody>
                  <a:tcPr anchor="ctr"/>
                </a:tc>
                <a:tc rowSpan="2">
                  <a:txBody>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kumimoji="0" lang="es-CL" sz="1800" b="0" i="0" u="none" strike="noStrike" kern="0" cap="none" spc="0" normalizeH="0" baseline="0" noProof="0" dirty="0">
                          <a:ln>
                            <a:noFill/>
                          </a:ln>
                          <a:solidFill>
                            <a:srgbClr val="172740"/>
                          </a:solidFill>
                          <a:effectLst/>
                          <a:uLnTx/>
                          <a:uFillTx/>
                          <a:latin typeface="Calibri" panose="020F0502020204030204" pitchFamily="34" charset="0"/>
                          <a:ea typeface="Roboto" panose="02000000000000000000" pitchFamily="2" charset="0"/>
                          <a:cs typeface="Calibri" panose="020F0502020204030204" pitchFamily="34" charset="0"/>
                          <a:sym typeface="Arial"/>
                        </a:rPr>
                        <a:t>Construyendo sentencias complejas  de recuperación  y manipulación de datos</a:t>
                      </a:r>
                      <a:endParaRPr lang="es-CL" dirty="0"/>
                    </a:p>
                  </a:txBody>
                  <a:tcPr anchor="ctr"/>
                </a:tc>
                <a:tc>
                  <a:txBody>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kumimoji="0" lang="es-CL" sz="1800" b="0" i="0" u="none" strike="noStrike" kern="0" cap="none" spc="0" normalizeH="0" baseline="0" noProof="0" dirty="0">
                          <a:ln>
                            <a:noFill/>
                          </a:ln>
                          <a:solidFill>
                            <a:srgbClr val="172740"/>
                          </a:solidFill>
                          <a:effectLst/>
                          <a:uLnTx/>
                          <a:uFillTx/>
                          <a:latin typeface="Calibri" panose="020F0502020204030204" pitchFamily="34" charset="0"/>
                          <a:ea typeface="+mn-ea"/>
                          <a:cs typeface="Calibri" panose="020F0502020204030204" pitchFamily="34" charset="0"/>
                          <a:sym typeface="Arial"/>
                        </a:rPr>
                        <a:t>Desarrolla operaciones sobre la base de datos que permitan la obtención, actualización, inserción y eliminación de información estableciendo una conexión con una base de datos para cumplir con los requerimientos de la organización.</a:t>
                      </a:r>
                      <a:endParaRPr lang="es-CL" dirty="0"/>
                    </a:p>
                  </a:txBody>
                  <a:tcPr anchor="ctr"/>
                </a:tc>
                <a:extLst>
                  <a:ext uri="{0D108BD9-81ED-4DB2-BD59-A6C34878D82A}">
                    <a16:rowId xmlns:a16="http://schemas.microsoft.com/office/drawing/2014/main" xmlns="" val="3941631869"/>
                  </a:ext>
                </a:extLst>
              </a:tr>
              <a:tr h="722048">
                <a:tc vMerge="1">
                  <a:txBody>
                    <a:bodyPr/>
                    <a:lstStyle/>
                    <a:p>
                      <a:endParaRPr lang="es-CL" dirty="0"/>
                    </a:p>
                  </a:txBody>
                  <a:tcPr anchor="ctr"/>
                </a:tc>
                <a:tc vMerge="1">
                  <a:txBody>
                    <a:bodyPr/>
                    <a:lstStyle/>
                    <a:p>
                      <a:endParaRPr lang="es-CL" dirty="0"/>
                    </a:p>
                  </a:txBody>
                  <a:tcPr anchor="ctr"/>
                </a:tc>
                <a:tc>
                  <a:txBody>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lang="es-MX" sz="1800" dirty="0">
                          <a:effectLst/>
                          <a:latin typeface="Calibri" panose="020F0502020204030204" pitchFamily="34" charset="0"/>
                          <a:ea typeface="Calibri" panose="020F0502020204030204" pitchFamily="34" charset="0"/>
                        </a:rPr>
                        <a:t>Resolución de Problemas (N1)</a:t>
                      </a:r>
                      <a:endParaRPr lang="es-CL" sz="1800" dirty="0"/>
                    </a:p>
                  </a:txBody>
                  <a:tcPr anchor="ctr"/>
                </a:tc>
                <a:extLst>
                  <a:ext uri="{0D108BD9-81ED-4DB2-BD59-A6C34878D82A}">
                    <a16:rowId xmlns:a16="http://schemas.microsoft.com/office/drawing/2014/main" xmlns="" val="2871679439"/>
                  </a:ext>
                </a:extLst>
              </a:tr>
            </a:tbl>
          </a:graphicData>
        </a:graphic>
      </p:graphicFrame>
      <p:sp>
        <p:nvSpPr>
          <p:cNvPr id="11" name="Título 1">
            <a:extLst>
              <a:ext uri="{FF2B5EF4-FFF2-40B4-BE49-F238E27FC236}">
                <a16:creationId xmlns:a16="http://schemas.microsoft.com/office/drawing/2014/main" xmlns="" id="{7573328E-BCD9-4056-AEDD-0C97FCE1A1DC}"/>
              </a:ext>
            </a:extLst>
          </p:cNvPr>
          <p:cNvSpPr>
            <a:spLocks noGrp="1"/>
          </p:cNvSpPr>
          <p:nvPr>
            <p:ph type="title"/>
          </p:nvPr>
        </p:nvSpPr>
        <p:spPr>
          <a:xfrm>
            <a:off x="1606532" y="229658"/>
            <a:ext cx="4594244" cy="813000"/>
          </a:xfrm>
        </p:spPr>
        <p:txBody>
          <a:bodyPr/>
          <a:lstStyle/>
          <a:p>
            <a:r>
              <a:rPr lang="es-ES_tradnl" b="1" dirty="0"/>
              <a:t>Experiencia de Aprendizaje</a:t>
            </a:r>
            <a:br>
              <a:rPr lang="es-ES_tradnl" b="1" dirty="0"/>
            </a:br>
            <a:r>
              <a:rPr lang="es-ES_tradnl" b="1" dirty="0"/>
              <a:t>y Competencia Asociada</a:t>
            </a:r>
          </a:p>
        </p:txBody>
      </p:sp>
    </p:spTree>
    <p:extLst>
      <p:ext uri="{BB962C8B-B14F-4D97-AF65-F5344CB8AC3E}">
        <p14:creationId xmlns:p14="http://schemas.microsoft.com/office/powerpoint/2010/main" val="42123066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xmlns="" id="{71DCFFB2-9AD1-704E-96BD-9E25D01600D1}"/>
              </a:ext>
            </a:extLst>
          </p:cNvPr>
          <p:cNvSpPr>
            <a:spLocks noGrp="1"/>
          </p:cNvSpPr>
          <p:nvPr>
            <p:ph type="sldNum" idx="4294967295"/>
          </p:nvPr>
        </p:nvSpPr>
        <p:spPr>
          <a:xfrm>
            <a:off x="6915150" y="6356351"/>
            <a:ext cx="2057400" cy="365100"/>
          </a:xfrm>
        </p:spPr>
        <p:txBody>
          <a:bodyPr/>
          <a:lstStyle/>
          <a:p>
            <a:fld id="{00000000-1234-1234-1234-123412341234}" type="slidenum">
              <a:rPr lang="en-US" smtClean="0"/>
              <a:pPr/>
              <a:t>3</a:t>
            </a:fld>
            <a:endParaRPr lang="en-US"/>
          </a:p>
        </p:txBody>
      </p:sp>
      <p:sp>
        <p:nvSpPr>
          <p:cNvPr id="2" name="Título 1">
            <a:extLst>
              <a:ext uri="{FF2B5EF4-FFF2-40B4-BE49-F238E27FC236}">
                <a16:creationId xmlns:a16="http://schemas.microsoft.com/office/drawing/2014/main" xmlns="" id="{9750BC02-FE4E-1148-8346-BA2C94ECC781}"/>
              </a:ext>
            </a:extLst>
          </p:cNvPr>
          <p:cNvSpPr>
            <a:spLocks noGrp="1"/>
          </p:cNvSpPr>
          <p:nvPr>
            <p:ph type="title"/>
          </p:nvPr>
        </p:nvSpPr>
        <p:spPr/>
        <p:txBody>
          <a:bodyPr/>
          <a:lstStyle/>
          <a:p>
            <a:r>
              <a:rPr lang="es-ES_tradnl" b="1" dirty="0"/>
              <a:t>Objetivos de la Clase</a:t>
            </a:r>
          </a:p>
        </p:txBody>
      </p:sp>
      <p:sp>
        <p:nvSpPr>
          <p:cNvPr id="9" name="Marcador de texto 8">
            <a:extLst>
              <a:ext uri="{FF2B5EF4-FFF2-40B4-BE49-F238E27FC236}">
                <a16:creationId xmlns:a16="http://schemas.microsoft.com/office/drawing/2014/main" xmlns="" id="{C0A58EEC-AE91-4A1D-A092-4DC34F040D5C}"/>
              </a:ext>
            </a:extLst>
          </p:cNvPr>
          <p:cNvSpPr>
            <a:spLocks noGrp="1"/>
          </p:cNvSpPr>
          <p:nvPr>
            <p:ph type="body" sz="quarter" idx="11"/>
          </p:nvPr>
        </p:nvSpPr>
        <p:spPr>
          <a:xfrm>
            <a:off x="560387" y="1888474"/>
            <a:ext cx="8023225" cy="2275770"/>
          </a:xfrm>
        </p:spPr>
        <p:txBody>
          <a:bodyPr/>
          <a:lstStyle/>
          <a:p>
            <a:pPr marL="393700" indent="-342900" algn="just">
              <a:buFont typeface="Arial" panose="020B0604020202020204" pitchFamily="34" charset="0"/>
              <a:buChar char="•"/>
            </a:pPr>
            <a:r>
              <a:rPr lang="es-CL" sz="2200" dirty="0"/>
              <a:t>Cómo crear un </a:t>
            </a:r>
            <a:r>
              <a:rPr lang="es-CL" sz="2200" dirty="0" err="1"/>
              <a:t>Join</a:t>
            </a:r>
            <a:r>
              <a:rPr lang="es-CL" sz="2200" dirty="0"/>
              <a:t> sobre la misma tabla o SELF-JOIN.</a:t>
            </a:r>
          </a:p>
          <a:p>
            <a:pPr marL="393700" indent="-342900" algn="just">
              <a:buFont typeface="Arial" panose="020B0604020202020204" pitchFamily="34" charset="0"/>
              <a:buChar char="•"/>
            </a:pPr>
            <a:r>
              <a:rPr lang="es-CL" sz="2200" dirty="0"/>
              <a:t>Cómo crear un </a:t>
            </a:r>
            <a:r>
              <a:rPr lang="es-CL" sz="2200" dirty="0" err="1"/>
              <a:t>Join</a:t>
            </a:r>
            <a:r>
              <a:rPr lang="es-CL" sz="2200" dirty="0"/>
              <a:t> NONEQUIJOIN</a:t>
            </a:r>
          </a:p>
          <a:p>
            <a:pPr marL="393700" indent="-342900" algn="just">
              <a:buFont typeface="Arial" panose="020B0604020202020204" pitchFamily="34" charset="0"/>
              <a:buChar char="•"/>
            </a:pPr>
            <a:r>
              <a:rPr lang="es-CL" sz="2200" dirty="0"/>
              <a:t>Cómo crear un OUTER </a:t>
            </a:r>
            <a:r>
              <a:rPr lang="es-CL" sz="2200" dirty="0" err="1"/>
              <a:t>Join</a:t>
            </a:r>
            <a:r>
              <a:rPr lang="es-CL" sz="2200" dirty="0"/>
              <a:t>: LEFT, RIGTH y FULL.</a:t>
            </a:r>
          </a:p>
          <a:p>
            <a:pPr marL="393700" indent="-342900" algn="just">
              <a:buFont typeface="Arial" panose="020B0604020202020204" pitchFamily="34" charset="0"/>
              <a:buChar char="•"/>
            </a:pPr>
            <a:r>
              <a:rPr lang="es-CL" sz="2200" dirty="0"/>
              <a:t>Cómo crear un CROSS </a:t>
            </a:r>
            <a:r>
              <a:rPr lang="es-CL" sz="2200" dirty="0" err="1"/>
              <a:t>Join</a:t>
            </a:r>
            <a:r>
              <a:rPr lang="es-CL" sz="2200" dirty="0"/>
              <a:t>.</a:t>
            </a:r>
          </a:p>
          <a:p>
            <a:pPr marL="393700" indent="-342900" algn="just">
              <a:buFont typeface="Arial" panose="020B0604020202020204" pitchFamily="34" charset="0"/>
              <a:buChar char="•"/>
            </a:pPr>
            <a:r>
              <a:rPr lang="es-CL" sz="2200" dirty="0"/>
              <a:t>Cómo  crear un </a:t>
            </a:r>
            <a:r>
              <a:rPr lang="es-CL" sz="2200" dirty="0" err="1"/>
              <a:t>Join</a:t>
            </a:r>
            <a:r>
              <a:rPr lang="es-CL" sz="2200" dirty="0"/>
              <a:t> usando más de dos tablas.</a:t>
            </a:r>
          </a:p>
          <a:p>
            <a:pPr algn="l"/>
            <a:endParaRPr lang="es-CL" sz="2200" dirty="0"/>
          </a:p>
        </p:txBody>
      </p:sp>
    </p:spTree>
    <p:extLst>
      <p:ext uri="{BB962C8B-B14F-4D97-AF65-F5344CB8AC3E}">
        <p14:creationId xmlns:p14="http://schemas.microsoft.com/office/powerpoint/2010/main" val="132915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32"/>
          <p:cNvSpPr txBox="1">
            <a:spLocks noGrp="1"/>
          </p:cNvSpPr>
          <p:nvPr>
            <p:ph type="title"/>
          </p:nvPr>
        </p:nvSpPr>
        <p:spPr>
          <a:xfrm>
            <a:off x="3021508" y="3289884"/>
            <a:ext cx="5995800" cy="2271161"/>
          </a:xfrm>
          <a:prstGeom prst="rect">
            <a:avLst/>
          </a:prstGeom>
        </p:spPr>
        <p:txBody>
          <a:bodyPr spcFirstLastPara="1" wrap="square" lIns="91425" tIns="45700" rIns="91425" bIns="45700" anchor="ctr" anchorCtr="0">
            <a:noAutofit/>
          </a:bodyPr>
          <a:lstStyle/>
          <a:p>
            <a:pPr lvl="0" defTabSz="457200">
              <a:defRPr/>
            </a:pPr>
            <a:r>
              <a:rPr lang="es-CL" sz="4800" b="1" dirty="0">
                <a:solidFill>
                  <a:prstClr val="white"/>
                </a:solidFill>
                <a:latin typeface="Calibri"/>
              </a:rPr>
              <a:t>Construyendo </a:t>
            </a:r>
            <a:br>
              <a:rPr lang="es-CL" sz="4800" b="1" dirty="0">
                <a:solidFill>
                  <a:prstClr val="white"/>
                </a:solidFill>
                <a:latin typeface="Calibri"/>
              </a:rPr>
            </a:br>
            <a:r>
              <a:rPr lang="es-CL" sz="4800" b="1" dirty="0">
                <a:solidFill>
                  <a:prstClr val="white"/>
                </a:solidFill>
                <a:latin typeface="Calibri"/>
              </a:rPr>
              <a:t>SELF-JOIN y NONEQUIJOIN</a:t>
            </a:r>
          </a:p>
        </p:txBody>
      </p:sp>
      <p:sp>
        <p:nvSpPr>
          <p:cNvPr id="3" name="CuadroTexto 1">
            <a:extLst>
              <a:ext uri="{FF2B5EF4-FFF2-40B4-BE49-F238E27FC236}">
                <a16:creationId xmlns:a16="http://schemas.microsoft.com/office/drawing/2014/main" xmlns="" id="{39A5E6CC-4F07-4AD4-96F5-75F55D141C5B}"/>
              </a:ext>
            </a:extLst>
          </p:cNvPr>
          <p:cNvSpPr txBox="1"/>
          <p:nvPr/>
        </p:nvSpPr>
        <p:spPr>
          <a:xfrm>
            <a:off x="1208058" y="6274836"/>
            <a:ext cx="914400" cy="914400"/>
          </a:xfrm>
          <a:prstGeom prst="rect">
            <a:avLst/>
          </a:prstGeom>
          <a:noFill/>
          <a:ln>
            <a:noFill/>
          </a:ln>
        </p:spPr>
        <p:txBody>
          <a:bodyPr spcFirstLastPara="1" wrap="none" lIns="91425" tIns="45700" rIns="91425" bIns="45700" rtlCol="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s-MX" sz="1600" b="1" dirty="0">
                <a:solidFill>
                  <a:schemeClr val="bg1"/>
                </a:solidFill>
              </a:rPr>
              <a:t>*</a:t>
            </a:r>
            <a:r>
              <a:rPr lang="es-MX" sz="1200" b="1" dirty="0">
                <a:solidFill>
                  <a:schemeClr val="bg1"/>
                </a:solidFill>
              </a:rPr>
              <a:t>Las sentencias de los ejemplos usan las tablas del esquema HR de la Base de Datos Oracle </a:t>
            </a:r>
            <a:endParaRPr lang="es-CL" sz="1200" b="1" dirty="0">
              <a:solidFill>
                <a:schemeClr val="bg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xmlns="" id="{532F8F7C-62F6-AB45-8C6F-954F7E1DBD86}"/>
              </a:ext>
            </a:extLst>
          </p:cNvPr>
          <p:cNvSpPr>
            <a:spLocks noGrp="1"/>
          </p:cNvSpPr>
          <p:nvPr>
            <p:ph type="title"/>
          </p:nvPr>
        </p:nvSpPr>
        <p:spPr>
          <a:xfrm>
            <a:off x="1705943" y="224579"/>
            <a:ext cx="4647630" cy="813000"/>
          </a:xfrm>
        </p:spPr>
        <p:txBody>
          <a:bodyPr/>
          <a:lstStyle/>
          <a:p>
            <a:pPr lvl="0" defTabSz="457200">
              <a:defRPr/>
            </a:pPr>
            <a:r>
              <a:rPr lang="es-CL" sz="2800" b="1" dirty="0">
                <a:solidFill>
                  <a:prstClr val="white"/>
                </a:solidFill>
                <a:latin typeface="Calibri"/>
              </a:rPr>
              <a:t>JOIN sobre la misma tabla o SELF-JOIN</a:t>
            </a:r>
          </a:p>
        </p:txBody>
      </p:sp>
      <p:pic>
        <p:nvPicPr>
          <p:cNvPr id="4" name="Imagen 3">
            <a:extLst>
              <a:ext uri="{FF2B5EF4-FFF2-40B4-BE49-F238E27FC236}">
                <a16:creationId xmlns:a16="http://schemas.microsoft.com/office/drawing/2014/main" xmlns="" id="{834A4FF7-A7C2-496A-BE7F-E0EA71AA77D0}"/>
              </a:ext>
            </a:extLst>
          </p:cNvPr>
          <p:cNvPicPr>
            <a:picLocks noChangeAspect="1"/>
          </p:cNvPicPr>
          <p:nvPr/>
        </p:nvPicPr>
        <p:blipFill>
          <a:blip r:embed="rId3"/>
          <a:stretch>
            <a:fillRect/>
          </a:stretch>
        </p:blipFill>
        <p:spPr>
          <a:xfrm>
            <a:off x="1371323" y="1075586"/>
            <a:ext cx="6895600" cy="5713498"/>
          </a:xfrm>
          <a:prstGeom prst="rect">
            <a:avLst/>
          </a:prstGeom>
        </p:spPr>
      </p:pic>
    </p:spTree>
    <p:extLst>
      <p:ext uri="{BB962C8B-B14F-4D97-AF65-F5344CB8AC3E}">
        <p14:creationId xmlns:p14="http://schemas.microsoft.com/office/powerpoint/2010/main" val="16346007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xmlns="" id="{532F8F7C-62F6-AB45-8C6F-954F7E1DBD86}"/>
              </a:ext>
            </a:extLst>
          </p:cNvPr>
          <p:cNvSpPr>
            <a:spLocks noGrp="1"/>
          </p:cNvSpPr>
          <p:nvPr>
            <p:ph type="title"/>
          </p:nvPr>
        </p:nvSpPr>
        <p:spPr>
          <a:xfrm>
            <a:off x="1705943" y="224579"/>
            <a:ext cx="4647630" cy="813000"/>
          </a:xfrm>
        </p:spPr>
        <p:txBody>
          <a:bodyPr/>
          <a:lstStyle/>
          <a:p>
            <a:pPr lvl="0" defTabSz="457200">
              <a:defRPr/>
            </a:pPr>
            <a:r>
              <a:rPr lang="es-CL" sz="2800" b="1" dirty="0">
                <a:solidFill>
                  <a:prstClr val="white"/>
                </a:solidFill>
                <a:latin typeface="Calibri"/>
              </a:rPr>
              <a:t>Creando SELF-JOIN</a:t>
            </a:r>
          </a:p>
        </p:txBody>
      </p:sp>
      <p:sp>
        <p:nvSpPr>
          <p:cNvPr id="6" name="Rectangle 3">
            <a:extLst>
              <a:ext uri="{FF2B5EF4-FFF2-40B4-BE49-F238E27FC236}">
                <a16:creationId xmlns:a16="http://schemas.microsoft.com/office/drawing/2014/main" xmlns="" id="{DA5616CF-6983-4321-B08D-418D05D4CF93}"/>
              </a:ext>
            </a:extLst>
          </p:cNvPr>
          <p:cNvSpPr txBox="1">
            <a:spLocks noChangeArrowheads="1"/>
          </p:cNvSpPr>
          <p:nvPr/>
        </p:nvSpPr>
        <p:spPr bwMode="auto">
          <a:xfrm>
            <a:off x="611560" y="4122533"/>
            <a:ext cx="8459787" cy="360363"/>
          </a:xfrm>
          <a:prstGeom prst="rect">
            <a:avLst/>
          </a:prstGeom>
          <a:noFill/>
          <a:ln w="9525">
            <a:noFill/>
            <a:miter lim="800000"/>
            <a:headEnd/>
            <a:tailEnd/>
          </a:ln>
        </p:spPr>
        <p:txBody>
          <a:bodyPr/>
          <a:lstStyle/>
          <a:p>
            <a:pPr marL="609600" indent="-609600" algn="just" defTabSz="457200" fontAlgn="base">
              <a:lnSpc>
                <a:spcPct val="80000"/>
              </a:lnSpc>
              <a:spcBef>
                <a:spcPct val="20000"/>
              </a:spcBef>
              <a:spcAft>
                <a:spcPct val="0"/>
              </a:spcAft>
              <a:buClrTx/>
              <a:buFont typeface="Arial" charset="0"/>
              <a:buChar char="•"/>
            </a:pPr>
            <a:r>
              <a:rPr lang="es-CL" sz="2000" kern="1200" dirty="0">
                <a:solidFill>
                  <a:prstClr val="black"/>
                </a:solidFill>
                <a:latin typeface="Calibri"/>
                <a:ea typeface="Arial Unicode MS"/>
                <a:cs typeface="Times New Roman" pitchFamily="18" charset="0"/>
              </a:rPr>
              <a:t>Sintaxis:</a:t>
            </a:r>
          </a:p>
          <a:p>
            <a:pPr marL="609600" indent="-609600" algn="just" defTabSz="457200" fontAlgn="base">
              <a:lnSpc>
                <a:spcPct val="80000"/>
              </a:lnSpc>
              <a:spcBef>
                <a:spcPct val="20000"/>
              </a:spcBef>
              <a:spcAft>
                <a:spcPct val="0"/>
              </a:spcAft>
              <a:buClrTx/>
              <a:buFont typeface="Arial" charset="0"/>
              <a:buChar char="•"/>
            </a:pPr>
            <a:endParaRPr lang="es-CL" sz="1800" kern="1200" dirty="0">
              <a:solidFill>
                <a:prstClr val="black"/>
              </a:solidFill>
              <a:latin typeface="Arial" panose="020B0604020202020204" pitchFamily="34" charset="0"/>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Times New Roman" pitchFamily="18" charset="0"/>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Times New Roman" pitchFamily="18" charset="0"/>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Times New Roman" pitchFamily="18" charset="0"/>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Times New Roman" pitchFamily="18" charset="0"/>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900" kern="1200" dirty="0">
              <a:solidFill>
                <a:prstClr val="black"/>
              </a:solidFill>
              <a:latin typeface="Times New Roman" pitchFamily="18" charset="0"/>
              <a:ea typeface="Arial Unicode MS"/>
              <a:cs typeface="Times New Roman" pitchFamily="18" charset="0"/>
            </a:endParaRPr>
          </a:p>
        </p:txBody>
      </p:sp>
      <p:sp>
        <p:nvSpPr>
          <p:cNvPr id="7" name="Text Box 5">
            <a:extLst>
              <a:ext uri="{FF2B5EF4-FFF2-40B4-BE49-F238E27FC236}">
                <a16:creationId xmlns:a16="http://schemas.microsoft.com/office/drawing/2014/main" xmlns="" id="{B434DCA9-16E5-41CC-BE35-E87E48695AEE}"/>
              </a:ext>
            </a:extLst>
          </p:cNvPr>
          <p:cNvSpPr txBox="1">
            <a:spLocks noChangeArrowheads="1"/>
          </p:cNvSpPr>
          <p:nvPr/>
        </p:nvSpPr>
        <p:spPr bwMode="auto">
          <a:xfrm>
            <a:off x="1245844" y="4445574"/>
            <a:ext cx="7025134" cy="1169551"/>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s-MX" sz="1800" b="1" i="0" u="none" strike="noStrike" kern="1200" cap="none" spc="0" normalizeH="0" baseline="0" noProof="0" dirty="0">
                <a:ln>
                  <a:noFill/>
                </a:ln>
                <a:solidFill>
                  <a:sysClr val="windowText" lastClr="000000"/>
                </a:solidFill>
                <a:effectLst/>
                <a:uLnTx/>
                <a:uFillTx/>
                <a:latin typeface="Calibri"/>
                <a:ea typeface="+mn-ea"/>
                <a:cs typeface="Arial" pitchFamily="34" charset="0"/>
              </a:rPr>
              <a:t>SELECT </a:t>
            </a:r>
            <a:r>
              <a:rPr kumimoji="0" lang="es-MX" sz="1800" b="1" i="1" u="none" strike="noStrike" kern="1200" cap="none" spc="0" normalizeH="0" baseline="0" noProof="0" dirty="0">
                <a:ln>
                  <a:noFill/>
                </a:ln>
                <a:solidFill>
                  <a:sysClr val="windowText" lastClr="000000"/>
                </a:solidFill>
                <a:effectLst/>
                <a:uLnTx/>
                <a:uFillTx/>
                <a:latin typeface="Calibri"/>
                <a:ea typeface="+mn-ea"/>
                <a:cs typeface="Arial" pitchFamily="34" charset="0"/>
              </a:rPr>
              <a:t>tb1.columna1, tb1.columna2, tb2.columna1, tb2.columna2,... </a:t>
            </a:r>
          </a:p>
          <a:p>
            <a:pPr marL="0" marR="0" lvl="0" indent="0" defTabSz="914400" eaLnBrk="1" fontAlgn="base" latinLnBrk="0" hangingPunct="1">
              <a:lnSpc>
                <a:spcPct val="100000"/>
              </a:lnSpc>
              <a:spcBef>
                <a:spcPct val="0"/>
              </a:spcBef>
              <a:spcAft>
                <a:spcPct val="0"/>
              </a:spcAft>
              <a:buClrTx/>
              <a:buSzTx/>
              <a:buFontTx/>
              <a:buNone/>
              <a:tabLst/>
              <a:defRPr/>
            </a:pPr>
            <a:r>
              <a:rPr kumimoji="0" lang="es-MX" sz="1800" b="1" i="0" u="none" strike="noStrike" kern="1200" cap="none" spc="0" normalizeH="0" baseline="0" noProof="0" dirty="0">
                <a:ln>
                  <a:noFill/>
                </a:ln>
                <a:solidFill>
                  <a:sysClr val="windowText" lastClr="000000"/>
                </a:solidFill>
                <a:effectLst/>
                <a:uLnTx/>
                <a:uFillTx/>
                <a:latin typeface="Calibri"/>
                <a:ea typeface="+mn-ea"/>
                <a:cs typeface="Arial" pitchFamily="34" charset="0"/>
              </a:rPr>
              <a:t>FROM </a:t>
            </a:r>
            <a:r>
              <a:rPr kumimoji="0" lang="es-MX" sz="1800" b="1" i="1" u="none" strike="noStrike" kern="1200" cap="none" spc="0" normalizeH="0" baseline="0" noProof="0" dirty="0">
                <a:ln>
                  <a:noFill/>
                </a:ln>
                <a:solidFill>
                  <a:sysClr val="windowText" lastClr="000000"/>
                </a:solidFill>
                <a:effectLst/>
                <a:uLnTx/>
                <a:uFillTx/>
                <a:latin typeface="Calibri"/>
                <a:ea typeface="+mn-ea"/>
                <a:cs typeface="Arial" pitchFamily="34" charset="0"/>
              </a:rPr>
              <a:t>tabla1 tb1 JOIN tabla1 tb2</a:t>
            </a:r>
          </a:p>
          <a:p>
            <a:pPr marL="0" marR="0" lvl="0" indent="0" defTabSz="914400" eaLnBrk="1" fontAlgn="base" latinLnBrk="0" hangingPunct="1">
              <a:lnSpc>
                <a:spcPct val="100000"/>
              </a:lnSpc>
              <a:spcBef>
                <a:spcPct val="0"/>
              </a:spcBef>
              <a:spcAft>
                <a:spcPct val="0"/>
              </a:spcAft>
              <a:buClrTx/>
              <a:buSzTx/>
              <a:buFontTx/>
              <a:buNone/>
              <a:tabLst/>
              <a:defRPr/>
            </a:pPr>
            <a:r>
              <a:rPr kumimoji="0" lang="es-MX" sz="1800" b="1" i="0" u="none" strike="noStrike" kern="1200" cap="none" spc="0" normalizeH="0" baseline="0" noProof="0" dirty="0">
                <a:ln>
                  <a:noFill/>
                </a:ln>
                <a:solidFill>
                  <a:srgbClr val="C00000"/>
                </a:solidFill>
                <a:effectLst/>
                <a:uLnTx/>
                <a:uFillTx/>
                <a:latin typeface="Calibri"/>
                <a:ea typeface="+mn-ea"/>
                <a:cs typeface="Arial" pitchFamily="34" charset="0"/>
              </a:rPr>
              <a:t>ON(</a:t>
            </a:r>
            <a:r>
              <a:rPr kumimoji="0" lang="es-MX" sz="1800" b="1" i="1" u="none" strike="noStrike" kern="1200" cap="none" spc="0" normalizeH="0" baseline="0" noProof="0" dirty="0">
                <a:ln>
                  <a:noFill/>
                </a:ln>
                <a:solidFill>
                  <a:srgbClr val="C00000"/>
                </a:solidFill>
                <a:effectLst/>
                <a:uLnTx/>
                <a:uFillTx/>
                <a:latin typeface="Calibri"/>
                <a:ea typeface="+mn-ea"/>
                <a:cs typeface="Arial" pitchFamily="34" charset="0"/>
              </a:rPr>
              <a:t>tb1.columa = tb2.columna</a:t>
            </a:r>
            <a:r>
              <a:rPr kumimoji="0" lang="es-MX" sz="1800" b="1" i="0" u="none" strike="noStrike" kern="1200" cap="none" spc="0" normalizeH="0" baseline="0" noProof="0" dirty="0">
                <a:ln>
                  <a:noFill/>
                </a:ln>
                <a:solidFill>
                  <a:srgbClr val="C00000"/>
                </a:solidFill>
                <a:effectLst/>
                <a:uLnTx/>
                <a:uFillTx/>
                <a:latin typeface="Calibri"/>
                <a:ea typeface="+mn-ea"/>
                <a:cs typeface="Arial" pitchFamily="34" charset="0"/>
              </a:rPr>
              <a:t>)</a:t>
            </a:r>
            <a:r>
              <a:rPr kumimoji="0" lang="es-MX" sz="1800" b="1" i="0" u="none" strike="noStrike" kern="1200" cap="none" spc="0" normalizeH="0" baseline="0" noProof="0" dirty="0">
                <a:ln>
                  <a:noFill/>
                </a:ln>
                <a:solidFill>
                  <a:sysClr val="windowText" lastClr="000000"/>
                </a:solidFill>
                <a:effectLst/>
                <a:uLnTx/>
                <a:uFillTx/>
                <a:latin typeface="Calibri"/>
                <a:ea typeface="+mn-ea"/>
                <a:cs typeface="Arial"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endParaRPr kumimoji="0" lang="en-US" sz="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pic>
        <p:nvPicPr>
          <p:cNvPr id="2" name="Imagen 1">
            <a:extLst>
              <a:ext uri="{FF2B5EF4-FFF2-40B4-BE49-F238E27FC236}">
                <a16:creationId xmlns:a16="http://schemas.microsoft.com/office/drawing/2014/main" xmlns="" id="{6E2342FE-B21B-4F86-8722-11CE794F824C}"/>
              </a:ext>
            </a:extLst>
          </p:cNvPr>
          <p:cNvPicPr>
            <a:picLocks noChangeAspect="1"/>
          </p:cNvPicPr>
          <p:nvPr/>
        </p:nvPicPr>
        <p:blipFill>
          <a:blip r:embed="rId3"/>
          <a:stretch>
            <a:fillRect/>
          </a:stretch>
        </p:blipFill>
        <p:spPr>
          <a:xfrm>
            <a:off x="3151509" y="1392841"/>
            <a:ext cx="2840982" cy="2243522"/>
          </a:xfrm>
          <a:prstGeom prst="rect">
            <a:avLst/>
          </a:prstGeom>
        </p:spPr>
      </p:pic>
    </p:spTree>
    <p:extLst>
      <p:ext uri="{BB962C8B-B14F-4D97-AF65-F5344CB8AC3E}">
        <p14:creationId xmlns:p14="http://schemas.microsoft.com/office/powerpoint/2010/main" val="39835189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xmlns="" id="{532F8F7C-62F6-AB45-8C6F-954F7E1DBD86}"/>
              </a:ext>
            </a:extLst>
          </p:cNvPr>
          <p:cNvSpPr>
            <a:spLocks noGrp="1"/>
          </p:cNvSpPr>
          <p:nvPr>
            <p:ph type="title"/>
          </p:nvPr>
        </p:nvSpPr>
        <p:spPr>
          <a:xfrm>
            <a:off x="1705943" y="224579"/>
            <a:ext cx="4647630" cy="813000"/>
          </a:xfrm>
        </p:spPr>
        <p:txBody>
          <a:bodyPr/>
          <a:lstStyle/>
          <a:p>
            <a:pPr lvl="0" defTabSz="457200">
              <a:defRPr/>
            </a:pPr>
            <a:r>
              <a:rPr lang="es-CL" sz="2800" b="1" dirty="0">
                <a:solidFill>
                  <a:prstClr val="white"/>
                </a:solidFill>
                <a:latin typeface="Calibri"/>
              </a:rPr>
              <a:t>Creando SELF-JOIN</a:t>
            </a:r>
          </a:p>
        </p:txBody>
      </p:sp>
      <p:sp>
        <p:nvSpPr>
          <p:cNvPr id="11" name="Rectangle 3">
            <a:extLst>
              <a:ext uri="{FF2B5EF4-FFF2-40B4-BE49-F238E27FC236}">
                <a16:creationId xmlns:a16="http://schemas.microsoft.com/office/drawing/2014/main" xmlns="" id="{0A6EC9E8-6765-4469-9887-5DE5173168F2}"/>
              </a:ext>
            </a:extLst>
          </p:cNvPr>
          <p:cNvSpPr txBox="1">
            <a:spLocks noChangeArrowheads="1"/>
          </p:cNvSpPr>
          <p:nvPr/>
        </p:nvSpPr>
        <p:spPr bwMode="auto">
          <a:xfrm>
            <a:off x="539180" y="1340768"/>
            <a:ext cx="7848600" cy="407988"/>
          </a:xfrm>
          <a:prstGeom prst="rect">
            <a:avLst/>
          </a:prstGeom>
          <a:noFill/>
          <a:ln w="9525">
            <a:noFill/>
            <a:miter lim="800000"/>
            <a:headEnd/>
            <a:tailEnd/>
          </a:ln>
        </p:spPr>
        <p:txBody>
          <a:bodyPr/>
          <a:lstStyle/>
          <a:p>
            <a:pPr marL="609600" indent="-609600" algn="just" defTabSz="457200" fontAlgn="base">
              <a:lnSpc>
                <a:spcPct val="80000"/>
              </a:lnSpc>
              <a:spcBef>
                <a:spcPct val="20000"/>
              </a:spcBef>
              <a:spcAft>
                <a:spcPct val="0"/>
              </a:spcAft>
              <a:buClrTx/>
              <a:buFont typeface="Arial" charset="0"/>
              <a:buChar char="•"/>
            </a:pPr>
            <a:r>
              <a:rPr lang="es-CL" sz="2000" kern="1200" dirty="0">
                <a:solidFill>
                  <a:prstClr val="black"/>
                </a:solidFill>
                <a:latin typeface="Calibri"/>
                <a:ea typeface="Arial Unicode MS"/>
                <a:cs typeface="Arial Unicode MS"/>
              </a:rPr>
              <a:t>Ejemplo:</a:t>
            </a: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Times New Roman" pitchFamily="18" charset="0"/>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Times New Roman" pitchFamily="18" charset="0"/>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Times New Roman" pitchFamily="18" charset="0"/>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Times New Roman" pitchFamily="18" charset="0"/>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1800" kern="1200" dirty="0">
              <a:solidFill>
                <a:prstClr val="black"/>
              </a:solidFill>
              <a:latin typeface="Times New Roman" pitchFamily="18" charset="0"/>
              <a:ea typeface="Arial Unicode MS"/>
              <a:cs typeface="Times New Roman" pitchFamily="18" charset="0"/>
            </a:endParaRPr>
          </a:p>
          <a:p>
            <a:pPr marL="609600" indent="-609600" algn="just" defTabSz="457200" fontAlgn="base">
              <a:lnSpc>
                <a:spcPct val="80000"/>
              </a:lnSpc>
              <a:spcBef>
                <a:spcPct val="20000"/>
              </a:spcBef>
              <a:spcAft>
                <a:spcPct val="0"/>
              </a:spcAft>
              <a:buClrTx/>
              <a:buFontTx/>
              <a:buNone/>
            </a:pPr>
            <a:endParaRPr lang="es-CL" sz="2000" kern="1200" dirty="0">
              <a:solidFill>
                <a:prstClr val="black"/>
              </a:solidFill>
              <a:latin typeface="Times New Roman" pitchFamily="18" charset="0"/>
              <a:ea typeface="Arial Unicode MS"/>
              <a:cs typeface="Times New Roman" pitchFamily="18" charset="0"/>
            </a:endParaRPr>
          </a:p>
        </p:txBody>
      </p:sp>
      <p:sp>
        <p:nvSpPr>
          <p:cNvPr id="12" name="Text Box 5">
            <a:extLst>
              <a:ext uri="{FF2B5EF4-FFF2-40B4-BE49-F238E27FC236}">
                <a16:creationId xmlns:a16="http://schemas.microsoft.com/office/drawing/2014/main" xmlns="" id="{492CB77D-412B-4ECD-822B-039D358D9495}"/>
              </a:ext>
            </a:extLst>
          </p:cNvPr>
          <p:cNvSpPr txBox="1">
            <a:spLocks noChangeArrowheads="1"/>
          </p:cNvSpPr>
          <p:nvPr/>
        </p:nvSpPr>
        <p:spPr bwMode="auto">
          <a:xfrm>
            <a:off x="395536" y="1642318"/>
            <a:ext cx="8496944" cy="1569660"/>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800" b="0" i="0" u="none" strike="noStrike" kern="1200" cap="none" spc="0" normalizeH="0" baseline="0" noProof="0" dirty="0">
              <a:ln>
                <a:noFill/>
              </a:ln>
              <a:solidFill>
                <a:prstClr val="black"/>
              </a:solidFill>
              <a:effectLst/>
              <a:uLnTx/>
              <a:uFillTx/>
              <a:latin typeface="Arial Black" pitchFamily="34" charset="0"/>
              <a:ea typeface="+mn-ea"/>
              <a:cs typeface="Arial" panose="020B0604020202020204" pitchFamily="34"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SELECT  </a:t>
            </a:r>
            <a:r>
              <a:rPr kumimoji="0" lang="en-U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e.employee_id</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"ID EMPLEADO", </a:t>
            </a:r>
            <a:r>
              <a:rPr kumimoji="0" lang="en-U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e.first_name || ' ' || e.last_name</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"NOMBRE EMPLEADO", </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0000FF"/>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e.manager_id</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"ID JEFE",  </a:t>
            </a:r>
            <a:r>
              <a:rPr kumimoji="0" lang="en-US" sz="1600" b="1" i="0" u="none" strike="noStrike" kern="1200" cap="none" spc="0" normalizeH="0" baseline="0" noProof="0" dirty="0" err="1">
                <a:ln>
                  <a:noFill/>
                </a:ln>
                <a:solidFill>
                  <a:srgbClr val="0000DE"/>
                </a:solidFill>
                <a:effectLst/>
                <a:uLnTx/>
                <a:uFillTx/>
                <a:latin typeface="Calibri"/>
                <a:ea typeface="+mn-ea"/>
                <a:cs typeface="Arial" panose="020B0604020202020204" pitchFamily="34" charset="0"/>
              </a:rPr>
              <a:t>m.first_name</a:t>
            </a:r>
            <a:r>
              <a:rPr kumimoji="0" lang="en-US" sz="1600" b="1" i="0" u="none" strike="noStrike" kern="1200" cap="none" spc="0" normalizeH="0" baseline="0" noProof="0" dirty="0">
                <a:ln>
                  <a:noFill/>
                </a:ln>
                <a:solidFill>
                  <a:srgbClr val="0000DE"/>
                </a:solidFill>
                <a:effectLst/>
                <a:uLnTx/>
                <a:uFillTx/>
                <a:latin typeface="Calibri"/>
                <a:ea typeface="+mn-ea"/>
                <a:cs typeface="Arial" panose="020B0604020202020204" pitchFamily="34" charset="0"/>
              </a:rPr>
              <a:t> || ' '  || </a:t>
            </a:r>
            <a:r>
              <a:rPr kumimoji="0" lang="en-US" sz="1600" b="1" i="0" u="none" strike="noStrike" kern="1200" cap="none" spc="0" normalizeH="0" baseline="0" noProof="0" dirty="0" err="1">
                <a:ln>
                  <a:noFill/>
                </a:ln>
                <a:solidFill>
                  <a:srgbClr val="0000DE"/>
                </a:solidFill>
                <a:effectLst/>
                <a:uLnTx/>
                <a:uFillTx/>
                <a:latin typeface="Calibri"/>
                <a:ea typeface="+mn-ea"/>
                <a:cs typeface="Arial" panose="020B0604020202020204" pitchFamily="34" charset="0"/>
              </a:rPr>
              <a:t>m.last_name</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"NOMBRE JEFE"</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FROM   </a:t>
            </a:r>
            <a:r>
              <a:rPr kumimoji="0" lang="en-U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employees e</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JOIN  </a:t>
            </a:r>
            <a:r>
              <a:rPr kumimoji="0" lang="en-US" sz="1600" b="1" i="0" u="none" strike="noStrike" kern="1200" cap="none" spc="0" normalizeH="0" baseline="0" noProof="0" dirty="0">
                <a:ln>
                  <a:noFill/>
                </a:ln>
                <a:solidFill>
                  <a:srgbClr val="0000DE"/>
                </a:solidFill>
                <a:effectLst/>
                <a:uLnTx/>
                <a:uFillTx/>
                <a:latin typeface="Calibri"/>
                <a:ea typeface="+mn-ea"/>
                <a:cs typeface="Arial" panose="020B0604020202020204" pitchFamily="34" charset="0"/>
              </a:rPr>
              <a:t>employees m</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ON (</a:t>
            </a:r>
            <a:r>
              <a:rPr kumimoji="0" lang="en-U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e.manager_id </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err="1">
                <a:ln>
                  <a:noFill/>
                </a:ln>
                <a:solidFill>
                  <a:srgbClr val="0000DE"/>
                </a:solidFill>
                <a:effectLst/>
                <a:uLnTx/>
                <a:uFillTx/>
                <a:latin typeface="Calibri"/>
                <a:ea typeface="+mn-ea"/>
                <a:cs typeface="Arial" panose="020B0604020202020204" pitchFamily="34" charset="0"/>
              </a:rPr>
              <a:t>m.employee_id</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ORDER BY </a:t>
            </a:r>
            <a:r>
              <a:rPr kumimoji="0" lang="en-U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e.employee_id</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1" i="0" u="none" strike="noStrike" kern="1200" cap="none" spc="0" normalizeH="0" baseline="0" noProof="0" dirty="0">
              <a:ln>
                <a:noFill/>
              </a:ln>
              <a:solidFill>
                <a:prstClr val="black"/>
              </a:solidFill>
              <a:effectLst/>
              <a:uLnTx/>
              <a:uFillTx/>
              <a:latin typeface="Arial Black" pitchFamily="34" charset="0"/>
              <a:ea typeface="+mn-ea"/>
              <a:cs typeface="Arial" panose="020B0604020202020204" pitchFamily="34" charset="0"/>
            </a:endParaRPr>
          </a:p>
        </p:txBody>
      </p:sp>
      <p:pic>
        <p:nvPicPr>
          <p:cNvPr id="13" name="Imagen 12">
            <a:extLst>
              <a:ext uri="{FF2B5EF4-FFF2-40B4-BE49-F238E27FC236}">
                <a16:creationId xmlns:a16="http://schemas.microsoft.com/office/drawing/2014/main" xmlns="" id="{D3AEADA2-CC61-4D0E-A666-F55017EB5AB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61514" y="3234688"/>
            <a:ext cx="4362457" cy="3567329"/>
          </a:xfrm>
          <a:prstGeom prst="rect">
            <a:avLst/>
          </a:prstGeom>
        </p:spPr>
      </p:pic>
    </p:spTree>
    <p:extLst>
      <p:ext uri="{BB962C8B-B14F-4D97-AF65-F5344CB8AC3E}">
        <p14:creationId xmlns:p14="http://schemas.microsoft.com/office/powerpoint/2010/main" val="35331362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xmlns="" id="{532F8F7C-62F6-AB45-8C6F-954F7E1DBD86}"/>
              </a:ext>
            </a:extLst>
          </p:cNvPr>
          <p:cNvSpPr>
            <a:spLocks noGrp="1"/>
          </p:cNvSpPr>
          <p:nvPr>
            <p:ph type="title"/>
          </p:nvPr>
        </p:nvSpPr>
        <p:spPr>
          <a:xfrm>
            <a:off x="1705943" y="224579"/>
            <a:ext cx="4647630" cy="813000"/>
          </a:xfrm>
        </p:spPr>
        <p:txBody>
          <a:bodyPr/>
          <a:lstStyle/>
          <a:p>
            <a:pPr lvl="0" defTabSz="457200">
              <a:defRPr/>
            </a:pPr>
            <a:r>
              <a:rPr lang="es-CL" sz="2800" b="1" dirty="0">
                <a:solidFill>
                  <a:prstClr val="white"/>
                </a:solidFill>
                <a:latin typeface="Calibri"/>
              </a:rPr>
              <a:t>Creando SELF-JOIN</a:t>
            </a:r>
          </a:p>
        </p:txBody>
      </p:sp>
      <p:pic>
        <p:nvPicPr>
          <p:cNvPr id="9" name="Imagen 8">
            <a:extLst>
              <a:ext uri="{FF2B5EF4-FFF2-40B4-BE49-F238E27FC236}">
                <a16:creationId xmlns:a16="http://schemas.microsoft.com/office/drawing/2014/main" xmlns="" id="{27D535E0-13F6-47FE-B2E5-AF7BBCA0031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99792" y="3511987"/>
            <a:ext cx="3240360" cy="3144404"/>
          </a:xfrm>
          <a:prstGeom prst="rect">
            <a:avLst/>
          </a:prstGeom>
        </p:spPr>
      </p:pic>
      <p:sp>
        <p:nvSpPr>
          <p:cNvPr id="10" name="Rectangle 3">
            <a:extLst>
              <a:ext uri="{FF2B5EF4-FFF2-40B4-BE49-F238E27FC236}">
                <a16:creationId xmlns:a16="http://schemas.microsoft.com/office/drawing/2014/main" xmlns="" id="{4D60DBA1-873C-4570-8221-1F1AD227105D}"/>
              </a:ext>
            </a:extLst>
          </p:cNvPr>
          <p:cNvSpPr txBox="1">
            <a:spLocks noChangeArrowheads="1"/>
          </p:cNvSpPr>
          <p:nvPr/>
        </p:nvSpPr>
        <p:spPr bwMode="auto">
          <a:xfrm>
            <a:off x="611188" y="1340768"/>
            <a:ext cx="7848600" cy="407988"/>
          </a:xfrm>
          <a:prstGeom prst="rect">
            <a:avLst/>
          </a:prstGeom>
          <a:noFill/>
          <a:ln w="9525">
            <a:noFill/>
            <a:miter lim="800000"/>
            <a:headEnd/>
            <a:tailEnd/>
          </a:ln>
        </p:spPr>
        <p:txBody>
          <a:bodyPr/>
          <a:lstStyle/>
          <a:p>
            <a:pPr marL="609600" indent="-609600" algn="just" defTabSz="457200" fontAlgn="base">
              <a:lnSpc>
                <a:spcPct val="80000"/>
              </a:lnSpc>
              <a:spcBef>
                <a:spcPct val="20000"/>
              </a:spcBef>
              <a:spcAft>
                <a:spcPct val="0"/>
              </a:spcAft>
              <a:buClrTx/>
              <a:buFont typeface="Arial" charset="0"/>
              <a:buChar char="•"/>
            </a:pPr>
            <a:r>
              <a:rPr lang="es-CL" sz="2000" kern="1200" dirty="0">
                <a:solidFill>
                  <a:prstClr val="black"/>
                </a:solidFill>
                <a:latin typeface="Calibri"/>
                <a:ea typeface="Arial Unicode MS"/>
                <a:cs typeface="Arial Unicode MS"/>
              </a:rPr>
              <a:t>Ejemplo:</a:t>
            </a: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Times New Roman" pitchFamily="18" charset="0"/>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Times New Roman" pitchFamily="18" charset="0"/>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Times New Roman" pitchFamily="18" charset="0"/>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Times New Roman" pitchFamily="18" charset="0"/>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1800" kern="1200" dirty="0">
              <a:solidFill>
                <a:prstClr val="black"/>
              </a:solidFill>
              <a:latin typeface="Times New Roman" pitchFamily="18" charset="0"/>
              <a:ea typeface="Arial Unicode MS"/>
              <a:cs typeface="Times New Roman" pitchFamily="18" charset="0"/>
            </a:endParaRPr>
          </a:p>
          <a:p>
            <a:pPr marL="609600" indent="-609600" algn="just" defTabSz="457200" fontAlgn="base">
              <a:lnSpc>
                <a:spcPct val="80000"/>
              </a:lnSpc>
              <a:spcBef>
                <a:spcPct val="20000"/>
              </a:spcBef>
              <a:spcAft>
                <a:spcPct val="0"/>
              </a:spcAft>
              <a:buClrTx/>
              <a:buFontTx/>
              <a:buNone/>
            </a:pPr>
            <a:endParaRPr lang="es-CL" sz="2000" kern="1200" dirty="0">
              <a:solidFill>
                <a:prstClr val="black"/>
              </a:solidFill>
              <a:latin typeface="Times New Roman" pitchFamily="18" charset="0"/>
              <a:ea typeface="Arial Unicode MS"/>
              <a:cs typeface="Times New Roman" pitchFamily="18" charset="0"/>
            </a:endParaRPr>
          </a:p>
        </p:txBody>
      </p:sp>
      <p:sp>
        <p:nvSpPr>
          <p:cNvPr id="14" name="Text Box 5">
            <a:extLst>
              <a:ext uri="{FF2B5EF4-FFF2-40B4-BE49-F238E27FC236}">
                <a16:creationId xmlns:a16="http://schemas.microsoft.com/office/drawing/2014/main" xmlns="" id="{B751B38A-B6E3-4DC9-8754-F4E7601FE14F}"/>
              </a:ext>
            </a:extLst>
          </p:cNvPr>
          <p:cNvSpPr txBox="1">
            <a:spLocks noChangeArrowheads="1"/>
          </p:cNvSpPr>
          <p:nvPr/>
        </p:nvSpPr>
        <p:spPr bwMode="auto">
          <a:xfrm>
            <a:off x="1187624" y="1642318"/>
            <a:ext cx="7272808" cy="1815882"/>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800" b="0" i="0" u="none" strike="noStrike" kern="1200" cap="none" spc="0" normalizeH="0" baseline="0" noProof="0" dirty="0">
              <a:ln>
                <a:noFill/>
              </a:ln>
              <a:solidFill>
                <a:prstClr val="black"/>
              </a:solidFill>
              <a:effectLst/>
              <a:uLnTx/>
              <a:uFillTx/>
              <a:latin typeface="Arial Black" pitchFamily="34" charset="0"/>
              <a:ea typeface="+mn-ea"/>
              <a:cs typeface="Arial" panose="020B0604020202020204" pitchFamily="34"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SELECT </a:t>
            </a:r>
            <a:r>
              <a:rPr kumimoji="0" lang="en-US" sz="1600" b="1" i="0" u="none" strike="noStrike" kern="1200" cap="none" spc="0" normalizeH="0" baseline="0" noProof="0" dirty="0" err="1">
                <a:ln>
                  <a:noFill/>
                </a:ln>
                <a:solidFill>
                  <a:srgbClr val="0000DE"/>
                </a:solidFill>
                <a:effectLst/>
                <a:uLnTx/>
                <a:uFillTx/>
                <a:latin typeface="Calibri"/>
                <a:ea typeface="+mn-ea"/>
                <a:cs typeface="Arial" panose="020B0604020202020204" pitchFamily="34" charset="0"/>
              </a:rPr>
              <a:t>man.first_name</a:t>
            </a:r>
            <a:r>
              <a:rPr kumimoji="0" lang="en-US" sz="1600" b="1" i="0" u="none" strike="noStrike" kern="1200" cap="none" spc="0" normalizeH="0" baseline="0" noProof="0" dirty="0">
                <a:ln>
                  <a:noFill/>
                </a:ln>
                <a:solidFill>
                  <a:srgbClr val="0000DE"/>
                </a:solidFill>
                <a:effectLst/>
                <a:uLnTx/>
                <a:uFillTx/>
                <a:latin typeface="Calibri"/>
                <a:ea typeface="+mn-ea"/>
                <a:cs typeface="Arial" panose="020B0604020202020204" pitchFamily="34" charset="0"/>
              </a:rPr>
              <a:t> || ' '  || </a:t>
            </a:r>
            <a:r>
              <a:rPr kumimoji="0" lang="en-US" sz="1600" b="1" i="0" u="none" strike="noStrike" kern="1200" cap="none" spc="0" normalizeH="0" baseline="0" noProof="0" dirty="0" err="1">
                <a:ln>
                  <a:noFill/>
                </a:ln>
                <a:solidFill>
                  <a:srgbClr val="0000DE"/>
                </a:solidFill>
                <a:effectLst/>
                <a:uLnTx/>
                <a:uFillTx/>
                <a:latin typeface="Calibri"/>
                <a:ea typeface="+mn-ea"/>
                <a:cs typeface="Arial" panose="020B0604020202020204" pitchFamily="34" charset="0"/>
              </a:rPr>
              <a:t>man.last_name</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"NOMBRE JEFE", </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COUNT(</a:t>
            </a:r>
            <a:r>
              <a:rPr kumimoji="0" lang="en-U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emp.employee_id</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"EMPLEADOS A SU CARGO"</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FROM   </a:t>
            </a:r>
            <a:r>
              <a:rPr kumimoji="0" lang="en-U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employees emp</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JOIN  </a:t>
            </a:r>
            <a:r>
              <a:rPr kumimoji="0" lang="en-US" sz="1600" b="1" i="0" u="none" strike="noStrike" kern="1200" cap="none" spc="0" normalizeH="0" baseline="0" noProof="0" dirty="0">
                <a:ln>
                  <a:noFill/>
                </a:ln>
                <a:solidFill>
                  <a:srgbClr val="0000DE"/>
                </a:solidFill>
                <a:effectLst/>
                <a:uLnTx/>
                <a:uFillTx/>
                <a:latin typeface="Calibri"/>
                <a:ea typeface="+mn-ea"/>
                <a:cs typeface="Arial" panose="020B0604020202020204" pitchFamily="34" charset="0"/>
              </a:rPr>
              <a:t>employees man</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ON (</a:t>
            </a:r>
            <a:r>
              <a:rPr kumimoji="0" lang="en-US" sz="1600" b="1" i="0" u="none" strike="noStrike" kern="1200" cap="none" spc="0" normalizeH="0" baseline="0" noProof="0" dirty="0" err="1">
                <a:ln>
                  <a:noFill/>
                </a:ln>
                <a:solidFill>
                  <a:srgbClr val="C00000"/>
                </a:solidFill>
                <a:effectLst/>
                <a:uLnTx/>
                <a:uFillTx/>
                <a:latin typeface="Calibri"/>
                <a:ea typeface="+mn-ea"/>
                <a:cs typeface="Arial" panose="020B0604020202020204" pitchFamily="34" charset="0"/>
              </a:rPr>
              <a:t>emp.manager_id</a:t>
            </a:r>
            <a:r>
              <a:rPr kumimoji="0" lang="en-U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err="1">
                <a:ln>
                  <a:noFill/>
                </a:ln>
                <a:solidFill>
                  <a:srgbClr val="0000DE"/>
                </a:solidFill>
                <a:effectLst/>
                <a:uLnTx/>
                <a:uFillTx/>
                <a:latin typeface="Calibri"/>
                <a:ea typeface="+mn-ea"/>
                <a:cs typeface="Arial" panose="020B0604020202020204" pitchFamily="34" charset="0"/>
              </a:rPr>
              <a:t>man.employee_id</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GROUP BY </a:t>
            </a:r>
            <a:r>
              <a:rPr kumimoji="0" lang="en-US" sz="1600" b="1" i="0" u="none" strike="noStrike" kern="1200" cap="none" spc="0" normalizeH="0" baseline="0" noProof="0" dirty="0" err="1">
                <a:ln>
                  <a:noFill/>
                </a:ln>
                <a:solidFill>
                  <a:srgbClr val="0000DE"/>
                </a:solidFill>
                <a:effectLst/>
                <a:uLnTx/>
                <a:uFillTx/>
                <a:latin typeface="Calibri"/>
                <a:ea typeface="+mn-ea"/>
                <a:cs typeface="Arial" panose="020B0604020202020204" pitchFamily="34" charset="0"/>
              </a:rPr>
              <a:t>man.first_name</a:t>
            </a:r>
            <a:r>
              <a:rPr kumimoji="0" lang="en-US" sz="1600" b="1" i="0" u="none" strike="noStrike" kern="1200" cap="none" spc="0" normalizeH="0" baseline="0" noProof="0" dirty="0">
                <a:ln>
                  <a:noFill/>
                </a:ln>
                <a:solidFill>
                  <a:srgbClr val="0000DE"/>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err="1">
                <a:ln>
                  <a:noFill/>
                </a:ln>
                <a:solidFill>
                  <a:srgbClr val="0000DE"/>
                </a:solidFill>
                <a:effectLst/>
                <a:uLnTx/>
                <a:uFillTx/>
                <a:latin typeface="Calibri"/>
                <a:ea typeface="+mn-ea"/>
                <a:cs typeface="Arial" panose="020B0604020202020204" pitchFamily="34" charset="0"/>
              </a:rPr>
              <a:t>man.last_name</a:t>
            </a:r>
            <a:endPar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ORDER BY "EMPLEADOS A SU CARGO" DESC, </a:t>
            </a:r>
            <a:r>
              <a:rPr kumimoji="0" lang="en-US" sz="1600" b="1" i="0" u="none" strike="noStrike" kern="1200" cap="none" spc="0" normalizeH="0" baseline="0" noProof="0" dirty="0" err="1">
                <a:ln>
                  <a:noFill/>
                </a:ln>
                <a:solidFill>
                  <a:srgbClr val="0000DE"/>
                </a:solidFill>
                <a:effectLst/>
                <a:uLnTx/>
                <a:uFillTx/>
                <a:latin typeface="Calibri"/>
                <a:ea typeface="+mn-ea"/>
                <a:cs typeface="Arial" panose="020B0604020202020204" pitchFamily="34" charset="0"/>
              </a:rPr>
              <a:t>man.last_name</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p>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1" i="0" u="none" strike="noStrike" kern="1200" cap="none" spc="0" normalizeH="0" baseline="0" noProof="0" dirty="0">
              <a:ln>
                <a:noFill/>
              </a:ln>
              <a:solidFill>
                <a:prstClr val="black"/>
              </a:solidFill>
              <a:effectLst/>
              <a:uLnTx/>
              <a:uFillTx/>
              <a:latin typeface="Arial Black" pitchFamily="34" charset="0"/>
              <a:ea typeface="+mn-ea"/>
              <a:cs typeface="Arial" panose="020B0604020202020204" pitchFamily="34" charset="0"/>
            </a:endParaRPr>
          </a:p>
        </p:txBody>
      </p:sp>
    </p:spTree>
    <p:extLst>
      <p:ext uri="{BB962C8B-B14F-4D97-AF65-F5344CB8AC3E}">
        <p14:creationId xmlns:p14="http://schemas.microsoft.com/office/powerpoint/2010/main" val="36235899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xmlns="" id="{EDC79705-AA77-4923-A6F8-C119BBC6A108}"/>
              </a:ext>
            </a:extLst>
          </p:cNvPr>
          <p:cNvPicPr>
            <a:picLocks noChangeAspect="1"/>
          </p:cNvPicPr>
          <p:nvPr/>
        </p:nvPicPr>
        <p:blipFill>
          <a:blip r:embed="rId3"/>
          <a:stretch>
            <a:fillRect/>
          </a:stretch>
        </p:blipFill>
        <p:spPr>
          <a:xfrm>
            <a:off x="197369" y="1348740"/>
            <a:ext cx="8711939" cy="4944285"/>
          </a:xfrm>
          <a:prstGeom prst="rect">
            <a:avLst/>
          </a:prstGeom>
        </p:spPr>
      </p:pic>
      <p:sp>
        <p:nvSpPr>
          <p:cNvPr id="19" name="Título 2">
            <a:extLst>
              <a:ext uri="{FF2B5EF4-FFF2-40B4-BE49-F238E27FC236}">
                <a16:creationId xmlns:a16="http://schemas.microsoft.com/office/drawing/2014/main" xmlns="" id="{033F91E4-7224-49A2-97D5-EE977F57AFEB}"/>
              </a:ext>
            </a:extLst>
          </p:cNvPr>
          <p:cNvSpPr>
            <a:spLocks noGrp="1"/>
          </p:cNvSpPr>
          <p:nvPr>
            <p:ph type="title"/>
          </p:nvPr>
        </p:nvSpPr>
        <p:spPr>
          <a:xfrm>
            <a:off x="1612638" y="224579"/>
            <a:ext cx="4647630" cy="813000"/>
          </a:xfrm>
        </p:spPr>
        <p:txBody>
          <a:bodyPr/>
          <a:lstStyle/>
          <a:p>
            <a:pPr lvl="0" defTabSz="457200">
              <a:defRPr/>
            </a:pPr>
            <a:r>
              <a:rPr lang="es-CL" sz="2800" b="1" dirty="0">
                <a:solidFill>
                  <a:prstClr val="white"/>
                </a:solidFill>
                <a:latin typeface="Calibri"/>
              </a:rPr>
              <a:t>Creando un NONEQUIJOINS</a:t>
            </a:r>
          </a:p>
        </p:txBody>
      </p:sp>
    </p:spTree>
    <p:extLst>
      <p:ext uri="{BB962C8B-B14F-4D97-AF65-F5344CB8AC3E}">
        <p14:creationId xmlns:p14="http://schemas.microsoft.com/office/powerpoint/2010/main" val="5912133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a:extLst>
              <a:ext uri="{FF2B5EF4-FFF2-40B4-BE49-F238E27FC236}">
                <a16:creationId xmlns:a16="http://schemas.microsoft.com/office/drawing/2014/main" xmlns="" id="{DA5616CF-6983-4321-B08D-418D05D4CF93}"/>
              </a:ext>
            </a:extLst>
          </p:cNvPr>
          <p:cNvSpPr txBox="1">
            <a:spLocks noChangeArrowheads="1"/>
          </p:cNvSpPr>
          <p:nvPr/>
        </p:nvSpPr>
        <p:spPr bwMode="auto">
          <a:xfrm>
            <a:off x="611560" y="4122533"/>
            <a:ext cx="8459787" cy="360363"/>
          </a:xfrm>
          <a:prstGeom prst="rect">
            <a:avLst/>
          </a:prstGeom>
          <a:noFill/>
          <a:ln w="9525">
            <a:noFill/>
            <a:miter lim="800000"/>
            <a:headEnd/>
            <a:tailEnd/>
          </a:ln>
        </p:spPr>
        <p:txBody>
          <a:bodyPr/>
          <a:lstStyle/>
          <a:p>
            <a:pPr marL="609600" indent="-609600" algn="just" defTabSz="457200" fontAlgn="base">
              <a:lnSpc>
                <a:spcPct val="80000"/>
              </a:lnSpc>
              <a:spcBef>
                <a:spcPct val="20000"/>
              </a:spcBef>
              <a:spcAft>
                <a:spcPct val="0"/>
              </a:spcAft>
              <a:buClrTx/>
              <a:buFont typeface="Arial" charset="0"/>
              <a:buChar char="•"/>
            </a:pPr>
            <a:r>
              <a:rPr lang="es-CL" sz="2000" kern="1200" dirty="0">
                <a:solidFill>
                  <a:prstClr val="black"/>
                </a:solidFill>
                <a:latin typeface="Calibri"/>
                <a:ea typeface="Arial Unicode MS"/>
                <a:cs typeface="Times New Roman" pitchFamily="18" charset="0"/>
              </a:rPr>
              <a:t>Sintaxis:</a:t>
            </a:r>
          </a:p>
          <a:p>
            <a:pPr marL="609600" indent="-609600" algn="just" defTabSz="457200" fontAlgn="base">
              <a:lnSpc>
                <a:spcPct val="80000"/>
              </a:lnSpc>
              <a:spcBef>
                <a:spcPct val="20000"/>
              </a:spcBef>
              <a:spcAft>
                <a:spcPct val="0"/>
              </a:spcAft>
              <a:buClrTx/>
              <a:buFont typeface="Arial" charset="0"/>
              <a:buChar char="•"/>
            </a:pPr>
            <a:endParaRPr lang="es-CL" sz="1800" kern="1200" dirty="0">
              <a:solidFill>
                <a:prstClr val="black"/>
              </a:solidFill>
              <a:latin typeface="Arial" panose="020B0604020202020204" pitchFamily="34" charset="0"/>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Times New Roman" pitchFamily="18" charset="0"/>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Times New Roman" pitchFamily="18" charset="0"/>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Times New Roman" pitchFamily="18" charset="0"/>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Times New Roman" pitchFamily="18" charset="0"/>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900" kern="1200" dirty="0">
              <a:solidFill>
                <a:prstClr val="black"/>
              </a:solidFill>
              <a:latin typeface="Times New Roman" pitchFamily="18" charset="0"/>
              <a:ea typeface="Arial Unicode MS"/>
              <a:cs typeface="Times New Roman" pitchFamily="18" charset="0"/>
            </a:endParaRPr>
          </a:p>
        </p:txBody>
      </p:sp>
      <p:sp>
        <p:nvSpPr>
          <p:cNvPr id="7" name="Text Box 5">
            <a:extLst>
              <a:ext uri="{FF2B5EF4-FFF2-40B4-BE49-F238E27FC236}">
                <a16:creationId xmlns:a16="http://schemas.microsoft.com/office/drawing/2014/main" xmlns="" id="{B434DCA9-16E5-41CC-BE35-E87E48695AEE}"/>
              </a:ext>
            </a:extLst>
          </p:cNvPr>
          <p:cNvSpPr txBox="1">
            <a:spLocks noChangeArrowheads="1"/>
          </p:cNvSpPr>
          <p:nvPr/>
        </p:nvSpPr>
        <p:spPr bwMode="auto">
          <a:xfrm>
            <a:off x="1245844" y="4445574"/>
            <a:ext cx="7025134" cy="1169551"/>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s-MX" sz="1800" b="1" i="0" u="none" strike="noStrike" kern="1200" cap="none" spc="0" normalizeH="0" baseline="0" noProof="0" dirty="0">
                <a:ln>
                  <a:noFill/>
                </a:ln>
                <a:solidFill>
                  <a:sysClr val="windowText" lastClr="000000"/>
                </a:solidFill>
                <a:effectLst/>
                <a:uLnTx/>
                <a:uFillTx/>
                <a:latin typeface="Calibri"/>
                <a:ea typeface="+mn-ea"/>
                <a:cs typeface="Arial" pitchFamily="34" charset="0"/>
              </a:rPr>
              <a:t>SELECT </a:t>
            </a:r>
            <a:r>
              <a:rPr kumimoji="0" lang="es-MX" sz="1800" b="1" i="1" u="none" strike="noStrike" kern="1200" cap="none" spc="0" normalizeH="0" baseline="0" noProof="0" dirty="0">
                <a:ln>
                  <a:noFill/>
                </a:ln>
                <a:solidFill>
                  <a:sysClr val="windowText" lastClr="000000"/>
                </a:solidFill>
                <a:effectLst/>
                <a:uLnTx/>
                <a:uFillTx/>
                <a:latin typeface="Calibri"/>
                <a:ea typeface="+mn-ea"/>
                <a:cs typeface="Arial" pitchFamily="34" charset="0"/>
              </a:rPr>
              <a:t>tb1.columna1, tb1.columna2, tb2.columna1, tb2.columna2,... </a:t>
            </a:r>
          </a:p>
          <a:p>
            <a:pPr marL="0" marR="0" lvl="0" indent="0" defTabSz="914400" eaLnBrk="1" fontAlgn="base" latinLnBrk="0" hangingPunct="1">
              <a:lnSpc>
                <a:spcPct val="100000"/>
              </a:lnSpc>
              <a:spcBef>
                <a:spcPct val="0"/>
              </a:spcBef>
              <a:spcAft>
                <a:spcPct val="0"/>
              </a:spcAft>
              <a:buClrTx/>
              <a:buSzTx/>
              <a:buFontTx/>
              <a:buNone/>
              <a:tabLst/>
              <a:defRPr/>
            </a:pPr>
            <a:r>
              <a:rPr kumimoji="0" lang="es-MX" sz="1800" b="1" i="0" u="none" strike="noStrike" kern="1200" cap="none" spc="0" normalizeH="0" baseline="0" noProof="0" dirty="0">
                <a:ln>
                  <a:noFill/>
                </a:ln>
                <a:solidFill>
                  <a:sysClr val="windowText" lastClr="000000"/>
                </a:solidFill>
                <a:effectLst/>
                <a:uLnTx/>
                <a:uFillTx/>
                <a:latin typeface="Calibri"/>
                <a:ea typeface="+mn-ea"/>
                <a:cs typeface="Arial" pitchFamily="34" charset="0"/>
              </a:rPr>
              <a:t>FROM </a:t>
            </a:r>
            <a:r>
              <a:rPr kumimoji="0" lang="es-MX" sz="1800" b="1" i="1" u="none" strike="noStrike" kern="1200" cap="none" spc="0" normalizeH="0" baseline="0" noProof="0" dirty="0">
                <a:ln>
                  <a:noFill/>
                </a:ln>
                <a:solidFill>
                  <a:sysClr val="windowText" lastClr="000000"/>
                </a:solidFill>
                <a:effectLst/>
                <a:uLnTx/>
                <a:uFillTx/>
                <a:latin typeface="Calibri"/>
                <a:ea typeface="+mn-ea"/>
                <a:cs typeface="Arial" pitchFamily="34" charset="0"/>
              </a:rPr>
              <a:t>tabla1 tb1 JOIN tabla2 tb2</a:t>
            </a:r>
          </a:p>
          <a:p>
            <a:pPr marL="0" marR="0" lvl="0" indent="0" defTabSz="914400" eaLnBrk="1" fontAlgn="base" latinLnBrk="0" hangingPunct="1">
              <a:lnSpc>
                <a:spcPct val="100000"/>
              </a:lnSpc>
              <a:spcBef>
                <a:spcPct val="0"/>
              </a:spcBef>
              <a:spcAft>
                <a:spcPct val="0"/>
              </a:spcAft>
              <a:buClrTx/>
              <a:buSzTx/>
              <a:buFontTx/>
              <a:buNone/>
              <a:tabLst/>
              <a:defRPr/>
            </a:pPr>
            <a:r>
              <a:rPr kumimoji="0" lang="es-MX" sz="1800" b="1" i="0" u="none" strike="noStrike" kern="1200" cap="none" spc="0" normalizeH="0" baseline="0" noProof="0" dirty="0">
                <a:ln>
                  <a:noFill/>
                </a:ln>
                <a:solidFill>
                  <a:srgbClr val="C00000"/>
                </a:solidFill>
                <a:effectLst/>
                <a:uLnTx/>
                <a:uFillTx/>
                <a:latin typeface="Calibri"/>
                <a:ea typeface="+mn-ea"/>
                <a:cs typeface="Arial" pitchFamily="34" charset="0"/>
              </a:rPr>
              <a:t>ON(</a:t>
            </a:r>
            <a:r>
              <a:rPr kumimoji="0" lang="es-MX" sz="1800" b="1" i="1" u="none" strike="noStrike" kern="1200" cap="none" spc="0" normalizeH="0" baseline="0" noProof="0" dirty="0">
                <a:ln>
                  <a:noFill/>
                </a:ln>
                <a:solidFill>
                  <a:srgbClr val="C00000"/>
                </a:solidFill>
                <a:effectLst/>
                <a:uLnTx/>
                <a:uFillTx/>
                <a:latin typeface="Calibri"/>
                <a:ea typeface="+mn-ea"/>
                <a:cs typeface="Arial" pitchFamily="34" charset="0"/>
              </a:rPr>
              <a:t>tb1.columa </a:t>
            </a:r>
            <a:r>
              <a:rPr lang="es-MX" sz="1800" b="1" kern="1200" dirty="0">
                <a:solidFill>
                  <a:srgbClr val="C00000"/>
                </a:solidFill>
                <a:latin typeface="Calibri"/>
                <a:ea typeface="+mn-ea"/>
                <a:cs typeface="Arial" pitchFamily="34" charset="0"/>
              </a:rPr>
              <a:t>[</a:t>
            </a:r>
            <a:r>
              <a:rPr kumimoji="0" lang="es-MX" sz="1800" b="1" u="none" strike="noStrike" kern="1200" cap="none" spc="0" normalizeH="0" baseline="0" noProof="0" dirty="0">
                <a:ln>
                  <a:noFill/>
                </a:ln>
                <a:solidFill>
                  <a:srgbClr val="C00000"/>
                </a:solidFill>
                <a:effectLst/>
                <a:uLnTx/>
                <a:uFillTx/>
                <a:latin typeface="Calibri"/>
                <a:ea typeface="+mn-ea"/>
                <a:cs typeface="Arial" pitchFamily="34" charset="0"/>
              </a:rPr>
              <a:t>BETWEEN | &gt;| &lt; | &lt;&gt; | …]</a:t>
            </a:r>
            <a:r>
              <a:rPr kumimoji="0" lang="es-MX" sz="1800" b="1" i="1" u="none" strike="noStrike" kern="1200" cap="none" spc="0" normalizeH="0" baseline="0" noProof="0" dirty="0">
                <a:ln>
                  <a:noFill/>
                </a:ln>
                <a:solidFill>
                  <a:srgbClr val="C00000"/>
                </a:solidFill>
                <a:effectLst/>
                <a:uLnTx/>
                <a:uFillTx/>
                <a:latin typeface="Calibri"/>
                <a:ea typeface="+mn-ea"/>
                <a:cs typeface="Arial" pitchFamily="34" charset="0"/>
              </a:rPr>
              <a:t> tb2.columna</a:t>
            </a:r>
            <a:r>
              <a:rPr kumimoji="0" lang="es-MX" sz="1800" b="1" i="0" u="none" strike="noStrike" kern="1200" cap="none" spc="0" normalizeH="0" baseline="0" noProof="0" dirty="0">
                <a:ln>
                  <a:noFill/>
                </a:ln>
                <a:solidFill>
                  <a:srgbClr val="C00000"/>
                </a:solidFill>
                <a:effectLst/>
                <a:uLnTx/>
                <a:uFillTx/>
                <a:latin typeface="Calibri"/>
                <a:ea typeface="+mn-ea"/>
                <a:cs typeface="Arial" pitchFamily="34" charset="0"/>
              </a:rPr>
              <a:t>)</a:t>
            </a:r>
            <a:r>
              <a:rPr kumimoji="0" lang="es-MX" sz="1800" b="1" i="0" u="none" strike="noStrike" kern="1200" cap="none" spc="0" normalizeH="0" baseline="0" noProof="0" dirty="0">
                <a:ln>
                  <a:noFill/>
                </a:ln>
                <a:solidFill>
                  <a:sysClr val="windowText" lastClr="000000"/>
                </a:solidFill>
                <a:effectLst/>
                <a:uLnTx/>
                <a:uFillTx/>
                <a:latin typeface="Calibri"/>
                <a:ea typeface="+mn-ea"/>
                <a:cs typeface="Arial"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endParaRPr kumimoji="0" lang="en-US" sz="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8" name="Título 2">
            <a:extLst>
              <a:ext uri="{FF2B5EF4-FFF2-40B4-BE49-F238E27FC236}">
                <a16:creationId xmlns:a16="http://schemas.microsoft.com/office/drawing/2014/main" xmlns="" id="{AC506D45-C70E-4256-ACFD-BFE4DE014334}"/>
              </a:ext>
            </a:extLst>
          </p:cNvPr>
          <p:cNvSpPr>
            <a:spLocks noGrp="1"/>
          </p:cNvSpPr>
          <p:nvPr>
            <p:ph type="title"/>
          </p:nvPr>
        </p:nvSpPr>
        <p:spPr>
          <a:xfrm>
            <a:off x="1612638" y="224579"/>
            <a:ext cx="4647630" cy="813000"/>
          </a:xfrm>
        </p:spPr>
        <p:txBody>
          <a:bodyPr/>
          <a:lstStyle/>
          <a:p>
            <a:pPr lvl="0" defTabSz="457200">
              <a:defRPr/>
            </a:pPr>
            <a:r>
              <a:rPr lang="es-CL" sz="2800" b="1" dirty="0">
                <a:solidFill>
                  <a:prstClr val="white"/>
                </a:solidFill>
                <a:latin typeface="Calibri"/>
              </a:rPr>
              <a:t>Creando un NONEQUIJOINS</a:t>
            </a:r>
          </a:p>
        </p:txBody>
      </p:sp>
      <p:pic>
        <p:nvPicPr>
          <p:cNvPr id="11" name="Imagen 10">
            <a:extLst>
              <a:ext uri="{FF2B5EF4-FFF2-40B4-BE49-F238E27FC236}">
                <a16:creationId xmlns:a16="http://schemas.microsoft.com/office/drawing/2014/main" xmlns="" id="{75F026D8-4888-4084-B62F-9CE52449AFD4}"/>
              </a:ext>
            </a:extLst>
          </p:cNvPr>
          <p:cNvPicPr>
            <a:picLocks noChangeAspect="1"/>
          </p:cNvPicPr>
          <p:nvPr/>
        </p:nvPicPr>
        <p:blipFill>
          <a:blip r:embed="rId3"/>
          <a:stretch>
            <a:fillRect/>
          </a:stretch>
        </p:blipFill>
        <p:spPr>
          <a:xfrm>
            <a:off x="2332789" y="1068242"/>
            <a:ext cx="4385252" cy="3012769"/>
          </a:xfrm>
          <a:prstGeom prst="rect">
            <a:avLst/>
          </a:prstGeom>
        </p:spPr>
      </p:pic>
    </p:spTree>
    <p:extLst>
      <p:ext uri="{BB962C8B-B14F-4D97-AF65-F5344CB8AC3E}">
        <p14:creationId xmlns:p14="http://schemas.microsoft.com/office/powerpoint/2010/main" val="24674394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xmlns="" id="{532F8F7C-62F6-AB45-8C6F-954F7E1DBD86}"/>
              </a:ext>
            </a:extLst>
          </p:cNvPr>
          <p:cNvSpPr>
            <a:spLocks noGrp="1"/>
          </p:cNvSpPr>
          <p:nvPr>
            <p:ph type="title"/>
          </p:nvPr>
        </p:nvSpPr>
        <p:spPr>
          <a:xfrm>
            <a:off x="1705943" y="224579"/>
            <a:ext cx="4647630" cy="813000"/>
          </a:xfrm>
        </p:spPr>
        <p:txBody>
          <a:bodyPr/>
          <a:lstStyle/>
          <a:p>
            <a:pPr lvl="0" defTabSz="457200">
              <a:defRPr/>
            </a:pPr>
            <a:r>
              <a:rPr lang="es-CL" sz="2800" b="1" dirty="0">
                <a:solidFill>
                  <a:prstClr val="white"/>
                </a:solidFill>
                <a:latin typeface="Calibri"/>
              </a:rPr>
              <a:t>Creando un NONEQUIJOINS</a:t>
            </a:r>
          </a:p>
        </p:txBody>
      </p:sp>
      <p:pic>
        <p:nvPicPr>
          <p:cNvPr id="11" name="Imagen 10">
            <a:extLst>
              <a:ext uri="{FF2B5EF4-FFF2-40B4-BE49-F238E27FC236}">
                <a16:creationId xmlns:a16="http://schemas.microsoft.com/office/drawing/2014/main" xmlns="" id="{B2F9CCA4-EB89-43CB-8877-8D5D7FA3DE4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01023" y="3642892"/>
            <a:ext cx="4484687" cy="2882452"/>
          </a:xfrm>
          <a:prstGeom prst="rect">
            <a:avLst/>
          </a:prstGeom>
        </p:spPr>
      </p:pic>
      <p:sp>
        <p:nvSpPr>
          <p:cNvPr id="12" name="Rectangle 3">
            <a:extLst>
              <a:ext uri="{FF2B5EF4-FFF2-40B4-BE49-F238E27FC236}">
                <a16:creationId xmlns:a16="http://schemas.microsoft.com/office/drawing/2014/main" xmlns="" id="{4F798E92-DC63-44FE-B61B-6CDF63114858}"/>
              </a:ext>
            </a:extLst>
          </p:cNvPr>
          <p:cNvSpPr txBox="1">
            <a:spLocks noChangeArrowheads="1"/>
          </p:cNvSpPr>
          <p:nvPr/>
        </p:nvSpPr>
        <p:spPr bwMode="auto">
          <a:xfrm>
            <a:off x="755204" y="1261192"/>
            <a:ext cx="7848600" cy="407988"/>
          </a:xfrm>
          <a:prstGeom prst="rect">
            <a:avLst/>
          </a:prstGeom>
          <a:noFill/>
          <a:ln w="9525">
            <a:noFill/>
            <a:miter lim="800000"/>
            <a:headEnd/>
            <a:tailEnd/>
          </a:ln>
        </p:spPr>
        <p:txBody>
          <a:bodyPr/>
          <a:lstStyle/>
          <a:p>
            <a:pPr marL="609600" indent="-609600" algn="just" defTabSz="457200" fontAlgn="base">
              <a:lnSpc>
                <a:spcPct val="80000"/>
              </a:lnSpc>
              <a:spcBef>
                <a:spcPct val="20000"/>
              </a:spcBef>
              <a:spcAft>
                <a:spcPct val="0"/>
              </a:spcAft>
              <a:buClrTx/>
              <a:buFont typeface="Arial" charset="0"/>
              <a:buChar char="•"/>
            </a:pPr>
            <a:r>
              <a:rPr lang="es-CL" sz="2000" kern="1200" dirty="0">
                <a:solidFill>
                  <a:prstClr val="black"/>
                </a:solidFill>
                <a:latin typeface="Calibri"/>
                <a:ea typeface="Arial Unicode MS"/>
                <a:cs typeface="Arial Unicode MS"/>
              </a:rPr>
              <a:t>Ejemplo:</a:t>
            </a: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Times New Roman" pitchFamily="18" charset="0"/>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Times New Roman" pitchFamily="18" charset="0"/>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Times New Roman" pitchFamily="18" charset="0"/>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Times New Roman" pitchFamily="18" charset="0"/>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1800" kern="1200" dirty="0">
              <a:solidFill>
                <a:prstClr val="black"/>
              </a:solidFill>
              <a:latin typeface="Times New Roman" pitchFamily="18" charset="0"/>
              <a:ea typeface="Arial Unicode MS"/>
              <a:cs typeface="Times New Roman" pitchFamily="18" charset="0"/>
            </a:endParaRPr>
          </a:p>
          <a:p>
            <a:pPr marL="609600" indent="-609600" algn="just" defTabSz="457200" fontAlgn="base">
              <a:lnSpc>
                <a:spcPct val="80000"/>
              </a:lnSpc>
              <a:spcBef>
                <a:spcPct val="20000"/>
              </a:spcBef>
              <a:spcAft>
                <a:spcPct val="0"/>
              </a:spcAft>
              <a:buClrTx/>
              <a:buFontTx/>
              <a:buNone/>
            </a:pPr>
            <a:endParaRPr lang="es-CL" sz="2000" kern="1200" dirty="0">
              <a:solidFill>
                <a:prstClr val="black"/>
              </a:solidFill>
              <a:latin typeface="Times New Roman" pitchFamily="18" charset="0"/>
              <a:ea typeface="Arial Unicode MS"/>
              <a:cs typeface="Times New Roman" pitchFamily="18" charset="0"/>
            </a:endParaRPr>
          </a:p>
        </p:txBody>
      </p:sp>
      <p:sp>
        <p:nvSpPr>
          <p:cNvPr id="13" name="Text Box 5">
            <a:extLst>
              <a:ext uri="{FF2B5EF4-FFF2-40B4-BE49-F238E27FC236}">
                <a16:creationId xmlns:a16="http://schemas.microsoft.com/office/drawing/2014/main" xmlns="" id="{8407B0D6-A579-4F23-BAD8-BAD5525EF1D5}"/>
              </a:ext>
            </a:extLst>
          </p:cNvPr>
          <p:cNvSpPr txBox="1">
            <a:spLocks noChangeArrowheads="1"/>
          </p:cNvSpPr>
          <p:nvPr/>
        </p:nvSpPr>
        <p:spPr bwMode="auto">
          <a:xfrm>
            <a:off x="806896" y="1562742"/>
            <a:ext cx="7725544" cy="2062103"/>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800" b="0" i="0" u="none" strike="noStrike" kern="1200" cap="none" spc="0" normalizeH="0" baseline="0" noProof="0" dirty="0">
              <a:ln>
                <a:noFill/>
              </a:ln>
              <a:solidFill>
                <a:prstClr val="black"/>
              </a:solidFill>
              <a:effectLst/>
              <a:uLnTx/>
              <a:uFillTx/>
              <a:latin typeface="Arial Black" pitchFamily="34" charset="0"/>
              <a:ea typeface="+mn-ea"/>
              <a:cs typeface="Arial" panose="020B0604020202020204" pitchFamily="34"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SELECT </a:t>
            </a:r>
            <a:r>
              <a:rPr kumimoji="0" lang="en-U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emp.employee_id </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"ID EMPLEADO", </a:t>
            </a:r>
            <a:r>
              <a:rPr kumimoji="0" lang="en-US" sz="1600" b="1" i="0" u="none" strike="noStrike" kern="1200" cap="none" spc="0" normalizeH="0" baseline="0" noProof="0" dirty="0" err="1">
                <a:ln>
                  <a:noFill/>
                </a:ln>
                <a:solidFill>
                  <a:srgbClr val="C00000"/>
                </a:solidFill>
                <a:effectLst/>
                <a:uLnTx/>
                <a:uFillTx/>
                <a:latin typeface="Calibri"/>
                <a:ea typeface="+mn-ea"/>
                <a:cs typeface="Arial" panose="020B0604020202020204" pitchFamily="34" charset="0"/>
              </a:rPr>
              <a:t>emp.salary</a:t>
            </a:r>
            <a:r>
              <a:rPr kumimoji="0" lang="en-U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err="1">
                <a:ln>
                  <a:noFill/>
                </a:ln>
                <a:solidFill>
                  <a:srgbClr val="C00000"/>
                </a:solidFill>
                <a:effectLst/>
                <a:uLnTx/>
                <a:uFillTx/>
                <a:latin typeface="Calibri"/>
                <a:ea typeface="+mn-ea"/>
                <a:cs typeface="Arial" panose="020B0604020202020204" pitchFamily="34" charset="0"/>
              </a:rPr>
              <a:t>salario</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ROUND(MONTHS_BETWEEN(</a:t>
            </a:r>
            <a:r>
              <a:rPr kumimoji="0" lang="en-US" sz="1600" b="1" i="0" u="none" strike="noStrike" kern="1200" cap="none" spc="0" normalizeH="0" baseline="0" noProof="0" dirty="0" err="1">
                <a:ln>
                  <a:noFill/>
                </a:ln>
                <a:solidFill>
                  <a:prstClr val="black"/>
                </a:solidFill>
                <a:effectLst/>
                <a:uLnTx/>
                <a:uFillTx/>
                <a:latin typeface="Calibri"/>
                <a:ea typeface="+mn-ea"/>
                <a:cs typeface="Arial" panose="020B0604020202020204" pitchFamily="34" charset="0"/>
              </a:rPr>
              <a:t>SYSDATE,</a:t>
            </a:r>
            <a:r>
              <a:rPr kumimoji="0" lang="en-US" sz="1600" b="1" i="0" u="none" strike="noStrike" kern="1200" cap="none" spc="0" normalizeH="0" baseline="0" noProof="0" dirty="0" err="1">
                <a:ln>
                  <a:noFill/>
                </a:ln>
                <a:solidFill>
                  <a:srgbClr val="C00000"/>
                </a:solidFill>
                <a:effectLst/>
                <a:uLnTx/>
                <a:uFillTx/>
                <a:latin typeface="Calibri"/>
                <a:ea typeface="+mn-ea"/>
                <a:cs typeface="Arial" panose="020B0604020202020204" pitchFamily="34" charset="0"/>
              </a:rPr>
              <a:t>emp.hire_date</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)/12) "AÑOS TRABAJADOS",</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ROUND(</a:t>
            </a:r>
            <a:r>
              <a:rPr kumimoji="0" lang="en-U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emp.salary</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 (</a:t>
            </a:r>
            <a:r>
              <a:rPr kumimoji="0" lang="en-US" sz="1600" b="1" i="0" u="none" strike="noStrike" kern="1200" cap="none" spc="0" normalizeH="0" baseline="0" noProof="0" dirty="0" err="1">
                <a:ln>
                  <a:noFill/>
                </a:ln>
                <a:solidFill>
                  <a:srgbClr val="0000DE"/>
                </a:solidFill>
                <a:effectLst/>
                <a:uLnTx/>
                <a:uFillTx/>
                <a:latin typeface="Calibri"/>
                <a:ea typeface="+mn-ea"/>
                <a:cs typeface="Arial" panose="020B0604020202020204" pitchFamily="34" charset="0"/>
              </a:rPr>
              <a:t>pba.porcentaje_bono</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/100)) "BONO POR AÑOS"</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FROM </a:t>
            </a:r>
            <a:r>
              <a:rPr kumimoji="0" lang="en-U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employees emp</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JOIN </a:t>
            </a:r>
            <a:r>
              <a:rPr kumimoji="0" lang="en-US" sz="1600" b="1" i="0" u="none" strike="noStrike" kern="1200" cap="none" spc="0" normalizeH="0" baseline="0" noProof="0" dirty="0">
                <a:ln>
                  <a:noFill/>
                </a:ln>
                <a:solidFill>
                  <a:srgbClr val="0000DE"/>
                </a:solidFill>
                <a:effectLst/>
                <a:uLnTx/>
                <a:uFillTx/>
                <a:latin typeface="Calibri"/>
                <a:ea typeface="+mn-ea"/>
                <a:cs typeface="Arial" panose="020B0604020202020204" pitchFamily="34" charset="0"/>
              </a:rPr>
              <a:t>porc_bono_annos </a:t>
            </a:r>
            <a:r>
              <a:rPr kumimoji="0" lang="en-US" sz="1600" b="1" i="0" u="none" strike="noStrike" kern="1200" cap="none" spc="0" normalizeH="0" baseline="0" noProof="0" dirty="0" err="1">
                <a:ln>
                  <a:noFill/>
                </a:ln>
                <a:solidFill>
                  <a:srgbClr val="0000DE"/>
                </a:solidFill>
                <a:effectLst/>
                <a:uLnTx/>
                <a:uFillTx/>
                <a:latin typeface="Calibri"/>
                <a:ea typeface="+mn-ea"/>
                <a:cs typeface="Arial" panose="020B0604020202020204" pitchFamily="34" charset="0"/>
              </a:rPr>
              <a:t>pba</a:t>
            </a:r>
            <a:endParaRPr kumimoji="0" lang="en-US" sz="1600" b="1" i="0" u="none" strike="noStrike" kern="1200" cap="none" spc="0" normalizeH="0" baseline="0" noProof="0" dirty="0">
              <a:ln>
                <a:noFill/>
              </a:ln>
              <a:solidFill>
                <a:srgbClr val="0000DE"/>
              </a:solidFill>
              <a:effectLst/>
              <a:uLnTx/>
              <a:uFillTx/>
              <a:latin typeface="Calibri"/>
              <a:ea typeface="+mn-ea"/>
              <a:cs typeface="Arial" panose="020B0604020202020204" pitchFamily="34"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ON(ROUND(MONTHS_BETWEEN(</a:t>
            </a:r>
            <a:r>
              <a:rPr kumimoji="0" lang="en-US" sz="1600" b="1" i="0" u="none" strike="noStrike" kern="1200" cap="none" spc="0" normalizeH="0" baseline="0" noProof="0" dirty="0" err="1">
                <a:ln>
                  <a:noFill/>
                </a:ln>
                <a:solidFill>
                  <a:prstClr val="black"/>
                </a:solidFill>
                <a:effectLst/>
                <a:uLnTx/>
                <a:uFillTx/>
                <a:latin typeface="Calibri"/>
                <a:ea typeface="+mn-ea"/>
                <a:cs typeface="Arial" panose="020B0604020202020204" pitchFamily="34" charset="0"/>
              </a:rPr>
              <a:t>SYSDATE,</a:t>
            </a:r>
            <a:r>
              <a:rPr kumimoji="0" lang="en-US" sz="1600" b="1" i="0" u="none" strike="noStrike" kern="1200" cap="none" spc="0" normalizeH="0" baseline="0" noProof="0" dirty="0" err="1">
                <a:ln>
                  <a:noFill/>
                </a:ln>
                <a:solidFill>
                  <a:srgbClr val="C00000"/>
                </a:solidFill>
                <a:effectLst/>
                <a:uLnTx/>
                <a:uFillTx/>
                <a:latin typeface="Calibri"/>
                <a:ea typeface="+mn-ea"/>
                <a:cs typeface="Arial" panose="020B0604020202020204" pitchFamily="34" charset="0"/>
              </a:rPr>
              <a:t>emp.hire_date</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)/12) </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BETWEEN </a:t>
            </a:r>
            <a:r>
              <a:rPr kumimoji="0" lang="en-US" sz="1600" b="1" i="0" u="none" strike="noStrike" kern="1200" cap="none" spc="0" normalizeH="0" baseline="0" noProof="0" dirty="0" err="1">
                <a:ln>
                  <a:noFill/>
                </a:ln>
                <a:solidFill>
                  <a:srgbClr val="0000DE"/>
                </a:solidFill>
                <a:effectLst/>
                <a:uLnTx/>
                <a:uFillTx/>
                <a:latin typeface="Calibri"/>
                <a:ea typeface="+mn-ea"/>
                <a:cs typeface="Arial" panose="020B0604020202020204" pitchFamily="34" charset="0"/>
              </a:rPr>
              <a:t>pba.anno_ini</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AND </a:t>
            </a:r>
            <a:r>
              <a:rPr kumimoji="0" lang="en-US" sz="1600" b="1" i="0" u="none" strike="noStrike" kern="1200" cap="none" spc="0" normalizeH="0" baseline="0" noProof="0" dirty="0" err="1">
                <a:ln>
                  <a:noFill/>
                </a:ln>
                <a:solidFill>
                  <a:srgbClr val="0000DE"/>
                </a:solidFill>
                <a:effectLst/>
                <a:uLnTx/>
                <a:uFillTx/>
                <a:latin typeface="Calibri"/>
                <a:ea typeface="+mn-ea"/>
                <a:cs typeface="Arial" panose="020B0604020202020204" pitchFamily="34" charset="0"/>
              </a:rPr>
              <a:t>pba.anno_ter</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ORDER BY </a:t>
            </a:r>
            <a:r>
              <a:rPr kumimoji="0" lang="en-U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emp.employee_id</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1" i="0" u="none" strike="noStrike" kern="1200" cap="none" spc="0" normalizeH="0" baseline="0" noProof="0" dirty="0">
              <a:ln>
                <a:noFill/>
              </a:ln>
              <a:solidFill>
                <a:prstClr val="black"/>
              </a:solidFill>
              <a:effectLst/>
              <a:uLnTx/>
              <a:uFillTx/>
              <a:latin typeface="Arial Black" pitchFamily="34" charset="0"/>
              <a:ea typeface="+mn-ea"/>
              <a:cs typeface="Arial" panose="020B0604020202020204" pitchFamily="34" charset="0"/>
            </a:endParaRPr>
          </a:p>
        </p:txBody>
      </p:sp>
    </p:spTree>
    <p:extLst>
      <p:ext uri="{BB962C8B-B14F-4D97-AF65-F5344CB8AC3E}">
        <p14:creationId xmlns:p14="http://schemas.microsoft.com/office/powerpoint/2010/main" val="15840756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xmlns="" id="{548035E2-9379-2346-A89D-675F58CEB28A}"/>
              </a:ext>
            </a:extLst>
          </p:cNvPr>
          <p:cNvSpPr>
            <a:spLocks noGrp="1"/>
          </p:cNvSpPr>
          <p:nvPr>
            <p:ph type="title"/>
          </p:nvPr>
        </p:nvSpPr>
        <p:spPr>
          <a:xfrm>
            <a:off x="3004575" y="3429000"/>
            <a:ext cx="5995800" cy="1478902"/>
          </a:xfrm>
        </p:spPr>
        <p:txBody>
          <a:bodyPr anchor="ctr" anchorCtr="0"/>
          <a:lstStyle/>
          <a:p>
            <a:r>
              <a:rPr lang="es-ES_tradnl" sz="4800" b="1" dirty="0"/>
              <a:t>Construyendo </a:t>
            </a:r>
            <a:br>
              <a:rPr lang="es-ES_tradnl" sz="4800" b="1" dirty="0"/>
            </a:br>
            <a:r>
              <a:rPr lang="es-ES_tradnl" sz="4800" b="1" dirty="0"/>
              <a:t>OUTER JOIN</a:t>
            </a:r>
          </a:p>
        </p:txBody>
      </p:sp>
    </p:spTree>
    <p:extLst>
      <p:ext uri="{BB962C8B-B14F-4D97-AF65-F5344CB8AC3E}">
        <p14:creationId xmlns:p14="http://schemas.microsoft.com/office/powerpoint/2010/main" val="25999405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xmlns="" id="{532F8F7C-62F6-AB45-8C6F-954F7E1DBD86}"/>
              </a:ext>
            </a:extLst>
          </p:cNvPr>
          <p:cNvSpPr>
            <a:spLocks noGrp="1"/>
          </p:cNvSpPr>
          <p:nvPr>
            <p:ph type="title"/>
          </p:nvPr>
        </p:nvSpPr>
        <p:spPr>
          <a:xfrm>
            <a:off x="1663993" y="212725"/>
            <a:ext cx="4685691" cy="813000"/>
          </a:xfrm>
        </p:spPr>
        <p:txBody>
          <a:bodyPr/>
          <a:lstStyle/>
          <a:p>
            <a:pPr lvl="0" defTabSz="457200">
              <a:defRPr/>
            </a:pPr>
            <a:r>
              <a:rPr lang="es-CL" sz="2800" b="1" dirty="0">
                <a:solidFill>
                  <a:prstClr val="white"/>
                </a:solidFill>
                <a:latin typeface="Calibri"/>
              </a:rPr>
              <a:t>OUTER JOINS O UNIONES EXTERNAS</a:t>
            </a:r>
          </a:p>
        </p:txBody>
      </p:sp>
      <p:pic>
        <p:nvPicPr>
          <p:cNvPr id="4" name="Imagen 3">
            <a:extLst>
              <a:ext uri="{FF2B5EF4-FFF2-40B4-BE49-F238E27FC236}">
                <a16:creationId xmlns:a16="http://schemas.microsoft.com/office/drawing/2014/main" xmlns="" id="{B555998C-9E3F-4891-944F-ED27B03AE116}"/>
              </a:ext>
            </a:extLst>
          </p:cNvPr>
          <p:cNvPicPr>
            <a:picLocks noChangeAspect="1"/>
          </p:cNvPicPr>
          <p:nvPr/>
        </p:nvPicPr>
        <p:blipFill>
          <a:blip r:embed="rId3"/>
          <a:stretch>
            <a:fillRect/>
          </a:stretch>
        </p:blipFill>
        <p:spPr>
          <a:xfrm>
            <a:off x="325768" y="1187927"/>
            <a:ext cx="8492464" cy="5340559"/>
          </a:xfrm>
          <a:prstGeom prst="rect">
            <a:avLst/>
          </a:prstGeom>
        </p:spPr>
      </p:pic>
    </p:spTree>
    <p:extLst>
      <p:ext uri="{BB962C8B-B14F-4D97-AF65-F5344CB8AC3E}">
        <p14:creationId xmlns:p14="http://schemas.microsoft.com/office/powerpoint/2010/main" val="18554315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xmlns="" id="{532F8F7C-62F6-AB45-8C6F-954F7E1DBD86}"/>
              </a:ext>
            </a:extLst>
          </p:cNvPr>
          <p:cNvSpPr>
            <a:spLocks noGrp="1"/>
          </p:cNvSpPr>
          <p:nvPr>
            <p:ph type="title"/>
          </p:nvPr>
        </p:nvSpPr>
        <p:spPr>
          <a:xfrm>
            <a:off x="1663993" y="212725"/>
            <a:ext cx="4685691" cy="813000"/>
          </a:xfrm>
        </p:spPr>
        <p:txBody>
          <a:bodyPr/>
          <a:lstStyle/>
          <a:p>
            <a:pPr lvl="0" defTabSz="457200">
              <a:defRPr/>
            </a:pPr>
            <a:r>
              <a:rPr lang="es-CL" sz="2800" b="1" dirty="0">
                <a:solidFill>
                  <a:prstClr val="white"/>
                </a:solidFill>
                <a:latin typeface="Calibri"/>
              </a:rPr>
              <a:t>OUTER JOINS O UNIONES EXTERNAS</a:t>
            </a:r>
          </a:p>
        </p:txBody>
      </p:sp>
      <p:pic>
        <p:nvPicPr>
          <p:cNvPr id="2" name="Imagen 1">
            <a:extLst>
              <a:ext uri="{FF2B5EF4-FFF2-40B4-BE49-F238E27FC236}">
                <a16:creationId xmlns:a16="http://schemas.microsoft.com/office/drawing/2014/main" xmlns="" id="{BA14C77B-6D1F-4BE9-9594-06EE02D750B4}"/>
              </a:ext>
            </a:extLst>
          </p:cNvPr>
          <p:cNvPicPr>
            <a:picLocks noChangeAspect="1"/>
          </p:cNvPicPr>
          <p:nvPr/>
        </p:nvPicPr>
        <p:blipFill>
          <a:blip r:embed="rId3"/>
          <a:stretch>
            <a:fillRect/>
          </a:stretch>
        </p:blipFill>
        <p:spPr>
          <a:xfrm>
            <a:off x="372236" y="1168073"/>
            <a:ext cx="8474174" cy="5529551"/>
          </a:xfrm>
          <a:prstGeom prst="rect">
            <a:avLst/>
          </a:prstGeom>
        </p:spPr>
      </p:pic>
    </p:spTree>
    <p:extLst>
      <p:ext uri="{BB962C8B-B14F-4D97-AF65-F5344CB8AC3E}">
        <p14:creationId xmlns:p14="http://schemas.microsoft.com/office/powerpoint/2010/main" val="29137173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ítulo 2">
            <a:extLst>
              <a:ext uri="{FF2B5EF4-FFF2-40B4-BE49-F238E27FC236}">
                <a16:creationId xmlns:a16="http://schemas.microsoft.com/office/drawing/2014/main" xmlns="" id="{90311B29-ADF8-4817-A4D1-9B46D745CF8D}"/>
              </a:ext>
            </a:extLst>
          </p:cNvPr>
          <p:cNvSpPr>
            <a:spLocks noGrp="1"/>
          </p:cNvSpPr>
          <p:nvPr>
            <p:ph type="title"/>
          </p:nvPr>
        </p:nvSpPr>
        <p:spPr>
          <a:xfrm>
            <a:off x="1705943" y="224579"/>
            <a:ext cx="4647630" cy="813000"/>
          </a:xfrm>
        </p:spPr>
        <p:txBody>
          <a:bodyPr/>
          <a:lstStyle/>
          <a:p>
            <a:pPr lvl="0" defTabSz="457200">
              <a:defRPr/>
            </a:pPr>
            <a:r>
              <a:rPr lang="es-CL" sz="2800" b="1" dirty="0">
                <a:solidFill>
                  <a:prstClr val="white"/>
                </a:solidFill>
                <a:latin typeface="Calibri"/>
              </a:rPr>
              <a:t>Creando LEFT OUTER JOIN</a:t>
            </a:r>
          </a:p>
        </p:txBody>
      </p:sp>
      <p:sp>
        <p:nvSpPr>
          <p:cNvPr id="11" name="Rectangle 3">
            <a:extLst>
              <a:ext uri="{FF2B5EF4-FFF2-40B4-BE49-F238E27FC236}">
                <a16:creationId xmlns:a16="http://schemas.microsoft.com/office/drawing/2014/main" xmlns="" id="{B00D5F31-0921-457B-BC60-BCCDAA6EA8F7}"/>
              </a:ext>
            </a:extLst>
          </p:cNvPr>
          <p:cNvSpPr txBox="1">
            <a:spLocks noChangeArrowheads="1"/>
          </p:cNvSpPr>
          <p:nvPr/>
        </p:nvSpPr>
        <p:spPr bwMode="auto">
          <a:xfrm>
            <a:off x="611832" y="1308496"/>
            <a:ext cx="7848600" cy="407988"/>
          </a:xfrm>
          <a:prstGeom prst="rect">
            <a:avLst/>
          </a:prstGeom>
          <a:noFill/>
          <a:ln w="9525">
            <a:noFill/>
            <a:miter lim="800000"/>
            <a:headEnd/>
            <a:tailEnd/>
          </a:ln>
        </p:spPr>
        <p:txBody>
          <a:bodyPr/>
          <a:lstStyle/>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Calibri"/>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Calibri"/>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Calibri"/>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Calibri"/>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Calibri"/>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Calibri"/>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Calibri"/>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Calibri"/>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800" kern="1200" dirty="0">
              <a:solidFill>
                <a:prstClr val="black"/>
              </a:solidFill>
              <a:latin typeface="Calibri"/>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r>
              <a:rPr lang="es-CL" sz="2000" kern="1200" dirty="0">
                <a:solidFill>
                  <a:prstClr val="black"/>
                </a:solidFill>
                <a:latin typeface="Calibri"/>
                <a:ea typeface="Arial Unicode MS"/>
                <a:cs typeface="Times New Roman" pitchFamily="18" charset="0"/>
              </a:rPr>
              <a:t>Sintaxis:</a:t>
            </a:r>
          </a:p>
        </p:txBody>
      </p:sp>
      <p:sp>
        <p:nvSpPr>
          <p:cNvPr id="12" name="Text Box 5">
            <a:extLst>
              <a:ext uri="{FF2B5EF4-FFF2-40B4-BE49-F238E27FC236}">
                <a16:creationId xmlns:a16="http://schemas.microsoft.com/office/drawing/2014/main" xmlns="" id="{AC929DC1-B8CC-46D2-92CC-969C2442F22E}"/>
              </a:ext>
            </a:extLst>
          </p:cNvPr>
          <p:cNvSpPr txBox="1">
            <a:spLocks noChangeArrowheads="1"/>
          </p:cNvSpPr>
          <p:nvPr/>
        </p:nvSpPr>
        <p:spPr bwMode="auto">
          <a:xfrm>
            <a:off x="1259632" y="4164756"/>
            <a:ext cx="7025134" cy="2000548"/>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s-MX" sz="1800" b="1" i="0" u="none" strike="noStrike" kern="1200" cap="none" spc="0" normalizeH="0" baseline="0" noProof="0" dirty="0">
                <a:ln>
                  <a:noFill/>
                </a:ln>
                <a:solidFill>
                  <a:sysClr val="windowText" lastClr="000000"/>
                </a:solidFill>
                <a:effectLst/>
                <a:uLnTx/>
                <a:uFillTx/>
                <a:latin typeface="Calibri"/>
                <a:ea typeface="+mn-ea"/>
                <a:cs typeface="Arial" pitchFamily="34" charset="0"/>
              </a:rPr>
              <a:t>SELECT </a:t>
            </a:r>
            <a:r>
              <a:rPr kumimoji="0" lang="es-MX" sz="1800" b="1" i="1" u="none" strike="noStrike" kern="1200" cap="none" spc="0" normalizeH="0" baseline="0" noProof="0" dirty="0">
                <a:ln>
                  <a:noFill/>
                </a:ln>
                <a:solidFill>
                  <a:sysClr val="windowText" lastClr="000000"/>
                </a:solidFill>
                <a:effectLst/>
                <a:uLnTx/>
                <a:uFillTx/>
                <a:latin typeface="Calibri"/>
                <a:ea typeface="+mn-ea"/>
                <a:cs typeface="Arial" pitchFamily="34" charset="0"/>
              </a:rPr>
              <a:t>tabla1.columna1, tabla1.columna2, tabla2.columna1, tabla2.columna2,... </a:t>
            </a:r>
          </a:p>
          <a:p>
            <a:pPr marL="0" marR="0" lvl="0" indent="0" defTabSz="914400" eaLnBrk="1" fontAlgn="base" latinLnBrk="0" hangingPunct="1">
              <a:lnSpc>
                <a:spcPct val="100000"/>
              </a:lnSpc>
              <a:spcBef>
                <a:spcPct val="0"/>
              </a:spcBef>
              <a:spcAft>
                <a:spcPct val="0"/>
              </a:spcAft>
              <a:buClrTx/>
              <a:buSzTx/>
              <a:buFontTx/>
              <a:buNone/>
              <a:tabLst/>
              <a:defRPr/>
            </a:pPr>
            <a:r>
              <a:rPr kumimoji="0" lang="es-MX" sz="1800" b="1" i="0" u="none" strike="noStrike" kern="1200" cap="none" spc="0" normalizeH="0" baseline="0" noProof="0" dirty="0">
                <a:ln>
                  <a:noFill/>
                </a:ln>
                <a:solidFill>
                  <a:sysClr val="windowText" lastClr="000000"/>
                </a:solidFill>
                <a:effectLst/>
                <a:uLnTx/>
                <a:uFillTx/>
                <a:latin typeface="Calibri"/>
                <a:ea typeface="+mn-ea"/>
                <a:cs typeface="Arial" pitchFamily="34" charset="0"/>
              </a:rPr>
              <a:t>FROM </a:t>
            </a:r>
            <a:r>
              <a:rPr kumimoji="0" lang="es-MX" sz="1800" b="1" i="1" u="none" strike="noStrike" kern="1200" cap="none" spc="0" normalizeH="0" baseline="0" noProof="0" dirty="0">
                <a:ln>
                  <a:noFill/>
                </a:ln>
                <a:solidFill>
                  <a:sysClr val="windowText" lastClr="000000"/>
                </a:solidFill>
                <a:effectLst/>
                <a:uLnTx/>
                <a:uFillTx/>
                <a:latin typeface="Calibri"/>
                <a:ea typeface="+mn-ea"/>
                <a:cs typeface="Arial" pitchFamily="34" charset="0"/>
              </a:rPr>
              <a:t>tabla1</a:t>
            </a:r>
          </a:p>
          <a:p>
            <a:pPr marL="0" marR="0" lvl="0" indent="0" defTabSz="914400" eaLnBrk="1" fontAlgn="base" latinLnBrk="0" hangingPunct="1">
              <a:lnSpc>
                <a:spcPct val="100000"/>
              </a:lnSpc>
              <a:spcBef>
                <a:spcPct val="0"/>
              </a:spcBef>
              <a:spcAft>
                <a:spcPct val="0"/>
              </a:spcAft>
              <a:buClrTx/>
              <a:buSzTx/>
              <a:buFontTx/>
              <a:buNone/>
              <a:tabLst/>
              <a:defRPr/>
            </a:pPr>
            <a:r>
              <a:rPr kumimoji="0" lang="es-MX" sz="1800" b="1" i="0" u="none" strike="noStrike" kern="1200" cap="none" spc="0" normalizeH="0" baseline="0" noProof="0" dirty="0">
                <a:ln>
                  <a:noFill/>
                </a:ln>
                <a:solidFill>
                  <a:sysClr val="windowText" lastClr="000000"/>
                </a:solidFill>
                <a:effectLst/>
                <a:uLnTx/>
                <a:uFillTx/>
                <a:latin typeface="Calibri"/>
                <a:ea typeface="+mn-ea"/>
                <a:cs typeface="Arial" panose="020B0604020202020204" pitchFamily="34" charset="0"/>
              </a:rPr>
              <a:t>[</a:t>
            </a:r>
            <a:r>
              <a:rPr kumimoji="0" lang="es-MX" sz="18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LEFT</a:t>
            </a:r>
            <a:r>
              <a:rPr kumimoji="0" lang="es-MX" sz="1800" b="1" i="0" u="none" strike="noStrike" kern="1200" cap="none" spc="0" normalizeH="0" baseline="0" noProof="0" dirty="0">
                <a:ln>
                  <a:noFill/>
                </a:ln>
                <a:solidFill>
                  <a:sysClr val="windowText" lastClr="000000"/>
                </a:solidFill>
                <a:effectLst/>
                <a:uLnTx/>
                <a:uFillTx/>
                <a:latin typeface="Calibri"/>
                <a:ea typeface="+mn-ea"/>
                <a:cs typeface="Arial" panose="020B0604020202020204" pitchFamily="34" charset="0"/>
              </a:rPr>
              <a:t> [</a:t>
            </a:r>
            <a:r>
              <a:rPr kumimoji="0" lang="es-MX" sz="18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OUTER</a:t>
            </a:r>
            <a:r>
              <a:rPr kumimoji="0" lang="es-MX" sz="1800" b="1" i="0" u="none" strike="noStrike" kern="1200" cap="none" spc="0" normalizeH="0" baseline="0" noProof="0" dirty="0">
                <a:ln>
                  <a:noFill/>
                </a:ln>
                <a:solidFill>
                  <a:sysClr val="windowText" lastClr="000000"/>
                </a:solidFill>
                <a:effectLst/>
                <a:uLnTx/>
                <a:uFillTx/>
                <a:latin typeface="Calibri"/>
                <a:ea typeface="+mn-ea"/>
                <a:cs typeface="Arial" panose="020B0604020202020204" pitchFamily="34" charset="0"/>
              </a:rPr>
              <a:t>] JOIN </a:t>
            </a:r>
            <a:r>
              <a:rPr kumimoji="0" lang="es-MX" sz="1800" b="1" i="1" u="none" strike="noStrike" kern="1200" cap="none" spc="0" normalizeH="0" baseline="0" noProof="0" dirty="0">
                <a:ln>
                  <a:noFill/>
                </a:ln>
                <a:solidFill>
                  <a:sysClr val="windowText" lastClr="000000"/>
                </a:solidFill>
                <a:effectLst/>
                <a:uLnTx/>
                <a:uFillTx/>
                <a:latin typeface="Calibri"/>
                <a:ea typeface="+mn-ea"/>
                <a:cs typeface="Arial" panose="020B0604020202020204" pitchFamily="34" charset="0"/>
              </a:rPr>
              <a:t>tabla2</a:t>
            </a:r>
          </a:p>
          <a:p>
            <a:pPr marL="0" marR="0" lvl="0" indent="0" defTabSz="914400" eaLnBrk="1" fontAlgn="base" latinLnBrk="0" hangingPunct="1">
              <a:lnSpc>
                <a:spcPct val="100000"/>
              </a:lnSpc>
              <a:spcBef>
                <a:spcPct val="0"/>
              </a:spcBef>
              <a:spcAft>
                <a:spcPct val="0"/>
              </a:spcAft>
              <a:buClrTx/>
              <a:buSzTx/>
              <a:buFontTx/>
              <a:buNone/>
              <a:tabLst/>
              <a:defRPr/>
            </a:pPr>
            <a:r>
              <a:rPr kumimoji="0" lang="es-MX" sz="1800" b="1" i="0" u="none" strike="noStrike" kern="1200" cap="none" spc="0" normalizeH="0" baseline="0" noProof="0" dirty="0">
                <a:ln>
                  <a:noFill/>
                </a:ln>
                <a:solidFill>
                  <a:sysClr val="windowText" lastClr="000000"/>
                </a:solidFill>
                <a:effectLst/>
                <a:uLnTx/>
                <a:uFillTx/>
                <a:latin typeface="Calibri"/>
                <a:ea typeface="+mn-ea"/>
                <a:cs typeface="Arial" pitchFamily="34" charset="0"/>
              </a:rPr>
              <a:t>[USING(</a:t>
            </a:r>
            <a:r>
              <a:rPr kumimoji="0" lang="es-MX" sz="1800" b="1" i="1" u="none" strike="noStrike" kern="1200" cap="none" spc="0" normalizeH="0" baseline="0" noProof="0" dirty="0">
                <a:ln>
                  <a:noFill/>
                </a:ln>
                <a:solidFill>
                  <a:sysClr val="windowText" lastClr="000000"/>
                </a:solidFill>
                <a:effectLst/>
                <a:uLnTx/>
                <a:uFillTx/>
                <a:latin typeface="Calibri"/>
                <a:ea typeface="+mn-ea"/>
                <a:cs typeface="Arial" pitchFamily="34" charset="0"/>
              </a:rPr>
              <a:t>columna</a:t>
            </a:r>
            <a:r>
              <a:rPr kumimoji="0" lang="es-MX" sz="1800" b="1" i="0" u="none" strike="noStrike" kern="1200" cap="none" spc="0" normalizeH="0" baseline="0" noProof="0" dirty="0">
                <a:ln>
                  <a:noFill/>
                </a:ln>
                <a:solidFill>
                  <a:sysClr val="windowText" lastClr="000000"/>
                </a:solidFill>
                <a:effectLst/>
                <a:uLnTx/>
                <a:uFillTx/>
                <a:latin typeface="Calibri"/>
                <a:ea typeface="+mn-ea"/>
                <a:cs typeface="Arial"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s-MX" sz="1800" b="1" i="0" u="none" strike="noStrike" kern="1200" cap="none" spc="0" normalizeH="0" baseline="0" noProof="0" dirty="0">
                <a:ln>
                  <a:noFill/>
                </a:ln>
                <a:solidFill>
                  <a:sysClr val="windowText" lastClr="000000"/>
                </a:solidFill>
                <a:effectLst/>
                <a:uLnTx/>
                <a:uFillTx/>
                <a:latin typeface="Calibri"/>
                <a:ea typeface="+mn-ea"/>
                <a:cs typeface="Arial" pitchFamily="34" charset="0"/>
              </a:rPr>
              <a:t>[ON (</a:t>
            </a:r>
            <a:r>
              <a:rPr kumimoji="0" lang="es-MX" sz="1800" b="1" i="1" u="none" strike="noStrike" kern="1200" cap="none" spc="0" normalizeH="0" baseline="0" noProof="0" dirty="0">
                <a:ln>
                  <a:noFill/>
                </a:ln>
                <a:solidFill>
                  <a:sysClr val="windowText" lastClr="000000"/>
                </a:solidFill>
                <a:effectLst/>
                <a:uLnTx/>
                <a:uFillTx/>
                <a:latin typeface="Calibri"/>
                <a:ea typeface="+mn-ea"/>
                <a:cs typeface="Arial" pitchFamily="34" charset="0"/>
              </a:rPr>
              <a:t>tabla1.columa = tabla2.columna</a:t>
            </a:r>
            <a:r>
              <a:rPr kumimoji="0" lang="es-MX" sz="1800" b="1" i="0" u="none" strike="noStrike" kern="1200" cap="none" spc="0" normalizeH="0" baseline="0" noProof="0" dirty="0">
                <a:ln>
                  <a:noFill/>
                </a:ln>
                <a:solidFill>
                  <a:sysClr val="windowText" lastClr="000000"/>
                </a:solidFill>
                <a:effectLst/>
                <a:uLnTx/>
                <a:uFillTx/>
                <a:latin typeface="Calibri"/>
                <a:ea typeface="+mn-ea"/>
                <a:cs typeface="Arial"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endParaRPr kumimoji="0" lang="en-US" sz="8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p:txBody>
      </p:sp>
      <p:pic>
        <p:nvPicPr>
          <p:cNvPr id="5" name="Imagen 4">
            <a:extLst>
              <a:ext uri="{FF2B5EF4-FFF2-40B4-BE49-F238E27FC236}">
                <a16:creationId xmlns:a16="http://schemas.microsoft.com/office/drawing/2014/main" xmlns="" id="{D90CEB94-81EB-4DF1-94C7-0CECE4C14EFA}"/>
              </a:ext>
            </a:extLst>
          </p:cNvPr>
          <p:cNvPicPr>
            <a:picLocks noChangeAspect="1"/>
          </p:cNvPicPr>
          <p:nvPr/>
        </p:nvPicPr>
        <p:blipFill>
          <a:blip r:embed="rId3"/>
          <a:stretch>
            <a:fillRect/>
          </a:stretch>
        </p:blipFill>
        <p:spPr>
          <a:xfrm>
            <a:off x="2527807" y="1299535"/>
            <a:ext cx="4320000" cy="2484000"/>
          </a:xfrm>
          <a:prstGeom prst="rect">
            <a:avLst/>
          </a:prstGeom>
        </p:spPr>
      </p:pic>
    </p:spTree>
    <p:extLst>
      <p:ext uri="{BB962C8B-B14F-4D97-AF65-F5344CB8AC3E}">
        <p14:creationId xmlns:p14="http://schemas.microsoft.com/office/powerpoint/2010/main" val="18162443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ítulo 2">
            <a:extLst>
              <a:ext uri="{FF2B5EF4-FFF2-40B4-BE49-F238E27FC236}">
                <a16:creationId xmlns:a16="http://schemas.microsoft.com/office/drawing/2014/main" xmlns="" id="{90311B29-ADF8-4817-A4D1-9B46D745CF8D}"/>
              </a:ext>
            </a:extLst>
          </p:cNvPr>
          <p:cNvSpPr>
            <a:spLocks noGrp="1"/>
          </p:cNvSpPr>
          <p:nvPr>
            <p:ph type="title"/>
          </p:nvPr>
        </p:nvSpPr>
        <p:spPr>
          <a:xfrm>
            <a:off x="1705943" y="224579"/>
            <a:ext cx="4647630" cy="813000"/>
          </a:xfrm>
        </p:spPr>
        <p:txBody>
          <a:bodyPr/>
          <a:lstStyle/>
          <a:p>
            <a:pPr lvl="0" defTabSz="457200">
              <a:defRPr/>
            </a:pPr>
            <a:r>
              <a:rPr lang="es-CL" sz="2800" b="1" dirty="0">
                <a:solidFill>
                  <a:prstClr val="white"/>
                </a:solidFill>
                <a:latin typeface="Calibri"/>
              </a:rPr>
              <a:t>Creando LEFT OUTER JOIN</a:t>
            </a:r>
          </a:p>
        </p:txBody>
      </p:sp>
      <p:sp>
        <p:nvSpPr>
          <p:cNvPr id="9" name="Text Box 5">
            <a:extLst>
              <a:ext uri="{FF2B5EF4-FFF2-40B4-BE49-F238E27FC236}">
                <a16:creationId xmlns:a16="http://schemas.microsoft.com/office/drawing/2014/main" xmlns="" id="{D985719A-1F88-4790-9999-65F4907CDFD9}"/>
              </a:ext>
            </a:extLst>
          </p:cNvPr>
          <p:cNvSpPr txBox="1">
            <a:spLocks noChangeArrowheads="1"/>
          </p:cNvSpPr>
          <p:nvPr/>
        </p:nvSpPr>
        <p:spPr bwMode="auto">
          <a:xfrm>
            <a:off x="899591" y="1647604"/>
            <a:ext cx="7701483" cy="1569660"/>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SELECT </a:t>
            </a:r>
            <a:r>
              <a:rPr kumimoji="0" lang="en-US" sz="1600" b="1" i="0" u="none" strike="noStrike" kern="1200" cap="none" spc="0" normalizeH="0" baseline="0" noProof="0" dirty="0">
                <a:ln>
                  <a:noFill/>
                </a:ln>
                <a:solidFill>
                  <a:srgbClr val="0000DE"/>
                </a:solidFill>
                <a:effectLst/>
                <a:uLnTx/>
                <a:uFillTx/>
                <a:latin typeface="Calibri"/>
                <a:ea typeface="+mn-ea"/>
                <a:cs typeface="Arial" panose="020B0604020202020204" pitchFamily="34" charset="0"/>
              </a:rPr>
              <a:t>emp.employee_id </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"ID EMPLEADO", </a:t>
            </a:r>
            <a:r>
              <a:rPr kumimoji="0" lang="en-US" sz="1600" b="1" i="0" u="none" strike="noStrike" kern="1200" cap="none" spc="0" normalizeH="0" baseline="0" noProof="0" dirty="0">
                <a:ln>
                  <a:noFill/>
                </a:ln>
                <a:solidFill>
                  <a:srgbClr val="008000"/>
                </a:solidFill>
                <a:effectLst/>
                <a:uLnTx/>
                <a:uFillTx/>
                <a:latin typeface="Calibri"/>
                <a:ea typeface="+mn-ea"/>
                <a:cs typeface="Arial" panose="020B0604020202020204" pitchFamily="34" charset="0"/>
              </a:rPr>
              <a:t>dep.department_id </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"ID DEPARTAMENTO</a:t>
            </a:r>
            <a:r>
              <a:rPr kumimoji="0" lang="en-US" sz="16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a:t>
            </a:r>
            <a:endParaRPr kumimoji="0" lang="en-US" sz="1600" b="1" i="0" u="none" strike="noStrike" kern="1200" cap="none" spc="0" normalizeH="0" baseline="0" noProof="0" dirty="0">
              <a:ln>
                <a:noFill/>
              </a:ln>
              <a:solidFill>
                <a:srgbClr val="008000"/>
              </a:solidFill>
              <a:effectLst/>
              <a:uLnTx/>
              <a:uFillTx/>
              <a:latin typeface="Calibri"/>
              <a:ea typeface="+mn-ea"/>
              <a:cs typeface="Arial" panose="020B0604020202020204" pitchFamily="34"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NVL</a:t>
            </a:r>
            <a:r>
              <a:rPr kumimoji="0" lang="en-US" sz="1600" b="1" i="0" u="none" strike="noStrike" kern="1200" cap="none" spc="0" normalizeH="0" baseline="0" noProof="0" dirty="0">
                <a:ln>
                  <a:noFill/>
                </a:ln>
                <a:solidFill>
                  <a:srgbClr val="008000"/>
                </a:solidFill>
                <a:effectLst/>
                <a:uLnTx/>
                <a:uFillTx/>
                <a:latin typeface="Calibri"/>
                <a:ea typeface="+mn-ea"/>
                <a:cs typeface="Arial" panose="020B0604020202020204" pitchFamily="34" charset="0"/>
              </a:rPr>
              <a:t>(dep.department_name, </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'SIN DEPARTAMENTO')</a:t>
            </a:r>
            <a:r>
              <a:rPr kumimoji="0" lang="en-US" sz="1600" b="1" i="0" u="none" strike="noStrike" kern="1200" cap="none" spc="0" normalizeH="0" baseline="0" noProof="0" dirty="0">
                <a:ln>
                  <a:noFill/>
                </a:ln>
                <a:solidFill>
                  <a:srgbClr val="008000"/>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"NOMBRE DEPARTAMENTO" </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FROM </a:t>
            </a:r>
            <a:r>
              <a:rPr kumimoji="0" lang="en-US" sz="1600" b="1" i="0" u="none" strike="noStrike" kern="1200" cap="none" spc="0" normalizeH="0" baseline="0" noProof="0" dirty="0">
                <a:ln>
                  <a:noFill/>
                </a:ln>
                <a:solidFill>
                  <a:srgbClr val="0000DE"/>
                </a:solidFill>
                <a:effectLst/>
                <a:uLnTx/>
                <a:uFillTx/>
                <a:latin typeface="Calibri"/>
                <a:ea typeface="+mn-ea"/>
                <a:cs typeface="Arial" panose="020B0604020202020204" pitchFamily="34" charset="0"/>
              </a:rPr>
              <a:t>employees emp</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LEFT OUTER JOIN</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a:ln>
                  <a:noFill/>
                </a:ln>
                <a:solidFill>
                  <a:srgbClr val="008000"/>
                </a:solidFill>
                <a:effectLst/>
                <a:uLnTx/>
                <a:uFillTx/>
                <a:latin typeface="Calibri"/>
                <a:ea typeface="+mn-ea"/>
                <a:cs typeface="Arial" panose="020B0604020202020204" pitchFamily="34" charset="0"/>
              </a:rPr>
              <a:t>departments dep</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800080"/>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ON(</a:t>
            </a:r>
            <a:r>
              <a:rPr kumimoji="0" lang="en-US" sz="1600" b="1" i="0" u="none" strike="noStrike" kern="1200" cap="none" spc="0" normalizeH="0" baseline="0" noProof="0" dirty="0" err="1">
                <a:ln>
                  <a:noFill/>
                </a:ln>
                <a:solidFill>
                  <a:srgbClr val="0000DE"/>
                </a:solidFill>
                <a:effectLst/>
                <a:uLnTx/>
                <a:uFillTx/>
                <a:latin typeface="Calibri"/>
                <a:ea typeface="+mn-ea"/>
                <a:cs typeface="Arial" panose="020B0604020202020204" pitchFamily="34" charset="0"/>
              </a:rPr>
              <a:t>emp.department_id</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 </a:t>
            </a:r>
            <a:r>
              <a:rPr kumimoji="0" lang="en-US" sz="1600" b="1" i="0" u="none" strike="noStrike" kern="1200" cap="none" spc="0" normalizeH="0" baseline="0" noProof="0" dirty="0" err="1">
                <a:ln>
                  <a:noFill/>
                </a:ln>
                <a:solidFill>
                  <a:srgbClr val="008000"/>
                </a:solidFill>
                <a:effectLst/>
                <a:uLnTx/>
                <a:uFillTx/>
                <a:latin typeface="Calibri"/>
                <a:ea typeface="+mn-ea"/>
                <a:cs typeface="Arial" panose="020B0604020202020204" pitchFamily="34" charset="0"/>
              </a:rPr>
              <a:t>dep.department_id</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ORDER BY </a:t>
            </a:r>
            <a:r>
              <a:rPr kumimoji="0" lang="en-US" sz="1600" b="1" i="0" u="none" strike="noStrike" kern="1200" cap="none" spc="0" normalizeH="0" baseline="0" noProof="0" dirty="0" err="1">
                <a:ln>
                  <a:noFill/>
                </a:ln>
                <a:solidFill>
                  <a:srgbClr val="0000DE"/>
                </a:solidFill>
                <a:effectLst/>
                <a:uLnTx/>
                <a:uFillTx/>
                <a:latin typeface="Calibri"/>
                <a:ea typeface="+mn-ea"/>
                <a:cs typeface="Arial" panose="020B0604020202020204" pitchFamily="34" charset="0"/>
              </a:rPr>
              <a:t>emp.employee_id</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p:txBody>
      </p:sp>
      <p:sp>
        <p:nvSpPr>
          <p:cNvPr id="10" name="Rectangle 3">
            <a:extLst>
              <a:ext uri="{FF2B5EF4-FFF2-40B4-BE49-F238E27FC236}">
                <a16:creationId xmlns:a16="http://schemas.microsoft.com/office/drawing/2014/main" xmlns="" id="{266A0FB6-235F-4CA4-8F24-9D74EF359F46}"/>
              </a:ext>
            </a:extLst>
          </p:cNvPr>
          <p:cNvSpPr txBox="1">
            <a:spLocks noChangeArrowheads="1"/>
          </p:cNvSpPr>
          <p:nvPr/>
        </p:nvSpPr>
        <p:spPr bwMode="auto">
          <a:xfrm>
            <a:off x="611832" y="1340768"/>
            <a:ext cx="7848600" cy="407988"/>
          </a:xfrm>
          <a:prstGeom prst="rect">
            <a:avLst/>
          </a:prstGeom>
          <a:noFill/>
          <a:ln w="9525">
            <a:noFill/>
            <a:miter lim="800000"/>
            <a:headEnd/>
            <a:tailEnd/>
          </a:ln>
        </p:spPr>
        <p:txBody>
          <a:bodyPr/>
          <a:lstStyle/>
          <a:p>
            <a:pPr marL="609600" indent="-609600" algn="just" defTabSz="457200" fontAlgn="base">
              <a:lnSpc>
                <a:spcPct val="80000"/>
              </a:lnSpc>
              <a:spcBef>
                <a:spcPct val="20000"/>
              </a:spcBef>
              <a:spcAft>
                <a:spcPct val="0"/>
              </a:spcAft>
              <a:buClrTx/>
              <a:buFont typeface="Arial" charset="0"/>
              <a:buChar char="•"/>
            </a:pPr>
            <a:r>
              <a:rPr lang="es-CL" sz="2000" kern="1200" dirty="0">
                <a:solidFill>
                  <a:prstClr val="black"/>
                </a:solidFill>
                <a:latin typeface="Calibri"/>
                <a:ea typeface="Arial Unicode MS"/>
                <a:cs typeface="Times New Roman" pitchFamily="18" charset="0"/>
              </a:rPr>
              <a:t>Ejemplo:</a:t>
            </a:r>
          </a:p>
        </p:txBody>
      </p:sp>
      <p:pic>
        <p:nvPicPr>
          <p:cNvPr id="14" name="Imagen 13">
            <a:extLst>
              <a:ext uri="{FF2B5EF4-FFF2-40B4-BE49-F238E27FC236}">
                <a16:creationId xmlns:a16="http://schemas.microsoft.com/office/drawing/2014/main" xmlns="" id="{279C559B-EABE-4226-804D-47F809C9B6E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43808" y="3249126"/>
            <a:ext cx="3876377" cy="3541484"/>
          </a:xfrm>
          <a:prstGeom prst="rect">
            <a:avLst/>
          </a:prstGeom>
        </p:spPr>
      </p:pic>
    </p:spTree>
    <p:extLst>
      <p:ext uri="{BB962C8B-B14F-4D97-AF65-F5344CB8AC3E}">
        <p14:creationId xmlns:p14="http://schemas.microsoft.com/office/powerpoint/2010/main" val="13124260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ítulo 2">
            <a:extLst>
              <a:ext uri="{FF2B5EF4-FFF2-40B4-BE49-F238E27FC236}">
                <a16:creationId xmlns:a16="http://schemas.microsoft.com/office/drawing/2014/main" xmlns="" id="{90311B29-ADF8-4817-A4D1-9B46D745CF8D}"/>
              </a:ext>
            </a:extLst>
          </p:cNvPr>
          <p:cNvSpPr>
            <a:spLocks noGrp="1"/>
          </p:cNvSpPr>
          <p:nvPr>
            <p:ph type="title"/>
          </p:nvPr>
        </p:nvSpPr>
        <p:spPr>
          <a:xfrm>
            <a:off x="1705943" y="224579"/>
            <a:ext cx="4647630" cy="813000"/>
          </a:xfrm>
        </p:spPr>
        <p:txBody>
          <a:bodyPr/>
          <a:lstStyle/>
          <a:p>
            <a:pPr lvl="0" defTabSz="457200">
              <a:defRPr/>
            </a:pPr>
            <a:r>
              <a:rPr lang="es-CL" sz="2800" b="1" dirty="0">
                <a:solidFill>
                  <a:prstClr val="white"/>
                </a:solidFill>
                <a:latin typeface="Calibri"/>
              </a:rPr>
              <a:t>Creando LEFT OUTER JOIN</a:t>
            </a:r>
          </a:p>
        </p:txBody>
      </p:sp>
      <p:pic>
        <p:nvPicPr>
          <p:cNvPr id="12" name="Imagen 11">
            <a:extLst>
              <a:ext uri="{FF2B5EF4-FFF2-40B4-BE49-F238E27FC236}">
                <a16:creationId xmlns:a16="http://schemas.microsoft.com/office/drawing/2014/main" xmlns="" id="{53BA7B98-4D12-4ECB-B200-4ED9D1DC49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54007" y="3691248"/>
            <a:ext cx="4487756" cy="3050120"/>
          </a:xfrm>
          <a:prstGeom prst="rect">
            <a:avLst/>
          </a:prstGeom>
        </p:spPr>
      </p:pic>
      <p:sp>
        <p:nvSpPr>
          <p:cNvPr id="13" name="Rectangle 3">
            <a:extLst>
              <a:ext uri="{FF2B5EF4-FFF2-40B4-BE49-F238E27FC236}">
                <a16:creationId xmlns:a16="http://schemas.microsoft.com/office/drawing/2014/main" xmlns="" id="{DE43989E-CF20-4F06-845B-19CE9DF4A770}"/>
              </a:ext>
            </a:extLst>
          </p:cNvPr>
          <p:cNvSpPr txBox="1">
            <a:spLocks noChangeArrowheads="1"/>
          </p:cNvSpPr>
          <p:nvPr/>
        </p:nvSpPr>
        <p:spPr bwMode="auto">
          <a:xfrm>
            <a:off x="611832" y="1296748"/>
            <a:ext cx="7848600" cy="407988"/>
          </a:xfrm>
          <a:prstGeom prst="rect">
            <a:avLst/>
          </a:prstGeom>
          <a:noFill/>
          <a:ln w="9525">
            <a:noFill/>
            <a:miter lim="800000"/>
            <a:headEnd/>
            <a:tailEnd/>
          </a:ln>
        </p:spPr>
        <p:txBody>
          <a:bodyPr/>
          <a:lstStyle/>
          <a:p>
            <a:pPr marL="609600" indent="-609600" algn="just" defTabSz="457200" fontAlgn="base">
              <a:lnSpc>
                <a:spcPct val="80000"/>
              </a:lnSpc>
              <a:spcBef>
                <a:spcPct val="20000"/>
              </a:spcBef>
              <a:spcAft>
                <a:spcPct val="0"/>
              </a:spcAft>
              <a:buClrTx/>
              <a:buFont typeface="Arial" charset="0"/>
              <a:buChar char="•"/>
            </a:pPr>
            <a:r>
              <a:rPr lang="es-CL" sz="2000" kern="1200" dirty="0">
                <a:solidFill>
                  <a:prstClr val="black"/>
                </a:solidFill>
                <a:latin typeface="Calibri"/>
                <a:ea typeface="Arial Unicode MS"/>
                <a:cs typeface="Times New Roman" pitchFamily="18" charset="0"/>
              </a:rPr>
              <a:t>Ejemplo:</a:t>
            </a:r>
          </a:p>
        </p:txBody>
      </p:sp>
      <p:sp>
        <p:nvSpPr>
          <p:cNvPr id="15" name="Text Box 5">
            <a:extLst>
              <a:ext uri="{FF2B5EF4-FFF2-40B4-BE49-F238E27FC236}">
                <a16:creationId xmlns:a16="http://schemas.microsoft.com/office/drawing/2014/main" xmlns="" id="{493D0EFA-94BF-478D-8309-7750E6C5EE32}"/>
              </a:ext>
            </a:extLst>
          </p:cNvPr>
          <p:cNvSpPr txBox="1">
            <a:spLocks noChangeArrowheads="1"/>
          </p:cNvSpPr>
          <p:nvPr/>
        </p:nvSpPr>
        <p:spPr bwMode="auto">
          <a:xfrm>
            <a:off x="366960" y="1603584"/>
            <a:ext cx="8496944" cy="2062103"/>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800" b="0" i="0" u="none" strike="noStrike" kern="1200" cap="none" spc="0" normalizeH="0" baseline="0" noProof="0" dirty="0">
              <a:ln>
                <a:noFill/>
              </a:ln>
              <a:solidFill>
                <a:prstClr val="black"/>
              </a:solidFill>
              <a:effectLst/>
              <a:uLnTx/>
              <a:uFillTx/>
              <a:latin typeface="Arial Black" pitchFamily="34" charset="0"/>
              <a:ea typeface="+mn-ea"/>
              <a:cs typeface="Arial" panose="020B0604020202020204" pitchFamily="34"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SELECT  </a:t>
            </a:r>
            <a:r>
              <a:rPr kumimoji="0" lang="en-US" sz="1600" b="1" i="0" u="none" strike="noStrike" kern="1200" cap="none" spc="0" normalizeH="0" baseline="0" noProof="0" dirty="0">
                <a:ln>
                  <a:noFill/>
                </a:ln>
                <a:solidFill>
                  <a:srgbClr val="0000DE"/>
                </a:solidFill>
                <a:effectLst/>
                <a:uLnTx/>
                <a:uFillTx/>
                <a:latin typeface="Calibri"/>
                <a:ea typeface="+mn-ea"/>
                <a:cs typeface="Arial" panose="020B0604020202020204" pitchFamily="34" charset="0"/>
              </a:rPr>
              <a:t>e.employee_id</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"ID EMPLEADO", </a:t>
            </a:r>
            <a:r>
              <a:rPr kumimoji="0" lang="en-US" sz="1600" b="1" i="0" u="none" strike="noStrike" kern="1200" cap="none" spc="0" normalizeH="0" baseline="0" noProof="0" dirty="0">
                <a:ln>
                  <a:noFill/>
                </a:ln>
                <a:solidFill>
                  <a:srgbClr val="0000DE"/>
                </a:solidFill>
                <a:effectLst/>
                <a:uLnTx/>
                <a:uFillTx/>
                <a:latin typeface="Calibri"/>
                <a:ea typeface="+mn-ea"/>
                <a:cs typeface="Arial" panose="020B0604020202020204" pitchFamily="34" charset="0"/>
              </a:rPr>
              <a:t>e.first_name</a:t>
            </a:r>
            <a:r>
              <a:rPr kumimoji="0" lang="en-U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 ' ||</a:t>
            </a:r>
            <a:r>
              <a:rPr kumimoji="0" lang="en-U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a:ln>
                  <a:noFill/>
                </a:ln>
                <a:solidFill>
                  <a:srgbClr val="0000DE"/>
                </a:solidFill>
                <a:effectLst/>
                <a:uLnTx/>
                <a:uFillTx/>
                <a:latin typeface="Calibri"/>
                <a:ea typeface="+mn-ea"/>
                <a:cs typeface="Arial" panose="020B0604020202020204" pitchFamily="34" charset="0"/>
              </a:rPr>
              <a:t>e.last_name</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"NOMBRE EMPLEADO", </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0000FF"/>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CASE WHEN </a:t>
            </a:r>
            <a:r>
              <a:rPr kumimoji="0" lang="en-US" sz="1600" b="1" i="0" u="none" strike="noStrike" kern="1200" cap="none" spc="0" normalizeH="0" baseline="0" noProof="0" dirty="0">
                <a:ln>
                  <a:noFill/>
                </a:ln>
                <a:solidFill>
                  <a:srgbClr val="0000DE"/>
                </a:solidFill>
                <a:effectLst/>
                <a:uLnTx/>
                <a:uFillTx/>
                <a:latin typeface="Calibri"/>
                <a:ea typeface="+mn-ea"/>
                <a:cs typeface="Arial" panose="020B0604020202020204" pitchFamily="34" charset="0"/>
              </a:rPr>
              <a:t>e.manager_id</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IS NULL THEN 'SIN JEFE'  </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0000DE"/>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WHEN </a:t>
            </a:r>
            <a:r>
              <a:rPr kumimoji="0" lang="en-US" sz="1600" b="1" i="0" u="none" strike="noStrike" kern="1200" cap="none" spc="0" normalizeH="0" baseline="0" noProof="0" dirty="0">
                <a:ln>
                  <a:noFill/>
                </a:ln>
                <a:solidFill>
                  <a:srgbClr val="0000DE"/>
                </a:solidFill>
                <a:effectLst/>
                <a:uLnTx/>
                <a:uFillTx/>
                <a:latin typeface="Calibri"/>
                <a:ea typeface="+mn-ea"/>
                <a:cs typeface="Arial" panose="020B0604020202020204" pitchFamily="34" charset="0"/>
              </a:rPr>
              <a:t>e.manager_id</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IS NOT NULL THEN </a:t>
            </a:r>
            <a:r>
              <a:rPr kumimoji="0" lang="en-US" sz="1600" b="1" i="0" u="none" strike="noStrike" kern="1200" cap="none" spc="0" normalizeH="0" baseline="0" noProof="0" dirty="0">
                <a:ln>
                  <a:noFill/>
                </a:ln>
                <a:solidFill>
                  <a:srgbClr val="008000"/>
                </a:solidFill>
                <a:effectLst/>
                <a:uLnTx/>
                <a:uFillTx/>
                <a:latin typeface="Calibri"/>
                <a:ea typeface="+mn-ea"/>
                <a:cs typeface="Arial" panose="020B0604020202020204" pitchFamily="34" charset="0"/>
              </a:rPr>
              <a:t>m.first_name</a:t>
            </a:r>
            <a:r>
              <a:rPr kumimoji="0" lang="en-US" sz="1600" b="1" i="0" u="none" strike="noStrike" kern="1200" cap="none" spc="0" normalizeH="0" baseline="0" noProof="0" dirty="0">
                <a:ln>
                  <a:noFill/>
                </a:ln>
                <a:solidFill>
                  <a:srgbClr val="0000DE"/>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 '  ||</a:t>
            </a:r>
            <a:r>
              <a:rPr kumimoji="0" lang="en-US" sz="1600" b="1" i="0" u="none" strike="noStrike" kern="1200" cap="none" spc="0" normalizeH="0" baseline="0" noProof="0" dirty="0">
                <a:ln>
                  <a:noFill/>
                </a:ln>
                <a:solidFill>
                  <a:srgbClr val="0000DE"/>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a:ln>
                  <a:noFill/>
                </a:ln>
                <a:solidFill>
                  <a:srgbClr val="008000"/>
                </a:solidFill>
                <a:effectLst/>
                <a:uLnTx/>
                <a:uFillTx/>
                <a:latin typeface="Calibri"/>
                <a:ea typeface="+mn-ea"/>
                <a:cs typeface="Arial" panose="020B0604020202020204" pitchFamily="34" charset="0"/>
              </a:rPr>
              <a:t>m.last_name</a:t>
            </a:r>
            <a:endPar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END "NOMBRE JEFE" </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FROM   </a:t>
            </a:r>
            <a:r>
              <a:rPr kumimoji="0" lang="en-US" sz="1600" b="1" i="0" u="none" strike="noStrike" kern="1200" cap="none" spc="0" normalizeH="0" baseline="0" noProof="0" dirty="0">
                <a:ln>
                  <a:noFill/>
                </a:ln>
                <a:solidFill>
                  <a:srgbClr val="0000DE"/>
                </a:solidFill>
                <a:effectLst/>
                <a:uLnTx/>
                <a:uFillTx/>
                <a:latin typeface="Calibri"/>
                <a:ea typeface="+mn-ea"/>
                <a:cs typeface="Arial" panose="020B0604020202020204" pitchFamily="34" charset="0"/>
              </a:rPr>
              <a:t>employees e</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LEFT JOIN</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a:ln>
                  <a:noFill/>
                </a:ln>
                <a:solidFill>
                  <a:srgbClr val="008000"/>
                </a:solidFill>
                <a:effectLst/>
                <a:uLnTx/>
                <a:uFillTx/>
                <a:latin typeface="Calibri"/>
                <a:ea typeface="+mn-ea"/>
                <a:cs typeface="Arial" panose="020B0604020202020204" pitchFamily="34" charset="0"/>
              </a:rPr>
              <a:t>employees m</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ON (</a:t>
            </a:r>
            <a:r>
              <a:rPr kumimoji="0" lang="en-US" sz="1600" b="1" i="0" u="none" strike="noStrike" kern="1200" cap="none" spc="0" normalizeH="0" baseline="0" noProof="0" dirty="0">
                <a:ln>
                  <a:noFill/>
                </a:ln>
                <a:solidFill>
                  <a:srgbClr val="0000DE"/>
                </a:solidFill>
                <a:effectLst/>
                <a:uLnTx/>
                <a:uFillTx/>
                <a:latin typeface="Calibri"/>
                <a:ea typeface="+mn-ea"/>
                <a:cs typeface="Arial" panose="020B0604020202020204" pitchFamily="34" charset="0"/>
              </a:rPr>
              <a:t>e.manager_id </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a:ln>
                  <a:noFill/>
                </a:ln>
                <a:solidFill>
                  <a:srgbClr val="008000"/>
                </a:solidFill>
                <a:effectLst/>
                <a:uLnTx/>
                <a:uFillTx/>
                <a:latin typeface="Calibri"/>
                <a:ea typeface="+mn-ea"/>
                <a:cs typeface="Arial" panose="020B0604020202020204" pitchFamily="34" charset="0"/>
              </a:rPr>
              <a:t>m.employee_id</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ORDER BY</a:t>
            </a:r>
            <a:r>
              <a:rPr kumimoji="0" lang="en-US" sz="1600" b="1" i="0" u="none" strike="noStrike" kern="1200" cap="none" spc="0" normalizeH="0" baseline="0" noProof="0" dirty="0">
                <a:ln>
                  <a:noFill/>
                </a:ln>
                <a:solidFill>
                  <a:srgbClr val="0000DE"/>
                </a:solidFill>
                <a:effectLst/>
                <a:uLnTx/>
                <a:uFillTx/>
                <a:latin typeface="Calibri"/>
                <a:ea typeface="+mn-ea"/>
                <a:cs typeface="Arial" panose="020B0604020202020204" pitchFamily="34" charset="0"/>
              </a:rPr>
              <a:t> e.employee_id</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p:txBody>
      </p:sp>
    </p:spTree>
    <p:extLst>
      <p:ext uri="{BB962C8B-B14F-4D97-AF65-F5344CB8AC3E}">
        <p14:creationId xmlns:p14="http://schemas.microsoft.com/office/powerpoint/2010/main" val="34856032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ítulo 2">
            <a:extLst>
              <a:ext uri="{FF2B5EF4-FFF2-40B4-BE49-F238E27FC236}">
                <a16:creationId xmlns:a16="http://schemas.microsoft.com/office/drawing/2014/main" xmlns="" id="{90311B29-ADF8-4817-A4D1-9B46D745CF8D}"/>
              </a:ext>
            </a:extLst>
          </p:cNvPr>
          <p:cNvSpPr>
            <a:spLocks noGrp="1"/>
          </p:cNvSpPr>
          <p:nvPr>
            <p:ph type="title"/>
          </p:nvPr>
        </p:nvSpPr>
        <p:spPr>
          <a:xfrm>
            <a:off x="1705943" y="224579"/>
            <a:ext cx="4647630" cy="813000"/>
          </a:xfrm>
        </p:spPr>
        <p:txBody>
          <a:bodyPr/>
          <a:lstStyle/>
          <a:p>
            <a:pPr lvl="0" defTabSz="457200">
              <a:defRPr/>
            </a:pPr>
            <a:r>
              <a:rPr lang="es-CL" sz="2800" b="1" dirty="0">
                <a:solidFill>
                  <a:prstClr val="white"/>
                </a:solidFill>
                <a:latin typeface="Calibri"/>
              </a:rPr>
              <a:t>Creando RIGHT OUTER JOIN</a:t>
            </a:r>
          </a:p>
        </p:txBody>
      </p:sp>
      <p:sp>
        <p:nvSpPr>
          <p:cNvPr id="10" name="Rectangle 3">
            <a:extLst>
              <a:ext uri="{FF2B5EF4-FFF2-40B4-BE49-F238E27FC236}">
                <a16:creationId xmlns:a16="http://schemas.microsoft.com/office/drawing/2014/main" xmlns="" id="{E48DE5A9-BE6C-49F7-B4BF-5D3848C6553D}"/>
              </a:ext>
            </a:extLst>
          </p:cNvPr>
          <p:cNvSpPr txBox="1">
            <a:spLocks noChangeArrowheads="1"/>
          </p:cNvSpPr>
          <p:nvPr/>
        </p:nvSpPr>
        <p:spPr bwMode="auto">
          <a:xfrm>
            <a:off x="611832" y="1380504"/>
            <a:ext cx="7848600" cy="407988"/>
          </a:xfrm>
          <a:prstGeom prst="rect">
            <a:avLst/>
          </a:prstGeom>
          <a:noFill/>
          <a:ln w="9525">
            <a:noFill/>
            <a:miter lim="800000"/>
            <a:headEnd/>
            <a:tailEnd/>
          </a:ln>
        </p:spPr>
        <p:txBody>
          <a:bodyPr/>
          <a:lstStyle/>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Calibri"/>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Calibri"/>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Calibri"/>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Calibri"/>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Calibri"/>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Calibri"/>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Calibri"/>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Calibri"/>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800" kern="1200" dirty="0">
              <a:solidFill>
                <a:prstClr val="black"/>
              </a:solidFill>
              <a:latin typeface="Calibri"/>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r>
              <a:rPr lang="es-CL" sz="2000" kern="1200" dirty="0">
                <a:solidFill>
                  <a:prstClr val="black"/>
                </a:solidFill>
                <a:latin typeface="Calibri"/>
                <a:ea typeface="Arial Unicode MS"/>
                <a:cs typeface="Times New Roman" pitchFamily="18" charset="0"/>
              </a:rPr>
              <a:t>Sintaxis:</a:t>
            </a:r>
          </a:p>
        </p:txBody>
      </p:sp>
      <p:sp>
        <p:nvSpPr>
          <p:cNvPr id="11" name="Text Box 5">
            <a:extLst>
              <a:ext uri="{FF2B5EF4-FFF2-40B4-BE49-F238E27FC236}">
                <a16:creationId xmlns:a16="http://schemas.microsoft.com/office/drawing/2014/main" xmlns="" id="{006A82F7-A51C-4724-8798-520A8FA04BC9}"/>
              </a:ext>
            </a:extLst>
          </p:cNvPr>
          <p:cNvSpPr txBox="1">
            <a:spLocks noChangeArrowheads="1"/>
          </p:cNvSpPr>
          <p:nvPr/>
        </p:nvSpPr>
        <p:spPr bwMode="auto">
          <a:xfrm>
            <a:off x="1259632" y="4236764"/>
            <a:ext cx="7025134" cy="2000548"/>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s-MX" sz="1800" b="1" i="0" u="none" strike="noStrike" kern="1200" cap="none" spc="0" normalizeH="0" baseline="0" noProof="0" dirty="0">
                <a:ln>
                  <a:noFill/>
                </a:ln>
                <a:solidFill>
                  <a:sysClr val="windowText" lastClr="000000"/>
                </a:solidFill>
                <a:effectLst/>
                <a:uLnTx/>
                <a:uFillTx/>
                <a:latin typeface="Calibri"/>
                <a:ea typeface="+mn-ea"/>
                <a:cs typeface="Arial" pitchFamily="34" charset="0"/>
              </a:rPr>
              <a:t>SELECT </a:t>
            </a:r>
            <a:r>
              <a:rPr kumimoji="0" lang="es-MX" sz="1800" b="1" i="1" u="none" strike="noStrike" kern="1200" cap="none" spc="0" normalizeH="0" baseline="0" noProof="0" dirty="0">
                <a:ln>
                  <a:noFill/>
                </a:ln>
                <a:solidFill>
                  <a:sysClr val="windowText" lastClr="000000"/>
                </a:solidFill>
                <a:effectLst/>
                <a:uLnTx/>
                <a:uFillTx/>
                <a:latin typeface="Calibri"/>
                <a:ea typeface="+mn-ea"/>
                <a:cs typeface="Arial" pitchFamily="34" charset="0"/>
              </a:rPr>
              <a:t>tabla1.columna1, tabla1.columna2, tabla2.columna1, tabla2.columna2,... </a:t>
            </a:r>
          </a:p>
          <a:p>
            <a:pPr marL="0" marR="0" lvl="0" indent="0" defTabSz="914400" eaLnBrk="1" fontAlgn="base" latinLnBrk="0" hangingPunct="1">
              <a:lnSpc>
                <a:spcPct val="100000"/>
              </a:lnSpc>
              <a:spcBef>
                <a:spcPct val="0"/>
              </a:spcBef>
              <a:spcAft>
                <a:spcPct val="0"/>
              </a:spcAft>
              <a:buClrTx/>
              <a:buSzTx/>
              <a:buFontTx/>
              <a:buNone/>
              <a:tabLst/>
              <a:defRPr/>
            </a:pPr>
            <a:r>
              <a:rPr kumimoji="0" lang="es-MX" sz="1800" b="1" i="0" u="none" strike="noStrike" kern="1200" cap="none" spc="0" normalizeH="0" baseline="0" noProof="0" dirty="0">
                <a:ln>
                  <a:noFill/>
                </a:ln>
                <a:solidFill>
                  <a:sysClr val="windowText" lastClr="000000"/>
                </a:solidFill>
                <a:effectLst/>
                <a:uLnTx/>
                <a:uFillTx/>
                <a:latin typeface="Calibri"/>
                <a:ea typeface="+mn-ea"/>
                <a:cs typeface="Arial" pitchFamily="34" charset="0"/>
              </a:rPr>
              <a:t>FROM </a:t>
            </a:r>
            <a:r>
              <a:rPr kumimoji="0" lang="es-MX" sz="1800" b="1" i="1" u="none" strike="noStrike" kern="1200" cap="none" spc="0" normalizeH="0" baseline="0" noProof="0" dirty="0">
                <a:ln>
                  <a:noFill/>
                </a:ln>
                <a:solidFill>
                  <a:sysClr val="windowText" lastClr="000000"/>
                </a:solidFill>
                <a:effectLst/>
                <a:uLnTx/>
                <a:uFillTx/>
                <a:latin typeface="Calibri"/>
                <a:ea typeface="+mn-ea"/>
                <a:cs typeface="Arial" pitchFamily="34" charset="0"/>
              </a:rPr>
              <a:t>tabla1</a:t>
            </a:r>
          </a:p>
          <a:p>
            <a:pPr marL="0" marR="0" lvl="0" indent="0" defTabSz="914400" eaLnBrk="1" fontAlgn="base" latinLnBrk="0" hangingPunct="1">
              <a:lnSpc>
                <a:spcPct val="100000"/>
              </a:lnSpc>
              <a:spcBef>
                <a:spcPct val="0"/>
              </a:spcBef>
              <a:spcAft>
                <a:spcPct val="0"/>
              </a:spcAft>
              <a:buClrTx/>
              <a:buSzTx/>
              <a:buFontTx/>
              <a:buNone/>
              <a:tabLst/>
              <a:defRPr/>
            </a:pPr>
            <a:r>
              <a:rPr kumimoji="0" lang="es-MX" sz="1800" b="1" i="0" u="none" strike="noStrike" kern="1200" cap="none" spc="0" normalizeH="0" baseline="0" noProof="0" dirty="0">
                <a:ln>
                  <a:noFill/>
                </a:ln>
                <a:solidFill>
                  <a:sysClr val="windowText" lastClr="000000"/>
                </a:solidFill>
                <a:effectLst/>
                <a:uLnTx/>
                <a:uFillTx/>
                <a:latin typeface="Calibri"/>
                <a:ea typeface="+mn-ea"/>
                <a:cs typeface="Arial" panose="020B0604020202020204" pitchFamily="34" charset="0"/>
              </a:rPr>
              <a:t>[</a:t>
            </a:r>
            <a:r>
              <a:rPr kumimoji="0" lang="es-MX" sz="1800" b="1" i="0" u="none" strike="noStrike" kern="1200" cap="none" spc="0" normalizeH="0" baseline="0" noProof="0" dirty="0">
                <a:ln>
                  <a:noFill/>
                </a:ln>
                <a:solidFill>
                  <a:srgbClr val="C00000"/>
                </a:solidFill>
                <a:effectLst/>
                <a:uLnTx/>
                <a:uFillTx/>
                <a:latin typeface="Calibri"/>
                <a:ea typeface="ＭＳ Ｐゴシック" pitchFamily="34" charset="-128"/>
                <a:cs typeface="Arial" panose="020B0604020202020204" pitchFamily="34" charset="0"/>
              </a:rPr>
              <a:t>RIGHT</a:t>
            </a:r>
            <a:r>
              <a:rPr kumimoji="0" lang="es-MX" sz="1800" b="1" i="0" u="none" strike="noStrike" kern="1200" cap="none" spc="0" normalizeH="0" baseline="0" noProof="0" dirty="0">
                <a:ln>
                  <a:noFill/>
                </a:ln>
                <a:solidFill>
                  <a:sysClr val="windowText" lastClr="000000"/>
                </a:solidFill>
                <a:effectLst/>
                <a:uLnTx/>
                <a:uFillTx/>
                <a:latin typeface="Calibri"/>
                <a:ea typeface="+mn-ea"/>
                <a:cs typeface="Arial" panose="020B0604020202020204" pitchFamily="34" charset="0"/>
              </a:rPr>
              <a:t> [</a:t>
            </a:r>
            <a:r>
              <a:rPr kumimoji="0" lang="es-MX" sz="18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OUTER</a:t>
            </a:r>
            <a:r>
              <a:rPr kumimoji="0" lang="es-MX" sz="1800" b="1" i="0" u="none" strike="noStrike" kern="1200" cap="none" spc="0" normalizeH="0" baseline="0" noProof="0" dirty="0">
                <a:ln>
                  <a:noFill/>
                </a:ln>
                <a:solidFill>
                  <a:sysClr val="windowText" lastClr="000000"/>
                </a:solidFill>
                <a:effectLst/>
                <a:uLnTx/>
                <a:uFillTx/>
                <a:latin typeface="Calibri"/>
                <a:ea typeface="+mn-ea"/>
                <a:cs typeface="Arial" panose="020B0604020202020204" pitchFamily="34" charset="0"/>
              </a:rPr>
              <a:t>] JOIN </a:t>
            </a:r>
            <a:r>
              <a:rPr kumimoji="0" lang="es-MX" sz="1800" b="1" i="1" u="none" strike="noStrike" kern="1200" cap="none" spc="0" normalizeH="0" baseline="0" noProof="0" dirty="0">
                <a:ln>
                  <a:noFill/>
                </a:ln>
                <a:solidFill>
                  <a:sysClr val="windowText" lastClr="000000"/>
                </a:solidFill>
                <a:effectLst/>
                <a:uLnTx/>
                <a:uFillTx/>
                <a:latin typeface="Calibri"/>
                <a:ea typeface="+mn-ea"/>
                <a:cs typeface="Arial" panose="020B0604020202020204" pitchFamily="34" charset="0"/>
              </a:rPr>
              <a:t>tabla2</a:t>
            </a:r>
          </a:p>
          <a:p>
            <a:pPr marL="0" marR="0" lvl="0" indent="0" defTabSz="914400" eaLnBrk="1" fontAlgn="base" latinLnBrk="0" hangingPunct="1">
              <a:lnSpc>
                <a:spcPct val="100000"/>
              </a:lnSpc>
              <a:spcBef>
                <a:spcPct val="0"/>
              </a:spcBef>
              <a:spcAft>
                <a:spcPct val="0"/>
              </a:spcAft>
              <a:buClrTx/>
              <a:buSzTx/>
              <a:buFontTx/>
              <a:buNone/>
              <a:tabLst/>
              <a:defRPr/>
            </a:pPr>
            <a:r>
              <a:rPr kumimoji="0" lang="es-MX" sz="1800" b="1" i="0" u="none" strike="noStrike" kern="1200" cap="none" spc="0" normalizeH="0" baseline="0" noProof="0" dirty="0">
                <a:ln>
                  <a:noFill/>
                </a:ln>
                <a:solidFill>
                  <a:sysClr val="windowText" lastClr="000000"/>
                </a:solidFill>
                <a:effectLst/>
                <a:uLnTx/>
                <a:uFillTx/>
                <a:latin typeface="Calibri"/>
                <a:ea typeface="+mn-ea"/>
                <a:cs typeface="Arial" pitchFamily="34" charset="0"/>
              </a:rPr>
              <a:t>[USING(</a:t>
            </a:r>
            <a:r>
              <a:rPr kumimoji="0" lang="es-MX" sz="1800" b="1" i="1" u="none" strike="noStrike" kern="1200" cap="none" spc="0" normalizeH="0" baseline="0" noProof="0" dirty="0">
                <a:ln>
                  <a:noFill/>
                </a:ln>
                <a:solidFill>
                  <a:sysClr val="windowText" lastClr="000000"/>
                </a:solidFill>
                <a:effectLst/>
                <a:uLnTx/>
                <a:uFillTx/>
                <a:latin typeface="Calibri"/>
                <a:ea typeface="+mn-ea"/>
                <a:cs typeface="Arial" pitchFamily="34" charset="0"/>
              </a:rPr>
              <a:t>columna</a:t>
            </a:r>
            <a:r>
              <a:rPr kumimoji="0" lang="es-MX" sz="1800" b="1" i="0" u="none" strike="noStrike" kern="1200" cap="none" spc="0" normalizeH="0" baseline="0" noProof="0" dirty="0">
                <a:ln>
                  <a:noFill/>
                </a:ln>
                <a:solidFill>
                  <a:sysClr val="windowText" lastClr="000000"/>
                </a:solidFill>
                <a:effectLst/>
                <a:uLnTx/>
                <a:uFillTx/>
                <a:latin typeface="Calibri"/>
                <a:ea typeface="+mn-ea"/>
                <a:cs typeface="Arial"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s-MX" sz="1800" b="1" i="0" u="none" strike="noStrike" kern="1200" cap="none" spc="0" normalizeH="0" baseline="0" noProof="0" dirty="0">
                <a:ln>
                  <a:noFill/>
                </a:ln>
                <a:solidFill>
                  <a:sysClr val="windowText" lastClr="000000"/>
                </a:solidFill>
                <a:effectLst/>
                <a:uLnTx/>
                <a:uFillTx/>
                <a:latin typeface="Calibri"/>
                <a:ea typeface="+mn-ea"/>
                <a:cs typeface="Arial" pitchFamily="34" charset="0"/>
              </a:rPr>
              <a:t>[ON (</a:t>
            </a:r>
            <a:r>
              <a:rPr kumimoji="0" lang="es-MX" sz="1800" b="1" i="1" u="none" strike="noStrike" kern="1200" cap="none" spc="0" normalizeH="0" baseline="0" noProof="0" dirty="0">
                <a:ln>
                  <a:noFill/>
                </a:ln>
                <a:solidFill>
                  <a:sysClr val="windowText" lastClr="000000"/>
                </a:solidFill>
                <a:effectLst/>
                <a:uLnTx/>
                <a:uFillTx/>
                <a:latin typeface="Calibri"/>
                <a:ea typeface="+mn-ea"/>
                <a:cs typeface="Arial" pitchFamily="34" charset="0"/>
              </a:rPr>
              <a:t>tabla1.columa = tabla2.columna</a:t>
            </a:r>
            <a:r>
              <a:rPr kumimoji="0" lang="es-MX" sz="1800" b="1" i="0" u="none" strike="noStrike" kern="1200" cap="none" spc="0" normalizeH="0" baseline="0" noProof="0" dirty="0">
                <a:ln>
                  <a:noFill/>
                </a:ln>
                <a:solidFill>
                  <a:sysClr val="windowText" lastClr="000000"/>
                </a:solidFill>
                <a:effectLst/>
                <a:uLnTx/>
                <a:uFillTx/>
                <a:latin typeface="Calibri"/>
                <a:ea typeface="+mn-ea"/>
                <a:cs typeface="Arial"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endParaRPr kumimoji="0" lang="en-US" sz="8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p:txBody>
      </p:sp>
      <p:pic>
        <p:nvPicPr>
          <p:cNvPr id="3" name="Imagen 2">
            <a:extLst>
              <a:ext uri="{FF2B5EF4-FFF2-40B4-BE49-F238E27FC236}">
                <a16:creationId xmlns:a16="http://schemas.microsoft.com/office/drawing/2014/main" xmlns="" id="{99DFE2A4-38BC-412C-9923-46AA16458C17}"/>
              </a:ext>
            </a:extLst>
          </p:cNvPr>
          <p:cNvPicPr>
            <a:picLocks noChangeAspect="1"/>
          </p:cNvPicPr>
          <p:nvPr/>
        </p:nvPicPr>
        <p:blipFill>
          <a:blip r:embed="rId3"/>
          <a:stretch>
            <a:fillRect/>
          </a:stretch>
        </p:blipFill>
        <p:spPr>
          <a:xfrm>
            <a:off x="2621108" y="1318198"/>
            <a:ext cx="4320002" cy="2484000"/>
          </a:xfrm>
          <a:prstGeom prst="rect">
            <a:avLst/>
          </a:prstGeom>
        </p:spPr>
      </p:pic>
    </p:spTree>
    <p:extLst>
      <p:ext uri="{BB962C8B-B14F-4D97-AF65-F5344CB8AC3E}">
        <p14:creationId xmlns:p14="http://schemas.microsoft.com/office/powerpoint/2010/main" val="32966938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ítulo 2">
            <a:extLst>
              <a:ext uri="{FF2B5EF4-FFF2-40B4-BE49-F238E27FC236}">
                <a16:creationId xmlns:a16="http://schemas.microsoft.com/office/drawing/2014/main" xmlns="" id="{90311B29-ADF8-4817-A4D1-9B46D745CF8D}"/>
              </a:ext>
            </a:extLst>
          </p:cNvPr>
          <p:cNvSpPr>
            <a:spLocks noGrp="1"/>
          </p:cNvSpPr>
          <p:nvPr>
            <p:ph type="title"/>
          </p:nvPr>
        </p:nvSpPr>
        <p:spPr>
          <a:xfrm>
            <a:off x="1705943" y="224579"/>
            <a:ext cx="4647630" cy="813000"/>
          </a:xfrm>
        </p:spPr>
        <p:txBody>
          <a:bodyPr/>
          <a:lstStyle/>
          <a:p>
            <a:pPr lvl="0" defTabSz="457200">
              <a:defRPr/>
            </a:pPr>
            <a:r>
              <a:rPr lang="es-CL" sz="2800" b="1" dirty="0">
                <a:solidFill>
                  <a:prstClr val="white"/>
                </a:solidFill>
                <a:latin typeface="Calibri"/>
              </a:rPr>
              <a:t>Creando RIGHT OUTER JOIN</a:t>
            </a:r>
          </a:p>
        </p:txBody>
      </p:sp>
      <p:pic>
        <p:nvPicPr>
          <p:cNvPr id="12" name="Imagen 11">
            <a:extLst>
              <a:ext uri="{FF2B5EF4-FFF2-40B4-BE49-F238E27FC236}">
                <a16:creationId xmlns:a16="http://schemas.microsoft.com/office/drawing/2014/main" xmlns="" id="{4A9EB289-71D2-40DD-B050-26C96280C1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58440" y="2949507"/>
            <a:ext cx="3744417" cy="3796527"/>
          </a:xfrm>
          <a:prstGeom prst="rect">
            <a:avLst/>
          </a:prstGeom>
        </p:spPr>
      </p:pic>
      <p:sp>
        <p:nvSpPr>
          <p:cNvPr id="13" name="Text Box 5">
            <a:extLst>
              <a:ext uri="{FF2B5EF4-FFF2-40B4-BE49-F238E27FC236}">
                <a16:creationId xmlns:a16="http://schemas.microsoft.com/office/drawing/2014/main" xmlns="" id="{CF49F319-CF6C-41B0-B542-E1CCA6D44472}"/>
              </a:ext>
            </a:extLst>
          </p:cNvPr>
          <p:cNvSpPr txBox="1">
            <a:spLocks noChangeArrowheads="1"/>
          </p:cNvSpPr>
          <p:nvPr/>
        </p:nvSpPr>
        <p:spPr bwMode="auto">
          <a:xfrm>
            <a:off x="1115616" y="1586811"/>
            <a:ext cx="6984776" cy="1323439"/>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s-MX"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SELECT </a:t>
            </a:r>
            <a:r>
              <a:rPr kumimoji="0" lang="en-US" sz="1600" b="1" i="0" u="none" strike="noStrike" kern="1200" cap="none" spc="0" normalizeH="0" baseline="0" noProof="0" dirty="0">
                <a:ln>
                  <a:noFill/>
                </a:ln>
                <a:solidFill>
                  <a:srgbClr val="0000DE"/>
                </a:solidFill>
                <a:effectLst/>
                <a:uLnTx/>
                <a:uFillTx/>
                <a:latin typeface="Calibri"/>
                <a:ea typeface="+mn-ea"/>
                <a:cs typeface="Arial" panose="020B0604020202020204" pitchFamily="34" charset="0"/>
              </a:rPr>
              <a:t>emp.employee_id</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a:ln>
                  <a:noFill/>
                </a:ln>
                <a:solidFill>
                  <a:srgbClr val="008000"/>
                </a:solidFill>
                <a:effectLst/>
                <a:uLnTx/>
                <a:uFillTx/>
                <a:latin typeface="Calibri"/>
                <a:ea typeface="+mn-ea"/>
                <a:cs typeface="Arial" panose="020B0604020202020204" pitchFamily="34" charset="0"/>
              </a:rPr>
              <a:t>dep.department_id</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a:ln>
                  <a:noFill/>
                </a:ln>
                <a:solidFill>
                  <a:srgbClr val="008000"/>
                </a:solidFill>
                <a:effectLst/>
                <a:uLnTx/>
                <a:uFillTx/>
                <a:latin typeface="Calibri"/>
                <a:ea typeface="+mn-ea"/>
                <a:cs typeface="Arial" panose="020B0604020202020204" pitchFamily="34" charset="0"/>
              </a:rPr>
              <a:t>dep.department_name</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FROM </a:t>
            </a:r>
            <a:r>
              <a:rPr kumimoji="0" lang="en-US" sz="1600" b="1" i="0" u="none" strike="noStrike" kern="1200" cap="none" spc="0" normalizeH="0" baseline="0" noProof="0" dirty="0">
                <a:ln>
                  <a:noFill/>
                </a:ln>
                <a:solidFill>
                  <a:srgbClr val="0000DE"/>
                </a:solidFill>
                <a:effectLst/>
                <a:uLnTx/>
                <a:uFillTx/>
                <a:latin typeface="Calibri"/>
                <a:ea typeface="+mn-ea"/>
                <a:cs typeface="Arial" panose="020B0604020202020204" pitchFamily="34" charset="0"/>
              </a:rPr>
              <a:t>employees emp</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RIGHT OUTER JOIN</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a:ln>
                  <a:noFill/>
                </a:ln>
                <a:solidFill>
                  <a:srgbClr val="008000"/>
                </a:solidFill>
                <a:effectLst/>
                <a:uLnTx/>
                <a:uFillTx/>
                <a:latin typeface="Calibri"/>
                <a:ea typeface="+mn-ea"/>
                <a:cs typeface="Arial" panose="020B0604020202020204" pitchFamily="34" charset="0"/>
              </a:rPr>
              <a:t>departments dep</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800080"/>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ON(</a:t>
            </a:r>
            <a:r>
              <a:rPr kumimoji="0" lang="en-US" sz="1600" b="1" i="0" u="none" strike="noStrike" kern="1200" cap="none" spc="0" normalizeH="0" baseline="0" noProof="0" dirty="0" err="1">
                <a:ln>
                  <a:noFill/>
                </a:ln>
                <a:solidFill>
                  <a:srgbClr val="0000DE"/>
                </a:solidFill>
                <a:effectLst/>
                <a:uLnTx/>
                <a:uFillTx/>
                <a:latin typeface="Calibri"/>
                <a:ea typeface="+mn-ea"/>
                <a:cs typeface="Arial" panose="020B0604020202020204" pitchFamily="34" charset="0"/>
              </a:rPr>
              <a:t>emp.department_id</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 </a:t>
            </a:r>
            <a:r>
              <a:rPr kumimoji="0" lang="en-US" sz="1600" b="1" i="0" u="none" strike="noStrike" kern="1200" cap="none" spc="0" normalizeH="0" baseline="0" noProof="0" dirty="0" err="1">
                <a:ln>
                  <a:noFill/>
                </a:ln>
                <a:solidFill>
                  <a:srgbClr val="008000"/>
                </a:solidFill>
                <a:effectLst/>
                <a:uLnTx/>
                <a:uFillTx/>
                <a:latin typeface="Calibri"/>
                <a:ea typeface="+mn-ea"/>
                <a:cs typeface="Arial" panose="020B0604020202020204" pitchFamily="34" charset="0"/>
              </a:rPr>
              <a:t>dep.department_id</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ORDER BY </a:t>
            </a:r>
            <a:r>
              <a:rPr kumimoji="0" lang="en-US" sz="1600" b="1" i="0" u="none" strike="noStrike" kern="1200" cap="none" spc="0" normalizeH="0" baseline="0" noProof="0" dirty="0" err="1">
                <a:ln>
                  <a:noFill/>
                </a:ln>
                <a:solidFill>
                  <a:srgbClr val="0000DE"/>
                </a:solidFill>
                <a:effectLst/>
                <a:uLnTx/>
                <a:uFillTx/>
                <a:latin typeface="Calibri"/>
                <a:ea typeface="+mn-ea"/>
                <a:cs typeface="Arial" panose="020B0604020202020204" pitchFamily="34" charset="0"/>
              </a:rPr>
              <a:t>emp.employee_id</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p:txBody>
      </p:sp>
      <p:sp>
        <p:nvSpPr>
          <p:cNvPr id="14" name="Rectangle 3">
            <a:extLst>
              <a:ext uri="{FF2B5EF4-FFF2-40B4-BE49-F238E27FC236}">
                <a16:creationId xmlns:a16="http://schemas.microsoft.com/office/drawing/2014/main" xmlns="" id="{DA400162-3F69-4591-9D7F-B0C2E8A818D6}"/>
              </a:ext>
            </a:extLst>
          </p:cNvPr>
          <p:cNvSpPr txBox="1">
            <a:spLocks noChangeArrowheads="1"/>
          </p:cNvSpPr>
          <p:nvPr/>
        </p:nvSpPr>
        <p:spPr bwMode="auto">
          <a:xfrm>
            <a:off x="611188" y="1268760"/>
            <a:ext cx="7848600" cy="407988"/>
          </a:xfrm>
          <a:prstGeom prst="rect">
            <a:avLst/>
          </a:prstGeom>
          <a:noFill/>
          <a:ln w="9525">
            <a:noFill/>
            <a:miter lim="800000"/>
            <a:headEnd/>
            <a:tailEnd/>
          </a:ln>
        </p:spPr>
        <p:txBody>
          <a:bodyPr/>
          <a:lstStyle/>
          <a:p>
            <a:pPr marL="609600" indent="-609600" algn="just" defTabSz="457200" fontAlgn="base">
              <a:lnSpc>
                <a:spcPct val="80000"/>
              </a:lnSpc>
              <a:spcBef>
                <a:spcPct val="20000"/>
              </a:spcBef>
              <a:spcAft>
                <a:spcPct val="0"/>
              </a:spcAft>
              <a:buClrTx/>
              <a:buFont typeface="Arial" charset="0"/>
              <a:buChar char="•"/>
            </a:pPr>
            <a:r>
              <a:rPr lang="es-CL" sz="2000" kern="1200" dirty="0">
                <a:solidFill>
                  <a:prstClr val="black"/>
                </a:solidFill>
                <a:latin typeface="Calibri"/>
                <a:ea typeface="Arial Unicode MS"/>
                <a:cs typeface="Times New Roman" pitchFamily="18" charset="0"/>
              </a:rPr>
              <a:t>Ejemplo:</a:t>
            </a:r>
          </a:p>
        </p:txBody>
      </p:sp>
    </p:spTree>
    <p:extLst>
      <p:ext uri="{BB962C8B-B14F-4D97-AF65-F5344CB8AC3E}">
        <p14:creationId xmlns:p14="http://schemas.microsoft.com/office/powerpoint/2010/main" val="24623468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ítulo 2">
            <a:extLst>
              <a:ext uri="{FF2B5EF4-FFF2-40B4-BE49-F238E27FC236}">
                <a16:creationId xmlns:a16="http://schemas.microsoft.com/office/drawing/2014/main" xmlns="" id="{90311B29-ADF8-4817-A4D1-9B46D745CF8D}"/>
              </a:ext>
            </a:extLst>
          </p:cNvPr>
          <p:cNvSpPr>
            <a:spLocks noGrp="1"/>
          </p:cNvSpPr>
          <p:nvPr>
            <p:ph type="title"/>
          </p:nvPr>
        </p:nvSpPr>
        <p:spPr>
          <a:xfrm>
            <a:off x="1705943" y="224579"/>
            <a:ext cx="4647630" cy="813000"/>
          </a:xfrm>
        </p:spPr>
        <p:txBody>
          <a:bodyPr/>
          <a:lstStyle/>
          <a:p>
            <a:pPr lvl="0" defTabSz="457200">
              <a:defRPr/>
            </a:pPr>
            <a:r>
              <a:rPr lang="es-CL" sz="2800" b="1" dirty="0">
                <a:solidFill>
                  <a:prstClr val="white"/>
                </a:solidFill>
                <a:latin typeface="Calibri"/>
              </a:rPr>
              <a:t>Creando RIGHT OUTER JOIN</a:t>
            </a:r>
          </a:p>
        </p:txBody>
      </p:sp>
      <p:pic>
        <p:nvPicPr>
          <p:cNvPr id="10" name="Imagen 9">
            <a:extLst>
              <a:ext uri="{FF2B5EF4-FFF2-40B4-BE49-F238E27FC236}">
                <a16:creationId xmlns:a16="http://schemas.microsoft.com/office/drawing/2014/main" xmlns="" id="{577C7B7C-083D-46CB-B64F-D08A28CAE76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71800" y="3577532"/>
            <a:ext cx="3560326" cy="3163836"/>
          </a:xfrm>
          <a:prstGeom prst="rect">
            <a:avLst/>
          </a:prstGeom>
        </p:spPr>
      </p:pic>
      <p:sp>
        <p:nvSpPr>
          <p:cNvPr id="11" name="Text Box 5">
            <a:extLst>
              <a:ext uri="{FF2B5EF4-FFF2-40B4-BE49-F238E27FC236}">
                <a16:creationId xmlns:a16="http://schemas.microsoft.com/office/drawing/2014/main" xmlns="" id="{71182D1E-03AC-4BF6-B855-3318A1C8D01C}"/>
              </a:ext>
            </a:extLst>
          </p:cNvPr>
          <p:cNvSpPr txBox="1">
            <a:spLocks noChangeArrowheads="1"/>
          </p:cNvSpPr>
          <p:nvPr/>
        </p:nvSpPr>
        <p:spPr bwMode="auto">
          <a:xfrm>
            <a:off x="1043608" y="1504156"/>
            <a:ext cx="7344816" cy="2062103"/>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s-MX"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SELECT </a:t>
            </a:r>
            <a:r>
              <a:rPr kumimoji="0" lang="en-US" sz="1600" b="1" i="0" u="none" strike="noStrike" kern="1200" cap="none" spc="0" normalizeH="0" baseline="0" noProof="0" dirty="0">
                <a:ln>
                  <a:noFill/>
                </a:ln>
                <a:solidFill>
                  <a:srgbClr val="008000"/>
                </a:solidFill>
                <a:effectLst/>
                <a:uLnTx/>
                <a:uFillTx/>
                <a:latin typeface="Calibri"/>
                <a:ea typeface="+mn-ea"/>
                <a:cs typeface="Arial" panose="020B0604020202020204" pitchFamily="34" charset="0"/>
              </a:rPr>
              <a:t>dep.department_name</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"NOMBRE DEPARTAMENTO", </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COUNT(</a:t>
            </a:r>
            <a:r>
              <a:rPr kumimoji="0" lang="en-US" sz="1600" b="1" i="0" u="none" strike="noStrike" kern="1200" cap="none" spc="0" normalizeH="0" baseline="0" noProof="0" dirty="0">
                <a:ln>
                  <a:noFill/>
                </a:ln>
                <a:solidFill>
                  <a:srgbClr val="0000DE"/>
                </a:solidFill>
                <a:effectLst/>
                <a:uLnTx/>
                <a:uFillTx/>
                <a:latin typeface="Calibri"/>
                <a:ea typeface="+mn-ea"/>
                <a:cs typeface="Arial" panose="020B0604020202020204" pitchFamily="34" charset="0"/>
              </a:rPr>
              <a:t>emp.employee_id</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"TOTAL EMPLEADOS"</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FROM </a:t>
            </a:r>
            <a:r>
              <a:rPr kumimoji="0" lang="en-US" sz="1600" b="1" i="0" u="none" strike="noStrike" kern="1200" cap="none" spc="0" normalizeH="0" baseline="0" noProof="0" dirty="0">
                <a:ln>
                  <a:noFill/>
                </a:ln>
                <a:solidFill>
                  <a:srgbClr val="0000DE"/>
                </a:solidFill>
                <a:effectLst/>
                <a:uLnTx/>
                <a:uFillTx/>
                <a:latin typeface="Calibri"/>
                <a:ea typeface="+mn-ea"/>
                <a:cs typeface="Arial" panose="020B0604020202020204" pitchFamily="34" charset="0"/>
              </a:rPr>
              <a:t>employees emp</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RIGHT OUTER JOIN</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a:ln>
                  <a:noFill/>
                </a:ln>
                <a:solidFill>
                  <a:srgbClr val="008000"/>
                </a:solidFill>
                <a:effectLst/>
                <a:uLnTx/>
                <a:uFillTx/>
                <a:latin typeface="Calibri"/>
                <a:ea typeface="+mn-ea"/>
                <a:cs typeface="Arial" panose="020B0604020202020204" pitchFamily="34" charset="0"/>
              </a:rPr>
              <a:t>departments dep</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ON(</a:t>
            </a:r>
            <a:r>
              <a:rPr kumimoji="0" lang="en-US" sz="1600" b="1" i="0" u="none" strike="noStrike" kern="1200" cap="none" spc="0" normalizeH="0" baseline="0" noProof="0" dirty="0">
                <a:ln>
                  <a:noFill/>
                </a:ln>
                <a:solidFill>
                  <a:srgbClr val="0000DE"/>
                </a:solidFill>
                <a:effectLst/>
                <a:uLnTx/>
                <a:uFillTx/>
                <a:latin typeface="Calibri"/>
                <a:ea typeface="+mn-ea"/>
                <a:cs typeface="Arial" panose="020B0604020202020204" pitchFamily="34" charset="0"/>
              </a:rPr>
              <a:t>emp.department_id</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 </a:t>
            </a:r>
            <a:r>
              <a:rPr kumimoji="0" lang="en-US" sz="1600" b="1" i="0" u="none" strike="noStrike" kern="1200" cap="none" spc="0" normalizeH="0" baseline="0" noProof="0" dirty="0">
                <a:ln>
                  <a:noFill/>
                </a:ln>
                <a:solidFill>
                  <a:srgbClr val="008000"/>
                </a:solidFill>
                <a:effectLst/>
                <a:uLnTx/>
                <a:uFillTx/>
                <a:latin typeface="Calibri"/>
                <a:ea typeface="+mn-ea"/>
                <a:cs typeface="Arial" panose="020B0604020202020204" pitchFamily="34" charset="0"/>
              </a:rPr>
              <a:t>dep.department_id</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GROUP BY </a:t>
            </a:r>
            <a:r>
              <a:rPr kumimoji="0" lang="en-US" sz="1600" b="1" i="0" u="none" strike="noStrike" kern="1200" cap="none" spc="0" normalizeH="0" baseline="0" noProof="0" dirty="0">
                <a:ln>
                  <a:noFill/>
                </a:ln>
                <a:solidFill>
                  <a:srgbClr val="008000"/>
                </a:solidFill>
                <a:effectLst/>
                <a:uLnTx/>
                <a:uFillTx/>
                <a:latin typeface="Calibri"/>
                <a:ea typeface="+mn-ea"/>
                <a:cs typeface="Arial" panose="020B0604020202020204" pitchFamily="34" charset="0"/>
              </a:rPr>
              <a:t>dep.department_name</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HAVING COUNT(</a:t>
            </a:r>
            <a:r>
              <a:rPr kumimoji="0" lang="en-US" sz="1600" b="1" i="0" u="none" strike="noStrike" kern="1200" cap="none" spc="0" normalizeH="0" baseline="0" noProof="0" dirty="0">
                <a:ln>
                  <a:noFill/>
                </a:ln>
                <a:solidFill>
                  <a:srgbClr val="0000DE"/>
                </a:solidFill>
                <a:effectLst/>
                <a:uLnTx/>
                <a:uFillTx/>
                <a:latin typeface="Calibri"/>
                <a:ea typeface="+mn-ea"/>
                <a:cs typeface="Arial" panose="020B0604020202020204" pitchFamily="34" charset="0"/>
              </a:rPr>
              <a:t>emp.employee_id</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&lt; 5</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ORDER BY </a:t>
            </a:r>
            <a:r>
              <a:rPr kumimoji="0" lang="en-US" sz="1600" b="1" i="0" u="none" strike="noStrike" kern="1200" cap="none" spc="0" normalizeH="0" baseline="0" noProof="0" dirty="0">
                <a:ln>
                  <a:noFill/>
                </a:ln>
                <a:solidFill>
                  <a:srgbClr val="008000"/>
                </a:solidFill>
                <a:effectLst/>
                <a:uLnTx/>
                <a:uFillTx/>
                <a:latin typeface="Calibri"/>
                <a:ea typeface="+mn-ea"/>
                <a:cs typeface="Arial" panose="020B0604020202020204" pitchFamily="34" charset="0"/>
              </a:rPr>
              <a:t>dep.department_name</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p:txBody>
      </p:sp>
      <p:sp>
        <p:nvSpPr>
          <p:cNvPr id="15" name="Rectangle 3">
            <a:extLst>
              <a:ext uri="{FF2B5EF4-FFF2-40B4-BE49-F238E27FC236}">
                <a16:creationId xmlns:a16="http://schemas.microsoft.com/office/drawing/2014/main" xmlns="" id="{B9CDE112-CBE6-44C0-B31B-23504A78CED7}"/>
              </a:ext>
            </a:extLst>
          </p:cNvPr>
          <p:cNvSpPr txBox="1">
            <a:spLocks noChangeArrowheads="1"/>
          </p:cNvSpPr>
          <p:nvPr/>
        </p:nvSpPr>
        <p:spPr bwMode="auto">
          <a:xfrm>
            <a:off x="611188" y="1196752"/>
            <a:ext cx="7848600" cy="407988"/>
          </a:xfrm>
          <a:prstGeom prst="rect">
            <a:avLst/>
          </a:prstGeom>
          <a:noFill/>
          <a:ln w="9525">
            <a:noFill/>
            <a:miter lim="800000"/>
            <a:headEnd/>
            <a:tailEnd/>
          </a:ln>
        </p:spPr>
        <p:txBody>
          <a:bodyPr/>
          <a:lstStyle/>
          <a:p>
            <a:pPr marL="609600" indent="-609600" algn="just" defTabSz="457200" fontAlgn="base">
              <a:lnSpc>
                <a:spcPct val="80000"/>
              </a:lnSpc>
              <a:spcBef>
                <a:spcPct val="20000"/>
              </a:spcBef>
              <a:spcAft>
                <a:spcPct val="0"/>
              </a:spcAft>
              <a:buClrTx/>
              <a:buFont typeface="Arial" charset="0"/>
              <a:buChar char="•"/>
            </a:pPr>
            <a:r>
              <a:rPr lang="es-CL" sz="2000" kern="1200" dirty="0">
                <a:solidFill>
                  <a:prstClr val="black"/>
                </a:solidFill>
                <a:latin typeface="Calibri"/>
                <a:ea typeface="Arial Unicode MS"/>
                <a:cs typeface="Times New Roman" pitchFamily="18" charset="0"/>
              </a:rPr>
              <a:t>Ejemplo:</a:t>
            </a:r>
          </a:p>
        </p:txBody>
      </p:sp>
    </p:spTree>
    <p:extLst>
      <p:ext uri="{BB962C8B-B14F-4D97-AF65-F5344CB8AC3E}">
        <p14:creationId xmlns:p14="http://schemas.microsoft.com/office/powerpoint/2010/main" val="22007082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ítulo 2">
            <a:extLst>
              <a:ext uri="{FF2B5EF4-FFF2-40B4-BE49-F238E27FC236}">
                <a16:creationId xmlns:a16="http://schemas.microsoft.com/office/drawing/2014/main" xmlns="" id="{90311B29-ADF8-4817-A4D1-9B46D745CF8D}"/>
              </a:ext>
            </a:extLst>
          </p:cNvPr>
          <p:cNvSpPr>
            <a:spLocks noGrp="1"/>
          </p:cNvSpPr>
          <p:nvPr>
            <p:ph type="title"/>
          </p:nvPr>
        </p:nvSpPr>
        <p:spPr>
          <a:xfrm>
            <a:off x="1705943" y="224579"/>
            <a:ext cx="4647630" cy="813000"/>
          </a:xfrm>
        </p:spPr>
        <p:txBody>
          <a:bodyPr/>
          <a:lstStyle/>
          <a:p>
            <a:pPr lvl="0" defTabSz="457200">
              <a:defRPr/>
            </a:pPr>
            <a:r>
              <a:rPr lang="es-CL" sz="2800" b="1" dirty="0">
                <a:solidFill>
                  <a:prstClr val="white"/>
                </a:solidFill>
                <a:latin typeface="Calibri"/>
              </a:rPr>
              <a:t>Creando FULL OUTER JOIN</a:t>
            </a:r>
          </a:p>
        </p:txBody>
      </p:sp>
      <p:sp>
        <p:nvSpPr>
          <p:cNvPr id="12" name="Rectangle 3">
            <a:extLst>
              <a:ext uri="{FF2B5EF4-FFF2-40B4-BE49-F238E27FC236}">
                <a16:creationId xmlns:a16="http://schemas.microsoft.com/office/drawing/2014/main" xmlns="" id="{32CC5969-EF4B-47CB-85EE-61A6B84214C0}"/>
              </a:ext>
            </a:extLst>
          </p:cNvPr>
          <p:cNvSpPr txBox="1">
            <a:spLocks noChangeArrowheads="1"/>
          </p:cNvSpPr>
          <p:nvPr/>
        </p:nvSpPr>
        <p:spPr bwMode="auto">
          <a:xfrm>
            <a:off x="467544" y="1362283"/>
            <a:ext cx="7848600" cy="407988"/>
          </a:xfrm>
          <a:prstGeom prst="rect">
            <a:avLst/>
          </a:prstGeom>
          <a:noFill/>
          <a:ln w="9525">
            <a:noFill/>
            <a:miter lim="800000"/>
            <a:headEnd/>
            <a:tailEnd/>
          </a:ln>
        </p:spPr>
        <p:txBody>
          <a:bodyPr/>
          <a:lstStyle/>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Calibri"/>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Calibri"/>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Calibri"/>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Calibri"/>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Calibri"/>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Calibri"/>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Calibri"/>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Calibri"/>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800" kern="1200" dirty="0">
              <a:solidFill>
                <a:prstClr val="black"/>
              </a:solidFill>
              <a:latin typeface="Calibri"/>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r>
              <a:rPr lang="es-CL" sz="2000" kern="1200" dirty="0">
                <a:solidFill>
                  <a:prstClr val="black"/>
                </a:solidFill>
                <a:latin typeface="Calibri"/>
                <a:ea typeface="Arial Unicode MS"/>
                <a:cs typeface="Times New Roman" pitchFamily="18" charset="0"/>
              </a:rPr>
              <a:t>Sintaxis:</a:t>
            </a:r>
          </a:p>
        </p:txBody>
      </p:sp>
      <p:sp>
        <p:nvSpPr>
          <p:cNvPr id="13" name="Text Box 5">
            <a:extLst>
              <a:ext uri="{FF2B5EF4-FFF2-40B4-BE49-F238E27FC236}">
                <a16:creationId xmlns:a16="http://schemas.microsoft.com/office/drawing/2014/main" xmlns="" id="{5ADB9E76-0F30-4738-AE48-D01302824154}"/>
              </a:ext>
            </a:extLst>
          </p:cNvPr>
          <p:cNvSpPr txBox="1">
            <a:spLocks noChangeArrowheads="1"/>
          </p:cNvSpPr>
          <p:nvPr/>
        </p:nvSpPr>
        <p:spPr bwMode="auto">
          <a:xfrm>
            <a:off x="1115344" y="4218543"/>
            <a:ext cx="7025134" cy="2000548"/>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s-MX" sz="1800" b="1" i="0" u="none" strike="noStrike" kern="1200" cap="none" spc="0" normalizeH="0" baseline="0" noProof="0" dirty="0">
                <a:ln>
                  <a:noFill/>
                </a:ln>
                <a:solidFill>
                  <a:sysClr val="windowText" lastClr="000000"/>
                </a:solidFill>
                <a:effectLst/>
                <a:uLnTx/>
                <a:uFillTx/>
                <a:latin typeface="Calibri"/>
                <a:ea typeface="+mn-ea"/>
                <a:cs typeface="Arial" pitchFamily="34" charset="0"/>
              </a:rPr>
              <a:t>SELECT </a:t>
            </a:r>
            <a:r>
              <a:rPr kumimoji="0" lang="es-MX" sz="1800" b="1" i="1" u="none" strike="noStrike" kern="1200" cap="none" spc="0" normalizeH="0" baseline="0" noProof="0" dirty="0">
                <a:ln>
                  <a:noFill/>
                </a:ln>
                <a:solidFill>
                  <a:sysClr val="windowText" lastClr="000000"/>
                </a:solidFill>
                <a:effectLst/>
                <a:uLnTx/>
                <a:uFillTx/>
                <a:latin typeface="Calibri"/>
                <a:ea typeface="+mn-ea"/>
                <a:cs typeface="Arial" pitchFamily="34" charset="0"/>
              </a:rPr>
              <a:t>tabla1.columna1, tabla1.columna2, tabla2.columna1, tabla2.columna2,... </a:t>
            </a:r>
          </a:p>
          <a:p>
            <a:pPr marL="0" marR="0" lvl="0" indent="0" defTabSz="914400" eaLnBrk="1" fontAlgn="base" latinLnBrk="0" hangingPunct="1">
              <a:lnSpc>
                <a:spcPct val="100000"/>
              </a:lnSpc>
              <a:spcBef>
                <a:spcPct val="0"/>
              </a:spcBef>
              <a:spcAft>
                <a:spcPct val="0"/>
              </a:spcAft>
              <a:buClrTx/>
              <a:buSzTx/>
              <a:buFontTx/>
              <a:buNone/>
              <a:tabLst/>
              <a:defRPr/>
            </a:pPr>
            <a:r>
              <a:rPr kumimoji="0" lang="es-MX" sz="1800" b="1" i="0" u="none" strike="noStrike" kern="1200" cap="none" spc="0" normalizeH="0" baseline="0" noProof="0" dirty="0">
                <a:ln>
                  <a:noFill/>
                </a:ln>
                <a:solidFill>
                  <a:sysClr val="windowText" lastClr="000000"/>
                </a:solidFill>
                <a:effectLst/>
                <a:uLnTx/>
                <a:uFillTx/>
                <a:latin typeface="Calibri"/>
                <a:ea typeface="+mn-ea"/>
                <a:cs typeface="Arial" pitchFamily="34" charset="0"/>
              </a:rPr>
              <a:t>FROM </a:t>
            </a:r>
            <a:r>
              <a:rPr kumimoji="0" lang="es-MX" sz="1800" b="1" i="1" u="none" strike="noStrike" kern="1200" cap="none" spc="0" normalizeH="0" baseline="0" noProof="0" dirty="0">
                <a:ln>
                  <a:noFill/>
                </a:ln>
                <a:solidFill>
                  <a:sysClr val="windowText" lastClr="000000"/>
                </a:solidFill>
                <a:effectLst/>
                <a:uLnTx/>
                <a:uFillTx/>
                <a:latin typeface="Calibri"/>
                <a:ea typeface="+mn-ea"/>
                <a:cs typeface="Arial" pitchFamily="34" charset="0"/>
              </a:rPr>
              <a:t>tabla1</a:t>
            </a:r>
          </a:p>
          <a:p>
            <a:pPr marL="0" marR="0" lvl="0" indent="0" defTabSz="914400" eaLnBrk="1" fontAlgn="base" latinLnBrk="0" hangingPunct="1">
              <a:lnSpc>
                <a:spcPct val="100000"/>
              </a:lnSpc>
              <a:spcBef>
                <a:spcPct val="0"/>
              </a:spcBef>
              <a:spcAft>
                <a:spcPct val="0"/>
              </a:spcAft>
              <a:buClrTx/>
              <a:buSzTx/>
              <a:buFontTx/>
              <a:buNone/>
              <a:tabLst/>
              <a:defRPr/>
            </a:pPr>
            <a:r>
              <a:rPr kumimoji="0" lang="es-MX" sz="1800" b="1" i="0" u="none" strike="noStrike" kern="1200" cap="none" spc="0" normalizeH="0" baseline="0" noProof="0" dirty="0">
                <a:ln>
                  <a:noFill/>
                </a:ln>
                <a:solidFill>
                  <a:sysClr val="windowText" lastClr="000000"/>
                </a:solidFill>
                <a:effectLst/>
                <a:uLnTx/>
                <a:uFillTx/>
                <a:latin typeface="Calibri"/>
                <a:ea typeface="+mn-ea"/>
                <a:cs typeface="Arial" panose="020B0604020202020204" pitchFamily="34" charset="0"/>
              </a:rPr>
              <a:t>[</a:t>
            </a:r>
            <a:r>
              <a:rPr kumimoji="0" lang="es-MX" sz="1800" b="1" i="0" u="none" strike="noStrike" kern="1200" cap="none" spc="0" normalizeH="0" baseline="0" noProof="0" dirty="0">
                <a:ln>
                  <a:noFill/>
                </a:ln>
                <a:solidFill>
                  <a:srgbClr val="C00000"/>
                </a:solidFill>
                <a:effectLst/>
                <a:uLnTx/>
                <a:uFillTx/>
                <a:latin typeface="Calibri"/>
                <a:ea typeface="ＭＳ Ｐゴシック" pitchFamily="34" charset="-128"/>
                <a:cs typeface="Arial" panose="020B0604020202020204" pitchFamily="34" charset="0"/>
              </a:rPr>
              <a:t>FULL</a:t>
            </a:r>
            <a:r>
              <a:rPr kumimoji="0" lang="es-MX" sz="1800" b="1" i="0" u="none" strike="noStrike" kern="1200" cap="none" spc="0" normalizeH="0" baseline="0" noProof="0" dirty="0">
                <a:ln>
                  <a:noFill/>
                </a:ln>
                <a:solidFill>
                  <a:sysClr val="windowText" lastClr="000000"/>
                </a:solidFill>
                <a:effectLst/>
                <a:uLnTx/>
                <a:uFillTx/>
                <a:latin typeface="Calibri"/>
                <a:ea typeface="+mn-ea"/>
                <a:cs typeface="Arial" panose="020B0604020202020204" pitchFamily="34" charset="0"/>
              </a:rPr>
              <a:t> [</a:t>
            </a:r>
            <a:r>
              <a:rPr kumimoji="0" lang="es-MX" sz="18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OUTER</a:t>
            </a:r>
            <a:r>
              <a:rPr kumimoji="0" lang="es-MX" sz="1800" b="1" i="0" u="none" strike="noStrike" kern="1200" cap="none" spc="0" normalizeH="0" baseline="0" noProof="0" dirty="0">
                <a:ln>
                  <a:noFill/>
                </a:ln>
                <a:solidFill>
                  <a:sysClr val="windowText" lastClr="000000"/>
                </a:solidFill>
                <a:effectLst/>
                <a:uLnTx/>
                <a:uFillTx/>
                <a:latin typeface="Calibri"/>
                <a:ea typeface="+mn-ea"/>
                <a:cs typeface="Arial" panose="020B0604020202020204" pitchFamily="34" charset="0"/>
              </a:rPr>
              <a:t>] JOIN </a:t>
            </a:r>
            <a:r>
              <a:rPr kumimoji="0" lang="es-MX" sz="1800" b="1" i="1" u="none" strike="noStrike" kern="1200" cap="none" spc="0" normalizeH="0" baseline="0" noProof="0" dirty="0">
                <a:ln>
                  <a:noFill/>
                </a:ln>
                <a:solidFill>
                  <a:sysClr val="windowText" lastClr="000000"/>
                </a:solidFill>
                <a:effectLst/>
                <a:uLnTx/>
                <a:uFillTx/>
                <a:latin typeface="Calibri"/>
                <a:ea typeface="+mn-ea"/>
                <a:cs typeface="Arial" panose="020B0604020202020204" pitchFamily="34" charset="0"/>
              </a:rPr>
              <a:t>tabla2</a:t>
            </a:r>
          </a:p>
          <a:p>
            <a:pPr marL="0" marR="0" lvl="0" indent="0" defTabSz="914400" eaLnBrk="1" fontAlgn="base" latinLnBrk="0" hangingPunct="1">
              <a:lnSpc>
                <a:spcPct val="100000"/>
              </a:lnSpc>
              <a:spcBef>
                <a:spcPct val="0"/>
              </a:spcBef>
              <a:spcAft>
                <a:spcPct val="0"/>
              </a:spcAft>
              <a:buClrTx/>
              <a:buSzTx/>
              <a:buFontTx/>
              <a:buNone/>
              <a:tabLst/>
              <a:defRPr/>
            </a:pPr>
            <a:r>
              <a:rPr kumimoji="0" lang="es-MX" sz="1800" b="1" i="0" u="none" strike="noStrike" kern="1200" cap="none" spc="0" normalizeH="0" baseline="0" noProof="0" dirty="0">
                <a:ln>
                  <a:noFill/>
                </a:ln>
                <a:solidFill>
                  <a:sysClr val="windowText" lastClr="000000"/>
                </a:solidFill>
                <a:effectLst/>
                <a:uLnTx/>
                <a:uFillTx/>
                <a:latin typeface="Calibri"/>
                <a:ea typeface="+mn-ea"/>
                <a:cs typeface="Arial" pitchFamily="34" charset="0"/>
              </a:rPr>
              <a:t>[USING(</a:t>
            </a:r>
            <a:r>
              <a:rPr kumimoji="0" lang="es-MX" sz="1800" b="1" i="1" u="none" strike="noStrike" kern="1200" cap="none" spc="0" normalizeH="0" baseline="0" noProof="0" dirty="0">
                <a:ln>
                  <a:noFill/>
                </a:ln>
                <a:solidFill>
                  <a:sysClr val="windowText" lastClr="000000"/>
                </a:solidFill>
                <a:effectLst/>
                <a:uLnTx/>
                <a:uFillTx/>
                <a:latin typeface="Calibri"/>
                <a:ea typeface="+mn-ea"/>
                <a:cs typeface="Arial" pitchFamily="34" charset="0"/>
              </a:rPr>
              <a:t>columna</a:t>
            </a:r>
            <a:r>
              <a:rPr kumimoji="0" lang="es-MX" sz="1800" b="1" i="0" u="none" strike="noStrike" kern="1200" cap="none" spc="0" normalizeH="0" baseline="0" noProof="0" dirty="0">
                <a:ln>
                  <a:noFill/>
                </a:ln>
                <a:solidFill>
                  <a:sysClr val="windowText" lastClr="000000"/>
                </a:solidFill>
                <a:effectLst/>
                <a:uLnTx/>
                <a:uFillTx/>
                <a:latin typeface="Calibri"/>
                <a:ea typeface="+mn-ea"/>
                <a:cs typeface="Arial"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s-MX" sz="1800" b="1" i="0" u="none" strike="noStrike" kern="1200" cap="none" spc="0" normalizeH="0" baseline="0" noProof="0" dirty="0">
                <a:ln>
                  <a:noFill/>
                </a:ln>
                <a:solidFill>
                  <a:sysClr val="windowText" lastClr="000000"/>
                </a:solidFill>
                <a:effectLst/>
                <a:uLnTx/>
                <a:uFillTx/>
                <a:latin typeface="Calibri"/>
                <a:ea typeface="+mn-ea"/>
                <a:cs typeface="Arial" pitchFamily="34" charset="0"/>
              </a:rPr>
              <a:t>[ON (</a:t>
            </a:r>
            <a:r>
              <a:rPr kumimoji="0" lang="es-MX" sz="1800" b="1" i="1" u="none" strike="noStrike" kern="1200" cap="none" spc="0" normalizeH="0" baseline="0" noProof="0" dirty="0">
                <a:ln>
                  <a:noFill/>
                </a:ln>
                <a:solidFill>
                  <a:sysClr val="windowText" lastClr="000000"/>
                </a:solidFill>
                <a:effectLst/>
                <a:uLnTx/>
                <a:uFillTx/>
                <a:latin typeface="Calibri"/>
                <a:ea typeface="+mn-ea"/>
                <a:cs typeface="Arial" pitchFamily="34" charset="0"/>
              </a:rPr>
              <a:t>tabla1.columa = tabla2.columna</a:t>
            </a:r>
            <a:r>
              <a:rPr kumimoji="0" lang="es-MX" sz="1800" b="1" i="0" u="none" strike="noStrike" kern="1200" cap="none" spc="0" normalizeH="0" baseline="0" noProof="0" dirty="0">
                <a:ln>
                  <a:noFill/>
                </a:ln>
                <a:solidFill>
                  <a:sysClr val="windowText" lastClr="000000"/>
                </a:solidFill>
                <a:effectLst/>
                <a:uLnTx/>
                <a:uFillTx/>
                <a:latin typeface="Calibri"/>
                <a:ea typeface="+mn-ea"/>
                <a:cs typeface="Arial"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endParaRPr kumimoji="0" lang="en-US" sz="8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p:txBody>
      </p:sp>
      <p:pic>
        <p:nvPicPr>
          <p:cNvPr id="3" name="Imagen 2">
            <a:extLst>
              <a:ext uri="{FF2B5EF4-FFF2-40B4-BE49-F238E27FC236}">
                <a16:creationId xmlns:a16="http://schemas.microsoft.com/office/drawing/2014/main" xmlns="" id="{4FB6323A-3835-46C3-AE57-EF94B2C2830A}"/>
              </a:ext>
            </a:extLst>
          </p:cNvPr>
          <p:cNvPicPr>
            <a:picLocks noChangeAspect="1"/>
          </p:cNvPicPr>
          <p:nvPr/>
        </p:nvPicPr>
        <p:blipFill>
          <a:blip r:embed="rId3"/>
          <a:stretch>
            <a:fillRect/>
          </a:stretch>
        </p:blipFill>
        <p:spPr>
          <a:xfrm>
            <a:off x="2527803" y="1318199"/>
            <a:ext cx="4320002" cy="2484000"/>
          </a:xfrm>
          <a:prstGeom prst="rect">
            <a:avLst/>
          </a:prstGeom>
        </p:spPr>
      </p:pic>
    </p:spTree>
    <p:extLst>
      <p:ext uri="{BB962C8B-B14F-4D97-AF65-F5344CB8AC3E}">
        <p14:creationId xmlns:p14="http://schemas.microsoft.com/office/powerpoint/2010/main" val="26444503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ítulo 2">
            <a:extLst>
              <a:ext uri="{FF2B5EF4-FFF2-40B4-BE49-F238E27FC236}">
                <a16:creationId xmlns:a16="http://schemas.microsoft.com/office/drawing/2014/main" xmlns="" id="{90311B29-ADF8-4817-A4D1-9B46D745CF8D}"/>
              </a:ext>
            </a:extLst>
          </p:cNvPr>
          <p:cNvSpPr>
            <a:spLocks noGrp="1"/>
          </p:cNvSpPr>
          <p:nvPr>
            <p:ph type="title"/>
          </p:nvPr>
        </p:nvSpPr>
        <p:spPr>
          <a:xfrm>
            <a:off x="1705943" y="224579"/>
            <a:ext cx="4647630" cy="813000"/>
          </a:xfrm>
        </p:spPr>
        <p:txBody>
          <a:bodyPr/>
          <a:lstStyle/>
          <a:p>
            <a:pPr lvl="0" defTabSz="457200">
              <a:defRPr/>
            </a:pPr>
            <a:r>
              <a:rPr lang="es-CL" sz="2800" b="1" dirty="0">
                <a:solidFill>
                  <a:prstClr val="white"/>
                </a:solidFill>
                <a:latin typeface="Calibri"/>
              </a:rPr>
              <a:t>Creando FULL OUTER JOIN</a:t>
            </a:r>
          </a:p>
        </p:txBody>
      </p:sp>
      <p:pic>
        <p:nvPicPr>
          <p:cNvPr id="10" name="Imagen 9">
            <a:extLst>
              <a:ext uri="{FF2B5EF4-FFF2-40B4-BE49-F238E27FC236}">
                <a16:creationId xmlns:a16="http://schemas.microsoft.com/office/drawing/2014/main" xmlns="" id="{F606BC10-DDDF-4BBB-A382-3B89A206E24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32811" y="2924944"/>
            <a:ext cx="3221547" cy="3737263"/>
          </a:xfrm>
          <a:prstGeom prst="rect">
            <a:avLst/>
          </a:prstGeom>
        </p:spPr>
      </p:pic>
      <p:sp>
        <p:nvSpPr>
          <p:cNvPr id="11" name="Text Box 5">
            <a:extLst>
              <a:ext uri="{FF2B5EF4-FFF2-40B4-BE49-F238E27FC236}">
                <a16:creationId xmlns:a16="http://schemas.microsoft.com/office/drawing/2014/main" xmlns="" id="{23983C56-16D6-4A97-BD1B-8C5AEC57B737}"/>
              </a:ext>
            </a:extLst>
          </p:cNvPr>
          <p:cNvSpPr txBox="1">
            <a:spLocks noChangeArrowheads="1"/>
          </p:cNvSpPr>
          <p:nvPr/>
        </p:nvSpPr>
        <p:spPr bwMode="auto">
          <a:xfrm>
            <a:off x="1187624" y="1576164"/>
            <a:ext cx="6840760" cy="1323439"/>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SELECT </a:t>
            </a:r>
            <a:r>
              <a:rPr kumimoji="0" lang="en-US" sz="1600" b="1" i="0" u="none" strike="noStrike" kern="1200" cap="none" spc="0" normalizeH="0" baseline="0" noProof="0" dirty="0">
                <a:ln>
                  <a:noFill/>
                </a:ln>
                <a:solidFill>
                  <a:srgbClr val="0000DE"/>
                </a:solidFill>
                <a:effectLst/>
                <a:uLnTx/>
                <a:uFillTx/>
                <a:latin typeface="Calibri"/>
                <a:ea typeface="+mn-ea"/>
                <a:cs typeface="Arial" panose="020B0604020202020204" pitchFamily="34" charset="0"/>
              </a:rPr>
              <a:t>emp.employee_id</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a:ln>
                  <a:noFill/>
                </a:ln>
                <a:solidFill>
                  <a:srgbClr val="008000"/>
                </a:solidFill>
                <a:effectLst/>
                <a:uLnTx/>
                <a:uFillTx/>
                <a:latin typeface="Calibri"/>
                <a:ea typeface="+mn-ea"/>
                <a:cs typeface="Arial" panose="020B0604020202020204" pitchFamily="34" charset="0"/>
              </a:rPr>
              <a:t>dep.department_id</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a:ln>
                  <a:noFill/>
                </a:ln>
                <a:solidFill>
                  <a:srgbClr val="008000"/>
                </a:solidFill>
                <a:effectLst/>
                <a:uLnTx/>
                <a:uFillTx/>
                <a:latin typeface="Calibri"/>
                <a:ea typeface="+mn-ea"/>
                <a:cs typeface="Arial" panose="020B0604020202020204" pitchFamily="34" charset="0"/>
              </a:rPr>
              <a:t>dep.department_name</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FROM </a:t>
            </a:r>
            <a:r>
              <a:rPr kumimoji="0" lang="en-US" sz="1600" b="1" i="0" u="none" strike="noStrike" kern="1200" cap="none" spc="0" normalizeH="0" baseline="0" noProof="0" dirty="0">
                <a:ln>
                  <a:noFill/>
                </a:ln>
                <a:solidFill>
                  <a:srgbClr val="0000DE"/>
                </a:solidFill>
                <a:effectLst/>
                <a:uLnTx/>
                <a:uFillTx/>
                <a:latin typeface="Calibri"/>
                <a:ea typeface="+mn-ea"/>
                <a:cs typeface="Arial" panose="020B0604020202020204" pitchFamily="34" charset="0"/>
              </a:rPr>
              <a:t>employees emp</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FULL OUTER JOIN</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a:ln>
                  <a:noFill/>
                </a:ln>
                <a:solidFill>
                  <a:srgbClr val="008000"/>
                </a:solidFill>
                <a:effectLst/>
                <a:uLnTx/>
                <a:uFillTx/>
                <a:latin typeface="Calibri"/>
                <a:ea typeface="+mn-ea"/>
                <a:cs typeface="Arial" panose="020B0604020202020204" pitchFamily="34" charset="0"/>
              </a:rPr>
              <a:t>departments dep</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800080"/>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ON(</a:t>
            </a:r>
            <a:r>
              <a:rPr kumimoji="0" lang="en-US" sz="1600" b="1" i="0" u="none" strike="noStrike" kern="1200" cap="none" spc="0" normalizeH="0" baseline="0" noProof="0" dirty="0">
                <a:ln>
                  <a:noFill/>
                </a:ln>
                <a:solidFill>
                  <a:srgbClr val="0000DE"/>
                </a:solidFill>
                <a:effectLst/>
                <a:uLnTx/>
                <a:uFillTx/>
                <a:latin typeface="Calibri"/>
                <a:ea typeface="+mn-ea"/>
                <a:cs typeface="Arial" panose="020B0604020202020204" pitchFamily="34" charset="0"/>
              </a:rPr>
              <a:t>emp.department_id</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 </a:t>
            </a:r>
            <a:r>
              <a:rPr kumimoji="0" lang="en-US" sz="1600" b="1" i="0" u="none" strike="noStrike" kern="1200" cap="none" spc="0" normalizeH="0" baseline="0" noProof="0" dirty="0">
                <a:ln>
                  <a:noFill/>
                </a:ln>
                <a:solidFill>
                  <a:srgbClr val="008000"/>
                </a:solidFill>
                <a:effectLst/>
                <a:uLnTx/>
                <a:uFillTx/>
                <a:latin typeface="Calibri"/>
                <a:ea typeface="+mn-ea"/>
                <a:cs typeface="Arial" panose="020B0604020202020204" pitchFamily="34" charset="0"/>
              </a:rPr>
              <a:t>dep.department_id</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ORDER BY </a:t>
            </a:r>
            <a:r>
              <a:rPr kumimoji="0" lang="en-US" sz="1600" b="1" i="0" u="none" strike="noStrike" kern="1200" cap="none" spc="0" normalizeH="0" baseline="0" noProof="0" dirty="0">
                <a:ln>
                  <a:noFill/>
                </a:ln>
                <a:solidFill>
                  <a:srgbClr val="0000DE"/>
                </a:solidFill>
                <a:effectLst/>
                <a:uLnTx/>
                <a:uFillTx/>
                <a:latin typeface="Calibri"/>
                <a:ea typeface="+mn-ea"/>
                <a:cs typeface="Arial" panose="020B0604020202020204" pitchFamily="34" charset="0"/>
              </a:rPr>
              <a:t>emp.employee_id</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p:txBody>
      </p:sp>
      <p:sp>
        <p:nvSpPr>
          <p:cNvPr id="14" name="Rectangle 3">
            <a:extLst>
              <a:ext uri="{FF2B5EF4-FFF2-40B4-BE49-F238E27FC236}">
                <a16:creationId xmlns:a16="http://schemas.microsoft.com/office/drawing/2014/main" xmlns="" id="{9A58611F-B23D-48EB-A724-6A7475433978}"/>
              </a:ext>
            </a:extLst>
          </p:cNvPr>
          <p:cNvSpPr txBox="1">
            <a:spLocks noChangeArrowheads="1"/>
          </p:cNvSpPr>
          <p:nvPr/>
        </p:nvSpPr>
        <p:spPr bwMode="auto">
          <a:xfrm>
            <a:off x="539552" y="1268760"/>
            <a:ext cx="7848600" cy="407988"/>
          </a:xfrm>
          <a:prstGeom prst="rect">
            <a:avLst/>
          </a:prstGeom>
          <a:noFill/>
          <a:ln w="9525">
            <a:noFill/>
            <a:miter lim="800000"/>
            <a:headEnd/>
            <a:tailEnd/>
          </a:ln>
        </p:spPr>
        <p:txBody>
          <a:bodyPr/>
          <a:lstStyle/>
          <a:p>
            <a:pPr marL="609600" indent="-609600" algn="just" defTabSz="457200" fontAlgn="base">
              <a:lnSpc>
                <a:spcPct val="80000"/>
              </a:lnSpc>
              <a:spcBef>
                <a:spcPct val="20000"/>
              </a:spcBef>
              <a:spcAft>
                <a:spcPct val="0"/>
              </a:spcAft>
              <a:buClrTx/>
              <a:buFont typeface="Arial" charset="0"/>
              <a:buChar char="•"/>
            </a:pPr>
            <a:r>
              <a:rPr lang="es-CL" sz="2000" kern="1200" dirty="0">
                <a:solidFill>
                  <a:prstClr val="black"/>
                </a:solidFill>
                <a:latin typeface="Calibri"/>
                <a:ea typeface="Arial Unicode MS"/>
                <a:cs typeface="Times New Roman" pitchFamily="18" charset="0"/>
              </a:rPr>
              <a:t>Ejemplo:</a:t>
            </a:r>
          </a:p>
        </p:txBody>
      </p:sp>
    </p:spTree>
    <p:extLst>
      <p:ext uri="{BB962C8B-B14F-4D97-AF65-F5344CB8AC3E}">
        <p14:creationId xmlns:p14="http://schemas.microsoft.com/office/powerpoint/2010/main" val="33887309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ítulo 2">
            <a:extLst>
              <a:ext uri="{FF2B5EF4-FFF2-40B4-BE49-F238E27FC236}">
                <a16:creationId xmlns:a16="http://schemas.microsoft.com/office/drawing/2014/main" xmlns="" id="{90311B29-ADF8-4817-A4D1-9B46D745CF8D}"/>
              </a:ext>
            </a:extLst>
          </p:cNvPr>
          <p:cNvSpPr>
            <a:spLocks noGrp="1"/>
          </p:cNvSpPr>
          <p:nvPr>
            <p:ph type="title"/>
          </p:nvPr>
        </p:nvSpPr>
        <p:spPr>
          <a:xfrm>
            <a:off x="1705943" y="224579"/>
            <a:ext cx="4647630" cy="813000"/>
          </a:xfrm>
        </p:spPr>
        <p:txBody>
          <a:bodyPr/>
          <a:lstStyle/>
          <a:p>
            <a:pPr lvl="0" defTabSz="457200">
              <a:defRPr/>
            </a:pPr>
            <a:r>
              <a:rPr lang="es-CL" sz="2800" b="1" dirty="0">
                <a:solidFill>
                  <a:prstClr val="white"/>
                </a:solidFill>
                <a:latin typeface="Calibri"/>
              </a:rPr>
              <a:t>Creando FULL OUTER JOIN</a:t>
            </a:r>
          </a:p>
        </p:txBody>
      </p:sp>
      <p:sp>
        <p:nvSpPr>
          <p:cNvPr id="15" name="Text Box 5">
            <a:extLst>
              <a:ext uri="{FF2B5EF4-FFF2-40B4-BE49-F238E27FC236}">
                <a16:creationId xmlns:a16="http://schemas.microsoft.com/office/drawing/2014/main" xmlns="" id="{1D33E209-FB13-45B9-A162-15E70790B6AF}"/>
              </a:ext>
            </a:extLst>
          </p:cNvPr>
          <p:cNvSpPr txBox="1">
            <a:spLocks noChangeArrowheads="1"/>
          </p:cNvSpPr>
          <p:nvPr/>
        </p:nvSpPr>
        <p:spPr bwMode="auto">
          <a:xfrm>
            <a:off x="971600" y="1485495"/>
            <a:ext cx="7344816" cy="1815882"/>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s-MX"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SELECT </a:t>
            </a:r>
            <a:r>
              <a:rPr kumimoji="0" lang="en-US" sz="1600" b="1" i="0" u="none" strike="noStrike" kern="1200" cap="none" spc="0" normalizeH="0" baseline="0" noProof="0" dirty="0">
                <a:ln>
                  <a:noFill/>
                </a:ln>
                <a:solidFill>
                  <a:srgbClr val="008000"/>
                </a:solidFill>
                <a:effectLst/>
                <a:uLnTx/>
                <a:uFillTx/>
                <a:latin typeface="Calibri"/>
                <a:ea typeface="+mn-ea"/>
                <a:cs typeface="Arial" panose="020B0604020202020204" pitchFamily="34" charset="0"/>
              </a:rPr>
              <a:t>dep.department_id</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a:t>
            </a:r>
            <a:r>
              <a:rPr kumimoji="0" lang="en-US" sz="1600" b="1" i="0" u="none" strike="noStrike" kern="1200" cap="none" spc="0" normalizeH="0" baseline="0" noProof="0" dirty="0">
                <a:ln>
                  <a:noFill/>
                </a:ln>
                <a:solidFill>
                  <a:srgbClr val="008000"/>
                </a:solidFill>
                <a:effectLst/>
                <a:uLnTx/>
                <a:uFillTx/>
                <a:latin typeface="Calibri"/>
                <a:ea typeface="+mn-ea"/>
                <a:cs typeface="Arial" panose="020B0604020202020204" pitchFamily="34" charset="0"/>
              </a:rPr>
              <a:t> dep.department_name</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"NOMBRE DEPARTAMENTO", </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COUNT(</a:t>
            </a:r>
            <a:r>
              <a:rPr kumimoji="0" lang="en-US" sz="1600" b="1" i="0" u="none" strike="noStrike" kern="1200" cap="none" spc="0" normalizeH="0" baseline="0" noProof="0" dirty="0">
                <a:ln>
                  <a:noFill/>
                </a:ln>
                <a:solidFill>
                  <a:srgbClr val="0000DE"/>
                </a:solidFill>
                <a:effectLst/>
                <a:uLnTx/>
                <a:uFillTx/>
                <a:latin typeface="Calibri"/>
                <a:ea typeface="+mn-ea"/>
                <a:cs typeface="Arial" panose="020B0604020202020204" pitchFamily="34" charset="0"/>
              </a:rPr>
              <a:t>emp.employee_id</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"TOTAL EMPLEADOS"</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FROM </a:t>
            </a:r>
            <a:r>
              <a:rPr kumimoji="0" lang="en-US" sz="1600" b="1" i="0" u="none" strike="noStrike" kern="1200" cap="none" spc="0" normalizeH="0" baseline="0" noProof="0" dirty="0">
                <a:ln>
                  <a:noFill/>
                </a:ln>
                <a:solidFill>
                  <a:srgbClr val="0000DE"/>
                </a:solidFill>
                <a:effectLst/>
                <a:uLnTx/>
                <a:uFillTx/>
                <a:latin typeface="Calibri"/>
                <a:ea typeface="+mn-ea"/>
                <a:cs typeface="Arial" panose="020B0604020202020204" pitchFamily="34" charset="0"/>
              </a:rPr>
              <a:t>employees emp </a:t>
            </a:r>
            <a:r>
              <a:rPr kumimoji="0" lang="en-U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FULL OUTER JOIN</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a:ln>
                  <a:noFill/>
                </a:ln>
                <a:solidFill>
                  <a:srgbClr val="008000"/>
                </a:solidFill>
                <a:effectLst/>
                <a:uLnTx/>
                <a:uFillTx/>
                <a:latin typeface="Calibri"/>
                <a:ea typeface="+mn-ea"/>
                <a:cs typeface="Arial" panose="020B0604020202020204" pitchFamily="34" charset="0"/>
              </a:rPr>
              <a:t>departments dep</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ON(</a:t>
            </a:r>
            <a:r>
              <a:rPr kumimoji="0" lang="en-US" sz="1600" b="1" i="0" u="none" strike="noStrike" kern="1200" cap="none" spc="0" normalizeH="0" baseline="0" noProof="0" dirty="0">
                <a:ln>
                  <a:noFill/>
                </a:ln>
                <a:solidFill>
                  <a:srgbClr val="0000DE"/>
                </a:solidFill>
                <a:effectLst/>
                <a:uLnTx/>
                <a:uFillTx/>
                <a:latin typeface="Calibri"/>
                <a:ea typeface="+mn-ea"/>
                <a:cs typeface="Arial" panose="020B0604020202020204" pitchFamily="34" charset="0"/>
              </a:rPr>
              <a:t>emp.department_id</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 </a:t>
            </a:r>
            <a:r>
              <a:rPr kumimoji="0" lang="en-US" sz="1600" b="1" i="0" u="none" strike="noStrike" kern="1200" cap="none" spc="0" normalizeH="0" baseline="0" noProof="0" dirty="0">
                <a:ln>
                  <a:noFill/>
                </a:ln>
                <a:solidFill>
                  <a:srgbClr val="008000"/>
                </a:solidFill>
                <a:effectLst/>
                <a:uLnTx/>
                <a:uFillTx/>
                <a:latin typeface="Calibri"/>
                <a:ea typeface="+mn-ea"/>
                <a:cs typeface="Arial" panose="020B0604020202020204" pitchFamily="34" charset="0"/>
              </a:rPr>
              <a:t>dep.department_id</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GROUP BY </a:t>
            </a:r>
            <a:r>
              <a:rPr kumimoji="0" lang="en-US" sz="1600" b="1" i="0" u="none" strike="noStrike" kern="1200" cap="none" spc="0" normalizeH="0" baseline="0" noProof="0" dirty="0">
                <a:ln>
                  <a:noFill/>
                </a:ln>
                <a:solidFill>
                  <a:srgbClr val="008000"/>
                </a:solidFill>
                <a:effectLst/>
                <a:uLnTx/>
                <a:uFillTx/>
                <a:latin typeface="Calibri"/>
                <a:ea typeface="+mn-ea"/>
                <a:cs typeface="Arial" panose="020B0604020202020204" pitchFamily="34" charset="0"/>
              </a:rPr>
              <a:t>dep.department_name, dep.department_id</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ORDER BY COUNT(</a:t>
            </a:r>
            <a:r>
              <a:rPr kumimoji="0" lang="en-US" sz="1600" b="1" i="0" u="none" strike="noStrike" kern="1200" cap="none" spc="0" normalizeH="0" baseline="0" noProof="0" dirty="0">
                <a:ln>
                  <a:noFill/>
                </a:ln>
                <a:solidFill>
                  <a:srgbClr val="0000DE"/>
                </a:solidFill>
                <a:effectLst/>
                <a:uLnTx/>
                <a:uFillTx/>
                <a:latin typeface="Calibri"/>
                <a:ea typeface="+mn-ea"/>
                <a:cs typeface="Arial" panose="020B0604020202020204" pitchFamily="34" charset="0"/>
              </a:rPr>
              <a:t>emp.employee_id</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a:ln>
                  <a:noFill/>
                </a:ln>
                <a:solidFill>
                  <a:srgbClr val="008000"/>
                </a:solidFill>
                <a:effectLst/>
                <a:uLnTx/>
                <a:uFillTx/>
                <a:latin typeface="Calibri"/>
                <a:ea typeface="+mn-ea"/>
                <a:cs typeface="Arial" panose="020B0604020202020204" pitchFamily="34" charset="0"/>
              </a:rPr>
              <a:t>dep.department_name</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p:txBody>
      </p:sp>
      <p:sp>
        <p:nvSpPr>
          <p:cNvPr id="16" name="Rectangle 3">
            <a:extLst>
              <a:ext uri="{FF2B5EF4-FFF2-40B4-BE49-F238E27FC236}">
                <a16:creationId xmlns:a16="http://schemas.microsoft.com/office/drawing/2014/main" xmlns="" id="{CD5F1992-70C1-45A7-A8B1-F2A9AD14E9FE}"/>
              </a:ext>
            </a:extLst>
          </p:cNvPr>
          <p:cNvSpPr txBox="1">
            <a:spLocks noChangeArrowheads="1"/>
          </p:cNvSpPr>
          <p:nvPr/>
        </p:nvSpPr>
        <p:spPr bwMode="auto">
          <a:xfrm>
            <a:off x="611188" y="1196752"/>
            <a:ext cx="7848600" cy="407988"/>
          </a:xfrm>
          <a:prstGeom prst="rect">
            <a:avLst/>
          </a:prstGeom>
          <a:noFill/>
          <a:ln w="9525">
            <a:noFill/>
            <a:miter lim="800000"/>
            <a:headEnd/>
            <a:tailEnd/>
          </a:ln>
        </p:spPr>
        <p:txBody>
          <a:bodyPr/>
          <a:lstStyle/>
          <a:p>
            <a:pPr marL="609600" indent="-609600" algn="just" defTabSz="457200" fontAlgn="base">
              <a:lnSpc>
                <a:spcPct val="80000"/>
              </a:lnSpc>
              <a:spcBef>
                <a:spcPct val="20000"/>
              </a:spcBef>
              <a:spcAft>
                <a:spcPct val="0"/>
              </a:spcAft>
              <a:buClrTx/>
              <a:buFont typeface="Arial" charset="0"/>
              <a:buChar char="•"/>
            </a:pPr>
            <a:r>
              <a:rPr lang="es-CL" sz="2000" kern="1200" dirty="0">
                <a:solidFill>
                  <a:prstClr val="black"/>
                </a:solidFill>
                <a:latin typeface="Calibri"/>
                <a:ea typeface="Arial Unicode MS"/>
                <a:cs typeface="Times New Roman" pitchFamily="18" charset="0"/>
              </a:rPr>
              <a:t>Ejemplo:</a:t>
            </a:r>
          </a:p>
        </p:txBody>
      </p:sp>
      <p:pic>
        <p:nvPicPr>
          <p:cNvPr id="3" name="Imagen 2">
            <a:extLst>
              <a:ext uri="{FF2B5EF4-FFF2-40B4-BE49-F238E27FC236}">
                <a16:creationId xmlns:a16="http://schemas.microsoft.com/office/drawing/2014/main" xmlns="" id="{90CD7C3D-1CCD-4A1E-BA4D-8D12E6E1CCC4}"/>
              </a:ext>
            </a:extLst>
          </p:cNvPr>
          <p:cNvPicPr>
            <a:picLocks noChangeAspect="1"/>
          </p:cNvPicPr>
          <p:nvPr/>
        </p:nvPicPr>
        <p:blipFill>
          <a:blip r:embed="rId3"/>
          <a:stretch>
            <a:fillRect/>
          </a:stretch>
        </p:blipFill>
        <p:spPr>
          <a:xfrm>
            <a:off x="2553230" y="3330999"/>
            <a:ext cx="4204924" cy="3471018"/>
          </a:xfrm>
          <a:prstGeom prst="rect">
            <a:avLst/>
          </a:prstGeom>
        </p:spPr>
      </p:pic>
    </p:spTree>
    <p:extLst>
      <p:ext uri="{BB962C8B-B14F-4D97-AF65-F5344CB8AC3E}">
        <p14:creationId xmlns:p14="http://schemas.microsoft.com/office/powerpoint/2010/main" val="30598428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xmlns="" id="{548035E2-9379-2346-A89D-675F58CEB28A}"/>
              </a:ext>
            </a:extLst>
          </p:cNvPr>
          <p:cNvSpPr>
            <a:spLocks noGrp="1"/>
          </p:cNvSpPr>
          <p:nvPr>
            <p:ph type="title"/>
          </p:nvPr>
        </p:nvSpPr>
        <p:spPr>
          <a:xfrm>
            <a:off x="2556587" y="3257808"/>
            <a:ext cx="6499771" cy="1499419"/>
          </a:xfrm>
        </p:spPr>
        <p:txBody>
          <a:bodyPr/>
          <a:lstStyle/>
          <a:p>
            <a:r>
              <a:rPr lang="es-ES_tradnl" sz="4800" b="1" dirty="0"/>
              <a:t>Otras Opciones para Trabajar con JOINS</a:t>
            </a:r>
          </a:p>
        </p:txBody>
      </p:sp>
    </p:spTree>
    <p:extLst>
      <p:ext uri="{BB962C8B-B14F-4D97-AF65-F5344CB8AC3E}">
        <p14:creationId xmlns:p14="http://schemas.microsoft.com/office/powerpoint/2010/main" val="37265670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ítulo 2">
            <a:extLst>
              <a:ext uri="{FF2B5EF4-FFF2-40B4-BE49-F238E27FC236}">
                <a16:creationId xmlns:a16="http://schemas.microsoft.com/office/drawing/2014/main" xmlns="" id="{D09F2E85-D672-4253-88F4-34ADFA944341}"/>
              </a:ext>
            </a:extLst>
          </p:cNvPr>
          <p:cNvSpPr>
            <a:spLocks noGrp="1"/>
          </p:cNvSpPr>
          <p:nvPr>
            <p:ph type="title"/>
          </p:nvPr>
        </p:nvSpPr>
        <p:spPr>
          <a:xfrm>
            <a:off x="1705943" y="224579"/>
            <a:ext cx="4647630" cy="813000"/>
          </a:xfrm>
        </p:spPr>
        <p:txBody>
          <a:bodyPr/>
          <a:lstStyle/>
          <a:p>
            <a:pPr lvl="0" defTabSz="457200">
              <a:defRPr/>
            </a:pPr>
            <a:r>
              <a:rPr lang="es-CL" sz="2800" b="1" dirty="0">
                <a:solidFill>
                  <a:prstClr val="white"/>
                </a:solidFill>
                <a:latin typeface="Calibri"/>
              </a:rPr>
              <a:t>CROSS JOIN</a:t>
            </a:r>
          </a:p>
        </p:txBody>
      </p:sp>
      <p:sp>
        <p:nvSpPr>
          <p:cNvPr id="14" name="Rectangle 3">
            <a:extLst>
              <a:ext uri="{FF2B5EF4-FFF2-40B4-BE49-F238E27FC236}">
                <a16:creationId xmlns:a16="http://schemas.microsoft.com/office/drawing/2014/main" xmlns="" id="{70AB1111-A3C8-4714-88B7-3137A2AA0A67}"/>
              </a:ext>
            </a:extLst>
          </p:cNvPr>
          <p:cNvSpPr txBox="1">
            <a:spLocks noChangeArrowheads="1"/>
          </p:cNvSpPr>
          <p:nvPr/>
        </p:nvSpPr>
        <p:spPr bwMode="auto">
          <a:xfrm>
            <a:off x="611832" y="1521897"/>
            <a:ext cx="7848600" cy="407988"/>
          </a:xfrm>
          <a:prstGeom prst="rect">
            <a:avLst/>
          </a:prstGeom>
          <a:noFill/>
          <a:ln w="9525">
            <a:noFill/>
            <a:miter lim="800000"/>
            <a:headEnd/>
            <a:tailEnd/>
          </a:ln>
        </p:spPr>
        <p:txBody>
          <a:bodyPr/>
          <a:lstStyle/>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Calibri"/>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Calibri"/>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Calibri"/>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Calibri"/>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Calibri"/>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Calibri"/>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Calibri"/>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Calibri"/>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Calibri"/>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800" kern="1200" dirty="0">
              <a:solidFill>
                <a:prstClr val="black"/>
              </a:solidFill>
              <a:latin typeface="Calibri"/>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r>
              <a:rPr lang="es-CL" sz="2000" kern="1200" dirty="0">
                <a:solidFill>
                  <a:prstClr val="black"/>
                </a:solidFill>
                <a:latin typeface="Calibri"/>
                <a:ea typeface="Arial Unicode MS"/>
                <a:cs typeface="Times New Roman" pitchFamily="18" charset="0"/>
              </a:rPr>
              <a:t>Sintaxis:</a:t>
            </a:r>
          </a:p>
        </p:txBody>
      </p:sp>
      <p:sp>
        <p:nvSpPr>
          <p:cNvPr id="15" name="Text Box 5">
            <a:extLst>
              <a:ext uri="{FF2B5EF4-FFF2-40B4-BE49-F238E27FC236}">
                <a16:creationId xmlns:a16="http://schemas.microsoft.com/office/drawing/2014/main" xmlns="" id="{253A7D66-8F76-47D0-830D-BAF1A6172B00}"/>
              </a:ext>
            </a:extLst>
          </p:cNvPr>
          <p:cNvSpPr txBox="1">
            <a:spLocks noChangeArrowheads="1"/>
          </p:cNvSpPr>
          <p:nvPr/>
        </p:nvSpPr>
        <p:spPr bwMode="auto">
          <a:xfrm>
            <a:off x="1259632" y="4720774"/>
            <a:ext cx="7025134" cy="1169551"/>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s-MX" sz="1800" b="1" i="0" u="none" strike="noStrike" kern="1200" cap="none" spc="0" normalizeH="0" baseline="0" noProof="0" dirty="0">
                <a:ln>
                  <a:noFill/>
                </a:ln>
                <a:solidFill>
                  <a:sysClr val="windowText" lastClr="000000"/>
                </a:solidFill>
                <a:effectLst/>
                <a:uLnTx/>
                <a:uFillTx/>
                <a:latin typeface="Calibri"/>
                <a:ea typeface="+mn-ea"/>
                <a:cs typeface="Arial" pitchFamily="34" charset="0"/>
              </a:rPr>
              <a:t>SELECT </a:t>
            </a:r>
            <a:r>
              <a:rPr kumimoji="0" lang="es-MX" sz="1800" b="1" i="1" u="none" strike="noStrike" kern="1200" cap="none" spc="0" normalizeH="0" baseline="0" noProof="0" dirty="0">
                <a:ln>
                  <a:noFill/>
                </a:ln>
                <a:solidFill>
                  <a:sysClr val="windowText" lastClr="000000"/>
                </a:solidFill>
                <a:effectLst/>
                <a:uLnTx/>
                <a:uFillTx/>
                <a:latin typeface="Calibri"/>
                <a:ea typeface="+mn-ea"/>
                <a:cs typeface="Arial" pitchFamily="34" charset="0"/>
              </a:rPr>
              <a:t>tabla1.columna1, tabla1.columna2, tabla2.columna1, tabla2.columna2,... </a:t>
            </a:r>
          </a:p>
          <a:p>
            <a:pPr marL="0" marR="0" lvl="0" indent="0" defTabSz="914400" eaLnBrk="1" fontAlgn="base" latinLnBrk="0" hangingPunct="1">
              <a:lnSpc>
                <a:spcPct val="100000"/>
              </a:lnSpc>
              <a:spcBef>
                <a:spcPct val="0"/>
              </a:spcBef>
              <a:spcAft>
                <a:spcPct val="0"/>
              </a:spcAft>
              <a:buClrTx/>
              <a:buSzTx/>
              <a:buFontTx/>
              <a:buNone/>
              <a:tabLst/>
              <a:defRPr/>
            </a:pPr>
            <a:r>
              <a:rPr kumimoji="0" lang="es-MX" sz="1800" b="1" i="0" u="none" strike="noStrike" kern="1200" cap="none" spc="0" normalizeH="0" baseline="0" noProof="0" dirty="0">
                <a:ln>
                  <a:noFill/>
                </a:ln>
                <a:solidFill>
                  <a:sysClr val="windowText" lastClr="000000"/>
                </a:solidFill>
                <a:effectLst/>
                <a:uLnTx/>
                <a:uFillTx/>
                <a:latin typeface="Calibri"/>
                <a:ea typeface="+mn-ea"/>
                <a:cs typeface="Arial" pitchFamily="34" charset="0"/>
              </a:rPr>
              <a:t>FROM </a:t>
            </a:r>
            <a:r>
              <a:rPr kumimoji="0" lang="es-MX" sz="1800" b="1" i="1" u="none" strike="noStrike" kern="1200" cap="none" spc="0" normalizeH="0" baseline="0" noProof="0" dirty="0">
                <a:ln>
                  <a:noFill/>
                </a:ln>
                <a:solidFill>
                  <a:sysClr val="windowText" lastClr="000000"/>
                </a:solidFill>
                <a:effectLst/>
                <a:uLnTx/>
                <a:uFillTx/>
                <a:latin typeface="Calibri"/>
                <a:ea typeface="+mn-ea"/>
                <a:cs typeface="Arial" pitchFamily="34" charset="0"/>
              </a:rPr>
              <a:t>tabla1 </a:t>
            </a:r>
            <a:r>
              <a:rPr kumimoji="0" lang="es-MX" sz="1800" b="1" i="0" u="none" strike="noStrike" kern="1200" cap="none" spc="0" normalizeH="0" baseline="0" noProof="0" dirty="0">
                <a:ln>
                  <a:noFill/>
                </a:ln>
                <a:solidFill>
                  <a:srgbClr val="C00000"/>
                </a:solidFill>
                <a:effectLst/>
                <a:uLnTx/>
                <a:uFillTx/>
                <a:latin typeface="Calibri"/>
                <a:ea typeface="+mn-ea"/>
                <a:cs typeface="Arial" pitchFamily="34" charset="0"/>
              </a:rPr>
              <a:t>CROSS</a:t>
            </a:r>
            <a:r>
              <a:rPr kumimoji="0" lang="es-MX" sz="1800" b="1" i="0" u="none" strike="noStrike" kern="1200" cap="none" spc="0" normalizeH="0" baseline="0" noProof="0" dirty="0">
                <a:ln>
                  <a:noFill/>
                </a:ln>
                <a:solidFill>
                  <a:sysClr val="windowText" lastClr="000000"/>
                </a:solidFill>
                <a:effectLst/>
                <a:uLnTx/>
                <a:uFillTx/>
                <a:latin typeface="Calibri"/>
                <a:ea typeface="+mn-ea"/>
                <a:cs typeface="Arial" pitchFamily="34" charset="0"/>
              </a:rPr>
              <a:t> JOIN </a:t>
            </a:r>
            <a:r>
              <a:rPr kumimoji="0" lang="es-MX" sz="1800" b="1" i="1" u="none" strike="noStrike" kern="1200" cap="none" spc="0" normalizeH="0" baseline="0" noProof="0" dirty="0">
                <a:ln>
                  <a:noFill/>
                </a:ln>
                <a:solidFill>
                  <a:sysClr val="windowText" lastClr="000000"/>
                </a:solidFill>
                <a:effectLst/>
                <a:uLnTx/>
                <a:uFillTx/>
                <a:latin typeface="Calibri"/>
                <a:ea typeface="+mn-ea"/>
                <a:cs typeface="Arial" panose="020B0604020202020204" pitchFamily="34" charset="0"/>
              </a:rPr>
              <a:t>tabla2</a:t>
            </a:r>
            <a:r>
              <a:rPr kumimoji="0" lang="es-MX" sz="1800" b="1" i="0" u="none" strike="noStrike" kern="1200" cap="none" spc="0" normalizeH="0" baseline="0" noProof="0" dirty="0">
                <a:ln>
                  <a:noFill/>
                </a:ln>
                <a:solidFill>
                  <a:sysClr val="windowText" lastClr="000000"/>
                </a:solidFill>
                <a:effectLst/>
                <a:uLnTx/>
                <a:uFillTx/>
                <a:latin typeface="Calibri"/>
                <a:ea typeface="+mn-ea"/>
                <a:cs typeface="Arial"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endParaRPr kumimoji="0" lang="en-US" sz="8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p:txBody>
      </p:sp>
      <p:pic>
        <p:nvPicPr>
          <p:cNvPr id="6" name="Imagen 5">
            <a:extLst>
              <a:ext uri="{FF2B5EF4-FFF2-40B4-BE49-F238E27FC236}">
                <a16:creationId xmlns:a16="http://schemas.microsoft.com/office/drawing/2014/main" xmlns="" id="{9DABEDD5-D7D0-4B48-A902-EB685E1D0CFB}"/>
              </a:ext>
            </a:extLst>
          </p:cNvPr>
          <p:cNvPicPr>
            <a:picLocks noChangeAspect="1"/>
          </p:cNvPicPr>
          <p:nvPr/>
        </p:nvPicPr>
        <p:blipFill>
          <a:blip r:embed="rId3"/>
          <a:stretch>
            <a:fillRect/>
          </a:stretch>
        </p:blipFill>
        <p:spPr>
          <a:xfrm>
            <a:off x="1560315" y="1467486"/>
            <a:ext cx="6669000" cy="2484000"/>
          </a:xfrm>
          <a:prstGeom prst="rect">
            <a:avLst/>
          </a:prstGeom>
        </p:spPr>
      </p:pic>
    </p:spTree>
    <p:extLst>
      <p:ext uri="{BB962C8B-B14F-4D97-AF65-F5344CB8AC3E}">
        <p14:creationId xmlns:p14="http://schemas.microsoft.com/office/powerpoint/2010/main" val="39555208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ítulo 2">
            <a:extLst>
              <a:ext uri="{FF2B5EF4-FFF2-40B4-BE49-F238E27FC236}">
                <a16:creationId xmlns:a16="http://schemas.microsoft.com/office/drawing/2014/main" xmlns="" id="{D09F2E85-D672-4253-88F4-34ADFA944341}"/>
              </a:ext>
            </a:extLst>
          </p:cNvPr>
          <p:cNvSpPr>
            <a:spLocks noGrp="1"/>
          </p:cNvSpPr>
          <p:nvPr>
            <p:ph type="title"/>
          </p:nvPr>
        </p:nvSpPr>
        <p:spPr>
          <a:xfrm>
            <a:off x="1705943" y="224579"/>
            <a:ext cx="4647630" cy="813000"/>
          </a:xfrm>
        </p:spPr>
        <p:txBody>
          <a:bodyPr/>
          <a:lstStyle/>
          <a:p>
            <a:pPr lvl="0" defTabSz="457200">
              <a:defRPr/>
            </a:pPr>
            <a:r>
              <a:rPr lang="es-CL" sz="2800" b="1" dirty="0">
                <a:solidFill>
                  <a:prstClr val="white"/>
                </a:solidFill>
                <a:latin typeface="Calibri"/>
              </a:rPr>
              <a:t>CROSS JOIN</a:t>
            </a:r>
          </a:p>
        </p:txBody>
      </p:sp>
      <p:sp>
        <p:nvSpPr>
          <p:cNvPr id="10" name="Text Box 5">
            <a:extLst>
              <a:ext uri="{FF2B5EF4-FFF2-40B4-BE49-F238E27FC236}">
                <a16:creationId xmlns:a16="http://schemas.microsoft.com/office/drawing/2014/main" xmlns="" id="{8C41E8FE-A9CD-4D6E-AF68-74F069FA81D8}"/>
              </a:ext>
            </a:extLst>
          </p:cNvPr>
          <p:cNvSpPr txBox="1">
            <a:spLocks noChangeArrowheads="1"/>
          </p:cNvSpPr>
          <p:nvPr/>
        </p:nvSpPr>
        <p:spPr bwMode="auto">
          <a:xfrm>
            <a:off x="1187624" y="1703710"/>
            <a:ext cx="6840760" cy="1077218"/>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SELECT </a:t>
            </a:r>
            <a:r>
              <a:rPr kumimoji="0" lang="en-US" sz="1600" b="1" i="0" u="none" strike="noStrike" kern="1200" cap="none" spc="0" normalizeH="0" baseline="0" noProof="0" dirty="0">
                <a:ln>
                  <a:noFill/>
                </a:ln>
                <a:solidFill>
                  <a:srgbClr val="0000DE"/>
                </a:solidFill>
                <a:effectLst/>
                <a:uLnTx/>
                <a:uFillTx/>
                <a:latin typeface="Calibri"/>
                <a:ea typeface="+mn-ea"/>
                <a:cs typeface="Arial" panose="020B0604020202020204" pitchFamily="34" charset="0"/>
              </a:rPr>
              <a:t>emp.employee_id</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a:ln>
                  <a:noFill/>
                </a:ln>
                <a:solidFill>
                  <a:srgbClr val="008000"/>
                </a:solidFill>
                <a:effectLst/>
                <a:uLnTx/>
                <a:uFillTx/>
                <a:latin typeface="Calibri"/>
                <a:ea typeface="+mn-ea"/>
                <a:cs typeface="Arial" panose="020B0604020202020204" pitchFamily="34" charset="0"/>
              </a:rPr>
              <a:t>dep.department_id</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a:ln>
                  <a:noFill/>
                </a:ln>
                <a:solidFill>
                  <a:srgbClr val="008000"/>
                </a:solidFill>
                <a:effectLst/>
                <a:uLnTx/>
                <a:uFillTx/>
                <a:latin typeface="Calibri"/>
                <a:ea typeface="+mn-ea"/>
                <a:cs typeface="Arial" panose="020B0604020202020204" pitchFamily="34" charset="0"/>
              </a:rPr>
              <a:t>dep.department_name</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FROM </a:t>
            </a:r>
            <a:r>
              <a:rPr kumimoji="0" lang="en-US" sz="1600" b="1" i="0" u="none" strike="noStrike" kern="1200" cap="none" spc="0" normalizeH="0" baseline="0" noProof="0" dirty="0">
                <a:ln>
                  <a:noFill/>
                </a:ln>
                <a:solidFill>
                  <a:srgbClr val="0000DE"/>
                </a:solidFill>
                <a:effectLst/>
                <a:uLnTx/>
                <a:uFillTx/>
                <a:latin typeface="Calibri"/>
                <a:ea typeface="+mn-ea"/>
                <a:cs typeface="Arial" panose="020B0604020202020204" pitchFamily="34" charset="0"/>
              </a:rPr>
              <a:t>employees emp</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CROSS JOIN</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a:ln>
                  <a:noFill/>
                </a:ln>
                <a:solidFill>
                  <a:srgbClr val="008000"/>
                </a:solidFill>
                <a:effectLst/>
                <a:uLnTx/>
                <a:uFillTx/>
                <a:latin typeface="Calibri"/>
                <a:ea typeface="+mn-ea"/>
                <a:cs typeface="Arial" panose="020B0604020202020204" pitchFamily="34" charset="0"/>
              </a:rPr>
              <a:t>departments dep</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ORDER BY </a:t>
            </a:r>
            <a:r>
              <a:rPr kumimoji="0" lang="en-US" sz="1600" b="1" i="0" u="none" strike="noStrike" kern="1200" cap="none" spc="0" normalizeH="0" baseline="0" noProof="0" dirty="0">
                <a:ln>
                  <a:noFill/>
                </a:ln>
                <a:solidFill>
                  <a:srgbClr val="0000DE"/>
                </a:solidFill>
                <a:effectLst/>
                <a:uLnTx/>
                <a:uFillTx/>
                <a:latin typeface="Calibri"/>
                <a:ea typeface="+mn-ea"/>
                <a:cs typeface="Arial" panose="020B0604020202020204" pitchFamily="34" charset="0"/>
              </a:rPr>
              <a:t>emp.employee_id</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p:txBody>
      </p:sp>
      <p:sp>
        <p:nvSpPr>
          <p:cNvPr id="12" name="Rectangle 3">
            <a:extLst>
              <a:ext uri="{FF2B5EF4-FFF2-40B4-BE49-F238E27FC236}">
                <a16:creationId xmlns:a16="http://schemas.microsoft.com/office/drawing/2014/main" xmlns="" id="{50AE8B0F-3AEF-44B7-BE76-B85AF2851D00}"/>
              </a:ext>
            </a:extLst>
          </p:cNvPr>
          <p:cNvSpPr txBox="1">
            <a:spLocks noChangeArrowheads="1"/>
          </p:cNvSpPr>
          <p:nvPr/>
        </p:nvSpPr>
        <p:spPr bwMode="auto">
          <a:xfrm>
            <a:off x="611832" y="1364828"/>
            <a:ext cx="7848600" cy="407988"/>
          </a:xfrm>
          <a:prstGeom prst="rect">
            <a:avLst/>
          </a:prstGeom>
          <a:noFill/>
          <a:ln w="9525">
            <a:noFill/>
            <a:miter lim="800000"/>
            <a:headEnd/>
            <a:tailEnd/>
          </a:ln>
        </p:spPr>
        <p:txBody>
          <a:bodyPr/>
          <a:lstStyle/>
          <a:p>
            <a:pPr marL="609600" indent="-609600" algn="just" defTabSz="457200" fontAlgn="base">
              <a:lnSpc>
                <a:spcPct val="80000"/>
              </a:lnSpc>
              <a:spcBef>
                <a:spcPct val="20000"/>
              </a:spcBef>
              <a:spcAft>
                <a:spcPct val="0"/>
              </a:spcAft>
              <a:buClrTx/>
              <a:buFont typeface="Arial" charset="0"/>
              <a:buChar char="•"/>
            </a:pPr>
            <a:r>
              <a:rPr lang="es-CL" sz="2000" kern="1200" dirty="0">
                <a:solidFill>
                  <a:prstClr val="black"/>
                </a:solidFill>
                <a:latin typeface="Calibri"/>
                <a:ea typeface="Arial Unicode MS"/>
                <a:cs typeface="Times New Roman" pitchFamily="18" charset="0"/>
              </a:rPr>
              <a:t>Ejemplo:</a:t>
            </a:r>
          </a:p>
        </p:txBody>
      </p:sp>
      <p:pic>
        <p:nvPicPr>
          <p:cNvPr id="13" name="Imagen 12">
            <a:extLst>
              <a:ext uri="{FF2B5EF4-FFF2-40B4-BE49-F238E27FC236}">
                <a16:creationId xmlns:a16="http://schemas.microsoft.com/office/drawing/2014/main" xmlns="" id="{FB77348E-13F7-49F3-ADBB-4AF89EFAD8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14561" y="2832281"/>
            <a:ext cx="3443408" cy="3909087"/>
          </a:xfrm>
          <a:prstGeom prst="rect">
            <a:avLst/>
          </a:prstGeom>
        </p:spPr>
      </p:pic>
    </p:spTree>
    <p:extLst>
      <p:ext uri="{BB962C8B-B14F-4D97-AF65-F5344CB8AC3E}">
        <p14:creationId xmlns:p14="http://schemas.microsoft.com/office/powerpoint/2010/main" val="41791796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xmlns="" id="{532F8F7C-62F6-AB45-8C6F-954F7E1DBD86}"/>
              </a:ext>
            </a:extLst>
          </p:cNvPr>
          <p:cNvSpPr>
            <a:spLocks noGrp="1"/>
          </p:cNvSpPr>
          <p:nvPr>
            <p:ph type="title"/>
          </p:nvPr>
        </p:nvSpPr>
        <p:spPr>
          <a:xfrm>
            <a:off x="1670394" y="212725"/>
            <a:ext cx="4288185" cy="813000"/>
          </a:xfrm>
        </p:spPr>
        <p:txBody>
          <a:bodyPr/>
          <a:lstStyle/>
          <a:p>
            <a:pPr lvl="0" defTabSz="457200">
              <a:defRPr/>
            </a:pPr>
            <a:r>
              <a:rPr lang="es-CL" sz="2800" b="1" dirty="0">
                <a:solidFill>
                  <a:prstClr val="white"/>
                </a:solidFill>
                <a:latin typeface="Calibri"/>
              </a:rPr>
              <a:t>Creando JOINS con más de dos Tablas</a:t>
            </a:r>
          </a:p>
        </p:txBody>
      </p:sp>
      <p:pic>
        <p:nvPicPr>
          <p:cNvPr id="2" name="Imagen 1">
            <a:extLst>
              <a:ext uri="{FF2B5EF4-FFF2-40B4-BE49-F238E27FC236}">
                <a16:creationId xmlns:a16="http://schemas.microsoft.com/office/drawing/2014/main" xmlns="" id="{E4A1A148-9D42-48B0-A025-5032CFE40FF0}"/>
              </a:ext>
            </a:extLst>
          </p:cNvPr>
          <p:cNvPicPr>
            <a:picLocks noChangeAspect="1"/>
          </p:cNvPicPr>
          <p:nvPr/>
        </p:nvPicPr>
        <p:blipFill>
          <a:blip r:embed="rId3"/>
          <a:stretch>
            <a:fillRect/>
          </a:stretch>
        </p:blipFill>
        <p:spPr>
          <a:xfrm>
            <a:off x="1315339" y="1124360"/>
            <a:ext cx="6839617" cy="5562888"/>
          </a:xfrm>
          <a:prstGeom prst="rect">
            <a:avLst/>
          </a:prstGeom>
        </p:spPr>
      </p:pic>
    </p:spTree>
    <p:extLst>
      <p:ext uri="{BB962C8B-B14F-4D97-AF65-F5344CB8AC3E}">
        <p14:creationId xmlns:p14="http://schemas.microsoft.com/office/powerpoint/2010/main" val="13520858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xmlns="" id="{532F8F7C-62F6-AB45-8C6F-954F7E1DBD86}"/>
              </a:ext>
            </a:extLst>
          </p:cNvPr>
          <p:cNvSpPr>
            <a:spLocks noGrp="1"/>
          </p:cNvSpPr>
          <p:nvPr>
            <p:ph type="title"/>
          </p:nvPr>
        </p:nvSpPr>
        <p:spPr>
          <a:xfrm>
            <a:off x="1670394" y="212725"/>
            <a:ext cx="4288185" cy="813000"/>
          </a:xfrm>
        </p:spPr>
        <p:txBody>
          <a:bodyPr/>
          <a:lstStyle/>
          <a:p>
            <a:pPr lvl="0" defTabSz="457200">
              <a:defRPr/>
            </a:pPr>
            <a:r>
              <a:rPr lang="es-CL" sz="2800" b="1" dirty="0">
                <a:solidFill>
                  <a:prstClr val="white"/>
                </a:solidFill>
                <a:latin typeface="Calibri"/>
              </a:rPr>
              <a:t>Creando JOINS con más de dos Tablas</a:t>
            </a:r>
          </a:p>
        </p:txBody>
      </p:sp>
      <p:pic>
        <p:nvPicPr>
          <p:cNvPr id="7" name="Imagen 6">
            <a:extLst>
              <a:ext uri="{FF2B5EF4-FFF2-40B4-BE49-F238E27FC236}">
                <a16:creationId xmlns:a16="http://schemas.microsoft.com/office/drawing/2014/main" xmlns="" id="{B38A47BD-D950-455B-8884-D6531918932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33158" y="3596231"/>
            <a:ext cx="3204659" cy="3215522"/>
          </a:xfrm>
          <a:prstGeom prst="rect">
            <a:avLst/>
          </a:prstGeom>
        </p:spPr>
      </p:pic>
      <p:sp>
        <p:nvSpPr>
          <p:cNvPr id="8" name="Rectangle 3">
            <a:extLst>
              <a:ext uri="{FF2B5EF4-FFF2-40B4-BE49-F238E27FC236}">
                <a16:creationId xmlns:a16="http://schemas.microsoft.com/office/drawing/2014/main" xmlns="" id="{C279F077-031C-40C6-959B-1B2F731E9ED7}"/>
              </a:ext>
            </a:extLst>
          </p:cNvPr>
          <p:cNvSpPr txBox="1">
            <a:spLocks noChangeArrowheads="1"/>
          </p:cNvSpPr>
          <p:nvPr/>
        </p:nvSpPr>
        <p:spPr bwMode="auto">
          <a:xfrm>
            <a:off x="611188" y="1203879"/>
            <a:ext cx="7848600" cy="407988"/>
          </a:xfrm>
          <a:prstGeom prst="rect">
            <a:avLst/>
          </a:prstGeom>
          <a:noFill/>
          <a:ln w="9525">
            <a:noFill/>
            <a:miter lim="800000"/>
            <a:headEnd/>
            <a:tailEnd/>
          </a:ln>
        </p:spPr>
        <p:txBody>
          <a:bodyPr/>
          <a:lstStyle/>
          <a:p>
            <a:pPr marL="609600" indent="-609600" algn="just" defTabSz="457200" fontAlgn="base">
              <a:lnSpc>
                <a:spcPct val="80000"/>
              </a:lnSpc>
              <a:spcBef>
                <a:spcPct val="20000"/>
              </a:spcBef>
              <a:spcAft>
                <a:spcPct val="0"/>
              </a:spcAft>
              <a:buClrTx/>
              <a:buFont typeface="Arial" charset="0"/>
              <a:buChar char="•"/>
            </a:pPr>
            <a:r>
              <a:rPr lang="es-CL" sz="2000" kern="1200" dirty="0">
                <a:solidFill>
                  <a:prstClr val="black"/>
                </a:solidFill>
                <a:latin typeface="Calibri"/>
                <a:ea typeface="Arial Unicode MS"/>
                <a:cs typeface="Arial Unicode MS"/>
              </a:rPr>
              <a:t>Ejemplo:</a:t>
            </a: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Calibri"/>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Calibri"/>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Calibri"/>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Calibri"/>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Calibri"/>
              <a:ea typeface="Arial Unicode MS"/>
              <a:cs typeface="Times New Roman" pitchFamily="18" charset="0"/>
            </a:endParaRPr>
          </a:p>
          <a:p>
            <a:pPr marL="609600" indent="-609600" algn="just" defTabSz="457200" fontAlgn="base">
              <a:lnSpc>
                <a:spcPct val="80000"/>
              </a:lnSpc>
              <a:spcBef>
                <a:spcPct val="20000"/>
              </a:spcBef>
              <a:spcAft>
                <a:spcPct val="0"/>
              </a:spcAft>
              <a:buClrTx/>
              <a:buFontTx/>
              <a:buNone/>
            </a:pPr>
            <a:endParaRPr lang="es-CL" sz="2000" kern="1200" dirty="0">
              <a:solidFill>
                <a:prstClr val="black"/>
              </a:solidFill>
              <a:latin typeface="Calibri"/>
              <a:ea typeface="Arial Unicode MS"/>
              <a:cs typeface="Times New Roman" pitchFamily="18" charset="0"/>
            </a:endParaRPr>
          </a:p>
        </p:txBody>
      </p:sp>
      <p:sp>
        <p:nvSpPr>
          <p:cNvPr id="9" name="Text Box 5">
            <a:extLst>
              <a:ext uri="{FF2B5EF4-FFF2-40B4-BE49-F238E27FC236}">
                <a16:creationId xmlns:a16="http://schemas.microsoft.com/office/drawing/2014/main" xmlns="" id="{45DD8DDB-FA03-4488-8AEE-C4EC25A9E7E3}"/>
              </a:ext>
            </a:extLst>
          </p:cNvPr>
          <p:cNvSpPr txBox="1">
            <a:spLocks noChangeArrowheads="1"/>
          </p:cNvSpPr>
          <p:nvPr/>
        </p:nvSpPr>
        <p:spPr bwMode="auto">
          <a:xfrm>
            <a:off x="539552" y="1504355"/>
            <a:ext cx="8353300" cy="2062103"/>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SELECT </a:t>
            </a:r>
            <a:r>
              <a:rPr kumimoji="0" lang="en-U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emp.employee_id </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"ID EMPLEADO", </a:t>
            </a:r>
            <a:r>
              <a:rPr kumimoji="0" lang="en-US" sz="1600" b="1" i="0" u="none" strike="noStrike" kern="1200" cap="none" spc="0" normalizeH="0" baseline="0" noProof="0" dirty="0">
                <a:ln>
                  <a:noFill/>
                </a:ln>
                <a:solidFill>
                  <a:srgbClr val="0000DE"/>
                </a:solidFill>
                <a:effectLst/>
                <a:uLnTx/>
                <a:uFillTx/>
                <a:latin typeface="Calibri"/>
                <a:ea typeface="+mn-ea"/>
                <a:cs typeface="Arial" panose="020B0604020202020204" pitchFamily="34" charset="0"/>
              </a:rPr>
              <a:t>dep.department_name </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"NOMBRE DEPARTAMENTO", </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008000"/>
                </a:solidFill>
                <a:effectLst/>
                <a:uLnTx/>
                <a:uFillTx/>
                <a:latin typeface="Calibri"/>
                <a:ea typeface="+mn-ea"/>
                <a:cs typeface="Arial" panose="020B0604020202020204" pitchFamily="34" charset="0"/>
              </a:rPr>
              <a:t>              loc.city </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"CIUDAD"</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FROM   </a:t>
            </a:r>
            <a:r>
              <a:rPr kumimoji="0" lang="en-U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employees emp </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LEFT JOIN </a:t>
            </a:r>
            <a:r>
              <a:rPr kumimoji="0" lang="en-US" sz="1600" b="1" i="0" u="none" strike="noStrike" kern="1200" cap="none" spc="0" normalizeH="0" baseline="0" noProof="0" dirty="0">
                <a:ln>
                  <a:noFill/>
                </a:ln>
                <a:solidFill>
                  <a:srgbClr val="0000DE"/>
                </a:solidFill>
                <a:effectLst/>
                <a:uLnTx/>
                <a:uFillTx/>
                <a:latin typeface="Calibri"/>
                <a:ea typeface="+mn-ea"/>
                <a:cs typeface="Arial" panose="020B0604020202020204" pitchFamily="34" charset="0"/>
              </a:rPr>
              <a:t>departments dep</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800080"/>
                </a:solidFill>
                <a:effectLst/>
                <a:uLnTx/>
                <a:uFillTx/>
                <a:latin typeface="Calibri"/>
                <a:ea typeface="+mn-ea"/>
                <a:cs typeface="Arial" panose="020B0604020202020204" pitchFamily="34" charset="0"/>
              </a:rPr>
              <a:t>USING(department_id)</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LEFT JOIN </a:t>
            </a:r>
            <a:r>
              <a:rPr kumimoji="0" lang="en-US" sz="1600" b="1" i="0" u="none" strike="noStrike" kern="1200" cap="none" spc="0" normalizeH="0" baseline="0" noProof="0" dirty="0">
                <a:ln>
                  <a:noFill/>
                </a:ln>
                <a:solidFill>
                  <a:srgbClr val="008000"/>
                </a:solidFill>
                <a:effectLst/>
                <a:uLnTx/>
                <a:uFillTx/>
                <a:latin typeface="Calibri"/>
                <a:ea typeface="+mn-ea"/>
                <a:cs typeface="Arial" panose="020B0604020202020204" pitchFamily="34" charset="0"/>
              </a:rPr>
              <a:t>locations loc</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800080"/>
                </a:solidFill>
                <a:effectLst/>
                <a:uLnTx/>
                <a:uFillTx/>
                <a:latin typeface="Calibri"/>
                <a:ea typeface="+mn-ea"/>
                <a:cs typeface="Arial" panose="020B0604020202020204" pitchFamily="34" charset="0"/>
              </a:rPr>
              <a:t>USING(location_id)</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ORDER BY </a:t>
            </a:r>
            <a:r>
              <a:rPr kumimoji="0" lang="en-U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emp.employee_id</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p:txBody>
      </p:sp>
    </p:spTree>
    <p:extLst>
      <p:ext uri="{BB962C8B-B14F-4D97-AF65-F5344CB8AC3E}">
        <p14:creationId xmlns:p14="http://schemas.microsoft.com/office/powerpoint/2010/main" val="22524948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xmlns="" id="{532F8F7C-62F6-AB45-8C6F-954F7E1DBD86}"/>
              </a:ext>
            </a:extLst>
          </p:cNvPr>
          <p:cNvSpPr>
            <a:spLocks noGrp="1"/>
          </p:cNvSpPr>
          <p:nvPr>
            <p:ph type="title"/>
          </p:nvPr>
        </p:nvSpPr>
        <p:spPr>
          <a:xfrm>
            <a:off x="1670394" y="212725"/>
            <a:ext cx="4288185" cy="813000"/>
          </a:xfrm>
        </p:spPr>
        <p:txBody>
          <a:bodyPr/>
          <a:lstStyle/>
          <a:p>
            <a:pPr lvl="0" defTabSz="457200">
              <a:defRPr/>
            </a:pPr>
            <a:r>
              <a:rPr lang="es-CL" sz="2800" b="1" dirty="0">
                <a:solidFill>
                  <a:prstClr val="white"/>
                </a:solidFill>
                <a:latin typeface="Calibri"/>
              </a:rPr>
              <a:t>Creando JOINS con más de dos Tablas</a:t>
            </a:r>
          </a:p>
        </p:txBody>
      </p:sp>
      <p:sp>
        <p:nvSpPr>
          <p:cNvPr id="24" name="Rectangle 3">
            <a:extLst>
              <a:ext uri="{FF2B5EF4-FFF2-40B4-BE49-F238E27FC236}">
                <a16:creationId xmlns:a16="http://schemas.microsoft.com/office/drawing/2014/main" xmlns="" id="{9F5917A5-A05B-45E4-9A12-1B2C1C91D49A}"/>
              </a:ext>
            </a:extLst>
          </p:cNvPr>
          <p:cNvSpPr txBox="1">
            <a:spLocks noChangeArrowheads="1"/>
          </p:cNvSpPr>
          <p:nvPr/>
        </p:nvSpPr>
        <p:spPr bwMode="auto">
          <a:xfrm>
            <a:off x="611188" y="1340768"/>
            <a:ext cx="7848600" cy="407988"/>
          </a:xfrm>
          <a:prstGeom prst="rect">
            <a:avLst/>
          </a:prstGeom>
          <a:noFill/>
          <a:ln w="9525">
            <a:noFill/>
            <a:miter lim="800000"/>
            <a:headEnd/>
            <a:tailEnd/>
          </a:ln>
        </p:spPr>
        <p:txBody>
          <a:bodyPr/>
          <a:lstStyle/>
          <a:p>
            <a:pPr marL="609600" indent="-609600" algn="just" defTabSz="457200" fontAlgn="base">
              <a:lnSpc>
                <a:spcPct val="80000"/>
              </a:lnSpc>
              <a:spcBef>
                <a:spcPct val="20000"/>
              </a:spcBef>
              <a:spcAft>
                <a:spcPct val="0"/>
              </a:spcAft>
              <a:buClrTx/>
              <a:buFont typeface="Arial" charset="0"/>
              <a:buChar char="•"/>
            </a:pPr>
            <a:r>
              <a:rPr lang="es-CL" sz="2000" kern="1200" dirty="0">
                <a:solidFill>
                  <a:prstClr val="black"/>
                </a:solidFill>
                <a:latin typeface="Calibri"/>
                <a:ea typeface="Arial Unicode MS"/>
                <a:cs typeface="Arial Unicode MS"/>
              </a:rPr>
              <a:t>Ejemplo:</a:t>
            </a: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Calibri"/>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Calibri"/>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Calibri"/>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Calibri"/>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Calibri"/>
              <a:ea typeface="Arial Unicode MS"/>
              <a:cs typeface="Times New Roman" pitchFamily="18" charset="0"/>
            </a:endParaRPr>
          </a:p>
          <a:p>
            <a:pPr marL="609600" indent="-609600" algn="just" defTabSz="457200" fontAlgn="base">
              <a:lnSpc>
                <a:spcPct val="80000"/>
              </a:lnSpc>
              <a:spcBef>
                <a:spcPct val="20000"/>
              </a:spcBef>
              <a:spcAft>
                <a:spcPct val="0"/>
              </a:spcAft>
              <a:buClrTx/>
              <a:buFontTx/>
              <a:buNone/>
            </a:pPr>
            <a:endParaRPr lang="es-CL" sz="2000" kern="1200" dirty="0">
              <a:solidFill>
                <a:prstClr val="black"/>
              </a:solidFill>
              <a:latin typeface="Calibri"/>
              <a:ea typeface="Arial Unicode MS"/>
              <a:cs typeface="Times New Roman" pitchFamily="18" charset="0"/>
            </a:endParaRPr>
          </a:p>
        </p:txBody>
      </p:sp>
      <p:sp>
        <p:nvSpPr>
          <p:cNvPr id="25" name="Text Box 5">
            <a:extLst>
              <a:ext uri="{FF2B5EF4-FFF2-40B4-BE49-F238E27FC236}">
                <a16:creationId xmlns:a16="http://schemas.microsoft.com/office/drawing/2014/main" xmlns="" id="{F4911557-9C48-4367-B42A-21D3B14116D4}"/>
              </a:ext>
            </a:extLst>
          </p:cNvPr>
          <p:cNvSpPr txBox="1">
            <a:spLocks noChangeArrowheads="1"/>
          </p:cNvSpPr>
          <p:nvPr/>
        </p:nvSpPr>
        <p:spPr bwMode="auto">
          <a:xfrm>
            <a:off x="899592" y="1648172"/>
            <a:ext cx="7560840" cy="2800767"/>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SELECT </a:t>
            </a:r>
            <a:r>
              <a:rPr kumimoji="0" lang="en-US" sz="1600" b="1" i="0" u="none" strike="noStrike" kern="1200" cap="none" spc="0" normalizeH="0" baseline="0" noProof="0" dirty="0">
                <a:ln>
                  <a:noFill/>
                </a:ln>
                <a:solidFill>
                  <a:srgbClr val="0000DE"/>
                </a:solidFill>
                <a:effectLst/>
                <a:uLnTx/>
                <a:uFillTx/>
                <a:latin typeface="Calibri"/>
                <a:ea typeface="+mn-ea"/>
                <a:cs typeface="Arial" panose="020B0604020202020204" pitchFamily="34" charset="0"/>
              </a:rPr>
              <a:t>dep.department_name </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"NOMBRE DEPARTAMENTO", </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COUNT(</a:t>
            </a:r>
            <a:r>
              <a:rPr kumimoji="0" lang="en-U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emp.employee_id) </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"TOTAL EMPLEADOS",</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008000"/>
                </a:solidFill>
                <a:effectLst/>
                <a:uLnTx/>
                <a:uFillTx/>
                <a:latin typeface="Calibri"/>
                <a:ea typeface="+mn-ea"/>
                <a:cs typeface="Arial" panose="020B0604020202020204" pitchFamily="34" charset="0"/>
              </a:rPr>
              <a:t>              loc.city </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"CIUDAD"</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FROM   </a:t>
            </a:r>
            <a:r>
              <a:rPr kumimoji="0" lang="en-U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employees </a:t>
            </a:r>
            <a:r>
              <a:rPr kumimoji="0" lang="en-US" sz="1600" b="1" i="0" u="none" strike="noStrike" kern="1200" cap="none" spc="0" normalizeH="0" baseline="0" noProof="0" dirty="0" err="1">
                <a:ln>
                  <a:noFill/>
                </a:ln>
                <a:solidFill>
                  <a:srgbClr val="C00000"/>
                </a:solidFill>
                <a:effectLst/>
                <a:uLnTx/>
                <a:uFillTx/>
                <a:latin typeface="Calibri"/>
                <a:ea typeface="+mn-ea"/>
                <a:cs typeface="Arial" panose="020B0604020202020204" pitchFamily="34" charset="0"/>
              </a:rPr>
              <a:t>emp</a:t>
            </a:r>
            <a:r>
              <a:rPr kumimoji="0" lang="en-U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JOIN </a:t>
            </a:r>
            <a:r>
              <a:rPr kumimoji="0" lang="en-US" sz="1600" b="1" i="0" u="none" strike="noStrike" kern="1200" cap="none" spc="0" normalizeH="0" baseline="0" noProof="0" dirty="0">
                <a:ln>
                  <a:noFill/>
                </a:ln>
                <a:solidFill>
                  <a:srgbClr val="0000DE"/>
                </a:solidFill>
                <a:effectLst/>
                <a:uLnTx/>
                <a:uFillTx/>
                <a:latin typeface="Calibri"/>
                <a:ea typeface="+mn-ea"/>
                <a:cs typeface="Arial" panose="020B0604020202020204" pitchFamily="34" charset="0"/>
              </a:rPr>
              <a:t>departments </a:t>
            </a:r>
            <a:r>
              <a:rPr kumimoji="0" lang="en-US" sz="1600" b="1" i="0" u="none" strike="noStrike" kern="1200" cap="none" spc="0" normalizeH="0" baseline="0" noProof="0" dirty="0" err="1">
                <a:ln>
                  <a:noFill/>
                </a:ln>
                <a:solidFill>
                  <a:srgbClr val="0000DE"/>
                </a:solidFill>
                <a:effectLst/>
                <a:uLnTx/>
                <a:uFillTx/>
                <a:latin typeface="Calibri"/>
                <a:ea typeface="+mn-ea"/>
                <a:cs typeface="Arial" panose="020B0604020202020204" pitchFamily="34" charset="0"/>
              </a:rPr>
              <a:t>dep</a:t>
            </a:r>
            <a:endParaRPr kumimoji="0" lang="en-US" sz="1600" b="1" i="0" u="none" strike="noStrike" kern="1200" cap="none" spc="0" normalizeH="0" baseline="0" noProof="0" dirty="0">
              <a:ln>
                <a:noFill/>
              </a:ln>
              <a:solidFill>
                <a:srgbClr val="0000DE"/>
              </a:solidFill>
              <a:effectLst/>
              <a:uLnTx/>
              <a:uFillTx/>
              <a:latin typeface="Calibri"/>
              <a:ea typeface="+mn-ea"/>
              <a:cs typeface="Arial" panose="020B0604020202020204" pitchFamily="34"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800080"/>
                </a:solidFill>
                <a:effectLst/>
                <a:uLnTx/>
                <a:uFillTx/>
                <a:latin typeface="Calibri"/>
                <a:ea typeface="+mn-ea"/>
                <a:cs typeface="Arial" panose="020B0604020202020204" pitchFamily="34" charset="0"/>
              </a:rPr>
              <a:t>USING(department_id)</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JOIN </a:t>
            </a:r>
            <a:r>
              <a:rPr kumimoji="0" lang="en-US" sz="1600" b="1" i="0" u="none" strike="noStrike" kern="1200" cap="none" spc="0" normalizeH="0" baseline="0" noProof="0" dirty="0">
                <a:ln>
                  <a:noFill/>
                </a:ln>
                <a:solidFill>
                  <a:srgbClr val="008000"/>
                </a:solidFill>
                <a:effectLst/>
                <a:uLnTx/>
                <a:uFillTx/>
                <a:latin typeface="Calibri"/>
                <a:ea typeface="+mn-ea"/>
                <a:cs typeface="Arial" panose="020B0604020202020204" pitchFamily="34" charset="0"/>
              </a:rPr>
              <a:t>locations loc</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800080"/>
                </a:solidFill>
                <a:effectLst/>
                <a:uLnTx/>
                <a:uFillTx/>
                <a:latin typeface="Calibri"/>
                <a:ea typeface="+mn-ea"/>
                <a:cs typeface="Arial" panose="020B0604020202020204" pitchFamily="34" charset="0"/>
              </a:rPr>
              <a:t>USING(location_id)</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GROUP BY </a:t>
            </a:r>
            <a:r>
              <a:rPr kumimoji="0" lang="en-US" sz="1600" b="1" i="0" u="none" strike="noStrike" kern="1200" cap="none" spc="0" normalizeH="0" baseline="0" noProof="0" dirty="0">
                <a:ln>
                  <a:noFill/>
                </a:ln>
                <a:solidFill>
                  <a:srgbClr val="0000DE"/>
                </a:solidFill>
                <a:effectLst/>
                <a:uLnTx/>
                <a:uFillTx/>
                <a:latin typeface="Calibri"/>
                <a:ea typeface="+mn-ea"/>
                <a:cs typeface="Arial" panose="020B0604020202020204" pitchFamily="34" charset="0"/>
              </a:rPr>
              <a:t>dep.department_name</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a:ln>
                  <a:noFill/>
                </a:ln>
                <a:solidFill>
                  <a:srgbClr val="008000"/>
                </a:solidFill>
                <a:effectLst/>
                <a:uLnTx/>
                <a:uFillTx/>
                <a:latin typeface="Calibri"/>
                <a:ea typeface="+mn-ea"/>
                <a:cs typeface="Arial" panose="020B0604020202020204" pitchFamily="34" charset="0"/>
              </a:rPr>
              <a:t>loc.city</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HAVING COUNT(</a:t>
            </a:r>
            <a:r>
              <a:rPr kumimoji="0" lang="en-U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emp.employee_id</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&gt; 5</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ORDER BY "TOTAL EMPLEADOS" DESC, </a:t>
            </a:r>
            <a:r>
              <a:rPr kumimoji="0" lang="en-US" sz="1600" b="1" i="0" u="none" strike="noStrike" kern="1200" cap="none" spc="0" normalizeH="0" baseline="0" noProof="0" dirty="0">
                <a:ln>
                  <a:noFill/>
                </a:ln>
                <a:solidFill>
                  <a:srgbClr val="0000DE"/>
                </a:solidFill>
                <a:effectLst/>
                <a:uLnTx/>
                <a:uFillTx/>
                <a:latin typeface="Calibri"/>
                <a:ea typeface="+mn-ea"/>
                <a:cs typeface="Arial" panose="020B0604020202020204" pitchFamily="34" charset="0"/>
              </a:rPr>
              <a:t>dep.department_name</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p:txBody>
      </p:sp>
      <p:pic>
        <p:nvPicPr>
          <p:cNvPr id="26" name="Imagen 25">
            <a:extLst>
              <a:ext uri="{FF2B5EF4-FFF2-40B4-BE49-F238E27FC236}">
                <a16:creationId xmlns:a16="http://schemas.microsoft.com/office/drawing/2014/main" xmlns="" id="{C771260E-D06F-486D-8A7C-BCA401B6FDA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49349" y="4684906"/>
            <a:ext cx="5458955" cy="1360204"/>
          </a:xfrm>
          <a:prstGeom prst="rect">
            <a:avLst/>
          </a:prstGeom>
        </p:spPr>
      </p:pic>
    </p:spTree>
    <p:extLst>
      <p:ext uri="{BB962C8B-B14F-4D97-AF65-F5344CB8AC3E}">
        <p14:creationId xmlns:p14="http://schemas.microsoft.com/office/powerpoint/2010/main" val="9063738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xmlns="" id="{532F8F7C-62F6-AB45-8C6F-954F7E1DBD86}"/>
              </a:ext>
            </a:extLst>
          </p:cNvPr>
          <p:cNvSpPr>
            <a:spLocks noGrp="1"/>
          </p:cNvSpPr>
          <p:nvPr>
            <p:ph type="title"/>
          </p:nvPr>
        </p:nvSpPr>
        <p:spPr>
          <a:xfrm>
            <a:off x="1670394" y="212725"/>
            <a:ext cx="4288185" cy="813000"/>
          </a:xfrm>
        </p:spPr>
        <p:txBody>
          <a:bodyPr/>
          <a:lstStyle/>
          <a:p>
            <a:pPr lvl="0" defTabSz="457200">
              <a:defRPr/>
            </a:pPr>
            <a:r>
              <a:rPr lang="es-CL" sz="2800" b="1" dirty="0">
                <a:solidFill>
                  <a:prstClr val="white"/>
                </a:solidFill>
                <a:latin typeface="Calibri"/>
              </a:rPr>
              <a:t>Creando JOINS con más de dos Tablas</a:t>
            </a:r>
          </a:p>
        </p:txBody>
      </p:sp>
      <p:sp>
        <p:nvSpPr>
          <p:cNvPr id="9" name="Rectangle 3">
            <a:extLst>
              <a:ext uri="{FF2B5EF4-FFF2-40B4-BE49-F238E27FC236}">
                <a16:creationId xmlns:a16="http://schemas.microsoft.com/office/drawing/2014/main" xmlns="" id="{039FA382-F074-4F1F-B98A-5F01465DED07}"/>
              </a:ext>
            </a:extLst>
          </p:cNvPr>
          <p:cNvSpPr txBox="1">
            <a:spLocks noChangeArrowheads="1"/>
          </p:cNvSpPr>
          <p:nvPr/>
        </p:nvSpPr>
        <p:spPr bwMode="auto">
          <a:xfrm>
            <a:off x="611188" y="1268760"/>
            <a:ext cx="7848600" cy="407988"/>
          </a:xfrm>
          <a:prstGeom prst="rect">
            <a:avLst/>
          </a:prstGeom>
          <a:noFill/>
          <a:ln w="9525">
            <a:noFill/>
            <a:miter lim="800000"/>
            <a:headEnd/>
            <a:tailEnd/>
          </a:ln>
        </p:spPr>
        <p:txBody>
          <a:bodyPr/>
          <a:lstStyle/>
          <a:p>
            <a:pPr marL="609600" indent="-609600" algn="just" defTabSz="457200" fontAlgn="base">
              <a:lnSpc>
                <a:spcPct val="80000"/>
              </a:lnSpc>
              <a:spcBef>
                <a:spcPct val="20000"/>
              </a:spcBef>
              <a:spcAft>
                <a:spcPct val="0"/>
              </a:spcAft>
              <a:buClrTx/>
              <a:buFont typeface="Arial" charset="0"/>
              <a:buChar char="•"/>
            </a:pPr>
            <a:r>
              <a:rPr lang="es-CL" sz="2000" kern="1200" dirty="0">
                <a:solidFill>
                  <a:prstClr val="black"/>
                </a:solidFill>
                <a:latin typeface="Calibri"/>
                <a:ea typeface="Arial Unicode MS"/>
                <a:cs typeface="Arial Unicode MS"/>
              </a:rPr>
              <a:t>Ejemplo:</a:t>
            </a: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Calibri"/>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Calibri"/>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Calibri"/>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Calibri"/>
              <a:ea typeface="Arial Unicode MS"/>
              <a:cs typeface="Times New Roman" pitchFamily="18" charset="0"/>
            </a:endParaRPr>
          </a:p>
          <a:p>
            <a:pPr marL="609600" indent="-609600" algn="just" defTabSz="457200" fontAlgn="base">
              <a:lnSpc>
                <a:spcPct val="80000"/>
              </a:lnSpc>
              <a:spcBef>
                <a:spcPct val="20000"/>
              </a:spcBef>
              <a:spcAft>
                <a:spcPct val="0"/>
              </a:spcAft>
              <a:buClrTx/>
              <a:buFont typeface="Arial" charset="0"/>
              <a:buChar char="•"/>
            </a:pPr>
            <a:endParaRPr lang="es-CL" sz="2000" kern="1200" dirty="0">
              <a:solidFill>
                <a:prstClr val="black"/>
              </a:solidFill>
              <a:latin typeface="Calibri"/>
              <a:ea typeface="Arial Unicode MS"/>
              <a:cs typeface="Times New Roman" pitchFamily="18" charset="0"/>
            </a:endParaRPr>
          </a:p>
          <a:p>
            <a:pPr marL="609600" indent="-609600" algn="just" defTabSz="457200" fontAlgn="base">
              <a:lnSpc>
                <a:spcPct val="80000"/>
              </a:lnSpc>
              <a:spcBef>
                <a:spcPct val="20000"/>
              </a:spcBef>
              <a:spcAft>
                <a:spcPct val="0"/>
              </a:spcAft>
              <a:buClrTx/>
              <a:buFontTx/>
              <a:buNone/>
            </a:pPr>
            <a:endParaRPr lang="es-CL" sz="2000" kern="1200" dirty="0">
              <a:solidFill>
                <a:prstClr val="black"/>
              </a:solidFill>
              <a:latin typeface="Calibri"/>
              <a:ea typeface="Arial Unicode MS"/>
              <a:cs typeface="Times New Roman" pitchFamily="18" charset="0"/>
            </a:endParaRPr>
          </a:p>
        </p:txBody>
      </p:sp>
      <p:sp>
        <p:nvSpPr>
          <p:cNvPr id="10" name="Text Box 5">
            <a:extLst>
              <a:ext uri="{FF2B5EF4-FFF2-40B4-BE49-F238E27FC236}">
                <a16:creationId xmlns:a16="http://schemas.microsoft.com/office/drawing/2014/main" xmlns="" id="{5F4EADD1-0371-47A6-A7AC-2891AABE72DF}"/>
              </a:ext>
            </a:extLst>
          </p:cNvPr>
          <p:cNvSpPr txBox="1">
            <a:spLocks noChangeArrowheads="1"/>
          </p:cNvSpPr>
          <p:nvPr/>
        </p:nvSpPr>
        <p:spPr bwMode="auto">
          <a:xfrm>
            <a:off x="899592" y="1576164"/>
            <a:ext cx="7560840" cy="3293209"/>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SELECT </a:t>
            </a:r>
            <a:r>
              <a:rPr kumimoji="0" lang="en-US" sz="1600" b="1" i="0" u="none" strike="noStrike" kern="1200" cap="none" spc="0" normalizeH="0" baseline="0" noProof="0" dirty="0">
                <a:ln>
                  <a:noFill/>
                </a:ln>
                <a:solidFill>
                  <a:srgbClr val="0000DE"/>
                </a:solidFill>
                <a:effectLst/>
                <a:uLnTx/>
                <a:uFillTx/>
                <a:latin typeface="Calibri"/>
                <a:ea typeface="+mn-ea"/>
                <a:cs typeface="Arial" panose="020B0604020202020204" pitchFamily="34" charset="0"/>
              </a:rPr>
              <a:t>dep.department_name </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"NOMBRE DEPARTAMENTO", </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COUNT(</a:t>
            </a:r>
            <a:r>
              <a:rPr kumimoji="0" lang="en-U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emp.employee_id) </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"TOTAL EMPLEADOS",</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008000"/>
                </a:solidFill>
                <a:effectLst/>
                <a:uLnTx/>
                <a:uFillTx/>
                <a:latin typeface="Calibri"/>
                <a:ea typeface="+mn-ea"/>
                <a:cs typeface="Arial" panose="020B0604020202020204" pitchFamily="34" charset="0"/>
              </a:rPr>
              <a:t>              loc.city </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"CIUDAD", </a:t>
            </a:r>
            <a:r>
              <a:rPr kumimoji="0" lang="en-US" sz="1600" b="1" i="0" u="none" strike="noStrike" kern="1200" cap="none" spc="0" normalizeH="0" baseline="0" noProof="0" dirty="0" err="1">
                <a:ln>
                  <a:noFill/>
                </a:ln>
                <a:solidFill>
                  <a:srgbClr val="FF3300"/>
                </a:solidFill>
                <a:effectLst/>
                <a:uLnTx/>
                <a:uFillTx/>
                <a:latin typeface="Calibri"/>
                <a:ea typeface="+mn-ea"/>
                <a:cs typeface="Arial" panose="020B0604020202020204" pitchFamily="34" charset="0"/>
              </a:rPr>
              <a:t>con.country_name</a:t>
            </a:r>
            <a:r>
              <a:rPr kumimoji="0" lang="en-US" sz="1600" b="1" i="0" u="none" strike="noStrike" kern="1200" cap="none" spc="0" normalizeH="0" baseline="0" noProof="0" dirty="0">
                <a:ln>
                  <a:noFill/>
                </a:ln>
                <a:solidFill>
                  <a:srgbClr val="CD6209"/>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"PAIS"</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FROM </a:t>
            </a:r>
            <a:r>
              <a:rPr kumimoji="0" lang="en-US" sz="1600" b="1" i="0" u="none" strike="noStrike" kern="1200" cap="none" spc="0" normalizeH="0" baseline="0" noProof="0" dirty="0">
                <a:ln>
                  <a:noFill/>
                </a:ln>
                <a:solidFill>
                  <a:srgbClr val="0000DE"/>
                </a:solidFill>
                <a:effectLst/>
                <a:uLnTx/>
                <a:uFillTx/>
                <a:latin typeface="Calibri"/>
                <a:ea typeface="+mn-ea"/>
                <a:cs typeface="Arial" panose="020B0604020202020204" pitchFamily="34" charset="0"/>
              </a:rPr>
              <a:t>departments dep </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JOIN </a:t>
            </a:r>
            <a:r>
              <a:rPr kumimoji="0" lang="en-U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employees emp </a:t>
            </a:r>
            <a:endParaRPr kumimoji="0" lang="en-US" sz="1600" b="1" i="0" u="none" strike="noStrike" kern="1200" cap="none" spc="0" normalizeH="0" baseline="0" noProof="0" dirty="0">
              <a:ln>
                <a:noFill/>
              </a:ln>
              <a:solidFill>
                <a:srgbClr val="0000DE"/>
              </a:solidFill>
              <a:effectLst/>
              <a:uLnTx/>
              <a:uFillTx/>
              <a:latin typeface="Calibri"/>
              <a:ea typeface="+mn-ea"/>
              <a:cs typeface="Arial" panose="020B0604020202020204" pitchFamily="34"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800080"/>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ON(</a:t>
            </a:r>
            <a:r>
              <a:rPr kumimoji="0" lang="en-US" sz="1600" b="1" i="0" u="none" strike="noStrike" kern="1200" cap="none" spc="0" normalizeH="0" baseline="0" noProof="0" dirty="0">
                <a:ln>
                  <a:noFill/>
                </a:ln>
                <a:solidFill>
                  <a:srgbClr val="0000DE"/>
                </a:solidFill>
                <a:effectLst/>
                <a:uLnTx/>
                <a:uFillTx/>
                <a:latin typeface="Calibri"/>
                <a:ea typeface="+mn-ea"/>
                <a:cs typeface="Arial" panose="020B0604020202020204" pitchFamily="34" charset="0"/>
              </a:rPr>
              <a:t>dep.department_id</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 </a:t>
            </a:r>
            <a:r>
              <a:rPr kumimoji="0" lang="en-U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emp.department_id</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JOIN </a:t>
            </a:r>
            <a:r>
              <a:rPr kumimoji="0" lang="en-US" sz="1600" b="1" i="0" u="none" strike="noStrike" kern="1200" cap="none" spc="0" normalizeH="0" baseline="0" noProof="0" dirty="0">
                <a:ln>
                  <a:noFill/>
                </a:ln>
                <a:solidFill>
                  <a:srgbClr val="008000"/>
                </a:solidFill>
                <a:effectLst/>
                <a:uLnTx/>
                <a:uFillTx/>
                <a:latin typeface="Calibri"/>
                <a:ea typeface="+mn-ea"/>
                <a:cs typeface="Arial" panose="020B0604020202020204" pitchFamily="34" charset="0"/>
              </a:rPr>
              <a:t>locations loc</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800080"/>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ON(</a:t>
            </a:r>
            <a:r>
              <a:rPr kumimoji="0" lang="en-US" sz="1600" b="1" i="0" u="none" strike="noStrike" kern="1200" cap="none" spc="0" normalizeH="0" baseline="0" noProof="0" dirty="0" err="1">
                <a:ln>
                  <a:noFill/>
                </a:ln>
                <a:solidFill>
                  <a:srgbClr val="0000DE"/>
                </a:solidFill>
                <a:effectLst/>
                <a:uLnTx/>
                <a:uFillTx/>
                <a:latin typeface="Calibri"/>
                <a:ea typeface="+mn-ea"/>
                <a:cs typeface="Arial" panose="020B0604020202020204" pitchFamily="34" charset="0"/>
              </a:rPr>
              <a:t>dep.location_id</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 </a:t>
            </a:r>
            <a:r>
              <a:rPr kumimoji="0" lang="en-US" sz="1600" b="1" i="0" u="none" strike="noStrike" kern="1200" cap="none" spc="0" normalizeH="0" baseline="0" noProof="0" dirty="0">
                <a:ln>
                  <a:noFill/>
                </a:ln>
                <a:solidFill>
                  <a:srgbClr val="008000"/>
                </a:solidFill>
                <a:effectLst/>
                <a:uLnTx/>
                <a:uFillTx/>
                <a:latin typeface="Calibri"/>
                <a:ea typeface="+mn-ea"/>
                <a:cs typeface="Arial" panose="020B0604020202020204" pitchFamily="34" charset="0"/>
              </a:rPr>
              <a:t>loc.location_id</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JOIN </a:t>
            </a:r>
            <a:r>
              <a:rPr kumimoji="0" lang="en-US" sz="1600" b="1" i="0" u="none" strike="noStrike" kern="1200" cap="none" spc="0" normalizeH="0" baseline="0" noProof="0" dirty="0">
                <a:ln>
                  <a:noFill/>
                </a:ln>
                <a:solidFill>
                  <a:srgbClr val="FF3300"/>
                </a:solidFill>
                <a:effectLst/>
                <a:uLnTx/>
                <a:uFillTx/>
                <a:latin typeface="Calibri"/>
                <a:ea typeface="+mn-ea"/>
                <a:cs typeface="Arial" panose="020B0604020202020204" pitchFamily="34" charset="0"/>
              </a:rPr>
              <a:t>countries con</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ON (</a:t>
            </a:r>
            <a:r>
              <a:rPr kumimoji="0" lang="en-US" sz="1600" b="1" i="0" u="none" strike="noStrike" kern="1200" cap="none" spc="0" normalizeH="0" baseline="0" noProof="0" dirty="0" err="1">
                <a:ln>
                  <a:noFill/>
                </a:ln>
                <a:solidFill>
                  <a:srgbClr val="008000"/>
                </a:solidFill>
                <a:effectLst/>
                <a:uLnTx/>
                <a:uFillTx/>
                <a:latin typeface="Calibri"/>
                <a:ea typeface="+mn-ea"/>
                <a:cs typeface="Arial" panose="020B0604020202020204" pitchFamily="34" charset="0"/>
              </a:rPr>
              <a:t>loc.country_id</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 </a:t>
            </a:r>
            <a:r>
              <a:rPr kumimoji="0" lang="en-US" sz="1600" b="1" i="0" u="none" strike="noStrike" kern="1200" cap="none" spc="0" normalizeH="0" baseline="0" noProof="0" dirty="0" err="1">
                <a:ln>
                  <a:noFill/>
                </a:ln>
                <a:solidFill>
                  <a:srgbClr val="FF3300"/>
                </a:solidFill>
                <a:effectLst/>
                <a:uLnTx/>
                <a:uFillTx/>
                <a:latin typeface="Calibri"/>
                <a:ea typeface="+mn-ea"/>
                <a:cs typeface="Arial" panose="020B0604020202020204" pitchFamily="34" charset="0"/>
              </a:rPr>
              <a:t>con.country_id</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GROUP BY </a:t>
            </a:r>
            <a:r>
              <a:rPr kumimoji="0" lang="en-US" sz="1600" b="1" i="0" u="none" strike="noStrike" kern="1200" cap="none" spc="0" normalizeH="0" baseline="0" noProof="0" dirty="0">
                <a:ln>
                  <a:noFill/>
                </a:ln>
                <a:solidFill>
                  <a:srgbClr val="0000DE"/>
                </a:solidFill>
                <a:effectLst/>
                <a:uLnTx/>
                <a:uFillTx/>
                <a:latin typeface="Calibri"/>
                <a:ea typeface="+mn-ea"/>
                <a:cs typeface="Arial" panose="020B0604020202020204" pitchFamily="34" charset="0"/>
              </a:rPr>
              <a:t>dep.department_name</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a:ln>
                  <a:noFill/>
                </a:ln>
                <a:solidFill>
                  <a:srgbClr val="008000"/>
                </a:solidFill>
                <a:effectLst/>
                <a:uLnTx/>
                <a:uFillTx/>
                <a:latin typeface="Calibri"/>
                <a:ea typeface="+mn-ea"/>
                <a:cs typeface="Arial" panose="020B0604020202020204" pitchFamily="34" charset="0"/>
              </a:rPr>
              <a:t>loc.city</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err="1">
                <a:ln>
                  <a:noFill/>
                </a:ln>
                <a:solidFill>
                  <a:srgbClr val="FF3300"/>
                </a:solidFill>
                <a:effectLst/>
                <a:uLnTx/>
                <a:uFillTx/>
                <a:latin typeface="Calibri"/>
                <a:ea typeface="+mn-ea"/>
                <a:cs typeface="Arial" panose="020B0604020202020204" pitchFamily="34" charset="0"/>
              </a:rPr>
              <a:t>con.country_name</a:t>
            </a:r>
            <a:endParaRPr kumimoji="0" lang="en-US" sz="1600" b="1" i="0" u="none" strike="noStrike" kern="1200" cap="none" spc="0" normalizeH="0" baseline="0" noProof="0" dirty="0">
              <a:ln>
                <a:noFill/>
              </a:ln>
              <a:solidFill>
                <a:srgbClr val="FF3300"/>
              </a:solidFill>
              <a:effectLst/>
              <a:uLnTx/>
              <a:uFillTx/>
              <a:latin typeface="Calibri"/>
              <a:ea typeface="+mn-ea"/>
              <a:cs typeface="Arial" panose="020B0604020202020204" pitchFamily="34"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HAVING COUNT(</a:t>
            </a:r>
            <a:r>
              <a:rPr kumimoji="0" lang="en-U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emp.employee_id</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&gt; 5</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ORDER BY "TOTAL EMPLEADOS" DESC, </a:t>
            </a:r>
            <a:r>
              <a:rPr kumimoji="0" lang="en-US" sz="1600" b="1" i="0" u="none" strike="noStrike" kern="1200" cap="none" spc="0" normalizeH="0" baseline="0" noProof="0" dirty="0">
                <a:ln>
                  <a:noFill/>
                </a:ln>
                <a:solidFill>
                  <a:srgbClr val="0000DE"/>
                </a:solidFill>
                <a:effectLst/>
                <a:uLnTx/>
                <a:uFillTx/>
                <a:latin typeface="Calibri"/>
                <a:ea typeface="+mn-ea"/>
                <a:cs typeface="Arial" panose="020B0604020202020204" pitchFamily="34" charset="0"/>
              </a:rPr>
              <a:t>dep.department_name</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p:txBody>
      </p:sp>
      <p:pic>
        <p:nvPicPr>
          <p:cNvPr id="11" name="Imagen 10">
            <a:extLst>
              <a:ext uri="{FF2B5EF4-FFF2-40B4-BE49-F238E27FC236}">
                <a16:creationId xmlns:a16="http://schemas.microsoft.com/office/drawing/2014/main" xmlns="" id="{19DFCCB9-2814-4FDE-8198-AAF0CB60D8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3608" y="4906769"/>
            <a:ext cx="7257317" cy="1302150"/>
          </a:xfrm>
          <a:prstGeom prst="rect">
            <a:avLst/>
          </a:prstGeom>
        </p:spPr>
      </p:pic>
    </p:spTree>
    <p:extLst>
      <p:ext uri="{BB962C8B-B14F-4D97-AF65-F5344CB8AC3E}">
        <p14:creationId xmlns:p14="http://schemas.microsoft.com/office/powerpoint/2010/main" val="13401508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xmlns="" id="{71DCFFB2-9AD1-704E-96BD-9E25D01600D1}"/>
              </a:ext>
            </a:extLst>
          </p:cNvPr>
          <p:cNvSpPr>
            <a:spLocks noGrp="1"/>
          </p:cNvSpPr>
          <p:nvPr>
            <p:ph type="sldNum" idx="4294967295"/>
          </p:nvPr>
        </p:nvSpPr>
        <p:spPr>
          <a:xfrm>
            <a:off x="6915150" y="6356351"/>
            <a:ext cx="2057400" cy="365100"/>
          </a:xfrm>
        </p:spPr>
        <p:txBody>
          <a:bodyPr/>
          <a:lstStyle/>
          <a:p>
            <a:fld id="{00000000-1234-1234-1234-123412341234}" type="slidenum">
              <a:rPr lang="en-US" smtClean="0"/>
              <a:pPr/>
              <a:t>31</a:t>
            </a:fld>
            <a:endParaRPr lang="en-US"/>
          </a:p>
        </p:txBody>
      </p:sp>
      <p:sp>
        <p:nvSpPr>
          <p:cNvPr id="2" name="Título 1">
            <a:extLst>
              <a:ext uri="{FF2B5EF4-FFF2-40B4-BE49-F238E27FC236}">
                <a16:creationId xmlns:a16="http://schemas.microsoft.com/office/drawing/2014/main" xmlns="" id="{9750BC02-FE4E-1148-8346-BA2C94ECC781}"/>
              </a:ext>
            </a:extLst>
          </p:cNvPr>
          <p:cNvSpPr>
            <a:spLocks noGrp="1"/>
          </p:cNvSpPr>
          <p:nvPr>
            <p:ph type="title"/>
          </p:nvPr>
        </p:nvSpPr>
        <p:spPr/>
        <p:txBody>
          <a:bodyPr/>
          <a:lstStyle/>
          <a:p>
            <a:r>
              <a:rPr lang="es-ES_tradnl" b="1" dirty="0"/>
              <a:t>Resumen de la Clase</a:t>
            </a:r>
          </a:p>
        </p:txBody>
      </p:sp>
      <p:sp>
        <p:nvSpPr>
          <p:cNvPr id="9" name="Marcador de texto 8">
            <a:extLst>
              <a:ext uri="{FF2B5EF4-FFF2-40B4-BE49-F238E27FC236}">
                <a16:creationId xmlns:a16="http://schemas.microsoft.com/office/drawing/2014/main" xmlns="" id="{C0A58EEC-AE91-4A1D-A092-4DC34F040D5C}"/>
              </a:ext>
            </a:extLst>
          </p:cNvPr>
          <p:cNvSpPr>
            <a:spLocks noGrp="1"/>
          </p:cNvSpPr>
          <p:nvPr>
            <p:ph type="body" sz="quarter" idx="11"/>
          </p:nvPr>
        </p:nvSpPr>
        <p:spPr>
          <a:xfrm>
            <a:off x="560387" y="2000440"/>
            <a:ext cx="8023225" cy="2275770"/>
          </a:xfrm>
        </p:spPr>
        <p:txBody>
          <a:bodyPr/>
          <a:lstStyle/>
          <a:p>
            <a:pPr marL="393700" indent="-342900" algn="just">
              <a:buFont typeface="Arial" panose="020B0604020202020204" pitchFamily="34" charset="0"/>
              <a:buChar char="•"/>
            </a:pPr>
            <a:r>
              <a:rPr lang="es-CL" sz="2200" dirty="0"/>
              <a:t>Se explicó qué es y cómo crear un </a:t>
            </a:r>
            <a:r>
              <a:rPr lang="es-CL" sz="2200" dirty="0" err="1"/>
              <a:t>Join</a:t>
            </a:r>
            <a:r>
              <a:rPr lang="es-CL" sz="2200" dirty="0"/>
              <a:t> sobre la misma tabla o SELF-JOIN.</a:t>
            </a:r>
          </a:p>
          <a:p>
            <a:pPr marL="393700" indent="-342900" algn="just">
              <a:buFont typeface="Arial" panose="020B0604020202020204" pitchFamily="34" charset="0"/>
              <a:buChar char="•"/>
            </a:pPr>
            <a:r>
              <a:rPr lang="es-CL" sz="2200" dirty="0"/>
              <a:t>Se explicó qué es y cómo crear un </a:t>
            </a:r>
            <a:r>
              <a:rPr lang="es-CL" sz="2200" dirty="0" err="1"/>
              <a:t>Join</a:t>
            </a:r>
            <a:r>
              <a:rPr lang="es-CL" sz="2200" dirty="0"/>
              <a:t> NONEQUIJOIN</a:t>
            </a:r>
          </a:p>
          <a:p>
            <a:pPr marL="393700" indent="-342900" algn="just">
              <a:buFont typeface="Arial" panose="020B0604020202020204" pitchFamily="34" charset="0"/>
              <a:buChar char="•"/>
            </a:pPr>
            <a:r>
              <a:rPr lang="es-CL" sz="2200" dirty="0"/>
              <a:t>Se explicó qué es y cómo crear un OUTER </a:t>
            </a:r>
            <a:r>
              <a:rPr lang="es-CL" sz="2200" dirty="0" err="1"/>
              <a:t>Join</a:t>
            </a:r>
            <a:r>
              <a:rPr lang="es-CL" sz="2200" dirty="0"/>
              <a:t>: LEFT, RIGTH y FULL.</a:t>
            </a:r>
          </a:p>
          <a:p>
            <a:pPr marL="393700" indent="-342900" algn="just">
              <a:buFont typeface="Arial" panose="020B0604020202020204" pitchFamily="34" charset="0"/>
              <a:buChar char="•"/>
            </a:pPr>
            <a:r>
              <a:rPr lang="es-CL" sz="2200" dirty="0"/>
              <a:t>Se explicó qué es y cómo crear un CROSS </a:t>
            </a:r>
            <a:r>
              <a:rPr lang="es-CL" sz="2200" dirty="0" err="1"/>
              <a:t>Join</a:t>
            </a:r>
            <a:r>
              <a:rPr lang="es-CL" sz="2200" dirty="0"/>
              <a:t>.</a:t>
            </a:r>
          </a:p>
          <a:p>
            <a:pPr marL="393700" indent="-342900" algn="just">
              <a:buFont typeface="Arial" panose="020B0604020202020204" pitchFamily="34" charset="0"/>
              <a:buChar char="•"/>
            </a:pPr>
            <a:r>
              <a:rPr lang="es-CL" sz="2200" dirty="0"/>
              <a:t>Se explicó cómo  crear un </a:t>
            </a:r>
            <a:r>
              <a:rPr lang="es-CL" sz="2200" dirty="0" err="1"/>
              <a:t>Join</a:t>
            </a:r>
            <a:r>
              <a:rPr lang="es-CL" sz="2200" dirty="0"/>
              <a:t> usando más de dos tablas.</a:t>
            </a:r>
          </a:p>
          <a:p>
            <a:pPr algn="l"/>
            <a:endParaRPr lang="es-CL" sz="2200" dirty="0"/>
          </a:p>
        </p:txBody>
      </p:sp>
    </p:spTree>
    <p:extLst>
      <p:ext uri="{BB962C8B-B14F-4D97-AF65-F5344CB8AC3E}">
        <p14:creationId xmlns:p14="http://schemas.microsoft.com/office/powerpoint/2010/main" val="540675517"/>
      </p:ext>
    </p:extLst>
  </p:cSld>
  <p:clrMapOvr>
    <a:masterClrMapping/>
  </p:clrMapOvr>
</p:sld>
</file>

<file path=ppt/theme/theme1.xml><?xml version="1.0" encoding="utf-8"?>
<a:theme xmlns:a="http://schemas.openxmlformats.org/drawingml/2006/main" name="Tema de Office">
  <a:themeElements>
    <a:clrScheme name="DUOC 2">
      <a:dk1>
        <a:srgbClr val="172740"/>
      </a:dk1>
      <a:lt1>
        <a:srgbClr val="FFFFFF"/>
      </a:lt1>
      <a:dk2>
        <a:srgbClr val="81888F"/>
      </a:dk2>
      <a:lt2>
        <a:srgbClr val="FBC842"/>
      </a:lt2>
      <a:accent1>
        <a:srgbClr val="DE3075"/>
      </a:accent1>
      <a:accent2>
        <a:srgbClr val="702785"/>
      </a:accent2>
      <a:accent3>
        <a:srgbClr val="BDD503"/>
      </a:accent3>
      <a:accent4>
        <a:srgbClr val="00A0DE"/>
      </a:accent4>
      <a:accent5>
        <a:srgbClr val="FA742C"/>
      </a:accent5>
      <a:accent6>
        <a:srgbClr val="AE0F0F"/>
      </a:accent6>
      <a:hlink>
        <a:srgbClr val="723714"/>
      </a:hlink>
      <a:folHlink>
        <a:srgbClr val="6B79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ln>
          <a:noFill/>
        </a:ln>
      </a:spPr>
      <a:bodyPr spcFirstLastPara="1" wrap="square" lIns="91425" tIns="45700" rIns="91425" bIns="45700" anchor="t" anchorCtr="0">
        <a:noAutofit/>
      </a:bodyPr>
      <a:lstStyle>
        <a:defPPr algn="l">
          <a:defRPr sz="2400" dirty="0"/>
        </a:defPPr>
      </a:lstStyle>
    </a:txDef>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4397</TotalTime>
  <Words>3914</Words>
  <Application>Microsoft Office PowerPoint</Application>
  <PresentationFormat>Presentación en pantalla (4:3)</PresentationFormat>
  <Paragraphs>348</Paragraphs>
  <Slides>31</Slides>
  <Notes>28</Notes>
  <HiddenSlides>0</HiddenSlides>
  <MMClips>0</MMClips>
  <ScaleCrop>false</ScaleCrop>
  <HeadingPairs>
    <vt:vector size="6" baseType="variant">
      <vt:variant>
        <vt:lpstr>Fuentes usadas</vt:lpstr>
      </vt:variant>
      <vt:variant>
        <vt:i4>11</vt:i4>
      </vt:variant>
      <vt:variant>
        <vt:lpstr>Tema</vt:lpstr>
      </vt:variant>
      <vt:variant>
        <vt:i4>1</vt:i4>
      </vt:variant>
      <vt:variant>
        <vt:lpstr>Títulos de diapositiva</vt:lpstr>
      </vt:variant>
      <vt:variant>
        <vt:i4>31</vt:i4>
      </vt:variant>
    </vt:vector>
  </HeadingPairs>
  <TitlesOfParts>
    <vt:vector size="43" baseType="lpstr">
      <vt:lpstr>Roboto Condensed</vt:lpstr>
      <vt:lpstr>Roboto</vt:lpstr>
      <vt:lpstr>Calibri</vt:lpstr>
      <vt:lpstr>Franklin Gothic</vt:lpstr>
      <vt:lpstr>Roboto Mono</vt:lpstr>
      <vt:lpstr>Times New Roman</vt:lpstr>
      <vt:lpstr>Arial Unicode MS</vt:lpstr>
      <vt:lpstr>Arial</vt:lpstr>
      <vt:lpstr>Bebas Neue</vt:lpstr>
      <vt:lpstr>Arial Black</vt:lpstr>
      <vt:lpstr>ＭＳ Ｐゴシック</vt:lpstr>
      <vt:lpstr>Tema de Office</vt:lpstr>
      <vt:lpstr>Mostrando Datos de  Múltiples Tablas usando JOIN Complejos</vt:lpstr>
      <vt:lpstr>Experiencia de Aprendizaje y Competencia Asociada</vt:lpstr>
      <vt:lpstr>Objetivos de la Clase</vt:lpstr>
      <vt:lpstr>Construyendo  SELF-JOIN y NONEQUIJOIN</vt:lpstr>
      <vt:lpstr>JOIN sobre la misma tabla o SELF-JOIN</vt:lpstr>
      <vt:lpstr>Creando SELF-JOIN</vt:lpstr>
      <vt:lpstr>Creando SELF-JOIN</vt:lpstr>
      <vt:lpstr>Creando SELF-JOIN</vt:lpstr>
      <vt:lpstr>Creando un NONEQUIJOINS</vt:lpstr>
      <vt:lpstr>Creando un NONEQUIJOINS</vt:lpstr>
      <vt:lpstr>Creando un NONEQUIJOINS</vt:lpstr>
      <vt:lpstr>Construyendo  OUTER JOIN</vt:lpstr>
      <vt:lpstr>OUTER JOINS O UNIONES EXTERNAS</vt:lpstr>
      <vt:lpstr>OUTER JOINS O UNIONES EXTERNAS</vt:lpstr>
      <vt:lpstr>Creando LEFT OUTER JOIN</vt:lpstr>
      <vt:lpstr>Creando LEFT OUTER JOIN</vt:lpstr>
      <vt:lpstr>Creando LEFT OUTER JOIN</vt:lpstr>
      <vt:lpstr>Creando RIGHT OUTER JOIN</vt:lpstr>
      <vt:lpstr>Creando RIGHT OUTER JOIN</vt:lpstr>
      <vt:lpstr>Creando RIGHT OUTER JOIN</vt:lpstr>
      <vt:lpstr>Creando FULL OUTER JOIN</vt:lpstr>
      <vt:lpstr>Creando FULL OUTER JOIN</vt:lpstr>
      <vt:lpstr>Creando FULL OUTER JOIN</vt:lpstr>
      <vt:lpstr>Otras Opciones para Trabajar con JOINS</vt:lpstr>
      <vt:lpstr>CROSS JOIN</vt:lpstr>
      <vt:lpstr>CROSS JOIN</vt:lpstr>
      <vt:lpstr>Creando JOINS con más de dos Tablas</vt:lpstr>
      <vt:lpstr>Creando JOINS con más de dos Tablas</vt:lpstr>
      <vt:lpstr>Creando JOINS con más de dos Tablas</vt:lpstr>
      <vt:lpstr>Creando JOINS con más de dos Tablas</vt:lpstr>
      <vt:lpstr>Resumen de la Clase</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DISEÑO Y GESTIÓN DE REQUISITOS</dc:title>
  <dc:creator>Alejandra Gajardo</dc:creator>
  <cp:lastModifiedBy>Usuario de Windows</cp:lastModifiedBy>
  <cp:revision>567</cp:revision>
  <dcterms:modified xsi:type="dcterms:W3CDTF">2020-06-24T16:09:54Z</dcterms:modified>
</cp:coreProperties>
</file>