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7"/>
  </p:notesMasterIdLst>
  <p:sldIdLst>
    <p:sldId id="367" r:id="rId2"/>
    <p:sldId id="339" r:id="rId3"/>
    <p:sldId id="369" r:id="rId4"/>
    <p:sldId id="258" r:id="rId5"/>
    <p:sldId id="409" r:id="rId6"/>
    <p:sldId id="407" r:id="rId7"/>
    <p:sldId id="408" r:id="rId8"/>
    <p:sldId id="444" r:id="rId9"/>
    <p:sldId id="445" r:id="rId10"/>
    <p:sldId id="446" r:id="rId11"/>
    <p:sldId id="447" r:id="rId12"/>
    <p:sldId id="268" r:id="rId13"/>
    <p:sldId id="415" r:id="rId14"/>
    <p:sldId id="430" r:id="rId15"/>
    <p:sldId id="431" r:id="rId16"/>
    <p:sldId id="432" r:id="rId17"/>
    <p:sldId id="448" r:id="rId18"/>
    <p:sldId id="449" r:id="rId19"/>
    <p:sldId id="433" r:id="rId20"/>
    <p:sldId id="434" r:id="rId21"/>
    <p:sldId id="435" r:id="rId22"/>
    <p:sldId id="436" r:id="rId23"/>
    <p:sldId id="437" r:id="rId24"/>
    <p:sldId id="438" r:id="rId25"/>
    <p:sldId id="314" r:id="rId26"/>
  </p:sldIdLst>
  <p:sldSz cx="9144000" cy="6858000" type="screen4x3"/>
  <p:notesSz cx="6858000" cy="9144000"/>
  <p:embeddedFontLst>
    <p:embeddedFont>
      <p:font typeface="Franklin Gothic" panose="020B0604020202020204"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Roboto Condensed" panose="020B0604020202020204" charset="0"/>
      <p:regular r:id="rId36"/>
      <p:bold r:id="rId37"/>
      <p:italic r:id="rId38"/>
      <p:boldItalic r:id="rId39"/>
    </p:embeddedFont>
    <p:embeddedFont>
      <p:font typeface="Arial Unicode MS" panose="020B0604020202020204" pitchFamily="34" charset="-128"/>
      <p:regular r:id="rId40"/>
    </p:embeddedFont>
    <p:embeddedFont>
      <p:font typeface="Roboto Mono" panose="020B0604020202020204" charset="0"/>
      <p:regular r:id="rId41"/>
      <p:bold r:id="rId42"/>
      <p:italic r:id="rId43"/>
      <p:boldItalic r:id="rId44"/>
    </p:embeddedFont>
    <p:embeddedFont>
      <p:font typeface="Bebas Neue" panose="020B0604020202020204" charset="0"/>
      <p:regular r:id="rId45"/>
    </p:embeddedFont>
    <p:embeddedFont>
      <p:font typeface="ＭＳ Ｐゴシック" panose="020B0600070205080204" pitchFamily="34" charset="-128"/>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1243" autoAdjust="0"/>
  </p:normalViewPr>
  <p:slideViewPr>
    <p:cSldViewPr snapToGrid="0" snapToObjects="1">
      <p:cViewPr varScale="1">
        <p:scale>
          <a:sx n="53" d="100"/>
          <a:sy n="53" d="100"/>
        </p:scale>
        <p:origin x="186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Tree>
    <p:extLst>
      <p:ext uri="{BB962C8B-B14F-4D97-AF65-F5344CB8AC3E}">
        <p14:creationId xmlns:p14="http://schemas.microsoft.com/office/powerpoint/2010/main" val="642593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85510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Ejecución de una Sentencia SQL</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SQL es un lenguaje declarativo. Esto significa que cuando se escribe una sentencia SQL se "declara" qué es lo que se quiere; pero no cómo obtener lo que se desea. En la sentencia del ejemplo se "declara" que el servidor de Base de Datos visualice el nombre del empleado cuya identificación es 100 pero es el motor de Base de Datos Oracle quien decide la forma en que la sentencia será procesada para poder entregar el resultado.</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Se suele pensar, además, que el motor de Base de Datos lee y ejecuta la consulta en el mismo orden en que se escribe, pero Oracle (al igual que otros motores de Base de Datos Relacionales) utiliza una serie de reglas para ejecutar cada sentencia SQL.</a:t>
            </a:r>
          </a:p>
        </p:txBody>
      </p:sp>
    </p:spTree>
    <p:extLst>
      <p:ext uri="{BB962C8B-B14F-4D97-AF65-F5344CB8AC3E}">
        <p14:creationId xmlns:p14="http://schemas.microsoft.com/office/powerpoint/2010/main" val="29936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srgbClr val="10253F"/>
                </a:solidFill>
                <a:effectLst/>
                <a:uLnTx/>
                <a:uFillTx/>
                <a:latin typeface="Calibri" panose="020F0502020204030204" pitchFamily="34" charset="0"/>
                <a:ea typeface="ＭＳ Ｐゴシック" pitchFamily="34" charset="-128"/>
                <a:cs typeface="Calibri" panose="020F0502020204030204" pitchFamily="34" charset="0"/>
              </a:rPr>
              <a:t>Ejecución de una Sentencia SQL</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 orden de ejecución de SQL define el orden en que se evalúan las cláusulas de una consulta. Cada fase de ejecución de las cláusulas de una consulta SQL genera una serie de tablas virtuales que son usadas por la siguiente fase. Estas tablas virtuales las maneja el motor de Base de Datos Oracle y no son visibles para los usuarios.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Oracle, orden en que Oracle ejecuta una consulta SQL es la siguiente:</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1.- FROM:</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esta fase identifica las tablas que la consulta requiere y los operadores que procesan las tablas. Por cada operador de las tablas se aplican una serie se </a:t>
            </a:r>
            <a:r>
              <a:rPr lang="es-CL" sz="1200" b="0" i="0" u="none" strike="noStrike" cap="none" baseline="0" dirty="0" err="1">
                <a:solidFill>
                  <a:prstClr val="white"/>
                </a:solidFill>
                <a:latin typeface="Calibri" panose="020F0502020204030204" pitchFamily="34" charset="0"/>
                <a:ea typeface="Arial"/>
                <a:cs typeface="Calibri" panose="020F0502020204030204" pitchFamily="34" charset="0"/>
                <a:sym typeface="Arial"/>
              </a:rPr>
              <a:t>subfases</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finalmente se genera la primera tabla virtual con las filas resultantes. En un </a:t>
            </a:r>
            <a:r>
              <a:rPr lang="es-CL" sz="1200" b="0" i="0" u="none" strike="noStrike" cap="none" baseline="0" dirty="0" err="1">
                <a:solidFill>
                  <a:prstClr val="white"/>
                </a:solidFill>
                <a:latin typeface="Calibri" panose="020F0502020204030204" pitchFamily="34" charset="0"/>
                <a:ea typeface="Arial"/>
                <a:cs typeface="Calibri" panose="020F0502020204030204" pitchFamily="34" charset="0"/>
                <a:sym typeface="Arial"/>
              </a:rPr>
              <a:t>Join</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de tablas, las </a:t>
            </a:r>
            <a:r>
              <a:rPr lang="es-CL" sz="1200" b="0" i="0" u="none" strike="noStrike" cap="none" baseline="0" dirty="0" err="1">
                <a:solidFill>
                  <a:prstClr val="white"/>
                </a:solidFill>
                <a:latin typeface="Calibri" panose="020F0502020204030204" pitchFamily="34" charset="0"/>
                <a:ea typeface="Arial"/>
                <a:cs typeface="Calibri" panose="020F0502020204030204" pitchFamily="34" charset="0"/>
                <a:sym typeface="Arial"/>
              </a:rPr>
              <a:t>subfases</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involucradas son:</a:t>
            </a:r>
          </a:p>
          <a:p>
            <a:pPr marL="628650" marR="0" lvl="1"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Producto Cartesiano:</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en la cual se realiza la unión entre las dos tablas involucradas en el </a:t>
            </a:r>
            <a:r>
              <a:rPr lang="es-CL" sz="1200" b="0" i="0" u="none" strike="noStrike" cap="none" baseline="0" dirty="0" err="1">
                <a:solidFill>
                  <a:prstClr val="white"/>
                </a:solidFill>
                <a:latin typeface="Calibri" panose="020F0502020204030204" pitchFamily="34" charset="0"/>
                <a:ea typeface="Arial"/>
                <a:cs typeface="Calibri" panose="020F0502020204030204" pitchFamily="34" charset="0"/>
                <a:sym typeface="Arial"/>
              </a:rPr>
              <a:t>Join</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y esas filas se almacenan en una tabla virtual.</a:t>
            </a:r>
          </a:p>
          <a:p>
            <a:pPr marL="628650" marR="0" lvl="1"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Filtro de la cláusula ON o USING:</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esta fase filtra las filas que se obtuvieron anteriormente de acuerdo al predicado usado en la cláusula ON o USING. Solo las filas que el predicado evalúa como VERDADERAS son insertadas en la una nueva tabla virtual que genera esta fase.</a:t>
            </a:r>
          </a:p>
          <a:p>
            <a:pPr marL="628650" marR="0" lvl="1"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Considerar las filas externas:</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si se especifica la cláusula OUTER JOIN, las filas que no son encontradas en el INNER JOIN son incorporadas a la tabla virtual de la fase anterior como filas externas generando una nueva y última tabla virtual.</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2.- WHERE:</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en esta fase se filtran las filas obtenidas en la fase de FROM de acuerdo al predicado especificado en la cláusula WHERE. Sólo las filas evaluadas como verdaderas son insertadas en una nueva tabla virtual.</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3.- GROUP BY:</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se organizan las filas de la tabla de la fase anterior en grupos basados en las columnas especificadas en la cláusula GROUP BY, generándose una nueva tabla virtual. Finalmente, por cada grupo se aplican las funciones de grupo.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4.- HAVING:</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esta fase filtra los grupos obtenidos en la tabla virtual anterior basado en la condición definida en la </a:t>
            </a:r>
            <a:r>
              <a:rPr lang="es-ES"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cláusula</a:t>
            </a:r>
            <a:r>
              <a:rPr lang="es-CL"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HAVING. Sólo los grupos que cumplen con la condición se insertan en una nueva tabla virtual.</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ES"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5.- SELECT:</a:t>
            </a:r>
            <a:r>
              <a:rPr lang="es-ES"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esta fase procesa todas las expresiones, elimina las filas duplicadas si existe la cláusula DISTINCT y obtiene las columnas de las tabla virtual de la fase anterior.</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ES"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rPr>
              <a:t>6.- ORDER BY:</a:t>
            </a:r>
            <a:r>
              <a:rPr lang="es-ES" sz="1200" b="0" i="0" u="none" strike="noStrike" cap="none" baseline="0" dirty="0">
                <a:solidFill>
                  <a:prstClr val="white"/>
                </a:solidFill>
                <a:latin typeface="Calibri" panose="020F0502020204030204" pitchFamily="34" charset="0"/>
                <a:ea typeface="Arial"/>
                <a:cs typeface="Calibri" panose="020F0502020204030204" pitchFamily="34" charset="0"/>
                <a:sym typeface="Arial"/>
              </a:rPr>
              <a:t> finalmente esta fase ordena las filas de la tabla virtual anterior de acuerdo a las columnas o expresiones especificadas en la cláusula ORDER BY para entregar el resultado al usuario.</a:t>
            </a:r>
            <a:endParaRPr lang="es-CL" sz="1200" b="1" i="0" u="none" strike="noStrike" cap="none" baseline="0"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srgbClr val="10253F"/>
              </a:solidFill>
              <a:effectLst/>
              <a:uLnTx/>
              <a:uFillTx/>
              <a:latin typeface="Calibri"/>
              <a:ea typeface="ＭＳ Ｐゴシック" pitchFamily="34" charset="-128"/>
              <a:cs typeface="+mn-cs"/>
            </a:endParaRPr>
          </a:p>
        </p:txBody>
      </p:sp>
    </p:spTree>
    <p:extLst>
      <p:ext uri="{BB962C8B-B14F-4D97-AF65-F5344CB8AC3E}">
        <p14:creationId xmlns:p14="http://schemas.microsoft.com/office/powerpoint/2010/main" val="2710412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Fases del Procesamiento de una Sentencia SQL</a:t>
            </a:r>
          </a:p>
          <a:p>
            <a:pPr marL="0" marR="0" lvl="0" indent="0" algn="just" defTabSz="914400" rtl="0" eaLnBrk="1" fontAlgn="base" latinLnBrk="0" hangingPunct="1">
              <a:lnSpc>
                <a:spcPct val="80000"/>
              </a:lnSpc>
              <a:spcBef>
                <a:spcPct val="0"/>
              </a:spcBef>
              <a:spcAft>
                <a:spcPct val="0"/>
              </a:spcAft>
              <a:buClrTx/>
              <a:buSzTx/>
              <a:buFont typeface="Arial" panose="020B0604020202020204" pitchFamily="34" charset="0"/>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El procesamiento de una sentencia SQL es el análisis, la optimización, la generación de las filas a procesar y la ejecución de la sentencia SQL. La comprensión del procesamiento de una sentencia SQL es esencial para construir una sentencia óptima. En el procesamiento de sentencias SQL, hay cuatro fases importantes: Análisis de la Sentencia (PARSE), Análisis de las Variables (BIND) , Ejecución (EXECUTE) y Recuperación de los datos (FETCH). </a:t>
            </a:r>
          </a:p>
          <a:p>
            <a:pPr marL="0" marR="0" lvl="0" indent="0" algn="just" defTabSz="914400" rtl="0" eaLnBrk="1" fontAlgn="base" latinLnBrk="0" hangingPunct="1">
              <a:lnSpc>
                <a:spcPct val="80000"/>
              </a:lnSpc>
              <a:spcBef>
                <a:spcPct val="0"/>
              </a:spcBef>
              <a:spcAft>
                <a:spcPct val="0"/>
              </a:spcAft>
              <a:buClrTx/>
              <a:buSzTx/>
              <a:buFont typeface="Arial" panose="020B0604020202020204" pitchFamily="34" charset="0"/>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Dependiendo de la sentencia SQL, la base de datos puede omitir algunas de estas fases ya que las sentencias DML, a diferencia de la sentencia SELECT, requieren sólo dos fases de procesamiento: PARSE y EXECUTE. </a:t>
            </a:r>
          </a:p>
        </p:txBody>
      </p:sp>
    </p:spTree>
    <p:extLst>
      <p:ext uri="{BB962C8B-B14F-4D97-AF65-F5344CB8AC3E}">
        <p14:creationId xmlns:p14="http://schemas.microsoft.com/office/powerpoint/2010/main" val="688664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Fases del Procesamiento de una Sentencia SQL - PARSE</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 PARSING</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o Análisis es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una de las etapas en el procesamiento de una sentencia SQL. Cuando una aplicación o usuario ejecuta</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una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sentencia</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SQL se</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efectúa una ”llamada” a la Base de Datos Oracle para que realice un PARSE o Análisis. Durante esta etapa, la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base de datos de Oracle:</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Busca la sentencia SQL en la memoria compartida (SHARED POOL) de la base de datos. Esta</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área de memoria, entre otras cosas, almacena las sentencias SQL más usadas.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C</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hequea la sintaxis de la sentencia siguiendo las especificaciones y la gramática del lenguaje SQL.</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Chequea la semántica, asegurando que los objetos Oracle referenciados en la sentencia SQL son válidos (existen en la base de datos) y satisfacen las restricciones de seguridad (es decir, el usuario que ejecuta la sentencia tienen los permisos adecuados sobre dichos objetos).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Determina si el proceso que ejecutó</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sentencia SQL tiene los permisos apropiados para ejecutarlo.</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Si la sentencia SQL incluye una Vista o una Subconsulta, las transforma en una sentencia SQL equivalente e intenta simplificar la sentencia resultante.</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Determina y almacena el plan de ejecución</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o, si es posible, utiliza un plan de ejecución existente.</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224033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Fases del Procesamiento de una Sentencia SQL - BIND</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Durante la fase de BINDING o Análisis</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de Variables, la base de datos Oracle realiza lo siguiente:</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Identifica las variables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bind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variab</a:t>
            </a:r>
            <a:r>
              <a:rPr lang="es-CL" sz="1200" b="0" i="1"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en la sentencia SQL.</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Asigna o reasigna un valor a cada variable.</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Las variables </a:t>
            </a:r>
            <a:r>
              <a:rPr lang="es-CL" sz="12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bind</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son variables que se definen para que las sentencias SQL no utilicen valores literales. Cuando se usa una variable </a:t>
            </a:r>
            <a:r>
              <a:rPr lang="es-CL" sz="12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bind</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en una sentencia, el optimizador de la base de datos asume que se desea compartir la sentencia y se ejecutará múltiples veces y en las diferentes ejecuciones debe usar el mismo plan de ejecución evitando así volver a efectuar el </a:t>
            </a:r>
            <a:r>
              <a:rPr lang="es-CL" sz="12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parsing</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de la sentencia. </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Si las diferentes ejecuciones de la sentencia se beneficiaran significativamente usando planes de ejecuciones diferentes, entonces el uso de variables </a:t>
            </a:r>
            <a:r>
              <a:rPr lang="es-CL" sz="1200" b="0" i="0" u="none" strike="noStrike" kern="1200" cap="none" baseline="0" dirty="0" err="1">
                <a:solidFill>
                  <a:schemeClr val="tx1"/>
                </a:solidFill>
                <a:effectLst/>
                <a:latin typeface="Calibri" panose="020F0502020204030204" pitchFamily="34" charset="0"/>
                <a:ea typeface="Arial"/>
                <a:cs typeface="Calibri" panose="020F0502020204030204" pitchFamily="34" charset="0"/>
                <a:sym typeface="Arial"/>
              </a:rPr>
              <a:t>bind</a:t>
            </a:r>
            <a:r>
              <a:rPr lang="es-CL" sz="1200" b="0" i="0" u="none" strike="noStrike" kern="1200" cap="none" baseline="0" dirty="0">
                <a:solidFill>
                  <a:schemeClr val="tx1"/>
                </a:solidFill>
                <a:effectLst/>
                <a:latin typeface="Calibri" panose="020F0502020204030204" pitchFamily="34" charset="0"/>
                <a:ea typeface="Arial"/>
                <a:cs typeface="Calibri" panose="020F0502020204030204" pitchFamily="34" charset="0"/>
                <a:sym typeface="Arial"/>
              </a:rPr>
              <a:t> puede perjudicar el rendimiento de la sentencia SQL.</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600222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Fases del Procesamiento de una Sentencia SQL – EXECUTE</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sym typeface="Arial"/>
            </a:endParaRPr>
          </a:p>
          <a:p>
            <a:pPr marL="0" marR="0" lvl="0" indent="0" algn="just" defTabSz="914400" rtl="0" eaLnBrk="1" fontAlgn="base" latinLnBrk="0" hangingPunct="1">
              <a:lnSpc>
                <a:spcPct val="80000"/>
              </a:lnSpc>
              <a:spcBef>
                <a:spcPct val="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la etapa de ejecución  Oracle:</a:t>
            </a:r>
          </a:p>
          <a:p>
            <a:pPr marL="171450" indent="-171450" algn="just">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Aplica el plan de ejecución determinado en la etapa de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parseo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t>
            </a:r>
          </a:p>
          <a:p>
            <a:pPr marL="171450" indent="-171450" algn="just">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Realizas las lecturas físicas y lógicas </a:t>
            </a:r>
            <a:r>
              <a:rPr lang="es-CL" sz="1200" dirty="0">
                <a:latin typeface="Calibri" panose="020F0502020204030204" pitchFamily="34" charset="0"/>
                <a:cs typeface="Calibri" panose="020F0502020204030204" pitchFamily="34" charset="0"/>
              </a:rPr>
              <a:t>para la ejecución de las sentencias.</a:t>
            </a:r>
          </a:p>
          <a:p>
            <a:pPr marL="171450" indent="-171450" algn="just">
              <a:buFont typeface="Arial" panose="020B0604020202020204" pitchFamily="34" charset="0"/>
              <a:buChar cha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Efectúa el ordenamiento de los </a:t>
            </a:r>
            <a:r>
              <a:rPr lang="es-CL" sz="1200" dirty="0">
                <a:latin typeface="Calibri" panose="020F0502020204030204" pitchFamily="34" charset="0"/>
                <a:cs typeface="Calibri" panose="020F0502020204030204" pitchFamily="34" charset="0"/>
              </a:rPr>
              <a:t>datos en caso de ser necesario. </a:t>
            </a:r>
          </a:p>
          <a:p>
            <a:pPr marL="0" indent="0" algn="just">
              <a:buFont typeface="Arial" panose="020B0604020202020204" pitchFamily="34" charset="0"/>
              <a:buNone/>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Es importante mencionar la diferencia entre ordenamientos para sentencias de modificación de datos (INSERT, UPDATE, DELETE) y las sentencias de consulta. Al ejecutar una sentencia INSERT, UPDATE o DELETE Oracle realiza una ejecución inmediata de esta sentencia en la etapa de ejecución. En una sentencia SELECT que requiere que las filas sean ordenadas (por tener una cláusula ORDER BY o GROUP BY), Oracle recupera todas las filas en esta etapa y además las ordena. Si la sentencia SELECT no requiere operaciones de ordenamiento, Oracle simplemente posiciona un puntero en la primera fila a retornar.</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CL" sz="1200" b="0" i="0" u="none" strike="noStrike" cap="none" dirty="0">
              <a:solidFill>
                <a:prstClr val="white"/>
              </a:solidFill>
              <a:latin typeface="Arial"/>
              <a:ea typeface="Arial"/>
              <a:cs typeface="Arial"/>
              <a:sym typeface="Arial"/>
            </a:endParaRPr>
          </a:p>
        </p:txBody>
      </p:sp>
    </p:spTree>
    <p:extLst>
      <p:ext uri="{BB962C8B-B14F-4D97-AF65-F5344CB8AC3E}">
        <p14:creationId xmlns:p14="http://schemas.microsoft.com/office/powerpoint/2010/main" val="3465872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Fases del Procesamiento de una Sentencia SQL - FETCH</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Durante esta fase el servidor Oracle retorna las filas de una sentencia SELECT. En cada iteración (FETCH) el servidor de base de datos retorna múltiples filas utilizando una “matriz de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fetch</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o “array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fetch</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número de filas que Oracle retorna por cada FETCH se puede configurar, es decir, se puede modificar el tamaño de la matriz de filas. En la herramienta  SQL*Plus de Oracle se puede modificar el tamaño utilizando el comando SET ARRAYSIZE. Por ejemplo:</a:t>
            </a:r>
            <a:b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b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SQL&gt; show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arraysize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r>
            <a:b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b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arraysize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15</a:t>
            </a:r>
            <a:b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b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SQL&gt; set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arraysize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1</a:t>
            </a:r>
            <a:b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b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Después de ejecutar este comando, el servidor de base de datos Oracle procesará una sola fila en cada iteración (FETCH). El valor por defecto es quince.</a:t>
            </a:r>
          </a:p>
        </p:txBody>
      </p:sp>
    </p:spTree>
    <p:extLst>
      <p:ext uri="{BB962C8B-B14F-4D97-AF65-F5344CB8AC3E}">
        <p14:creationId xmlns:p14="http://schemas.microsoft.com/office/powerpoint/2010/main" val="2218846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2942048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charset="0"/>
              </a:rPr>
              <a:t>Optimizador del Servidor de Base de Datos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Cuando se ejecuta una sentencia SQL, es el optimizador del servidor de base datos quien determina la forma cómo se obtendrá lo que se declara en la sentencia SQL. Los conceptos más importantes del optimizador de la base de datos son:</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Es la parte del RDBMS (Sistema de Manejo de Base de Datos Relacionales) que crea los planes de ejecución para cada sentencia SQL.</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Es quien determina el plan más eficiente (menos costo) para ejecutar una sentencia SQL.</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La determinación del plan de ejecución es un paso importante en el procesamiento de cualquier sentencia SQL y puede afectar el tiempo de ejecución</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charset="0"/>
              </a:rPr>
              <a:t>En diferentes versiones del RDBMS el optimizador puede determinar planes de ejecución diferentes</a:t>
            </a: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473735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charset="0"/>
              </a:rPr>
              <a:t>Plan de Ejecución</a:t>
            </a: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dirty="0"/>
              <a:t>Un plan de ejecución es un conjunto de pasos que realiza el optimizador al ejecutar una sentencia SQL y realizar una operación. </a:t>
            </a:r>
            <a:r>
              <a:rPr lang="es-CL" sz="1200" dirty="0">
                <a:ea typeface="Arial Unicode MS"/>
                <a:cs typeface="Times New Roman" pitchFamily="18" charset="0"/>
              </a:rPr>
              <a:t>El optimizador crea un plan de ejecución para cada sentencia SQL: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Evaluando expresiones y condiciones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Usando estadísticas de los objetos y del sistema. Las estadísticas son </a:t>
            </a:r>
            <a:r>
              <a:rPr lang="es-CL" sz="1200" b="0" i="0" u="none" strike="noStrike" kern="1200" cap="none" dirty="0">
                <a:solidFill>
                  <a:schemeClr val="tx1"/>
                </a:solidFill>
                <a:effectLst/>
                <a:latin typeface="Arial"/>
                <a:ea typeface="Arial"/>
                <a:cs typeface="Arial"/>
                <a:sym typeface="Arial"/>
              </a:rPr>
              <a:t>datos o información que describe en detalle los objetos de la base de datos, principalmente de las tablas y los índices</a:t>
            </a:r>
            <a:endParaRPr lang="es-CL" sz="1200" b="0" i="0" u="none" strike="noStrike" cap="none" dirty="0">
              <a:solidFill>
                <a:prstClr val="white"/>
              </a:solidFill>
              <a:latin typeface="Arial"/>
              <a:ea typeface="Arial"/>
              <a:cs typeface="Arial"/>
              <a:sym typeface="Arial"/>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Decidiendo cómo acceder a los datos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Decidiendo cómo unir las tablas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Decidiendo qué camino es más eficiente para acceder a los datos generando diferentes planes de ejecución.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Comparando el costo de los diferentes planes de ejecución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prstClr val="white"/>
                </a:solidFill>
                <a:latin typeface="Arial"/>
                <a:ea typeface="Arial"/>
                <a:cs typeface="Arial"/>
                <a:sym typeface="Arial"/>
              </a:rPr>
              <a:t>Determinando el plan de ejecución menos costoso</a:t>
            </a: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1"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640822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srgbClr val="10253F"/>
                </a:solidFill>
                <a:effectLst/>
                <a:uLnTx/>
                <a:uFillTx/>
                <a:latin typeface="Calibri" panose="020F0502020204030204" pitchFamily="34" charset="0"/>
                <a:ea typeface="ＭＳ Ｐゴシック" pitchFamily="34" charset="-128"/>
                <a:cs typeface="Calibri" panose="020F0502020204030204" pitchFamily="34" charset="0"/>
              </a:rPr>
              <a:t>Visualizar el Plan de Ejecución de una Sentencia SQL</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Existen diferentes métodos para visualizar los planes de ejecución usados por desarrolladores y otros más avanzados por los administradores de base de datos: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EXPLAIN PLAN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SQL trace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err="1">
                <a:latin typeface="Calibri" panose="020F0502020204030204" pitchFamily="34" charset="0"/>
                <a:cs typeface="Calibri" panose="020F0502020204030204" pitchFamily="34" charset="0"/>
              </a:rPr>
              <a:t>Statspack</a:t>
            </a:r>
            <a:endParaRPr lang="es-CL" sz="1200" dirty="0">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err="1">
                <a:latin typeface="Calibri" panose="020F0502020204030204" pitchFamily="34" charset="0"/>
                <a:cs typeface="Calibri" panose="020F0502020204030204" pitchFamily="34" charset="0"/>
              </a:rPr>
              <a:t>Automatic</a:t>
            </a:r>
            <a:r>
              <a:rPr lang="es-CL" sz="1200" dirty="0">
                <a:latin typeface="Calibri" panose="020F0502020204030204" pitchFamily="34" charset="0"/>
                <a:cs typeface="Calibri" panose="020F0502020204030204" pitchFamily="34" charset="0"/>
              </a:rPr>
              <a:t> </a:t>
            </a:r>
            <a:r>
              <a:rPr lang="es-CL" sz="1200" dirty="0" err="1">
                <a:latin typeface="Calibri" panose="020F0502020204030204" pitchFamily="34" charset="0"/>
                <a:cs typeface="Calibri" panose="020F0502020204030204" pitchFamily="34" charset="0"/>
              </a:rPr>
              <a:t>Workload</a:t>
            </a:r>
            <a:r>
              <a:rPr lang="es-CL" sz="1200" dirty="0">
                <a:latin typeface="Calibri" panose="020F0502020204030204" pitchFamily="34" charset="0"/>
                <a:cs typeface="Calibri" panose="020F0502020204030204" pitchFamily="34" charset="0"/>
              </a:rPr>
              <a:t> </a:t>
            </a:r>
            <a:r>
              <a:rPr lang="es-CL" sz="1200" dirty="0" err="1">
                <a:latin typeface="Calibri" panose="020F0502020204030204" pitchFamily="34" charset="0"/>
                <a:cs typeface="Calibri" panose="020F0502020204030204" pitchFamily="34" charset="0"/>
              </a:rPr>
              <a:t>Repository</a:t>
            </a:r>
            <a:endParaRPr lang="es-CL" sz="1200" dirty="0">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V$SQL_PLAN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SQL*Plus AUTOTRACE</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En esta experiencia se explicarán los métodos que cualquier desarrollador puede utilizar para poder obtener los planes de ejecución de una sentencia SQL y son EXPLAIN PLAN y SQL*Plus AUTOTRACE</a:t>
            </a: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1"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799651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a:rPr>
              <a:t>Uso de  EXPLAIN PLAN desde SQL*Plus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EXPLAIN PLAN es un comando que se puede ejecutar desde las herramientas de Oracle </a:t>
            </a:r>
            <a:r>
              <a:rPr lang="es-CL" sz="1200" dirty="0">
                <a:latin typeface="Calibri" panose="020F0502020204030204" pitchFamily="34" charset="0"/>
                <a:ea typeface="Arial Unicode MS"/>
                <a:cs typeface="Calibri" panose="020F0502020204030204" pitchFamily="34" charset="0"/>
              </a:rPr>
              <a:t>SQL*Plus y SQL </a:t>
            </a:r>
            <a:r>
              <a:rPr lang="es-CL" sz="1200" dirty="0" err="1">
                <a:latin typeface="Calibri" panose="020F0502020204030204" pitchFamily="34" charset="0"/>
                <a:ea typeface="Arial Unicode MS"/>
                <a:cs typeface="Calibri" panose="020F0502020204030204" pitchFamily="34" charset="0"/>
              </a:rPr>
              <a:t>Developer</a:t>
            </a:r>
            <a:r>
              <a:rPr lang="es-CL" sz="1200" dirty="0">
                <a:latin typeface="Calibri" panose="020F0502020204030204" pitchFamily="34" charset="0"/>
                <a:ea typeface="Arial Unicode MS"/>
                <a:cs typeface="Calibri" panose="020F0502020204030204" pitchFamily="34" charset="0"/>
              </a:rPr>
              <a:t>. </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ea typeface="Arial Unicode MS"/>
                <a:cs typeface="Calibri" panose="020F0502020204030204" pitchFamily="34" charset="0"/>
              </a:rPr>
              <a:t>En el ejemplo, se obtiene el plan de ejecución de la sentencia a través de SQL*Plus.  Para ello, se deben seguir los siguientes pasos: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dirty="0">
                <a:latin typeface="Calibri" panose="020F0502020204030204" pitchFamily="34" charset="0"/>
                <a:ea typeface="Arial Unicode MS"/>
                <a:cs typeface="Calibri" panose="020F0502020204030204" pitchFamily="34" charset="0"/>
              </a:rPr>
              <a:t>1.- </a:t>
            </a:r>
            <a:r>
              <a:rPr lang="es-CL" sz="1200" dirty="0">
                <a:latin typeface="Calibri" panose="020F0502020204030204" pitchFamily="34" charset="0"/>
                <a:ea typeface="Arial Unicode MS"/>
                <a:cs typeface="Calibri" panose="020F0502020204030204" pitchFamily="34" charset="0"/>
              </a:rPr>
              <a:t>Conectarse a las base de datos </a:t>
            </a:r>
            <a:r>
              <a:rPr lang="es-CL" sz="1200" dirty="0" err="1">
                <a:latin typeface="Calibri" panose="020F0502020204030204" pitchFamily="34" charset="0"/>
                <a:ea typeface="Arial Unicode MS"/>
                <a:cs typeface="Calibri" panose="020F0502020204030204" pitchFamily="34" charset="0"/>
              </a:rPr>
              <a:t>plugable</a:t>
            </a:r>
            <a:r>
              <a:rPr lang="es-CL" sz="1200" dirty="0">
                <a:latin typeface="Calibri" panose="020F0502020204030204" pitchFamily="34" charset="0"/>
                <a:ea typeface="Arial Unicode MS"/>
                <a:cs typeface="Calibri" panose="020F0502020204030204" pitchFamily="34" charset="0"/>
              </a:rPr>
              <a:t> con el usuario en donde se encuentran las tablas que se van a usar en la consulta SQL. En este caso, el usuario es mby2131 y su </a:t>
            </a:r>
            <a:r>
              <a:rPr lang="es-CL" sz="1200" dirty="0" err="1">
                <a:latin typeface="Calibri" panose="020F0502020204030204" pitchFamily="34" charset="0"/>
                <a:ea typeface="Arial Unicode MS"/>
                <a:cs typeface="Calibri" panose="020F0502020204030204" pitchFamily="34" charset="0"/>
              </a:rPr>
              <a:t>password</a:t>
            </a:r>
            <a:r>
              <a:rPr lang="es-CL" sz="1200" dirty="0">
                <a:latin typeface="Calibri" panose="020F0502020204030204" pitchFamily="34" charset="0"/>
                <a:ea typeface="Arial Unicode MS"/>
                <a:cs typeface="Calibri" panose="020F0502020204030204" pitchFamily="34" charset="0"/>
              </a:rPr>
              <a:t> es </a:t>
            </a:r>
            <a:r>
              <a:rPr lang="es-CL" sz="1200" dirty="0" err="1">
                <a:latin typeface="Calibri" panose="020F0502020204030204" pitchFamily="34" charset="0"/>
                <a:ea typeface="Arial Unicode MS"/>
                <a:cs typeface="Calibri" panose="020F0502020204030204" pitchFamily="34" charset="0"/>
              </a:rPr>
              <a:t>mby</a:t>
            </a:r>
            <a:r>
              <a:rPr lang="es-CL" sz="1200" dirty="0">
                <a:latin typeface="Calibri" panose="020F0502020204030204" pitchFamily="34" charset="0"/>
                <a:ea typeface="Arial Unicode MS"/>
                <a:cs typeface="Calibri" panose="020F0502020204030204" pitchFamily="34" charset="0"/>
              </a:rPr>
              <a:t>. XEPDB1 es la base de datos </a:t>
            </a:r>
            <a:r>
              <a:rPr lang="es-CL" sz="1200" dirty="0" err="1">
                <a:latin typeface="Calibri" panose="020F0502020204030204" pitchFamily="34" charset="0"/>
                <a:ea typeface="Arial Unicode MS"/>
                <a:cs typeface="Calibri" panose="020F0502020204030204" pitchFamily="34" charset="0"/>
              </a:rPr>
              <a:t>plugable</a:t>
            </a:r>
            <a:r>
              <a:rPr lang="es-CL" sz="1200" dirty="0">
                <a:latin typeface="Calibri" panose="020F0502020204030204" pitchFamily="34" charset="0"/>
                <a:ea typeface="Arial Unicode MS"/>
                <a:cs typeface="Calibri" panose="020F0502020204030204" pitchFamily="34" charset="0"/>
              </a:rPr>
              <a:t> que se crea por defecto en Oracle XE 18c.</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dirty="0">
                <a:latin typeface="Calibri" panose="020F0502020204030204" pitchFamily="34" charset="0"/>
                <a:ea typeface="Arial Unicode MS"/>
                <a:cs typeface="Calibri" panose="020F0502020204030204" pitchFamily="34" charset="0"/>
              </a:rPr>
              <a:t>2.- </a:t>
            </a:r>
            <a:r>
              <a:rPr lang="es-CL" sz="1200" b="0" dirty="0">
                <a:latin typeface="Calibri" panose="020F0502020204030204" pitchFamily="34" charset="0"/>
                <a:ea typeface="Arial Unicode MS"/>
                <a:cs typeface="Calibri" panose="020F0502020204030204" pitchFamily="34" charset="0"/>
              </a:rPr>
              <a:t>Conectado a la base de datos </a:t>
            </a:r>
            <a:r>
              <a:rPr lang="es-CL" sz="1200" b="0" dirty="0" err="1">
                <a:latin typeface="Calibri" panose="020F0502020204030204" pitchFamily="34" charset="0"/>
                <a:ea typeface="Arial Unicode MS"/>
                <a:cs typeface="Calibri" panose="020F0502020204030204" pitchFamily="34" charset="0"/>
              </a:rPr>
              <a:t>plugable</a:t>
            </a:r>
            <a:r>
              <a:rPr lang="es-CL" sz="1200" b="0" dirty="0">
                <a:latin typeface="Calibri" panose="020F0502020204030204" pitchFamily="34" charset="0"/>
                <a:ea typeface="Arial Unicode MS"/>
                <a:cs typeface="Calibri" panose="020F0502020204030204" pitchFamily="34" charset="0"/>
              </a:rPr>
              <a:t>: se debe ejecutar:</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dirty="0">
                <a:latin typeface="Calibri" panose="020F0502020204030204" pitchFamily="34" charset="0"/>
                <a:ea typeface="Arial Unicode MS"/>
                <a:cs typeface="Calibri" panose="020F0502020204030204" pitchFamily="34" charset="0"/>
              </a:rPr>
              <a:t>Se debe ejecutar el </a:t>
            </a:r>
            <a:r>
              <a:rPr lang="es-CL" sz="1200" dirty="0">
                <a:latin typeface="Calibri" panose="020F0502020204030204" pitchFamily="34" charset="0"/>
                <a:ea typeface="Arial Unicode MS"/>
                <a:cs typeface="Calibri" panose="020F0502020204030204" pitchFamily="34" charset="0"/>
              </a:rPr>
              <a:t>comando SET AUTOTRACE OFF para que el plan de ejecución no se muestre inmediatamente por la pantalla sino que quede almacenado en vistas especiales de la base de datos.  </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ea typeface="Arial Unicode MS"/>
                <a:cs typeface="Calibri" panose="020F0502020204030204" pitchFamily="34" charset="0"/>
              </a:rPr>
              <a:t>Después se debe ejecutar el comando EXPLAIN PLAN FOR seguido de la sentencia SQL de la cual se desea obtener su plan de ejecución. </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ea typeface="Arial Unicode MS"/>
                <a:cs typeface="Calibri" panose="020F0502020204030204" pitchFamily="34" charset="0"/>
              </a:rPr>
              <a:t>Una vez que el plan se ha almacenado en la base de datos, éste se visualiza usando la función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DBMS_XPLAN.DISPLAY</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8874589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a:rPr>
              <a:t>Uso de  EXPLAIN PLAN desde SQL*Plus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dirty="0">
                <a:latin typeface="Calibri" panose="020F0502020204030204" pitchFamily="34" charset="0"/>
                <a:ea typeface="Arial Unicode MS"/>
                <a:cs typeface="Calibri" panose="020F0502020204030204" pitchFamily="34" charset="0"/>
              </a:rPr>
              <a:t>3.-</a:t>
            </a:r>
            <a:r>
              <a:rPr lang="es-CL" sz="1200" b="0" dirty="0">
                <a:latin typeface="Calibri" panose="020F0502020204030204" pitchFamily="34" charset="0"/>
                <a:ea typeface="Arial Unicode MS"/>
                <a:cs typeface="Calibri" panose="020F0502020204030204" pitchFamily="34" charset="0"/>
              </a:rPr>
              <a:t> Se define </a:t>
            </a:r>
            <a:r>
              <a:rPr lang="es-ES" sz="1200" dirty="0"/>
              <a:t>el número total de caracteres que SQL * Plus muestra en una línea antes de comenzar una nueva línea. En este caso se </a:t>
            </a:r>
            <a:r>
              <a:rPr lang="es-ES" sz="1200" dirty="0" err="1"/>
              <a:t>setea</a:t>
            </a:r>
            <a:r>
              <a:rPr lang="es-ES" sz="1200" dirty="0"/>
              <a:t> en valor 100.</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ES" sz="1200" b="1" dirty="0">
                <a:latin typeface="Calibri" panose="020F0502020204030204" pitchFamily="34" charset="0"/>
                <a:ea typeface="Arial Unicode MS"/>
                <a:cs typeface="Calibri" panose="020F0502020204030204" pitchFamily="34" charset="0"/>
              </a:rPr>
              <a:t>4.- </a:t>
            </a:r>
            <a:r>
              <a:rPr lang="es-CL" sz="1200" dirty="0">
                <a:latin typeface="Calibri" panose="020F0502020204030204" pitchFamily="34" charset="0"/>
                <a:ea typeface="Arial Unicode MS"/>
                <a:cs typeface="Calibri" panose="020F0502020204030204" pitchFamily="34" charset="0"/>
              </a:rPr>
              <a:t>Se visualiza el plan de ejecución de la sentencias SQL usando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DBMS_XPLAN.DISPLAY que es un programa propio de Oracle para mostrar por pantalla. Al efectuar esto, automáticamente se muestra el plan de ejecución de la sentencia que se encuentra almacenado en la tabla PLAN_TABLE que es propia de Oracle. </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Si la tabla PLAN_TABLE no se encuentra creada en la base de datos, se le debe solicitar la DBA que ejecute un script propio del RDBMS Oracle para que la tabla sea creada.</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377015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Uso de  EXPLAIN PLAN desde SQL </a:t>
            </a:r>
            <a:r>
              <a:rPr lang="es-CL" sz="1200" b="1" dirty="0" err="1">
                <a:solidFill>
                  <a:prstClr val="white"/>
                </a:solidFill>
                <a:latin typeface="Calibri" panose="020F0502020204030204" pitchFamily="34" charset="0"/>
                <a:cs typeface="Calibri" panose="020F0502020204030204" pitchFamily="34" charset="0"/>
              </a:rPr>
              <a:t>Developer</a:t>
            </a:r>
            <a:endParaRPr lang="es-CL" sz="1200" b="1" dirty="0">
              <a:solidFill>
                <a:prstClr val="white"/>
              </a:solidFill>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dirty="0">
                <a:latin typeface="Calibri" panose="020F0502020204030204" pitchFamily="34" charset="0"/>
                <a:cs typeface="Calibri" panose="020F0502020204030204" pitchFamily="34" charset="0"/>
              </a:rPr>
              <a:t>En el ejemplo, se obtiene el plan de ejecución de la sentencia SQL usando EXPLAIN PLAN desde la herramienta </a:t>
            </a:r>
            <a:r>
              <a:rPr lang="es-CL" sz="1200" dirty="0">
                <a:latin typeface="Calibri" panose="020F0502020204030204" pitchFamily="34" charset="0"/>
                <a:ea typeface="Arial Unicode MS"/>
                <a:cs typeface="Calibri" panose="020F0502020204030204" pitchFamily="34" charset="0"/>
              </a:rPr>
              <a:t>SQL </a:t>
            </a:r>
            <a:r>
              <a:rPr lang="es-CL" sz="1200" dirty="0" err="1">
                <a:latin typeface="Calibri" panose="020F0502020204030204" pitchFamily="34" charset="0"/>
                <a:ea typeface="Arial Unicode MS"/>
                <a:cs typeface="Calibri" panose="020F0502020204030204" pitchFamily="34" charset="0"/>
              </a:rPr>
              <a:t>Developer</a:t>
            </a:r>
            <a:r>
              <a:rPr lang="es-CL" sz="1200" dirty="0">
                <a:latin typeface="Calibri" panose="020F0502020204030204" pitchFamily="34" charset="0"/>
                <a:ea typeface="Arial Unicode MS"/>
                <a:cs typeface="Calibri" panose="020F0502020204030204" pitchFamily="34" charset="0"/>
              </a:rPr>
              <a:t>. Para ello:</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dirty="0">
                <a:latin typeface="Calibri" panose="020F0502020204030204" pitchFamily="34" charset="0"/>
                <a:ea typeface="Arial Unicode MS"/>
                <a:cs typeface="Calibri" panose="020F0502020204030204" pitchFamily="34" charset="0"/>
              </a:rPr>
              <a:t>1.- </a:t>
            </a:r>
            <a:r>
              <a:rPr lang="es-CL" sz="1200" b="0" dirty="0">
                <a:latin typeface="Calibri" panose="020F0502020204030204" pitchFamily="34" charset="0"/>
                <a:ea typeface="Arial Unicode MS"/>
                <a:cs typeface="Calibri" panose="020F0502020204030204" pitchFamily="34" charset="0"/>
              </a:rPr>
              <a:t>Primero </a:t>
            </a:r>
            <a:r>
              <a:rPr lang="es-CL" sz="1200" dirty="0">
                <a:latin typeface="Calibri" panose="020F0502020204030204" pitchFamily="34" charset="0"/>
                <a:ea typeface="Arial Unicode MS"/>
                <a:cs typeface="Calibri" panose="020F0502020204030204" pitchFamily="34" charset="0"/>
              </a:rPr>
              <a:t>se debe escribir la sentencia SQL.</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dirty="0">
                <a:latin typeface="Calibri" panose="020F0502020204030204" pitchFamily="34" charset="0"/>
                <a:ea typeface="Arial Unicode MS"/>
                <a:cs typeface="Calibri" panose="020F0502020204030204" pitchFamily="34" charset="0"/>
              </a:rPr>
              <a:t>2.- </a:t>
            </a:r>
            <a:r>
              <a:rPr lang="es-CL" sz="1200" b="0" dirty="0">
                <a:latin typeface="Calibri" panose="020F0502020204030204" pitchFamily="34" charset="0"/>
                <a:ea typeface="Arial Unicode MS"/>
                <a:cs typeface="Calibri" panose="020F0502020204030204" pitchFamily="34" charset="0"/>
              </a:rPr>
              <a:t>Post</a:t>
            </a:r>
            <a:r>
              <a:rPr lang="es-CL" sz="1200" dirty="0">
                <a:latin typeface="Calibri" panose="020F0502020204030204" pitchFamily="34" charset="0"/>
                <a:ea typeface="Arial Unicode MS"/>
                <a:cs typeface="Calibri" panose="020F0502020204030204" pitchFamily="34" charset="0"/>
              </a:rPr>
              <a:t>eriormente se debe dar </a:t>
            </a:r>
            <a:r>
              <a:rPr lang="es-CL" sz="1200" dirty="0" err="1">
                <a:latin typeface="Calibri" panose="020F0502020204030204" pitchFamily="34" charset="0"/>
                <a:ea typeface="Arial Unicode MS"/>
                <a:cs typeface="Calibri" panose="020F0502020204030204" pitchFamily="34" charset="0"/>
              </a:rPr>
              <a:t>Click</a:t>
            </a:r>
            <a:r>
              <a:rPr lang="es-CL" sz="1200" dirty="0">
                <a:latin typeface="Calibri" panose="020F0502020204030204" pitchFamily="34" charset="0"/>
                <a:ea typeface="Arial Unicode MS"/>
                <a:cs typeface="Calibri" panose="020F0502020204030204" pitchFamily="34" charset="0"/>
              </a:rPr>
              <a:t> en el botón Explicación del Plan.  Esto significa que la sentencia no mostrará las filas que retorna la sentencia sino que la herramienta visualizará el plan de ejecución de la sentencia.</a:t>
            </a:r>
            <a:endPar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506377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Uso de AUTOTRACE de SQL*Plus</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UTOTRACE de SQL*Plus es un comando que se puede ejecutar desde la herramienta de Oracle SQL*Plus y que visualiza inmediatamente el plan de ejecución de la sentencia por pantalla:</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1.-</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Primero se debe ejecutar el comando SET AUTOTRACE TRACEONLY EXPLAIN.</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2.- </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Posteriormente se escribe la sentencia SQL de la cual se desea obtener el plan de ejecución. Una vez que se ha escrito toda la sentencia SQL, inmediatamente el plan de ejecución de la sentencia se visualiza en pantalla.</a:t>
            </a:r>
          </a:p>
        </p:txBody>
      </p:sp>
    </p:spTree>
    <p:extLst>
      <p:ext uri="{BB962C8B-B14F-4D97-AF65-F5344CB8AC3E}">
        <p14:creationId xmlns:p14="http://schemas.microsoft.com/office/powerpoint/2010/main" val="2688839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CL" sz="1200" b="1" dirty="0">
                <a:solidFill>
                  <a:prstClr val="white"/>
                </a:solidFill>
                <a:latin typeface="Calibri"/>
              </a:rPr>
              <a:t>Información que entrega un Plan de Ejecución</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lang="es-CL" sz="1200" b="0" dirty="0"/>
              <a:t>Cuando se obtiene un plan de ejecución de una sentencia SQL, dependiendo del método que se utilice, éste entrega la siguiente información:</a:t>
            </a:r>
          </a:p>
          <a:p>
            <a:pPr marL="171450" indent="-171450" algn="just">
              <a:buFont typeface="Arial" panose="020B0604020202020204" pitchFamily="34" charset="0"/>
              <a:buChar char="•"/>
            </a:pPr>
            <a:r>
              <a:rPr lang="es-CL" sz="1200" b="1" dirty="0"/>
              <a:t>Id:</a:t>
            </a:r>
            <a:r>
              <a:rPr lang="es-CL" sz="1200" b="0" dirty="0"/>
              <a:t> es el número que se le asigna a cada paso en el </a:t>
            </a:r>
            <a:r>
              <a:rPr lang="es-CL" sz="1200" b="0" i="0" u="none" strike="noStrike" cap="none" dirty="0">
                <a:solidFill>
                  <a:schemeClr val="bg1"/>
                </a:solidFill>
                <a:latin typeface="Arial"/>
                <a:ea typeface="Arial"/>
                <a:cs typeface="Arial"/>
                <a:sym typeface="Arial"/>
              </a:rPr>
              <a:t>plan de ejecución </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err="1">
                <a:solidFill>
                  <a:schemeClr val="bg1"/>
                </a:solidFill>
                <a:latin typeface="Arial"/>
                <a:ea typeface="Arial"/>
                <a:cs typeface="Arial"/>
                <a:sym typeface="Arial"/>
              </a:rPr>
              <a:t>Operation</a:t>
            </a:r>
            <a:r>
              <a:rPr lang="es-CL" sz="1200" b="1" i="0" u="none" strike="noStrike" cap="none" dirty="0">
                <a:solidFill>
                  <a:schemeClr val="bg1"/>
                </a:solidFill>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nombre de la operación interna realizada en cada paso</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err="1">
                <a:solidFill>
                  <a:schemeClr val="bg1"/>
                </a:solidFill>
                <a:latin typeface="Arial"/>
                <a:ea typeface="Arial"/>
                <a:cs typeface="Arial"/>
                <a:sym typeface="Arial"/>
              </a:rPr>
              <a:t>Name</a:t>
            </a:r>
            <a:r>
              <a:rPr lang="es-CL" sz="1200" b="1" i="0" u="none" strike="noStrike" cap="none" dirty="0">
                <a:solidFill>
                  <a:schemeClr val="bg1"/>
                </a:solidFill>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nombre de tabla o índice. En algunas herramientas esta columna aparece con el nombre OBJECT_NAME</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err="1">
                <a:solidFill>
                  <a:schemeClr val="bg1"/>
                </a:solidFill>
                <a:latin typeface="Arial"/>
                <a:ea typeface="Arial"/>
                <a:cs typeface="Arial"/>
                <a:sym typeface="Arial"/>
              </a:rPr>
              <a:t>Rows</a:t>
            </a:r>
            <a:r>
              <a:rPr lang="es-CL" sz="1200" b="1" i="0" u="none" strike="noStrike" cap="none" dirty="0">
                <a:solidFill>
                  <a:schemeClr val="bg1"/>
                </a:solidFill>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estimación, por el optimizador basado en costo, del número de filas producidas por la operación. En algunas herramientas esta columna aparece con el nombre CARDINALITY.</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a:solidFill>
                  <a:schemeClr val="bg1"/>
                </a:solidFill>
                <a:latin typeface="Arial"/>
                <a:ea typeface="Arial"/>
                <a:cs typeface="Arial"/>
                <a:sym typeface="Arial"/>
              </a:rPr>
              <a:t>Bytes: </a:t>
            </a:r>
            <a:r>
              <a:rPr lang="es-CL" sz="1200" b="0" i="0" u="none" strike="noStrike" cap="none" dirty="0">
                <a:solidFill>
                  <a:schemeClr val="bg1"/>
                </a:solidFill>
                <a:latin typeface="Arial"/>
                <a:ea typeface="Arial"/>
                <a:cs typeface="Arial"/>
                <a:sym typeface="Arial"/>
              </a:rPr>
              <a:t>estimación, por el optimizador basado en costo, del número de bytes producidos por la operación</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err="1">
                <a:solidFill>
                  <a:schemeClr val="bg1"/>
                </a:solidFill>
                <a:latin typeface="Arial"/>
                <a:ea typeface="Arial"/>
                <a:cs typeface="Arial"/>
                <a:sym typeface="Arial"/>
              </a:rPr>
              <a:t>Cost</a:t>
            </a:r>
            <a:r>
              <a:rPr lang="es-CL" sz="1200" b="1" i="0" u="none" strike="noStrike" cap="none" dirty="0">
                <a:solidFill>
                  <a:schemeClr val="bg1"/>
                </a:solidFill>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estimación, por el optimizador basado en costo,</a:t>
            </a:r>
            <a:r>
              <a:rPr lang="es-CL" sz="1200" b="0" i="0" u="none" strike="noStrike" kern="1200" cap="none" dirty="0">
                <a:solidFill>
                  <a:schemeClr val="tx1"/>
                </a:solidFill>
                <a:effectLst/>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de la unidad de tiempo necesaria para ejecutar la sentencia SQL. </a:t>
            </a:r>
            <a:r>
              <a:rPr lang="es-CL" sz="1200" b="0" i="0" u="none" strike="noStrike" kern="1200" cap="none" dirty="0">
                <a:solidFill>
                  <a:schemeClr val="tx1"/>
                </a:solidFill>
                <a:effectLst/>
                <a:latin typeface="Arial"/>
                <a:ea typeface="Arial"/>
                <a:cs typeface="Arial"/>
                <a:sym typeface="Arial"/>
              </a:rPr>
              <a:t>No corresponde a segundos o alguna otra unidad de tiempo.</a:t>
            </a:r>
            <a:endParaRPr lang="es-CL" sz="1200" b="0" i="0" u="none" strike="noStrike" cap="none" dirty="0">
              <a:solidFill>
                <a:schemeClr val="bg1"/>
              </a:solidFill>
              <a:latin typeface="Arial"/>
              <a:ea typeface="Arial"/>
              <a:cs typeface="Arial"/>
              <a:sym typeface="Arial"/>
            </a:endParaRP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a:solidFill>
                  <a:schemeClr val="bg1"/>
                </a:solidFill>
                <a:latin typeface="Arial"/>
                <a:ea typeface="Arial"/>
                <a:cs typeface="Arial"/>
                <a:sym typeface="Arial"/>
              </a:rPr>
              <a:t>Time: </a:t>
            </a:r>
            <a:r>
              <a:rPr lang="es-CL" sz="1200" b="0" i="0" u="none" strike="noStrike" cap="none" dirty="0">
                <a:solidFill>
                  <a:schemeClr val="bg1"/>
                </a:solidFill>
                <a:latin typeface="Arial"/>
                <a:ea typeface="Arial"/>
                <a:cs typeface="Arial"/>
                <a:sym typeface="Arial"/>
              </a:rPr>
              <a:t>tiempo de ejecución de la operación (en segundos) estimado por el optimizador basado en costo.</a:t>
            </a:r>
          </a:p>
          <a:p>
            <a:pPr marL="0" marR="0" lvl="0" indent="0" algn="just"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u="none" strike="noStrike" cap="none" dirty="0">
                <a:solidFill>
                  <a:schemeClr val="bg1"/>
                </a:solidFill>
                <a:latin typeface="Arial"/>
                <a:ea typeface="Arial"/>
                <a:cs typeface="Arial"/>
                <a:sym typeface="Arial"/>
              </a:rPr>
              <a:t>La información que se repite siempre en cualquier método es: nombre de la operación interna realizada en cada paso, nombre de la operación interna realizada en cada paso, estimación del número de filas producidas por la operación y la estimación</a:t>
            </a:r>
            <a:r>
              <a:rPr lang="es-CL" sz="1200" b="0" i="0" u="none" strike="noStrike" kern="1200" cap="none" dirty="0">
                <a:solidFill>
                  <a:schemeClr val="tx1"/>
                </a:solidFill>
                <a:effectLst/>
                <a:latin typeface="Arial"/>
                <a:ea typeface="Arial"/>
                <a:cs typeface="Arial"/>
                <a:sym typeface="Arial"/>
              </a:rPr>
              <a:t> </a:t>
            </a:r>
            <a:r>
              <a:rPr lang="es-CL" sz="1200" b="0" i="0" u="none" strike="noStrike" cap="none" dirty="0">
                <a:solidFill>
                  <a:schemeClr val="bg1"/>
                </a:solidFill>
                <a:latin typeface="Arial"/>
                <a:ea typeface="Arial"/>
                <a:cs typeface="Arial"/>
                <a:sym typeface="Arial"/>
              </a:rPr>
              <a:t>de la unidad de tiempo necesaria para ejecutar la sentencia SQL. </a:t>
            </a: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Arial"/>
              <a:cs typeface="Arial" charset="0"/>
              <a:sym typeface="Arial"/>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41238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solidFill>
                  <a:prstClr val="white"/>
                </a:solidFill>
                <a:latin typeface="Calibri" panose="020F0502020204030204" pitchFamily="34" charset="0"/>
                <a:cs typeface="Calibri" panose="020F0502020204030204" pitchFamily="34" charset="0"/>
              </a:rPr>
              <a:t>Operaciones de un Plan de Ejecución para Índices</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Algunas de las operaciones más frecuentes en los planes de ejecución para el acceso a los índices son:</a:t>
            </a:r>
            <a:endParaRPr lang="es-CL" sz="1200" b="0" dirty="0">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INDEX FULL SCAN</a:t>
            </a:r>
            <a:r>
              <a:rPr lang="es-CL" sz="1200" b="1" dirty="0">
                <a:latin typeface="Calibri" panose="020F0502020204030204" pitchFamily="34" charset="0"/>
                <a:cs typeface="Calibri" panose="020F0502020204030204" pitchFamily="34" charset="0"/>
              </a:rPr>
              <a:t>:</a:t>
            </a:r>
            <a:r>
              <a:rPr lang="es-CL" sz="1200" b="0" dirty="0">
                <a:latin typeface="Calibri" panose="020F0502020204030204" pitchFamily="34" charset="0"/>
                <a:cs typeface="Calibri" panose="020F0502020204030204" pitchFamily="34" charset="0"/>
              </a:rPr>
              <a:t> l</a:t>
            </a:r>
            <a:r>
              <a:rPr lang="es-CL" sz="1200" dirty="0">
                <a:solidFill>
                  <a:schemeClr val="tx1"/>
                </a:solidFill>
                <a:latin typeface="Calibri" panose="020F0502020204030204" pitchFamily="34" charset="0"/>
                <a:cs typeface="Calibri" panose="020F0502020204030204" pitchFamily="34" charset="0"/>
              </a:rPr>
              <a:t>ee todo el índice, de una manera ordenada. Es decir, "recorre" el índice desde el valor más bajo hasta el valor más alto.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INDEX FAST FULL SCAN</a:t>
            </a:r>
            <a:r>
              <a:rPr lang="es-CL" sz="1200" b="1" dirty="0">
                <a:latin typeface="Calibri" panose="020F0502020204030204" pitchFamily="34" charset="0"/>
                <a:cs typeface="Calibri" panose="020F0502020204030204" pitchFamily="34" charset="0"/>
              </a:rPr>
              <a:t>:</a:t>
            </a:r>
            <a:r>
              <a:rPr lang="es-CL" sz="1200" b="0" dirty="0">
                <a:latin typeface="Calibri" panose="020F0502020204030204" pitchFamily="34" charset="0"/>
                <a:cs typeface="Calibri" panose="020F0502020204030204" pitchFamily="34" charset="0"/>
              </a:rPr>
              <a:t> l</a:t>
            </a:r>
            <a:r>
              <a:rPr lang="es-CL" sz="1200" dirty="0">
                <a:solidFill>
                  <a:schemeClr val="tx1"/>
                </a:solidFill>
                <a:latin typeface="Calibri" panose="020F0502020204030204" pitchFamily="34" charset="0"/>
                <a:cs typeface="Calibri" panose="020F0502020204030204" pitchFamily="34" charset="0"/>
              </a:rPr>
              <a:t>ee todo el índice, sin preocuparse por el orden. Simplemente lee todos los bloques del índice usando lecturas de varios bloques.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INDEX RANGE SCAN</a:t>
            </a:r>
            <a:r>
              <a:rPr lang="es-CL" sz="1200" b="1" dirty="0">
                <a:latin typeface="Calibri" panose="020F0502020204030204" pitchFamily="34" charset="0"/>
                <a:cs typeface="Calibri" panose="020F0502020204030204" pitchFamily="34" charset="0"/>
              </a:rPr>
              <a:t>:</a:t>
            </a:r>
            <a:r>
              <a:rPr lang="es-CL" sz="1200" b="0" dirty="0">
                <a:latin typeface="Calibri" panose="020F0502020204030204" pitchFamily="34" charset="0"/>
                <a:cs typeface="Calibri" panose="020F0502020204030204" pitchFamily="34" charset="0"/>
              </a:rPr>
              <a:t> l</a:t>
            </a:r>
            <a:r>
              <a:rPr lang="es-CL" sz="1200" dirty="0">
                <a:solidFill>
                  <a:schemeClr val="tx1"/>
                </a:solidFill>
                <a:latin typeface="Calibri" panose="020F0502020204030204" pitchFamily="34" charset="0"/>
                <a:cs typeface="Calibri" panose="020F0502020204030204" pitchFamily="34" charset="0"/>
              </a:rPr>
              <a:t>ee un conjunto limitado de entradas del índice. Comienza desde un cierto punto en el índice y termina en un cierto punto en el índice.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INDEX UNIQUE SCAN</a:t>
            </a:r>
            <a:r>
              <a:rPr lang="es-CL" sz="1200" b="1" dirty="0">
                <a:latin typeface="Calibri" panose="020F0502020204030204" pitchFamily="34" charset="0"/>
                <a:cs typeface="Calibri" panose="020F0502020204030204" pitchFamily="34" charset="0"/>
              </a:rPr>
              <a:t>:</a:t>
            </a:r>
            <a:r>
              <a:rPr lang="es-CL" sz="1200" b="0" dirty="0">
                <a:latin typeface="Calibri" panose="020F0502020204030204" pitchFamily="34" charset="0"/>
                <a:cs typeface="Calibri" panose="020F0502020204030204" pitchFamily="34" charset="0"/>
              </a:rPr>
              <a:t> l</a:t>
            </a:r>
            <a:r>
              <a:rPr lang="es-CL" sz="1200" dirty="0">
                <a:solidFill>
                  <a:schemeClr val="tx1"/>
                </a:solidFill>
                <a:latin typeface="Calibri" panose="020F0502020204030204" pitchFamily="34" charset="0"/>
                <a:cs typeface="Calibri" panose="020F0502020204030204" pitchFamily="34" charset="0"/>
              </a:rPr>
              <a:t>ee una sola fila del índice. Esto sucede cuando todas las columnas del índice (asociado a una </a:t>
            </a:r>
            <a:r>
              <a:rPr lang="es-CL" sz="1200" dirty="0" err="1">
                <a:solidFill>
                  <a:schemeClr val="tx1"/>
                </a:solidFill>
                <a:latin typeface="Calibri" panose="020F0502020204030204" pitchFamily="34" charset="0"/>
                <a:cs typeface="Calibri" panose="020F0502020204030204" pitchFamily="34" charset="0"/>
              </a:rPr>
              <a:t>constraint</a:t>
            </a:r>
            <a:r>
              <a:rPr lang="es-CL" sz="1200" dirty="0">
                <a:solidFill>
                  <a:schemeClr val="tx1"/>
                </a:solidFill>
                <a:latin typeface="Calibri" panose="020F0502020204030204" pitchFamily="34" charset="0"/>
                <a:cs typeface="Calibri" panose="020F0502020204030204" pitchFamily="34" charset="0"/>
              </a:rPr>
              <a:t> </a:t>
            </a:r>
            <a:r>
              <a:rPr lang="es-CL" sz="1200" dirty="0" err="1">
                <a:solidFill>
                  <a:schemeClr val="tx1"/>
                </a:solidFill>
                <a:latin typeface="Calibri" panose="020F0502020204030204" pitchFamily="34" charset="0"/>
                <a:cs typeface="Calibri" panose="020F0502020204030204" pitchFamily="34" charset="0"/>
              </a:rPr>
              <a:t>Unique</a:t>
            </a:r>
            <a:r>
              <a:rPr lang="es-CL" sz="1200" dirty="0">
                <a:solidFill>
                  <a:schemeClr val="tx1"/>
                </a:solidFill>
                <a:latin typeface="Calibri" panose="020F0502020204030204" pitchFamily="34" charset="0"/>
                <a:cs typeface="Calibri" panose="020F0502020204030204" pitchFamily="34" charset="0"/>
              </a:rPr>
              <a:t> o </a:t>
            </a:r>
            <a:r>
              <a:rPr lang="es-CL" sz="1200" dirty="0" err="1">
                <a:solidFill>
                  <a:schemeClr val="tx1"/>
                </a:solidFill>
                <a:latin typeface="Calibri" panose="020F0502020204030204" pitchFamily="34" charset="0"/>
                <a:cs typeface="Calibri" panose="020F0502020204030204" pitchFamily="34" charset="0"/>
              </a:rPr>
              <a:t>Primary</a:t>
            </a:r>
            <a:r>
              <a:rPr lang="es-CL" sz="1200" dirty="0">
                <a:solidFill>
                  <a:schemeClr val="tx1"/>
                </a:solidFill>
                <a:latin typeface="Calibri" panose="020F0502020204030204" pitchFamily="34" charset="0"/>
                <a:cs typeface="Calibri" panose="020F0502020204030204" pitchFamily="34" charset="0"/>
              </a:rPr>
              <a:t> Key) se especifican en las condiciones de igualdad</a:t>
            </a:r>
          </a:p>
        </p:txBody>
      </p:sp>
    </p:spTree>
    <p:extLst>
      <p:ext uri="{BB962C8B-B14F-4D97-AF65-F5344CB8AC3E}">
        <p14:creationId xmlns:p14="http://schemas.microsoft.com/office/powerpoint/2010/main" val="3209722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Operaciones de un Plan de Ejecución para Tablas</a:t>
            </a:r>
          </a:p>
          <a:p>
            <a:pPr marL="0" marR="0" lvl="0" indent="0" algn="l" defTabSz="914400" rtl="0" eaLnBrk="1" fontAlgn="base" latinLnBrk="0" hangingPunct="1">
              <a:lnSpc>
                <a:spcPct val="100000"/>
              </a:lnSpc>
              <a:spcBef>
                <a:spcPct val="0"/>
              </a:spcBef>
              <a:spcAft>
                <a:spcPct val="0"/>
              </a:spcAft>
              <a:buClrTx/>
              <a:buSzTx/>
              <a:buFontTx/>
              <a:buNone/>
              <a:tabLst/>
              <a:defRPr/>
            </a:pPr>
            <a:r>
              <a:rPr lang="es-CL" sz="1200" b="0" dirty="0">
                <a:latin typeface="Calibri" panose="020F0502020204030204" pitchFamily="34" charset="0"/>
                <a:cs typeface="Calibri" panose="020F0502020204030204" pitchFamily="34" charset="0"/>
              </a:rPr>
              <a:t>Algunas de las operaciones más frecuentes en los planes de ejecución para el acceso a tablas son: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dirty="0">
                <a:latin typeface="Calibri" panose="020F0502020204030204" pitchFamily="34" charset="0"/>
                <a:cs typeface="Calibri" panose="020F0502020204030204" pitchFamily="34" charset="0"/>
              </a:rPr>
              <a:t>TABLE ACCESS BY INDEX ROWID:</a:t>
            </a:r>
          </a:p>
          <a:p>
            <a:pPr marL="628650" marR="0" lvl="1" indent="-171450" algn="l" defTabSz="914400" rtl="0" eaLnBrk="0" fontAlgn="base" latinLnBrk="0" hangingPunct="0">
              <a:lnSpc>
                <a:spcPct val="100000"/>
              </a:lnSpc>
              <a:spcBef>
                <a:spcPct val="30000"/>
              </a:spcBef>
              <a:spcAft>
                <a:spcPct val="0"/>
              </a:spcAft>
              <a:buClrTx/>
              <a:buSzTx/>
              <a:buFont typeface="Courier New" panose="02070309020205020404" pitchFamily="49" charset="0"/>
              <a:buChar char="o"/>
              <a:tabLst/>
              <a:defRPr/>
            </a:pPr>
            <a:r>
              <a:rPr lang="es-CL" sz="1200" dirty="0">
                <a:solidFill>
                  <a:schemeClr val="tx1"/>
                </a:solidFill>
                <a:latin typeface="Calibri" panose="020F0502020204030204" pitchFamily="34" charset="0"/>
                <a:cs typeface="Calibri" panose="020F0502020204030204" pitchFamily="34" charset="0"/>
              </a:rPr>
              <a:t>El ROWID </a:t>
            </a:r>
            <a:r>
              <a:rPr lang="es-CL" sz="1200" dirty="0" err="1">
                <a:solidFill>
                  <a:schemeClr val="tx1"/>
                </a:solidFill>
                <a:latin typeface="Calibri" panose="020F0502020204030204" pitchFamily="34" charset="0"/>
                <a:cs typeface="Calibri" panose="020F0502020204030204" pitchFamily="34" charset="0"/>
              </a:rPr>
              <a:t>Scan</a:t>
            </a:r>
            <a:r>
              <a:rPr lang="es-CL" sz="1200" dirty="0">
                <a:solidFill>
                  <a:schemeClr val="tx1"/>
                </a:solidFill>
                <a:latin typeface="Calibri" panose="020F0502020204030204" pitchFamily="34" charset="0"/>
                <a:cs typeface="Calibri" panose="020F0502020204030204" pitchFamily="34" charset="0"/>
              </a:rPr>
              <a:t> Es la forma más rápida de recuperar una fila porque especifica su ubicación exacta en la base de datos.</a:t>
            </a:r>
          </a:p>
          <a:p>
            <a:pPr marL="628650" marR="0" lvl="1" indent="-171450" algn="l" defTabSz="914400" rtl="0" eaLnBrk="0" fontAlgn="base" latinLnBrk="0" hangingPunct="0">
              <a:lnSpc>
                <a:spcPct val="100000"/>
              </a:lnSpc>
              <a:spcBef>
                <a:spcPct val="30000"/>
              </a:spcBef>
              <a:spcAft>
                <a:spcPct val="0"/>
              </a:spcAft>
              <a:buClrTx/>
              <a:buSzTx/>
              <a:buFont typeface="Courier New" panose="02070309020205020404" pitchFamily="49" charset="0"/>
              <a:buChar char="o"/>
              <a:tabLst/>
              <a:defRPr/>
            </a:pPr>
            <a:r>
              <a:rPr lang="es-CL" sz="1200" dirty="0">
                <a:solidFill>
                  <a:schemeClr val="tx1"/>
                </a:solidFill>
                <a:latin typeface="Calibri" panose="020F0502020204030204" pitchFamily="34" charset="0"/>
                <a:cs typeface="Calibri" panose="020F0502020204030204" pitchFamily="34" charset="0"/>
              </a:rPr>
              <a:t>Obtiene los </a:t>
            </a:r>
            <a:r>
              <a:rPr lang="es-CL" sz="1200" dirty="0" err="1">
                <a:solidFill>
                  <a:schemeClr val="tx1"/>
                </a:solidFill>
                <a:latin typeface="Calibri" panose="020F0502020204030204" pitchFamily="34" charset="0"/>
                <a:cs typeface="Calibri" panose="020F0502020204030204" pitchFamily="34" charset="0"/>
              </a:rPr>
              <a:t>rowids</a:t>
            </a:r>
            <a:r>
              <a:rPr lang="es-CL" sz="1200" dirty="0">
                <a:solidFill>
                  <a:schemeClr val="tx1"/>
                </a:solidFill>
                <a:latin typeface="Calibri" panose="020F0502020204030204" pitchFamily="34" charset="0"/>
                <a:cs typeface="Calibri" panose="020F0502020204030204" pitchFamily="34" charset="0"/>
              </a:rPr>
              <a:t> de las filas seleccionadas, desde la cláusula WHERE de la sentencia o mediante un análisis del (o los) índice(s) de la tabla y luego ubica cada fila seleccionada en la tabla en función de su </a:t>
            </a:r>
            <a:r>
              <a:rPr lang="es-CL" sz="1200" dirty="0" err="1">
                <a:solidFill>
                  <a:schemeClr val="tx1"/>
                </a:solidFill>
                <a:latin typeface="Calibri" panose="020F0502020204030204" pitchFamily="34" charset="0"/>
                <a:cs typeface="Calibri" panose="020F0502020204030204" pitchFamily="34" charset="0"/>
              </a:rPr>
              <a:t>rowid</a:t>
            </a:r>
            <a:r>
              <a:rPr lang="es-CL" sz="1200" dirty="0">
                <a:solidFill>
                  <a:schemeClr val="tx1"/>
                </a:solidFill>
                <a:latin typeface="Calibri" panose="020F0502020204030204" pitchFamily="34" charset="0"/>
                <a:cs typeface="Calibri" panose="020F0502020204030204" pitchFamily="34" charset="0"/>
              </a:rPr>
              <a:t> y busca los datos.</a:t>
            </a:r>
          </a:p>
          <a:p>
            <a:pPr marL="628650" marR="0" lvl="1" indent="-171450" algn="l" defTabSz="914400" rtl="0" eaLnBrk="0" fontAlgn="base" latinLnBrk="0" hangingPunct="0">
              <a:lnSpc>
                <a:spcPct val="100000"/>
              </a:lnSpc>
              <a:spcBef>
                <a:spcPct val="30000"/>
              </a:spcBef>
              <a:spcAft>
                <a:spcPct val="0"/>
              </a:spcAft>
              <a:buClrTx/>
              <a:buSzTx/>
              <a:buFont typeface="Courier New" panose="02070309020205020404" pitchFamily="49" charset="0"/>
              <a:buChar char="o"/>
              <a:tabLst/>
              <a:defRPr/>
            </a:pPr>
            <a:r>
              <a:rPr lang="es-CL" sz="1200" dirty="0">
                <a:solidFill>
                  <a:schemeClr val="tx1"/>
                </a:solidFill>
                <a:latin typeface="Calibri" panose="020F0502020204030204" pitchFamily="34" charset="0"/>
                <a:cs typeface="Calibri" panose="020F0502020204030204" pitchFamily="34" charset="0"/>
              </a:rPr>
              <a:t>Si el índice contiene todas las columnas necesarias para la sentencia, el acceso a la tabla por </a:t>
            </a:r>
            <a:r>
              <a:rPr lang="es-CL" sz="1200" dirty="0" err="1">
                <a:solidFill>
                  <a:schemeClr val="tx1"/>
                </a:solidFill>
                <a:latin typeface="Calibri" panose="020F0502020204030204" pitchFamily="34" charset="0"/>
                <a:cs typeface="Calibri" panose="020F0502020204030204" pitchFamily="34" charset="0"/>
              </a:rPr>
              <a:t>rowid</a:t>
            </a:r>
            <a:r>
              <a:rPr lang="es-CL" sz="1200" dirty="0">
                <a:solidFill>
                  <a:schemeClr val="tx1"/>
                </a:solidFill>
                <a:latin typeface="Calibri" panose="020F0502020204030204" pitchFamily="34" charset="0"/>
                <a:cs typeface="Calibri" panose="020F0502020204030204" pitchFamily="34" charset="0"/>
              </a:rPr>
              <a:t> podría no ocurrir.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1" dirty="0">
                <a:latin typeface="Calibri" panose="020F0502020204030204" pitchFamily="34" charset="0"/>
                <a:cs typeface="Calibri" panose="020F0502020204030204" pitchFamily="34" charset="0"/>
              </a:rPr>
              <a:t>TABLE ACCESS BY INDEX ROWID BATCHED: </a:t>
            </a:r>
            <a:r>
              <a:rPr lang="en-US" sz="1200" b="0" dirty="0" err="1">
                <a:latin typeface="Calibri" panose="020F0502020204030204" pitchFamily="34" charset="0"/>
                <a:cs typeface="Calibri" panose="020F0502020204030204" pitchFamily="34" charset="0"/>
              </a:rPr>
              <a:t>este</a:t>
            </a:r>
            <a:r>
              <a:rPr lang="en-US" sz="1200" b="0" dirty="0">
                <a:latin typeface="Calibri" panose="020F0502020204030204" pitchFamily="34" charset="0"/>
                <a:cs typeface="Calibri" panose="020F0502020204030204" pitchFamily="34" charset="0"/>
              </a:rPr>
              <a:t> </a:t>
            </a:r>
            <a:r>
              <a:rPr lang="en-US" sz="1200" b="0" dirty="0" err="1">
                <a:latin typeface="Calibri" panose="020F0502020204030204" pitchFamily="34" charset="0"/>
                <a:cs typeface="Calibri" panose="020F0502020204030204" pitchFamily="34" charset="0"/>
              </a:rPr>
              <a:t>método</a:t>
            </a:r>
            <a:r>
              <a:rPr lang="en-US" sz="1200" b="0" dirty="0">
                <a:latin typeface="Calibri" panose="020F0502020204030204" pitchFamily="34" charset="0"/>
                <a:cs typeface="Calibri" panose="020F0502020204030204" pitchFamily="34" charset="0"/>
              </a:rPr>
              <a:t> se introduce a </a:t>
            </a:r>
            <a:r>
              <a:rPr lang="en-US" sz="1200" b="0" dirty="0" err="1">
                <a:latin typeface="Calibri" panose="020F0502020204030204" pitchFamily="34" charset="0"/>
                <a:cs typeface="Calibri" panose="020F0502020204030204" pitchFamily="34" charset="0"/>
              </a:rPr>
              <a:t>contar</a:t>
            </a:r>
            <a:r>
              <a:rPr lang="en-US" sz="1200" b="0" dirty="0">
                <a:latin typeface="Calibri" panose="020F0502020204030204" pitchFamily="34" charset="0"/>
                <a:cs typeface="Calibri" panose="020F0502020204030204" pitchFamily="34" charset="0"/>
              </a:rPr>
              <a:t> de Oracle 12c p</a:t>
            </a:r>
            <a:r>
              <a:rPr lang="es-ES" sz="1200" dirty="0"/>
              <a:t>ara realizar escrituras y lectura eficientes y mínimas en el disco cuando se accede a la tabla por ROWID porque con el modo BATCHED, </a:t>
            </a:r>
            <a:r>
              <a:rPr lang="es-MX" sz="1200" dirty="0"/>
              <a:t>Oracle recupera una gran cantidad de ROWID del índice y luego intenta acceder a las filas en orden para reducir la cantidad de veces que se necesita acceder a cada bloque. E</a:t>
            </a:r>
            <a:r>
              <a:rPr lang="es-ES" sz="1200" dirty="0">
                <a:latin typeface="Calibri" panose="020F0502020204030204" pitchFamily="34" charset="0"/>
                <a:cs typeface="Calibri" panose="020F0502020204030204" pitchFamily="34" charset="0"/>
              </a:rPr>
              <a:t>l modo BATCHED puede no tener una diferencia drástica en el costo de la consulta , pero tendría una buena mejora en el tiempo de ejecución de la consulta con el método tradicional </a:t>
            </a:r>
            <a:r>
              <a:rPr lang="en-US" sz="1200" dirty="0">
                <a:latin typeface="Calibri" panose="020F0502020204030204" pitchFamily="34" charset="0"/>
                <a:cs typeface="Calibri" panose="020F0502020204030204" pitchFamily="34" charset="0"/>
              </a:rPr>
              <a:t>TABLE ACCESS BY INDEX ROWID.</a:t>
            </a:r>
            <a:endParaRPr lang="en-US" sz="1200" b="1" dirty="0">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TABLE ACCESS FULL:</a:t>
            </a:r>
            <a:r>
              <a:rPr lang="es-CL" sz="1200" b="0" dirty="0">
                <a:latin typeface="Calibri" panose="020F0502020204030204" pitchFamily="34" charset="0"/>
                <a:cs typeface="Calibri" panose="020F0502020204030204" pitchFamily="34" charset="0"/>
              </a:rPr>
              <a:t> e</a:t>
            </a:r>
            <a:r>
              <a:rPr lang="es-CL" sz="1200" dirty="0">
                <a:solidFill>
                  <a:schemeClr val="tx1"/>
                </a:solidFill>
                <a:latin typeface="Calibri" panose="020F0502020204030204" pitchFamily="34" charset="0"/>
                <a:cs typeface="Calibri" panose="020F0502020204030204" pitchFamily="34" charset="0"/>
              </a:rPr>
              <a:t>l optimizador efectúa Full Table </a:t>
            </a:r>
            <a:r>
              <a:rPr lang="es-CL" sz="1200" dirty="0" err="1">
                <a:solidFill>
                  <a:schemeClr val="tx1"/>
                </a:solidFill>
                <a:latin typeface="Calibri" panose="020F0502020204030204" pitchFamily="34" charset="0"/>
                <a:cs typeface="Calibri" panose="020F0502020204030204" pitchFamily="34" charset="0"/>
              </a:rPr>
              <a:t>Scan</a:t>
            </a:r>
            <a:r>
              <a:rPr lang="es-CL" sz="1200" dirty="0">
                <a:solidFill>
                  <a:schemeClr val="tx1"/>
                </a:solidFill>
                <a:latin typeface="Calibri" panose="020F0502020204030204" pitchFamily="34" charset="0"/>
                <a:cs typeface="Calibri" panose="020F0502020204030204" pitchFamily="34" charset="0"/>
              </a:rPr>
              <a:t> principalmente:</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Si no existe ningún índice adecuado para la consulta.</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Si se debe acceder a la mayoría de los bloques de la tabla.</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Si una tabla contiene menos bloques que el valor del parámetro DB_FILE_MULTIBLOCK_READ_COUNT definido en la base de datos.</a:t>
            </a:r>
            <a:endParaRPr lang="es-CL" b="0" dirty="0">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TABLE ACCESS STORAGE FULL:</a:t>
            </a:r>
            <a:r>
              <a:rPr lang="es-CL" sz="1200" b="0" dirty="0">
                <a:latin typeface="Calibri" panose="020F0502020204030204" pitchFamily="34" charset="0"/>
                <a:cs typeface="Calibri" panose="020F0502020204030204" pitchFamily="34" charset="0"/>
              </a:rPr>
              <a:t> es el miso </a:t>
            </a:r>
            <a:r>
              <a:rPr lang="es-CL" sz="1200" dirty="0">
                <a:solidFill>
                  <a:schemeClr val="tx1"/>
                </a:solidFill>
                <a:latin typeface="Calibri" panose="020F0502020204030204" pitchFamily="34" charset="0"/>
                <a:cs typeface="Calibri" panose="020F0502020204030204" pitchFamily="34" charset="0"/>
              </a:rPr>
              <a:t>Full Table </a:t>
            </a:r>
            <a:r>
              <a:rPr lang="es-CL" sz="1200" dirty="0" err="1">
                <a:solidFill>
                  <a:schemeClr val="tx1"/>
                </a:solidFill>
                <a:latin typeface="Calibri" panose="020F0502020204030204" pitchFamily="34" charset="0"/>
                <a:cs typeface="Calibri" panose="020F0502020204030204" pitchFamily="34" charset="0"/>
              </a:rPr>
              <a:t>Scan</a:t>
            </a:r>
            <a:r>
              <a:rPr lang="es-CL" sz="1200" dirty="0">
                <a:solidFill>
                  <a:schemeClr val="tx1"/>
                </a:solidFill>
                <a:latin typeface="Calibri" panose="020F0502020204030204" pitchFamily="34" charset="0"/>
                <a:cs typeface="Calibri" panose="020F0502020204030204" pitchFamily="34" charset="0"/>
              </a:rPr>
              <a:t> anterior pero en base de datos en ASM (funcionalidad de Oracle que permite en manejo automático) de almacenamiento) o bases de datos </a:t>
            </a:r>
            <a:r>
              <a:rPr lang="es-CL" sz="1200" dirty="0" err="1">
                <a:solidFill>
                  <a:schemeClr val="tx1"/>
                </a:solidFill>
                <a:latin typeface="Calibri" panose="020F0502020204030204" pitchFamily="34" charset="0"/>
                <a:cs typeface="Calibri" panose="020F0502020204030204" pitchFamily="34" charset="0"/>
              </a:rPr>
              <a:t>Exadata</a:t>
            </a:r>
            <a:r>
              <a:rPr lang="es-CL" sz="1200" dirty="0">
                <a:solidFill>
                  <a:schemeClr val="tx1"/>
                </a:solidFill>
                <a:latin typeface="Calibri" panose="020F0502020204030204" pitchFamily="34" charset="0"/>
                <a:cs typeface="Calibri" panose="020F0502020204030204" pitchFamily="34" charset="0"/>
              </a:rPr>
              <a:t> (como la base de datos Oracle Cloud). En este tipo de bases de datos, el servidor de base de datos </a:t>
            </a:r>
            <a:r>
              <a:rPr lang="es-ES" sz="1200" dirty="0"/>
              <a:t>realiza el procesamiento de la sentencia en el servidor de almacenamiento lo que permite que los análisis de tablas completas (FULL</a:t>
            </a:r>
            <a:r>
              <a:rPr lang="es-ES" sz="1200"/>
              <a:t>) sean mucho </a:t>
            </a:r>
            <a:r>
              <a:rPr lang="es-ES" sz="1200" dirty="0"/>
              <a:t>más rápido </a:t>
            </a:r>
            <a:endParaRPr lang="es-CL" sz="1200" dirty="0">
              <a:solidFill>
                <a:schemeClr val="tx1"/>
              </a:solidFill>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pPr>
            <a:endParaRPr lang="es-CL" sz="1200" dirty="0">
              <a:solidFill>
                <a:schemeClr val="tx1"/>
              </a:solidFill>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pPr>
            <a:r>
              <a:rPr lang="es-ES" sz="1200" dirty="0"/>
              <a:t>Los índices de almacenamiento hacen análisis de tabla completa en consultas repetidas con filtros en el mismo subconjunto de columnas mucho más rápido</a:t>
            </a: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660931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Operaciones de un Plan de Ejecución para </a:t>
            </a:r>
            <a:r>
              <a:rPr kumimoji="0" lang="es-CL" sz="1200" b="1" i="0" u="none" strike="noStrike" kern="1200" cap="none" spc="0" normalizeH="0" baseline="0" noProof="0" dirty="0" err="1">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Joins</a:t>
            </a:r>
            <a:endPar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s-CL" sz="1200" b="0" dirty="0">
                <a:latin typeface="Calibri" panose="020F0502020204030204" pitchFamily="34" charset="0"/>
                <a:cs typeface="Calibri" panose="020F0502020204030204" pitchFamily="34" charset="0"/>
              </a:rPr>
              <a:t>Algunas de las operaciones más frecuentes en los planes de ejecución para </a:t>
            </a:r>
            <a:r>
              <a:rPr lang="es-CL" sz="1200" b="0" dirty="0" err="1">
                <a:latin typeface="Calibri" panose="020F0502020204030204" pitchFamily="34" charset="0"/>
                <a:cs typeface="Calibri" panose="020F0502020204030204" pitchFamily="34" charset="0"/>
              </a:rPr>
              <a:t>Join</a:t>
            </a:r>
            <a:r>
              <a:rPr lang="es-CL" sz="1200" b="0" dirty="0">
                <a:latin typeface="Calibri" panose="020F0502020204030204" pitchFamily="34" charset="0"/>
                <a:cs typeface="Calibri" panose="020F0502020204030204" pitchFamily="34" charset="0"/>
              </a:rPr>
              <a:t> de tablas son:</a:t>
            </a:r>
          </a:p>
          <a:p>
            <a:pPr marL="171450" indent="-171450" algn="just">
              <a:buFont typeface="Arial" panose="020B0604020202020204" pitchFamily="34" charset="0"/>
              <a:buChar char="•"/>
            </a:pPr>
            <a:r>
              <a:rPr lang="en-US"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NESTED LOOPS JOIN:</a:t>
            </a:r>
            <a:r>
              <a:rPr lang="en-US"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s</a:t>
            </a:r>
            <a:r>
              <a:rPr lang="es-CL" sz="1200" dirty="0" err="1">
                <a:solidFill>
                  <a:schemeClr val="tx1"/>
                </a:solidFill>
                <a:latin typeface="Calibri" panose="020F0502020204030204" pitchFamily="34" charset="0"/>
                <a:cs typeface="Calibri" panose="020F0502020204030204" pitchFamily="34" charset="0"/>
              </a:rPr>
              <a:t>on</a:t>
            </a:r>
            <a:r>
              <a:rPr lang="es-CL" sz="1200" dirty="0">
                <a:solidFill>
                  <a:schemeClr val="tx1"/>
                </a:solidFill>
                <a:latin typeface="Calibri" panose="020F0502020204030204" pitchFamily="34" charset="0"/>
                <a:cs typeface="Calibri" panose="020F0502020204030204" pitchFamily="34" charset="0"/>
              </a:rPr>
              <a:t> útiles cuando:</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Se unen pequeños subconjuntos de datos.</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La condición de unión es un método eficiente para acceder a la segunda tabla.</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El optimizador determina la tabla de conducción (tabla externa). La otra tabla se designa como la tabla interna.</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Para cada fila en la tabla externa, se accede a todas las filas en la tabla interna</a:t>
            </a:r>
          </a:p>
          <a:p>
            <a:pPr marL="171450" marR="0" lvl="0" indent="-171450" algn="just"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HASH JOINS: e</a:t>
            </a:r>
            <a:r>
              <a:rPr lang="es-CL" sz="1200" dirty="0">
                <a:solidFill>
                  <a:schemeClr val="tx1"/>
                </a:solidFill>
                <a:latin typeface="Calibri" panose="020F0502020204030204" pitchFamily="34" charset="0"/>
                <a:cs typeface="Calibri" panose="020F0502020204030204" pitchFamily="34" charset="0"/>
              </a:rPr>
              <a:t>l optimizador utiliza una combinación hash:</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Para dos tablas se unen utilizando un </a:t>
            </a:r>
            <a:r>
              <a:rPr lang="es-CL" sz="1200" dirty="0" err="1">
                <a:solidFill>
                  <a:schemeClr val="tx1"/>
                </a:solidFill>
                <a:latin typeface="Calibri" panose="020F0502020204030204" pitchFamily="34" charset="0"/>
                <a:cs typeface="Calibri" panose="020F0502020204030204" pitchFamily="34" charset="0"/>
              </a:rPr>
              <a:t>equijoin</a:t>
            </a:r>
            <a:r>
              <a:rPr lang="es-CL" sz="1200" dirty="0">
                <a:solidFill>
                  <a:schemeClr val="tx1"/>
                </a:solidFill>
                <a:latin typeface="Calibri" panose="020F0502020204030204" pitchFamily="34" charset="0"/>
                <a:cs typeface="Calibri" panose="020F0502020204030204" pitchFamily="34" charset="0"/>
              </a:rPr>
              <a:t>.</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Si se debe unir una gran cantidad de datos.</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Cuando gran parte de una tabla pequeña se debe unir.</a:t>
            </a:r>
          </a:p>
          <a:p>
            <a:pPr marL="171450" marR="0" lvl="0" indent="-171450" algn="just"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SORT-MERGE JOINS:</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e</a:t>
            </a:r>
            <a:r>
              <a:rPr lang="es-CL" sz="1200" dirty="0">
                <a:solidFill>
                  <a:schemeClr val="tx1"/>
                </a:solidFill>
                <a:latin typeface="Calibri" panose="020F0502020204030204" pitchFamily="34" charset="0"/>
                <a:cs typeface="Calibri" panose="020F0502020204030204" pitchFamily="34" charset="0"/>
              </a:rPr>
              <a:t>l optimizador puede elegir </a:t>
            </a:r>
            <a:r>
              <a:rPr lang="es-CL" sz="1200" dirty="0" err="1">
                <a:solidFill>
                  <a:schemeClr val="tx1"/>
                </a:solidFill>
                <a:latin typeface="Calibri" panose="020F0502020204030204" pitchFamily="34" charset="0"/>
                <a:cs typeface="Calibri" panose="020F0502020204030204" pitchFamily="34" charset="0"/>
              </a:rPr>
              <a:t>Sort-Merge</a:t>
            </a:r>
            <a:r>
              <a:rPr lang="es-CL" sz="1200" dirty="0">
                <a:solidFill>
                  <a:schemeClr val="tx1"/>
                </a:solidFill>
                <a:latin typeface="Calibri" panose="020F0502020204030204" pitchFamily="34" charset="0"/>
                <a:cs typeface="Calibri" panose="020F0502020204030204" pitchFamily="34" charset="0"/>
              </a:rPr>
              <a:t> </a:t>
            </a:r>
            <a:r>
              <a:rPr lang="es-CL" sz="1200" dirty="0" err="1">
                <a:solidFill>
                  <a:schemeClr val="tx1"/>
                </a:solidFill>
                <a:latin typeface="Calibri" panose="020F0502020204030204" pitchFamily="34" charset="0"/>
                <a:cs typeface="Calibri" panose="020F0502020204030204" pitchFamily="34" charset="0"/>
              </a:rPr>
              <a:t>Join</a:t>
            </a:r>
            <a:r>
              <a:rPr lang="es-CL" sz="1200" dirty="0">
                <a:solidFill>
                  <a:schemeClr val="tx1"/>
                </a:solidFill>
                <a:latin typeface="Calibri" panose="020F0502020204030204" pitchFamily="34" charset="0"/>
                <a:cs typeface="Calibri" panose="020F0502020204030204" pitchFamily="34" charset="0"/>
              </a:rPr>
              <a:t> sobre un Hash </a:t>
            </a:r>
            <a:r>
              <a:rPr lang="es-CL" sz="1200" dirty="0" err="1">
                <a:solidFill>
                  <a:schemeClr val="tx1"/>
                </a:solidFill>
                <a:latin typeface="Calibri" panose="020F0502020204030204" pitchFamily="34" charset="0"/>
                <a:cs typeface="Calibri" panose="020F0502020204030204" pitchFamily="34" charset="0"/>
              </a:rPr>
              <a:t>Join</a:t>
            </a:r>
            <a:r>
              <a:rPr lang="es-CL" sz="1200" dirty="0">
                <a:solidFill>
                  <a:schemeClr val="tx1"/>
                </a:solidFill>
                <a:latin typeface="Calibri" panose="020F0502020204030204" pitchFamily="34" charset="0"/>
                <a:cs typeface="Calibri" panose="020F0502020204030204" pitchFamily="34" charset="0"/>
              </a:rPr>
              <a:t> para unir grandes cantidades de datos si:</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La condición de unión entre dos tablas no es un </a:t>
            </a:r>
            <a:r>
              <a:rPr lang="es-CL" sz="1200" dirty="0" err="1">
                <a:solidFill>
                  <a:schemeClr val="tx1"/>
                </a:solidFill>
                <a:latin typeface="Calibri" panose="020F0502020204030204" pitchFamily="34" charset="0"/>
                <a:cs typeface="Calibri" panose="020F0502020204030204" pitchFamily="34" charset="0"/>
              </a:rPr>
              <a:t>equijoin</a:t>
            </a:r>
            <a:r>
              <a:rPr lang="es-CL" sz="1200" dirty="0">
                <a:solidFill>
                  <a:schemeClr val="tx1"/>
                </a:solidFill>
                <a:latin typeface="Calibri" panose="020F0502020204030204" pitchFamily="34" charset="0"/>
                <a:cs typeface="Calibri" panose="020F0502020204030204" pitchFamily="34" charset="0"/>
              </a:rPr>
              <a:t>.</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Las filas requeridas ya están ordenadas.</a:t>
            </a:r>
          </a:p>
          <a:p>
            <a:pPr marL="628650" lvl="1" indent="-171450" algn="just">
              <a:buFont typeface="Courier New" panose="02070309020205020404" pitchFamily="49" charset="0"/>
              <a:buChar char="o"/>
            </a:pPr>
            <a:r>
              <a:rPr lang="es-CL" sz="1200" dirty="0">
                <a:solidFill>
                  <a:schemeClr val="tx1"/>
                </a:solidFill>
                <a:latin typeface="Calibri" panose="020F0502020204030204" pitchFamily="34" charset="0"/>
                <a:cs typeface="Calibri" panose="020F0502020204030204" pitchFamily="34" charset="0"/>
              </a:rPr>
              <a:t>Las filas se requieres ordenadas para otras operaciones</a:t>
            </a:r>
            <a:endPar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6593774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Operaciones de un Plan de Ejecución para Ordenamiento </a:t>
            </a:r>
          </a:p>
          <a:p>
            <a:pPr marL="0" marR="0" lvl="0" indent="0" algn="l" defTabSz="914400" rtl="0" eaLnBrk="1" fontAlgn="base" latinLnBrk="0" hangingPunct="1">
              <a:lnSpc>
                <a:spcPct val="100000"/>
              </a:lnSpc>
              <a:spcBef>
                <a:spcPct val="0"/>
              </a:spcBef>
              <a:spcAft>
                <a:spcPct val="0"/>
              </a:spcAft>
              <a:buClrTx/>
              <a:buSzTx/>
              <a:buFontTx/>
              <a:buNone/>
              <a:tabLst/>
              <a:defRPr/>
            </a:pPr>
            <a:r>
              <a:rPr lang="es-CL" sz="1200" dirty="0">
                <a:latin typeface="Calibri" panose="020F0502020204030204" pitchFamily="34" charset="0"/>
                <a:cs typeface="Calibri" panose="020F0502020204030204" pitchFamily="34" charset="0"/>
              </a:rPr>
              <a:t>Algunas de las operaciones más frecuentes en los planes de ejecución para el ordenamiento son: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 UNIQUE: </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o</a:t>
            </a:r>
            <a:r>
              <a:rPr lang="es-CL" sz="1200" b="0" dirty="0">
                <a:solidFill>
                  <a:schemeClr val="tx1"/>
                </a:solidFill>
                <a:latin typeface="Calibri" panose="020F0502020204030204" pitchFamily="34" charset="0"/>
                <a:cs typeface="Calibri" panose="020F0502020204030204" pitchFamily="34" charset="0"/>
              </a:rPr>
              <a:t>curre si un usuario especifica una cláusula DISTINCT o si una operación vuelve a consultar valores únicos para el siguiente paso.</a:t>
            </a:r>
          </a:p>
          <a:p>
            <a:pPr marL="171450" indent="-171450" algn="just">
              <a:buFont typeface="Arial" panose="020B0604020202020204" pitchFamily="34" charset="0"/>
              <a:buChar cha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 AGGREGATE:</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r</a:t>
            </a:r>
            <a:r>
              <a:rPr lang="es-CL" sz="1200" dirty="0">
                <a:solidFill>
                  <a:schemeClr val="tx1"/>
                </a:solidFill>
                <a:latin typeface="Calibri" panose="020F0502020204030204" pitchFamily="34" charset="0"/>
                <a:cs typeface="Calibri" panose="020F0502020204030204" pitchFamily="34" charset="0"/>
              </a:rPr>
              <a:t>ealmente no involucra una operación de ordenamiento.  El optimizador lo utiliza cuando se calculan totales a partir todas las filas de la tabla.</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 GROUP BY:</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s</a:t>
            </a:r>
            <a:r>
              <a:rPr lang="es-CL" sz="1200" dirty="0">
                <a:solidFill>
                  <a:schemeClr val="tx1"/>
                </a:solidFill>
                <a:latin typeface="Calibri" panose="020F0502020204030204" pitchFamily="34" charset="0"/>
                <a:cs typeface="Calibri" panose="020F0502020204030204" pitchFamily="34" charset="0"/>
              </a:rPr>
              <a:t>e usa cuando se calculan totales para diferentes grupos en los datos. El ordenamiento se requiere para separar las filas en diferentes grupos.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 JOIN:</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s</a:t>
            </a:r>
            <a:r>
              <a:rPr lang="es-CL" sz="1200" dirty="0">
                <a:solidFill>
                  <a:schemeClr val="tx1"/>
                </a:solidFill>
                <a:latin typeface="Calibri" panose="020F0502020204030204" pitchFamily="34" charset="0"/>
                <a:cs typeface="Calibri" panose="020F0502020204030204" pitchFamily="34" charset="0"/>
              </a:rPr>
              <a:t>ucede durante un </a:t>
            </a:r>
            <a:r>
              <a:rPr lang="es-CL" sz="1200" dirty="0" err="1">
                <a:solidFill>
                  <a:schemeClr val="tx1"/>
                </a:solidFill>
                <a:latin typeface="Calibri" panose="020F0502020204030204" pitchFamily="34" charset="0"/>
                <a:cs typeface="Calibri" panose="020F0502020204030204" pitchFamily="34" charset="0"/>
              </a:rPr>
              <a:t>Sort-Merge</a:t>
            </a:r>
            <a:r>
              <a:rPr lang="es-CL" sz="1200" dirty="0">
                <a:solidFill>
                  <a:schemeClr val="tx1"/>
                </a:solidFill>
                <a:latin typeface="Calibri" panose="020F0502020204030204" pitchFamily="34" charset="0"/>
                <a:cs typeface="Calibri" panose="020F0502020204030204" pitchFamily="34" charset="0"/>
              </a:rPr>
              <a:t> </a:t>
            </a:r>
            <a:r>
              <a:rPr lang="es-CL" sz="1200" dirty="0" err="1">
                <a:solidFill>
                  <a:schemeClr val="tx1"/>
                </a:solidFill>
                <a:latin typeface="Calibri" panose="020F0502020204030204" pitchFamily="34" charset="0"/>
                <a:cs typeface="Calibri" panose="020F0502020204030204" pitchFamily="34" charset="0"/>
              </a:rPr>
              <a:t>Join</a:t>
            </a:r>
            <a:r>
              <a:rPr lang="es-CL" sz="1200" dirty="0">
                <a:solidFill>
                  <a:schemeClr val="tx1"/>
                </a:solidFill>
                <a:latin typeface="Calibri" panose="020F0502020204030204" pitchFamily="34" charset="0"/>
                <a:cs typeface="Calibri" panose="020F0502020204030204" pitchFamily="34" charset="0"/>
              </a:rPr>
              <a:t> si las filas se deben ordenar por la columna de unión.</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kern="0" cap="none" dirty="0">
                <a:solidFill>
                  <a:srgbClr val="FFFFFF"/>
                </a:solidFill>
                <a:latin typeface="Calibri" panose="020F0502020204030204" pitchFamily="34" charset="0"/>
                <a:ea typeface="Arial"/>
                <a:cs typeface="Calibri" panose="020F0502020204030204" pitchFamily="34" charset="0"/>
                <a:sym typeface="Arial"/>
              </a:rPr>
              <a:t>SORT ORDER BY:</a:t>
            </a:r>
            <a:r>
              <a:rPr lang="es-CL" sz="1200" b="0" i="0" u="none" strike="noStrike" kern="0" cap="none" dirty="0">
                <a:solidFill>
                  <a:srgbClr val="FFFFFF"/>
                </a:solidFill>
                <a:latin typeface="Calibri" panose="020F0502020204030204" pitchFamily="34" charset="0"/>
                <a:ea typeface="Arial"/>
                <a:cs typeface="Calibri" panose="020F0502020204030204" pitchFamily="34" charset="0"/>
                <a:sym typeface="Arial"/>
              </a:rPr>
              <a:t> e</a:t>
            </a:r>
            <a:r>
              <a:rPr lang="es-CL" sz="1200" dirty="0">
                <a:solidFill>
                  <a:schemeClr val="tx1"/>
                </a:solidFill>
                <a:latin typeface="Calibri" panose="020F0502020204030204" pitchFamily="34" charset="0"/>
                <a:cs typeface="Calibri" panose="020F0502020204030204" pitchFamily="34" charset="0"/>
              </a:rPr>
              <a:t>s obligatorio cuando la sentencia especifica un ORDER BY que no puede ser satisfecho por alguno de los índices de la tabla.</a:t>
            </a:r>
            <a:endParaRPr lang="es-CL" sz="1200" b="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94416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2">
  <p:cSld name="Encabezado de sección 2">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extLst>
      <p:ext uri="{BB962C8B-B14F-4D97-AF65-F5344CB8AC3E}">
        <p14:creationId xmlns:p14="http://schemas.microsoft.com/office/powerpoint/2010/main" val="2202896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79" r:id="rId3"/>
    <p:sldLayoutId id="2147483661" r:id="rId4"/>
    <p:sldLayoutId id="2147483678" r:id="rId5"/>
    <p:sldLayoutId id="2147483677" r:id="rId6"/>
    <p:sldLayoutId id="214748368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452947"/>
            <a:ext cx="5758963" cy="2891100"/>
          </a:xfrm>
          <a:prstGeom prst="rect">
            <a:avLst/>
          </a:prstGeom>
        </p:spPr>
        <p:txBody>
          <a:bodyPr spcFirstLastPara="1" wrap="square" lIns="91425" tIns="45700" rIns="91425" bIns="45700" anchor="b" anchorCtr="0">
            <a:noAutofit/>
          </a:bodyPr>
          <a:lstStyle/>
          <a:p>
            <a:pPr lvl="0"/>
            <a:r>
              <a:rPr lang="es-CL" sz="5800" b="1" dirty="0"/>
              <a:t>Cómo se </a:t>
            </a:r>
            <a:r>
              <a:rPr lang="es-CL" sz="5800" b="1"/>
              <a:t/>
            </a:r>
            <a:br>
              <a:rPr lang="es-CL" sz="5800" b="1"/>
            </a:br>
            <a:r>
              <a:rPr lang="es-CL" sz="5800" b="1"/>
              <a:t>acceden </a:t>
            </a:r>
            <a:r>
              <a:rPr lang="es-CL" sz="5800" b="1" dirty="0"/>
              <a:t>los </a:t>
            </a:r>
            <a:br>
              <a:rPr lang="es-CL" sz="5800" b="1" dirty="0"/>
            </a:br>
            <a:r>
              <a:rPr lang="es-CL" sz="5800" b="1" dirty="0"/>
              <a:t>datos cuando </a:t>
            </a:r>
            <a:r>
              <a:rPr lang="es-CL" sz="5800" b="1"/>
              <a:t>ejecutamos sentencias </a:t>
            </a:r>
            <a:r>
              <a:rPr lang="es-CL" sz="5800" b="1" dirty="0"/>
              <a:t>SQL</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extLst>
              <p:ext uri="{D42A27DB-BD31-4B8C-83A1-F6EECF244321}">
                <p14:modId xmlns:p14="http://schemas.microsoft.com/office/powerpoint/2010/main" val="2420673939"/>
              </p:ext>
            </p:extLst>
          </p:nvPr>
        </p:nvGraphicFramePr>
        <p:xfrm>
          <a:off x="428622" y="1668467"/>
          <a:ext cx="8315325" cy="366477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 </a:t>
                      </a:r>
                      <a:r>
                        <a:rPr kumimoji="0" lang="es-ES_tradnl" sz="1800" b="0" i="0" u="none" strike="noStrike" kern="0" cap="none" spc="0" normalizeH="0" baseline="0" noProof="0" dirty="0" smtClean="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3</a:t>
                      </a:r>
                      <a:endPar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endParaRP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Gestión de usuarios y objetos de la base de datos </a:t>
                      </a:r>
                      <a:endParaRPr lang="es-CL" sz="1800"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en la base de datos que permitan controlar y mejorar la manipulación y recuperación de datos utilizando el lenguaje asociado y de acuerdo a los requerimientos de la organización.</a:t>
                      </a:r>
                      <a:endParaRPr lang="es-CL" sz="1800"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75885" y="1711514"/>
            <a:ext cx="8023225" cy="3395057"/>
          </a:xfrm>
        </p:spPr>
        <p:txBody>
          <a:bodyPr/>
          <a:lstStyle/>
          <a:p>
            <a:pPr marL="285750" indent="-285750" algn="just" defTabSz="457200">
              <a:buFont typeface="Arial" panose="020B0604020202020204" pitchFamily="34" charset="0"/>
              <a:buChar char="•"/>
            </a:pPr>
            <a:r>
              <a:rPr lang="es-MX" sz="2200" dirty="0">
                <a:ea typeface="ＭＳ Ｐゴシック" pitchFamily="34" charset="-128"/>
              </a:rPr>
              <a:t>Explicar cómo se ejecuta una sentencia SQL en el Servidor de Base de Datos Oracle.</a:t>
            </a:r>
          </a:p>
          <a:p>
            <a:pPr marL="285750" indent="-285750" algn="just" defTabSz="457200">
              <a:buFont typeface="Arial" panose="020B0604020202020204" pitchFamily="34" charset="0"/>
              <a:buChar char="•"/>
            </a:pPr>
            <a:r>
              <a:rPr lang="es-MX" sz="2200" dirty="0">
                <a:ea typeface="ＭＳ Ｐゴシック" pitchFamily="34" charset="-128"/>
              </a:rPr>
              <a:t>Describir las Fases de Procesamiento de una consulta SQL.</a:t>
            </a:r>
          </a:p>
          <a:p>
            <a:pPr marL="285750" indent="-285750" algn="just" defTabSz="457200">
              <a:buFont typeface="Arial" panose="020B0604020202020204" pitchFamily="34" charset="0"/>
              <a:buChar char="•"/>
            </a:pPr>
            <a:r>
              <a:rPr lang="es-MX" sz="2200" dirty="0">
                <a:ea typeface="ＭＳ Ｐゴシック" pitchFamily="34" charset="-128"/>
              </a:rPr>
              <a:t>Explicar qué es el optimizador de la Base de Datos y cómo decide la forma en que la sentencia SQL es ejecutada.</a:t>
            </a:r>
          </a:p>
          <a:p>
            <a:pPr marL="285750" indent="-285750" algn="just" defTabSz="457200">
              <a:buFont typeface="Arial" panose="020B0604020202020204" pitchFamily="34" charset="0"/>
              <a:buChar char="•"/>
            </a:pPr>
            <a:r>
              <a:rPr lang="es-MX" sz="2200" dirty="0">
                <a:ea typeface="ＭＳ Ｐゴシック" pitchFamily="34" charset="-128"/>
              </a:rPr>
              <a:t>Explicar que es un Plan de Ejecución de una sentencia SQL.</a:t>
            </a:r>
          </a:p>
          <a:p>
            <a:pPr marL="285750" indent="-285750" algn="just" defTabSz="457200">
              <a:buFont typeface="Arial" panose="020B0604020202020204" pitchFamily="34" charset="0"/>
              <a:buChar char="•"/>
            </a:pPr>
            <a:r>
              <a:rPr lang="es-MX" sz="2200" dirty="0">
                <a:ea typeface="ＭＳ Ｐゴシック" pitchFamily="34" charset="-128"/>
              </a:rPr>
              <a:t>Describir algunas de las operaciones más frecuentes en un Plan de Ejecución.</a:t>
            </a:r>
          </a:p>
          <a:p>
            <a:pPr marL="285750" indent="-285750" algn="just" defTabSz="457200">
              <a:buFont typeface="Arial" panose="020B0604020202020204" pitchFamily="34" charset="0"/>
              <a:buChar char="•"/>
            </a:pPr>
            <a:r>
              <a:rPr lang="es-MX" sz="2200" dirty="0">
                <a:ea typeface="ＭＳ Ｐゴシック" pitchFamily="34" charset="-128"/>
              </a:rPr>
              <a:t>Explicar conceptos generales de Índices.</a:t>
            </a:r>
          </a:p>
          <a:p>
            <a:pPr marL="285750" indent="-285750" algn="just" defTabSz="457200">
              <a:buFont typeface="Arial" panose="020B0604020202020204" pitchFamily="34" charset="0"/>
              <a:buChar char="•"/>
            </a:pPr>
            <a:endParaRPr lang="es-MX" sz="2200" dirty="0">
              <a:ea typeface="ＭＳ Ｐゴシック" pitchFamily="34" charset="-128"/>
            </a:endParaRPr>
          </a:p>
          <a:p>
            <a:pPr algn="l"/>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21508" y="2699039"/>
            <a:ext cx="5995800" cy="2889690"/>
          </a:xfrm>
          <a:prstGeom prst="rect">
            <a:avLst/>
          </a:prstGeom>
        </p:spPr>
        <p:txBody>
          <a:bodyPr spcFirstLastPara="1" wrap="square" lIns="91425" tIns="45700" rIns="91425" bIns="45700" anchor="ctr" anchorCtr="0">
            <a:noAutofit/>
          </a:bodyPr>
          <a:lstStyle/>
          <a:p>
            <a:pPr lvl="0" defTabSz="457200">
              <a:defRPr/>
            </a:pPr>
            <a:r>
              <a:rPr lang="es-CL" sz="4800" b="1" dirty="0">
                <a:solidFill>
                  <a:prstClr val="white"/>
                </a:solidFill>
                <a:latin typeface="Calibri"/>
              </a:rPr>
              <a:t>Ejecución de las Sentencias SQL en el Servidor de Base de Datos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Ejecución de una Sentencia SQL</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C126D16A-F2B0-47E1-8FE5-2713CC5B543D}"/>
              </a:ext>
            </a:extLst>
          </p:cNvPr>
          <p:cNvPicPr>
            <a:picLocks noChangeAspect="1"/>
          </p:cNvPicPr>
          <p:nvPr/>
        </p:nvPicPr>
        <p:blipFill>
          <a:blip r:embed="rId3"/>
          <a:stretch>
            <a:fillRect/>
          </a:stretch>
        </p:blipFill>
        <p:spPr>
          <a:xfrm>
            <a:off x="631507" y="1298257"/>
            <a:ext cx="8070039" cy="5175532"/>
          </a:xfrm>
          <a:prstGeom prst="rect">
            <a:avLst/>
          </a:prstGeom>
        </p:spPr>
      </p:pic>
    </p:spTree>
    <p:extLst>
      <p:ext uri="{BB962C8B-B14F-4D97-AF65-F5344CB8AC3E}">
        <p14:creationId xmlns:p14="http://schemas.microsoft.com/office/powerpoint/2010/main" val="1634600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xmlns="" id="{B8A49800-304A-41B9-96CC-550517E069EB}"/>
              </a:ext>
            </a:extLst>
          </p:cNvPr>
          <p:cNvPicPr>
            <a:picLocks noChangeAspect="1"/>
          </p:cNvPicPr>
          <p:nvPr/>
        </p:nvPicPr>
        <p:blipFill>
          <a:blip r:embed="rId3"/>
          <a:stretch>
            <a:fillRect/>
          </a:stretch>
        </p:blipFill>
        <p:spPr>
          <a:xfrm>
            <a:off x="304343" y="1124744"/>
            <a:ext cx="8684988" cy="5396383"/>
          </a:xfrm>
          <a:prstGeom prst="rect">
            <a:avLst/>
          </a:prstGeom>
        </p:spPr>
      </p:pic>
      <p:sp>
        <p:nvSpPr>
          <p:cNvPr id="8" name="Título 2">
            <a:extLst>
              <a:ext uri="{FF2B5EF4-FFF2-40B4-BE49-F238E27FC236}">
                <a16:creationId xmlns:a16="http://schemas.microsoft.com/office/drawing/2014/main" xmlns="" id="{F2FFEC5F-78CA-4FED-9100-995E137DB8C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Ejecución de una Sentencia SQL</a:t>
            </a:r>
            <a:endParaRPr lang="es-CL" sz="2800" b="1" kern="1200" dirty="0">
              <a:solidFill>
                <a:prstClr val="white"/>
              </a:solidFill>
              <a:latin typeface="Calibri"/>
              <a:cs typeface="Arial" panose="020B0604020202020204" pitchFamily="34" charset="0"/>
            </a:endParaRPr>
          </a:p>
        </p:txBody>
      </p:sp>
    </p:spTree>
    <p:extLst>
      <p:ext uri="{BB962C8B-B14F-4D97-AF65-F5344CB8AC3E}">
        <p14:creationId xmlns:p14="http://schemas.microsoft.com/office/powerpoint/2010/main" val="398351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ABFA0FA7-7FA4-4D1B-8587-C4DFD990412B}"/>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Fases del Procesamiento de una Sentencia SQL</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D28CD567-E145-4388-8031-4F27106A7AA8}"/>
              </a:ext>
            </a:extLst>
          </p:cNvPr>
          <p:cNvPicPr>
            <a:picLocks noChangeAspect="1"/>
          </p:cNvPicPr>
          <p:nvPr/>
        </p:nvPicPr>
        <p:blipFill>
          <a:blip r:embed="rId3"/>
          <a:stretch>
            <a:fillRect/>
          </a:stretch>
        </p:blipFill>
        <p:spPr>
          <a:xfrm>
            <a:off x="1154117" y="1268760"/>
            <a:ext cx="6786723" cy="5063466"/>
          </a:xfrm>
          <a:prstGeom prst="rect">
            <a:avLst/>
          </a:prstGeom>
        </p:spPr>
      </p:pic>
    </p:spTree>
    <p:extLst>
      <p:ext uri="{BB962C8B-B14F-4D97-AF65-F5344CB8AC3E}">
        <p14:creationId xmlns:p14="http://schemas.microsoft.com/office/powerpoint/2010/main" val="353313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ABFA0FA7-7FA4-4D1B-8587-C4DFD990412B}"/>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Fases del Procesamiento de una Sentencia SQL - PARSE</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AD60169C-6ABC-4199-AFE9-C888A161DF66}"/>
              </a:ext>
            </a:extLst>
          </p:cNvPr>
          <p:cNvPicPr>
            <a:picLocks noChangeAspect="1"/>
          </p:cNvPicPr>
          <p:nvPr/>
        </p:nvPicPr>
        <p:blipFill>
          <a:blip r:embed="rId3"/>
          <a:stretch>
            <a:fillRect/>
          </a:stretch>
        </p:blipFill>
        <p:spPr>
          <a:xfrm>
            <a:off x="145375" y="1340768"/>
            <a:ext cx="8853249" cy="4780873"/>
          </a:xfrm>
          <a:prstGeom prst="rect">
            <a:avLst/>
          </a:prstGeom>
        </p:spPr>
      </p:pic>
    </p:spTree>
    <p:extLst>
      <p:ext uri="{BB962C8B-B14F-4D97-AF65-F5344CB8AC3E}">
        <p14:creationId xmlns:p14="http://schemas.microsoft.com/office/powerpoint/2010/main" val="174211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ABFA0FA7-7FA4-4D1B-8587-C4DFD990412B}"/>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Fases del Procesamiento de una Sentencia </a:t>
            </a:r>
            <a:r>
              <a:rPr lang="es-CL" sz="2800" b="1" dirty="0">
                <a:solidFill>
                  <a:prstClr val="white"/>
                </a:solidFill>
                <a:latin typeface="Calibri"/>
              </a:rPr>
              <a:t>SQL-BIND</a:t>
            </a:r>
            <a:endParaRPr lang="es-CL" sz="2800" b="1" kern="1200" dirty="0">
              <a:solidFill>
                <a:prstClr val="white"/>
              </a:solidFill>
              <a:latin typeface="Calibri"/>
              <a:cs typeface="Arial" panose="020B0604020202020204" pitchFamily="34" charset="0"/>
            </a:endParaRPr>
          </a:p>
        </p:txBody>
      </p:sp>
      <p:pic>
        <p:nvPicPr>
          <p:cNvPr id="4" name="Imagen 3">
            <a:extLst>
              <a:ext uri="{FF2B5EF4-FFF2-40B4-BE49-F238E27FC236}">
                <a16:creationId xmlns:a16="http://schemas.microsoft.com/office/drawing/2014/main" xmlns="" id="{07C9AA50-0F5A-4D33-ADC2-959FD09F0637}"/>
              </a:ext>
            </a:extLst>
          </p:cNvPr>
          <p:cNvPicPr>
            <a:picLocks noChangeAspect="1"/>
          </p:cNvPicPr>
          <p:nvPr/>
        </p:nvPicPr>
        <p:blipFill>
          <a:blip r:embed="rId3"/>
          <a:stretch>
            <a:fillRect/>
          </a:stretch>
        </p:blipFill>
        <p:spPr>
          <a:xfrm>
            <a:off x="682415" y="1628800"/>
            <a:ext cx="7779170" cy="4188315"/>
          </a:xfrm>
          <a:prstGeom prst="rect">
            <a:avLst/>
          </a:prstGeom>
        </p:spPr>
      </p:pic>
    </p:spTree>
    <p:extLst>
      <p:ext uri="{BB962C8B-B14F-4D97-AF65-F5344CB8AC3E}">
        <p14:creationId xmlns:p14="http://schemas.microsoft.com/office/powerpoint/2010/main" val="352900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ABFA0FA7-7FA4-4D1B-8587-C4DFD990412B}"/>
              </a:ext>
            </a:extLst>
          </p:cNvPr>
          <p:cNvSpPr>
            <a:spLocks noGrp="1"/>
          </p:cNvSpPr>
          <p:nvPr>
            <p:ph type="title"/>
          </p:nvPr>
        </p:nvSpPr>
        <p:spPr>
          <a:xfrm>
            <a:off x="160043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Fases del Procesamiento de una Sentencia </a:t>
            </a:r>
            <a:r>
              <a:rPr lang="es-CL" sz="2800" b="1" dirty="0">
                <a:solidFill>
                  <a:prstClr val="white"/>
                </a:solidFill>
                <a:latin typeface="Calibri"/>
              </a:rPr>
              <a:t>SQL-EXECUTE</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4C2E6200-7CBA-4AF6-AD26-8D148F1B6502}"/>
              </a:ext>
            </a:extLst>
          </p:cNvPr>
          <p:cNvPicPr>
            <a:picLocks noChangeAspect="1"/>
          </p:cNvPicPr>
          <p:nvPr/>
        </p:nvPicPr>
        <p:blipFill>
          <a:blip r:embed="rId3"/>
          <a:stretch>
            <a:fillRect/>
          </a:stretch>
        </p:blipFill>
        <p:spPr>
          <a:xfrm>
            <a:off x="657485" y="1628800"/>
            <a:ext cx="7986452" cy="4450466"/>
          </a:xfrm>
          <a:prstGeom prst="rect">
            <a:avLst/>
          </a:prstGeom>
        </p:spPr>
      </p:pic>
    </p:spTree>
    <p:extLst>
      <p:ext uri="{BB962C8B-B14F-4D97-AF65-F5344CB8AC3E}">
        <p14:creationId xmlns:p14="http://schemas.microsoft.com/office/powerpoint/2010/main" val="3535208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ABFA0FA7-7FA4-4D1B-8587-C4DFD990412B}"/>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cs typeface="Arial" panose="020B0604020202020204" pitchFamily="34" charset="0"/>
              </a:rPr>
              <a:t>Fases del Procesamiento de una Sentencia </a:t>
            </a:r>
            <a:r>
              <a:rPr lang="es-CL" sz="2800" b="1" dirty="0">
                <a:solidFill>
                  <a:prstClr val="white"/>
                </a:solidFill>
                <a:latin typeface="Calibri"/>
              </a:rPr>
              <a:t>SQL-FETCH</a:t>
            </a:r>
            <a:endParaRPr lang="es-CL" sz="2800" b="1" kern="1200" dirty="0">
              <a:solidFill>
                <a:prstClr val="white"/>
              </a:solidFill>
              <a:latin typeface="Calibri"/>
              <a:cs typeface="Arial" panose="020B0604020202020204" pitchFamily="34" charset="0"/>
            </a:endParaRPr>
          </a:p>
        </p:txBody>
      </p:sp>
      <p:pic>
        <p:nvPicPr>
          <p:cNvPr id="5" name="Imagen 4">
            <a:extLst>
              <a:ext uri="{FF2B5EF4-FFF2-40B4-BE49-F238E27FC236}">
                <a16:creationId xmlns:a16="http://schemas.microsoft.com/office/drawing/2014/main" xmlns="" id="{B217D30F-0C82-436D-95CB-3F7416035255}"/>
              </a:ext>
            </a:extLst>
          </p:cNvPr>
          <p:cNvPicPr>
            <a:picLocks noChangeAspect="1"/>
          </p:cNvPicPr>
          <p:nvPr/>
        </p:nvPicPr>
        <p:blipFill>
          <a:blip r:embed="rId3"/>
          <a:stretch>
            <a:fillRect/>
          </a:stretch>
        </p:blipFill>
        <p:spPr>
          <a:xfrm>
            <a:off x="651932" y="1484784"/>
            <a:ext cx="7840136" cy="4450466"/>
          </a:xfrm>
          <a:prstGeom prst="rect">
            <a:avLst/>
          </a:prstGeom>
        </p:spPr>
      </p:pic>
    </p:spTree>
    <p:extLst>
      <p:ext uri="{BB962C8B-B14F-4D97-AF65-F5344CB8AC3E}">
        <p14:creationId xmlns:p14="http://schemas.microsoft.com/office/powerpoint/2010/main" val="1972021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016049"/>
            <a:ext cx="5995800" cy="2145890"/>
          </a:xfrm>
        </p:spPr>
        <p:txBody>
          <a:bodyPr anchor="ctr" anchorCtr="0"/>
          <a:lstStyle/>
          <a:p>
            <a:r>
              <a:rPr lang="es-ES_tradnl" sz="4800" b="1" dirty="0"/>
              <a:t>Plan de Ejecución de una Sentencia SQL</a:t>
            </a:r>
          </a:p>
        </p:txBody>
      </p:sp>
      <p:sp>
        <p:nvSpPr>
          <p:cNvPr id="2" name="CuadroTexto 1">
            <a:extLst>
              <a:ext uri="{FF2B5EF4-FFF2-40B4-BE49-F238E27FC236}">
                <a16:creationId xmlns:a16="http://schemas.microsoft.com/office/drawing/2014/main" xmlns="" id="{E9277658-66A1-4D7C-AE81-C6AC9A877A25}"/>
              </a:ext>
            </a:extLst>
          </p:cNvPr>
          <p:cNvSpPr txBox="1"/>
          <p:nvPr/>
        </p:nvSpPr>
        <p:spPr>
          <a:xfrm>
            <a:off x="610493" y="6256421"/>
            <a:ext cx="914400" cy="914400"/>
          </a:xfrm>
          <a:prstGeom prst="rect">
            <a:avLst/>
          </a:prstGeom>
          <a:noFill/>
          <a:ln>
            <a:noFill/>
          </a:ln>
        </p:spPr>
        <p:txBody>
          <a:bodyPr spcFirstLastPara="1" wrap="none" lIns="91425" tIns="45700" rIns="91425" bIns="45700" rtlCol="0" anchor="t" anchorCtr="0">
            <a:noAutofit/>
          </a:bodyPr>
          <a:lstStyle/>
          <a:p>
            <a:r>
              <a:rPr lang="es-MX" sz="1600" b="1" dirty="0">
                <a:solidFill>
                  <a:schemeClr val="bg1"/>
                </a:solidFill>
              </a:rPr>
              <a:t>*</a:t>
            </a:r>
            <a:r>
              <a:rPr lang="es-MX" sz="1200" b="1" dirty="0">
                <a:solidFill>
                  <a:schemeClr val="bg1"/>
                </a:solidFill>
              </a:rPr>
              <a:t>Las sentencias SQL de los ejemplos utilizan las tablas del script </a:t>
            </a:r>
            <a:r>
              <a:rPr lang="es-MX" sz="1200" b="1" dirty="0" err="1">
                <a:solidFill>
                  <a:schemeClr val="bg1"/>
                </a:solidFill>
              </a:rPr>
              <a:t>crea_pobla_tablsa_bd_RENT_A_HOUSE.SQL</a:t>
            </a:r>
            <a:r>
              <a:rPr lang="es-MX" sz="1200" b="1" dirty="0">
                <a:solidFill>
                  <a:schemeClr val="bg1"/>
                </a:solidFill>
              </a:rPr>
              <a:t> </a:t>
            </a:r>
            <a:br>
              <a:rPr lang="es-MX" sz="1200" b="1" dirty="0">
                <a:solidFill>
                  <a:schemeClr val="bg1"/>
                </a:solidFill>
              </a:rPr>
            </a:br>
            <a:endParaRPr lang="es-CL" sz="1200" b="1" dirty="0">
              <a:solidFill>
                <a:schemeClr val="bg1"/>
              </a:solidFill>
            </a:endParaRPr>
          </a:p>
        </p:txBody>
      </p:sp>
    </p:spTree>
    <p:extLst>
      <p:ext uri="{BB962C8B-B14F-4D97-AF65-F5344CB8AC3E}">
        <p14:creationId xmlns:p14="http://schemas.microsoft.com/office/powerpoint/2010/main" val="259994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cs typeface="Arial" panose="020B0604020202020204" pitchFamily="34" charset="0"/>
              </a:rPr>
              <a:t>Optimizador del Servidor de Base de Datos</a:t>
            </a:r>
            <a:endParaRPr lang="es-CL" sz="2800" b="1" kern="1200" dirty="0">
              <a:solidFill>
                <a:prstClr val="white"/>
              </a:solidFill>
              <a:latin typeface="Calibri"/>
              <a:cs typeface="Arial" panose="020B0604020202020204" pitchFamily="34" charset="0"/>
            </a:endParaRPr>
          </a:p>
        </p:txBody>
      </p:sp>
      <p:sp>
        <p:nvSpPr>
          <p:cNvPr id="7" name="Rectangle 3">
            <a:extLst>
              <a:ext uri="{FF2B5EF4-FFF2-40B4-BE49-F238E27FC236}">
                <a16:creationId xmlns:a16="http://schemas.microsoft.com/office/drawing/2014/main" xmlns="" id="{486EBCED-AA05-4DAF-BE4E-489CFF928636}"/>
              </a:ext>
            </a:extLst>
          </p:cNvPr>
          <p:cNvSpPr txBox="1">
            <a:spLocks noChangeArrowheads="1"/>
          </p:cNvSpPr>
          <p:nvPr/>
        </p:nvSpPr>
        <p:spPr bwMode="auto">
          <a:xfrm>
            <a:off x="533400" y="1543080"/>
            <a:ext cx="8329930" cy="407987"/>
          </a:xfrm>
          <a:prstGeom prst="rect">
            <a:avLst/>
          </a:prstGeom>
          <a:noFill/>
          <a:ln w="9525">
            <a:noFill/>
            <a:miter lim="800000"/>
            <a:headEnd/>
            <a:tailEnd/>
          </a:ln>
        </p:spPr>
        <p:txBody>
          <a:bodyPr/>
          <a:lstStyle/>
          <a:p>
            <a:pPr algn="just" defTabSz="457200" fontAlgn="base">
              <a:lnSpc>
                <a:spcPct val="80000"/>
              </a:lnSpc>
              <a:spcBef>
                <a:spcPct val="20000"/>
              </a:spcBef>
              <a:spcAft>
                <a:spcPct val="0"/>
              </a:spcAft>
              <a:buClrTx/>
            </a:pPr>
            <a:r>
              <a:rPr lang="es-CL" sz="2000" b="1" kern="1200" dirty="0">
                <a:solidFill>
                  <a:srgbClr val="C00000"/>
                </a:solidFill>
                <a:latin typeface="Calibri"/>
                <a:ea typeface="Arial Unicode MS"/>
                <a:cs typeface="Arial Unicode MS"/>
              </a:rPr>
              <a:t>¿QUIÉN DETERMINA CÓMO OBTENER LO QUE SE DECLARA EN UNA QUERY?</a:t>
            </a:r>
          </a:p>
        </p:txBody>
      </p:sp>
      <p:sp>
        <p:nvSpPr>
          <p:cNvPr id="10" name="Text Box 5">
            <a:extLst>
              <a:ext uri="{FF2B5EF4-FFF2-40B4-BE49-F238E27FC236}">
                <a16:creationId xmlns:a16="http://schemas.microsoft.com/office/drawing/2014/main" xmlns="" id="{45F996A3-3C4F-4964-AEDA-B6D140278E3B}"/>
              </a:ext>
            </a:extLst>
          </p:cNvPr>
          <p:cNvSpPr txBox="1">
            <a:spLocks noChangeArrowheads="1"/>
          </p:cNvSpPr>
          <p:nvPr/>
        </p:nvSpPr>
        <p:spPr bwMode="auto">
          <a:xfrm>
            <a:off x="437777" y="1986494"/>
            <a:ext cx="8329930" cy="338554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SELECT e.numrut_emp || '-' || e.dvrut_emp "RUT EMPLEADO",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e.nombre_emp || ' ' || e.appaterno_emp || ' ' || </a:t>
            </a:r>
          </a:p>
          <a:p>
            <a:pPr marL="0" marR="0" lvl="0" indent="0" defTabSz="914400" eaLnBrk="1" fontAlgn="auto" latinLnBrk="0" hangingPunct="1">
              <a:lnSpc>
                <a:spcPct val="100000"/>
              </a:lnSpc>
              <a:spcBef>
                <a:spcPts val="0"/>
              </a:spcBef>
              <a:spcAft>
                <a:spcPts val="0"/>
              </a:spcAft>
              <a:buClrTx/>
              <a:buSzTx/>
              <a:buFontTx/>
              <a:buNone/>
              <a:tabLst/>
              <a:defRPr/>
            </a:pPr>
            <a:r>
              <a:rPr lang="en-US" sz="1800" b="1" kern="1200" dirty="0">
                <a:solidFill>
                  <a:prstClr val="black"/>
                </a:solidFill>
                <a:latin typeface="Calibri" panose="020F0502020204030204" pitchFamily="34" charset="0"/>
                <a:ea typeface="+mn-ea"/>
                <a:cs typeface="Calibri" panose="020F0502020204030204" pitchFamily="34" charset="0"/>
              </a:rPr>
              <a:t>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e.apmaterno_emp "NOMBRE EMPLEADO",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TO_CHAR(e.sueldo_emp, '999G999G999') sueldo,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COUNT(p.nro_propiedad) "PROPIEDADES A SU CARGO"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FROM empleado e JOIN propiedad 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ON e.numrut_emp=p.numrut_emp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WHERE e.id_categoria_emp = 3</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GROUP BY e.numrut_emp, e.dvrut_emp, e.nombre_emp, e.appaterno_emp,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e.apmaterno_emp, e.sueldo_emp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ORDER BY e.appaterno_emp;</a:t>
            </a:r>
          </a:p>
          <a:p>
            <a:pPr marL="0" marR="0" lvl="0" indent="0" defTabSz="914400" eaLnBrk="1" fontAlgn="auto" latinLnBrk="0" hangingPunct="1">
              <a:lnSpc>
                <a:spcPct val="100000"/>
              </a:lnSpc>
              <a:spcBef>
                <a:spcPts val="0"/>
              </a:spcBef>
              <a:spcAft>
                <a:spcPts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855431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kern="1200" dirty="0">
                <a:solidFill>
                  <a:prstClr val="white"/>
                </a:solidFill>
                <a:latin typeface="Calibri"/>
                <a:cs typeface="Arial" panose="020B0604020202020204" pitchFamily="34" charset="0"/>
              </a:rPr>
              <a:t>Plan de Ejecución</a:t>
            </a:r>
          </a:p>
        </p:txBody>
      </p:sp>
      <p:pic>
        <p:nvPicPr>
          <p:cNvPr id="9" name="Imagen 8">
            <a:extLst>
              <a:ext uri="{FF2B5EF4-FFF2-40B4-BE49-F238E27FC236}">
                <a16:creationId xmlns:a16="http://schemas.microsoft.com/office/drawing/2014/main" xmlns="" id="{940AEAB1-7DD6-4C65-BF73-E52D3948ADCA}"/>
              </a:ext>
            </a:extLst>
          </p:cNvPr>
          <p:cNvPicPr>
            <a:picLocks noChangeAspect="1"/>
          </p:cNvPicPr>
          <p:nvPr/>
        </p:nvPicPr>
        <p:blipFill>
          <a:blip r:embed="rId3"/>
          <a:stretch>
            <a:fillRect/>
          </a:stretch>
        </p:blipFill>
        <p:spPr>
          <a:xfrm>
            <a:off x="253788" y="1207114"/>
            <a:ext cx="8608860" cy="5412444"/>
          </a:xfrm>
          <a:prstGeom prst="rect">
            <a:avLst/>
          </a:prstGeom>
        </p:spPr>
      </p:pic>
    </p:spTree>
    <p:extLst>
      <p:ext uri="{BB962C8B-B14F-4D97-AF65-F5344CB8AC3E}">
        <p14:creationId xmlns:p14="http://schemas.microsoft.com/office/powerpoint/2010/main" val="145977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557313" y="212725"/>
            <a:ext cx="4685691" cy="813000"/>
          </a:xfrm>
        </p:spPr>
        <p:txBody>
          <a:bodyPr/>
          <a:lstStyle/>
          <a:p>
            <a:pPr lvl="0" defTabSz="457200">
              <a:defRPr/>
            </a:pPr>
            <a:r>
              <a:rPr lang="es-CL" sz="2800" b="1" dirty="0">
                <a:solidFill>
                  <a:prstClr val="white"/>
                </a:solidFill>
                <a:latin typeface="Calibri"/>
                <a:cs typeface="Arial" panose="020B0604020202020204" pitchFamily="34" charset="0"/>
              </a:rPr>
              <a:t>Visualizar el Plan de Ejecución de una Sentencia SQL</a:t>
            </a:r>
            <a:endParaRPr lang="es-CL" sz="2800" b="1" kern="1200" dirty="0">
              <a:solidFill>
                <a:prstClr val="white"/>
              </a:solidFill>
              <a:latin typeface="Calibri"/>
              <a:cs typeface="Arial" panose="020B0604020202020204" pitchFamily="34" charset="0"/>
            </a:endParaRPr>
          </a:p>
        </p:txBody>
      </p:sp>
      <p:pic>
        <p:nvPicPr>
          <p:cNvPr id="6" name="Imagen 5">
            <a:extLst>
              <a:ext uri="{FF2B5EF4-FFF2-40B4-BE49-F238E27FC236}">
                <a16:creationId xmlns:a16="http://schemas.microsoft.com/office/drawing/2014/main" xmlns="" id="{08533728-20ED-4F97-A1BD-782F4F0D7268}"/>
              </a:ext>
            </a:extLst>
          </p:cNvPr>
          <p:cNvPicPr>
            <a:picLocks noChangeAspect="1"/>
          </p:cNvPicPr>
          <p:nvPr/>
        </p:nvPicPr>
        <p:blipFill>
          <a:blip r:embed="rId3"/>
          <a:stretch>
            <a:fillRect/>
          </a:stretch>
        </p:blipFill>
        <p:spPr>
          <a:xfrm>
            <a:off x="305843" y="1196728"/>
            <a:ext cx="8533356" cy="5185922"/>
          </a:xfrm>
          <a:prstGeom prst="rect">
            <a:avLst/>
          </a:prstGeom>
        </p:spPr>
      </p:pic>
    </p:spTree>
    <p:extLst>
      <p:ext uri="{BB962C8B-B14F-4D97-AF65-F5344CB8AC3E}">
        <p14:creationId xmlns:p14="http://schemas.microsoft.com/office/powerpoint/2010/main" val="838790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Uso de  EXPLAIN PLAN </a:t>
            </a:r>
            <a:br>
              <a:rPr lang="es-CL" sz="2800" b="1" dirty="0">
                <a:solidFill>
                  <a:prstClr val="white"/>
                </a:solidFill>
                <a:latin typeface="Calibri"/>
              </a:rPr>
            </a:br>
            <a:r>
              <a:rPr lang="es-CL" sz="2800" b="1" dirty="0">
                <a:solidFill>
                  <a:prstClr val="white"/>
                </a:solidFill>
                <a:latin typeface="Calibri"/>
              </a:rPr>
              <a:t>desde SQL*Plus</a:t>
            </a:r>
          </a:p>
        </p:txBody>
      </p:sp>
      <p:pic>
        <p:nvPicPr>
          <p:cNvPr id="7" name="Imagen 6">
            <a:extLst>
              <a:ext uri="{FF2B5EF4-FFF2-40B4-BE49-F238E27FC236}">
                <a16:creationId xmlns:a16="http://schemas.microsoft.com/office/drawing/2014/main" xmlns="" id="{7487F268-4B3E-44E7-86AC-2FFB01FA317F}"/>
              </a:ext>
            </a:extLst>
          </p:cNvPr>
          <p:cNvPicPr>
            <a:picLocks noChangeAspect="1"/>
          </p:cNvPicPr>
          <p:nvPr/>
        </p:nvPicPr>
        <p:blipFill>
          <a:blip r:embed="rId3"/>
          <a:stretch>
            <a:fillRect/>
          </a:stretch>
        </p:blipFill>
        <p:spPr>
          <a:xfrm>
            <a:off x="338652" y="1366738"/>
            <a:ext cx="8715698" cy="4443413"/>
          </a:xfrm>
          <a:prstGeom prst="rect">
            <a:avLst/>
          </a:prstGeom>
        </p:spPr>
      </p:pic>
    </p:spTree>
    <p:extLst>
      <p:ext uri="{BB962C8B-B14F-4D97-AF65-F5344CB8AC3E}">
        <p14:creationId xmlns:p14="http://schemas.microsoft.com/office/powerpoint/2010/main" val="1269725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Uso de  EXPLAIN PLAN </a:t>
            </a:r>
            <a:br>
              <a:rPr lang="es-CL" sz="2800" b="1" dirty="0">
                <a:solidFill>
                  <a:prstClr val="white"/>
                </a:solidFill>
                <a:latin typeface="Calibri"/>
              </a:rPr>
            </a:br>
            <a:r>
              <a:rPr lang="es-CL" sz="2800" b="1" dirty="0">
                <a:solidFill>
                  <a:prstClr val="white"/>
                </a:solidFill>
                <a:latin typeface="Calibri"/>
              </a:rPr>
              <a:t>desde SQL*Plus</a:t>
            </a:r>
          </a:p>
        </p:txBody>
      </p:sp>
      <p:pic>
        <p:nvPicPr>
          <p:cNvPr id="5" name="Imagen 4">
            <a:extLst>
              <a:ext uri="{FF2B5EF4-FFF2-40B4-BE49-F238E27FC236}">
                <a16:creationId xmlns:a16="http://schemas.microsoft.com/office/drawing/2014/main" xmlns="" id="{B842CA97-34E2-4CEB-9540-BBEF60D514B2}"/>
              </a:ext>
            </a:extLst>
          </p:cNvPr>
          <p:cNvPicPr>
            <a:picLocks noChangeAspect="1"/>
          </p:cNvPicPr>
          <p:nvPr/>
        </p:nvPicPr>
        <p:blipFill>
          <a:blip r:embed="rId3"/>
          <a:stretch>
            <a:fillRect/>
          </a:stretch>
        </p:blipFill>
        <p:spPr>
          <a:xfrm>
            <a:off x="179438" y="908055"/>
            <a:ext cx="9089924" cy="5742930"/>
          </a:xfrm>
          <a:prstGeom prst="rect">
            <a:avLst/>
          </a:prstGeom>
        </p:spPr>
      </p:pic>
    </p:spTree>
    <p:extLst>
      <p:ext uri="{BB962C8B-B14F-4D97-AF65-F5344CB8AC3E}">
        <p14:creationId xmlns:p14="http://schemas.microsoft.com/office/powerpoint/2010/main" val="2070704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Uso de  EXPLAIN PLAN </a:t>
            </a:r>
            <a:br>
              <a:rPr lang="es-CL" sz="2800" b="1" dirty="0">
                <a:solidFill>
                  <a:prstClr val="white"/>
                </a:solidFill>
                <a:latin typeface="Calibri"/>
              </a:rPr>
            </a:br>
            <a:r>
              <a:rPr lang="es-CL" sz="2800" b="1" dirty="0">
                <a:solidFill>
                  <a:prstClr val="white"/>
                </a:solidFill>
                <a:latin typeface="Calibri"/>
              </a:rPr>
              <a:t>desde SQL </a:t>
            </a:r>
            <a:r>
              <a:rPr lang="es-CL" sz="2800" b="1" dirty="0" err="1">
                <a:solidFill>
                  <a:prstClr val="white"/>
                </a:solidFill>
                <a:latin typeface="Calibri"/>
              </a:rPr>
              <a:t>Developer</a:t>
            </a:r>
            <a:endParaRPr lang="es-CL" sz="2800" b="1" dirty="0">
              <a:solidFill>
                <a:prstClr val="white"/>
              </a:solidFill>
              <a:latin typeface="Calibri"/>
            </a:endParaRPr>
          </a:p>
        </p:txBody>
      </p:sp>
      <p:pic>
        <p:nvPicPr>
          <p:cNvPr id="13" name="Imagen 12">
            <a:extLst>
              <a:ext uri="{FF2B5EF4-FFF2-40B4-BE49-F238E27FC236}">
                <a16:creationId xmlns:a16="http://schemas.microsoft.com/office/drawing/2014/main" xmlns="" id="{FBF6E491-1FA7-44FF-90A1-F21C232BB6F3}"/>
              </a:ext>
            </a:extLst>
          </p:cNvPr>
          <p:cNvPicPr>
            <a:picLocks noChangeAspect="1"/>
          </p:cNvPicPr>
          <p:nvPr/>
        </p:nvPicPr>
        <p:blipFill>
          <a:blip r:embed="rId3"/>
          <a:stretch>
            <a:fillRect/>
          </a:stretch>
        </p:blipFill>
        <p:spPr>
          <a:xfrm>
            <a:off x="147917" y="972859"/>
            <a:ext cx="8955741" cy="2809284"/>
          </a:xfrm>
          <a:prstGeom prst="rect">
            <a:avLst/>
          </a:prstGeom>
        </p:spPr>
      </p:pic>
      <p:pic>
        <p:nvPicPr>
          <p:cNvPr id="6" name="Imagen 5" descr="Captura de pantalla de un celular&#10;&#10;Descripción generada automáticamente">
            <a:extLst>
              <a:ext uri="{FF2B5EF4-FFF2-40B4-BE49-F238E27FC236}">
                <a16:creationId xmlns:a16="http://schemas.microsoft.com/office/drawing/2014/main" xmlns="" id="{4658B125-3417-43D7-BA97-B0CC82F615F2}"/>
              </a:ext>
            </a:extLst>
          </p:cNvPr>
          <p:cNvPicPr>
            <a:picLocks noChangeAspect="1"/>
          </p:cNvPicPr>
          <p:nvPr/>
        </p:nvPicPr>
        <p:blipFill>
          <a:blip r:embed="rId4"/>
          <a:stretch>
            <a:fillRect/>
          </a:stretch>
        </p:blipFill>
        <p:spPr>
          <a:xfrm>
            <a:off x="147917" y="3925266"/>
            <a:ext cx="8279803" cy="2192398"/>
          </a:xfrm>
          <a:prstGeom prst="rect">
            <a:avLst/>
          </a:prstGeom>
        </p:spPr>
      </p:pic>
    </p:spTree>
    <p:extLst>
      <p:ext uri="{BB962C8B-B14F-4D97-AF65-F5344CB8AC3E}">
        <p14:creationId xmlns:p14="http://schemas.microsoft.com/office/powerpoint/2010/main" val="1759818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cs typeface="Arial" panose="020B0604020202020204" pitchFamily="34" charset="0"/>
              </a:rPr>
              <a:t>Uso de AUTOTRACE</a:t>
            </a:r>
          </a:p>
        </p:txBody>
      </p:sp>
      <p:pic>
        <p:nvPicPr>
          <p:cNvPr id="2" name="Imagen 1">
            <a:extLst>
              <a:ext uri="{FF2B5EF4-FFF2-40B4-BE49-F238E27FC236}">
                <a16:creationId xmlns:a16="http://schemas.microsoft.com/office/drawing/2014/main" xmlns="" id="{D6740230-C38C-4C37-8376-5D65ABF46B13}"/>
              </a:ext>
            </a:extLst>
          </p:cNvPr>
          <p:cNvPicPr>
            <a:picLocks noChangeAspect="1"/>
          </p:cNvPicPr>
          <p:nvPr/>
        </p:nvPicPr>
        <p:blipFill>
          <a:blip r:embed="rId3"/>
          <a:stretch>
            <a:fillRect/>
          </a:stretch>
        </p:blipFill>
        <p:spPr>
          <a:xfrm>
            <a:off x="813969" y="929046"/>
            <a:ext cx="8100023" cy="5796911"/>
          </a:xfrm>
          <a:prstGeom prst="rect">
            <a:avLst/>
          </a:prstGeom>
        </p:spPr>
      </p:pic>
    </p:spTree>
    <p:extLst>
      <p:ext uri="{BB962C8B-B14F-4D97-AF65-F5344CB8AC3E}">
        <p14:creationId xmlns:p14="http://schemas.microsoft.com/office/powerpoint/2010/main" val="4221240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2">
            <a:extLst>
              <a:ext uri="{FF2B5EF4-FFF2-40B4-BE49-F238E27FC236}">
                <a16:creationId xmlns:a16="http://schemas.microsoft.com/office/drawing/2014/main" xmlns="" id="{677F460B-5CD4-4E78-9A15-3AE51DF93C54}"/>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Información que entrega un Plan de Ejecución</a:t>
            </a:r>
          </a:p>
        </p:txBody>
      </p:sp>
      <p:pic>
        <p:nvPicPr>
          <p:cNvPr id="6" name="Imagen 5">
            <a:extLst>
              <a:ext uri="{FF2B5EF4-FFF2-40B4-BE49-F238E27FC236}">
                <a16:creationId xmlns:a16="http://schemas.microsoft.com/office/drawing/2014/main" xmlns="" id="{DFADCCBC-91C3-4596-9EEA-A41767B174B0}"/>
              </a:ext>
            </a:extLst>
          </p:cNvPr>
          <p:cNvPicPr>
            <a:picLocks noChangeAspect="1"/>
          </p:cNvPicPr>
          <p:nvPr/>
        </p:nvPicPr>
        <p:blipFill>
          <a:blip r:embed="rId3"/>
          <a:stretch>
            <a:fillRect/>
          </a:stretch>
        </p:blipFill>
        <p:spPr>
          <a:xfrm>
            <a:off x="487326" y="1129984"/>
            <a:ext cx="8169348" cy="5602710"/>
          </a:xfrm>
          <a:prstGeom prst="rect">
            <a:avLst/>
          </a:prstGeom>
        </p:spPr>
      </p:pic>
    </p:spTree>
    <p:extLst>
      <p:ext uri="{BB962C8B-B14F-4D97-AF65-F5344CB8AC3E}">
        <p14:creationId xmlns:p14="http://schemas.microsoft.com/office/powerpoint/2010/main" val="2494085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2">
            <a:extLst>
              <a:ext uri="{FF2B5EF4-FFF2-40B4-BE49-F238E27FC236}">
                <a16:creationId xmlns:a16="http://schemas.microsoft.com/office/drawing/2014/main" xmlns="" id="{677F460B-5CD4-4E78-9A15-3AE51DF93C54}"/>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Operaciones de un Plan de Ejecución para Índices</a:t>
            </a:r>
          </a:p>
        </p:txBody>
      </p:sp>
      <p:pic>
        <p:nvPicPr>
          <p:cNvPr id="6" name="Imagen 5">
            <a:extLst>
              <a:ext uri="{FF2B5EF4-FFF2-40B4-BE49-F238E27FC236}">
                <a16:creationId xmlns:a16="http://schemas.microsoft.com/office/drawing/2014/main" xmlns="" id="{726E3859-5F81-4043-AB7B-EA122751CCEF}"/>
              </a:ext>
            </a:extLst>
          </p:cNvPr>
          <p:cNvPicPr>
            <a:picLocks noChangeAspect="1"/>
          </p:cNvPicPr>
          <p:nvPr/>
        </p:nvPicPr>
        <p:blipFill>
          <a:blip r:embed="rId3"/>
          <a:stretch>
            <a:fillRect/>
          </a:stretch>
        </p:blipFill>
        <p:spPr>
          <a:xfrm>
            <a:off x="136775" y="1486541"/>
            <a:ext cx="8870449" cy="4828450"/>
          </a:xfrm>
          <a:prstGeom prst="rect">
            <a:avLst/>
          </a:prstGeom>
        </p:spPr>
      </p:pic>
    </p:spTree>
    <p:extLst>
      <p:ext uri="{BB962C8B-B14F-4D97-AF65-F5344CB8AC3E}">
        <p14:creationId xmlns:p14="http://schemas.microsoft.com/office/powerpoint/2010/main" val="1544269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2">
            <a:extLst>
              <a:ext uri="{FF2B5EF4-FFF2-40B4-BE49-F238E27FC236}">
                <a16:creationId xmlns:a16="http://schemas.microsoft.com/office/drawing/2014/main" xmlns="" id="{677F460B-5CD4-4E78-9A15-3AE51DF93C54}"/>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Operaciones de un Plan de Ejecución para Tablas</a:t>
            </a:r>
          </a:p>
        </p:txBody>
      </p:sp>
      <p:pic>
        <p:nvPicPr>
          <p:cNvPr id="3" name="Imagen 2">
            <a:extLst>
              <a:ext uri="{FF2B5EF4-FFF2-40B4-BE49-F238E27FC236}">
                <a16:creationId xmlns:a16="http://schemas.microsoft.com/office/drawing/2014/main" xmlns="" id="{E4337973-EDCC-4057-BFB9-7155E654E259}"/>
              </a:ext>
            </a:extLst>
          </p:cNvPr>
          <p:cNvPicPr>
            <a:picLocks noChangeAspect="1"/>
          </p:cNvPicPr>
          <p:nvPr/>
        </p:nvPicPr>
        <p:blipFill>
          <a:blip r:embed="rId3"/>
          <a:stretch>
            <a:fillRect/>
          </a:stretch>
        </p:blipFill>
        <p:spPr>
          <a:xfrm>
            <a:off x="164519" y="1438455"/>
            <a:ext cx="8883228" cy="4495343"/>
          </a:xfrm>
          <a:prstGeom prst="rect">
            <a:avLst/>
          </a:prstGeom>
        </p:spPr>
      </p:pic>
    </p:spTree>
    <p:extLst>
      <p:ext uri="{BB962C8B-B14F-4D97-AF65-F5344CB8AC3E}">
        <p14:creationId xmlns:p14="http://schemas.microsoft.com/office/powerpoint/2010/main" val="3056572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2">
            <a:extLst>
              <a:ext uri="{FF2B5EF4-FFF2-40B4-BE49-F238E27FC236}">
                <a16:creationId xmlns:a16="http://schemas.microsoft.com/office/drawing/2014/main" xmlns="" id="{677F460B-5CD4-4E78-9A15-3AE51DF93C54}"/>
              </a:ext>
            </a:extLst>
          </p:cNvPr>
          <p:cNvSpPr>
            <a:spLocks noGrp="1"/>
          </p:cNvSpPr>
          <p:nvPr>
            <p:ph type="title"/>
          </p:nvPr>
        </p:nvSpPr>
        <p:spPr>
          <a:xfrm>
            <a:off x="1663993" y="212725"/>
            <a:ext cx="4685691" cy="813000"/>
          </a:xfrm>
        </p:spPr>
        <p:txBody>
          <a:bodyPr/>
          <a:lstStyle/>
          <a:p>
            <a:pPr defTabSz="457200"/>
            <a:r>
              <a:rPr lang="es-CL" sz="2800" b="1" dirty="0">
                <a:solidFill>
                  <a:prstClr val="white"/>
                </a:solidFill>
                <a:latin typeface="Calibri"/>
              </a:rPr>
              <a:t>Operaciones de un Plan de Ejecución para </a:t>
            </a:r>
            <a:r>
              <a:rPr lang="es-CL" sz="2800" b="1" dirty="0" err="1">
                <a:solidFill>
                  <a:prstClr val="white"/>
                </a:solidFill>
                <a:latin typeface="Calibri"/>
              </a:rPr>
              <a:t>Joins</a:t>
            </a:r>
            <a:endParaRPr lang="es-CL" sz="2800" b="1" dirty="0">
              <a:solidFill>
                <a:prstClr val="white"/>
              </a:solidFill>
              <a:latin typeface="Calibri"/>
            </a:endParaRPr>
          </a:p>
        </p:txBody>
      </p:sp>
      <p:pic>
        <p:nvPicPr>
          <p:cNvPr id="13" name="Imagen 12">
            <a:extLst>
              <a:ext uri="{FF2B5EF4-FFF2-40B4-BE49-F238E27FC236}">
                <a16:creationId xmlns:a16="http://schemas.microsoft.com/office/drawing/2014/main" xmlns="" id="{D1DE0A1A-327A-402D-986A-356C835E8497}"/>
              </a:ext>
            </a:extLst>
          </p:cNvPr>
          <p:cNvPicPr>
            <a:picLocks noChangeAspect="1"/>
          </p:cNvPicPr>
          <p:nvPr/>
        </p:nvPicPr>
        <p:blipFill>
          <a:blip r:embed="rId3"/>
          <a:stretch>
            <a:fillRect/>
          </a:stretch>
        </p:blipFill>
        <p:spPr>
          <a:xfrm>
            <a:off x="1525543" y="1349442"/>
            <a:ext cx="6187976" cy="4883319"/>
          </a:xfrm>
          <a:prstGeom prst="rect">
            <a:avLst/>
          </a:prstGeom>
        </p:spPr>
      </p:pic>
    </p:spTree>
    <p:extLst>
      <p:ext uri="{BB962C8B-B14F-4D97-AF65-F5344CB8AC3E}">
        <p14:creationId xmlns:p14="http://schemas.microsoft.com/office/powerpoint/2010/main" val="2789019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2">
            <a:extLst>
              <a:ext uri="{FF2B5EF4-FFF2-40B4-BE49-F238E27FC236}">
                <a16:creationId xmlns:a16="http://schemas.microsoft.com/office/drawing/2014/main" xmlns="" id="{677F460B-5CD4-4E78-9A15-3AE51DF93C54}"/>
              </a:ext>
            </a:extLst>
          </p:cNvPr>
          <p:cNvSpPr>
            <a:spLocks noGrp="1"/>
          </p:cNvSpPr>
          <p:nvPr>
            <p:ph type="title"/>
          </p:nvPr>
        </p:nvSpPr>
        <p:spPr>
          <a:xfrm>
            <a:off x="1475735" y="212725"/>
            <a:ext cx="4965407" cy="813000"/>
          </a:xfrm>
        </p:spPr>
        <p:txBody>
          <a:bodyPr/>
          <a:lstStyle/>
          <a:p>
            <a:pPr defTabSz="457200"/>
            <a:r>
              <a:rPr lang="es-CL" sz="2800" b="1" dirty="0">
                <a:solidFill>
                  <a:prstClr val="white"/>
                </a:solidFill>
                <a:latin typeface="Calibri"/>
              </a:rPr>
              <a:t>Operaciones de un Plan de Ejecución para Ordenamientos</a:t>
            </a:r>
          </a:p>
        </p:txBody>
      </p:sp>
      <p:pic>
        <p:nvPicPr>
          <p:cNvPr id="9" name="Imagen 8">
            <a:extLst>
              <a:ext uri="{FF2B5EF4-FFF2-40B4-BE49-F238E27FC236}">
                <a16:creationId xmlns:a16="http://schemas.microsoft.com/office/drawing/2014/main" xmlns="" id="{164EA58A-CB14-409A-97C1-CFC91747D52F}"/>
              </a:ext>
            </a:extLst>
          </p:cNvPr>
          <p:cNvPicPr>
            <a:picLocks noChangeAspect="1"/>
          </p:cNvPicPr>
          <p:nvPr/>
        </p:nvPicPr>
        <p:blipFill>
          <a:blip r:embed="rId3"/>
          <a:stretch>
            <a:fillRect/>
          </a:stretch>
        </p:blipFill>
        <p:spPr>
          <a:xfrm>
            <a:off x="146262" y="1412776"/>
            <a:ext cx="8879198" cy="4844912"/>
          </a:xfrm>
          <a:prstGeom prst="rect">
            <a:avLst/>
          </a:prstGeom>
        </p:spPr>
      </p:pic>
    </p:spTree>
    <p:extLst>
      <p:ext uri="{BB962C8B-B14F-4D97-AF65-F5344CB8AC3E}">
        <p14:creationId xmlns:p14="http://schemas.microsoft.com/office/powerpoint/2010/main" val="1117223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25</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000440"/>
            <a:ext cx="8023225" cy="2275770"/>
          </a:xfrm>
        </p:spPr>
        <p:txBody>
          <a:bodyPr/>
          <a:lstStyle/>
          <a:p>
            <a:pPr marL="285750" indent="-285750" algn="just" defTabSz="457200">
              <a:buFont typeface="Arial" panose="020B0604020202020204" pitchFamily="34" charset="0"/>
              <a:buChar char="•"/>
            </a:pPr>
            <a:r>
              <a:rPr lang="es-MX" sz="2200" dirty="0">
                <a:ea typeface="ＭＳ Ｐゴシック" pitchFamily="34" charset="-128"/>
              </a:rPr>
              <a:t>Se explicó cómo se ejecuta una sentencia SQL en el Servidor de Base de Datos Oracle.</a:t>
            </a:r>
          </a:p>
          <a:p>
            <a:pPr marL="285750" indent="-285750" algn="just" defTabSz="457200">
              <a:buFont typeface="Arial" panose="020B0604020202020204" pitchFamily="34" charset="0"/>
              <a:buChar char="•"/>
            </a:pPr>
            <a:r>
              <a:rPr lang="es-MX" sz="2200" dirty="0">
                <a:ea typeface="ＭＳ Ｐゴシック" pitchFamily="34" charset="-128"/>
              </a:rPr>
              <a:t>Se describieron las Fases de Procesamiento de una consulta SQL.</a:t>
            </a:r>
          </a:p>
          <a:p>
            <a:pPr marL="285750" indent="-285750" algn="just" defTabSz="457200">
              <a:buFont typeface="Arial" panose="020B0604020202020204" pitchFamily="34" charset="0"/>
              <a:buChar char="•"/>
            </a:pPr>
            <a:r>
              <a:rPr lang="es-MX" sz="2200" dirty="0">
                <a:ea typeface="ＭＳ Ｐゴシック" pitchFamily="34" charset="-128"/>
              </a:rPr>
              <a:t>Se explicó qué es el optimizador de la Base de Datos y cómo decide la forma en que la sentencia SQL es ejecutada.</a:t>
            </a:r>
          </a:p>
          <a:p>
            <a:pPr marL="285750" indent="-285750" algn="just" defTabSz="457200">
              <a:buFont typeface="Arial" panose="020B0604020202020204" pitchFamily="34" charset="0"/>
              <a:buChar char="•"/>
            </a:pPr>
            <a:r>
              <a:rPr lang="es-MX" sz="2200" dirty="0">
                <a:ea typeface="ＭＳ Ｐゴシック" pitchFamily="34" charset="-128"/>
              </a:rPr>
              <a:t>Se explicó que es un Plan de Ejecución de una sentencia SQL.</a:t>
            </a:r>
          </a:p>
          <a:p>
            <a:pPr marL="285750" indent="-285750" algn="just" defTabSz="457200">
              <a:buFont typeface="Arial" panose="020B0604020202020204" pitchFamily="34" charset="0"/>
              <a:buChar char="•"/>
            </a:pPr>
            <a:r>
              <a:rPr lang="es-MX" sz="2200" dirty="0">
                <a:ea typeface="ＭＳ Ｐゴシック" pitchFamily="34" charset="-128"/>
              </a:rPr>
              <a:t>Se describieron algunas de las operaciones más frecuentes en un Plan de Ejecución.</a:t>
            </a:r>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7970</TotalTime>
  <Words>3630</Words>
  <Application>Microsoft Office PowerPoint</Application>
  <PresentationFormat>Presentación en pantalla (4:3)</PresentationFormat>
  <Paragraphs>197</Paragraphs>
  <Slides>25</Slides>
  <Notes>24</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25</vt:i4>
      </vt:variant>
    </vt:vector>
  </HeadingPairs>
  <TitlesOfParts>
    <vt:vector size="37" baseType="lpstr">
      <vt:lpstr>Franklin Gothic</vt:lpstr>
      <vt:lpstr>Calibri</vt:lpstr>
      <vt:lpstr>Courier New</vt:lpstr>
      <vt:lpstr>Roboto Condensed</vt:lpstr>
      <vt:lpstr>Times New Roman</vt:lpstr>
      <vt:lpstr>Roboto</vt:lpstr>
      <vt:lpstr>Arial Unicode MS</vt:lpstr>
      <vt:lpstr>Roboto Mono</vt:lpstr>
      <vt:lpstr>Arial</vt:lpstr>
      <vt:lpstr>Bebas Neue</vt:lpstr>
      <vt:lpstr>ＭＳ Ｐゴシック</vt:lpstr>
      <vt:lpstr>Tema de Office</vt:lpstr>
      <vt:lpstr>Cómo se  acceden los  datos cuando ejecutamos sentencias SQL</vt:lpstr>
      <vt:lpstr>Experiencia de Aprendizaje y Competencia Asociada</vt:lpstr>
      <vt:lpstr>Objetivos de la Clase</vt:lpstr>
      <vt:lpstr>Ejecución de las Sentencias SQL en el Servidor de Base de Datos</vt:lpstr>
      <vt:lpstr>Ejecución de una Sentencia SQL</vt:lpstr>
      <vt:lpstr>Ejecución de una Sentencia SQL</vt:lpstr>
      <vt:lpstr>Fases del Procesamiento de una Sentencia SQL</vt:lpstr>
      <vt:lpstr>Fases del Procesamiento de una Sentencia SQL - PARSE</vt:lpstr>
      <vt:lpstr>Fases del Procesamiento de una Sentencia SQL-BIND</vt:lpstr>
      <vt:lpstr>Fases del Procesamiento de una Sentencia SQL-EXECUTE</vt:lpstr>
      <vt:lpstr>Fases del Procesamiento de una Sentencia SQL-FETCH</vt:lpstr>
      <vt:lpstr>Plan de Ejecución de una Sentencia SQL</vt:lpstr>
      <vt:lpstr>Optimizador del Servidor de Base de Datos</vt:lpstr>
      <vt:lpstr>Plan de Ejecución</vt:lpstr>
      <vt:lpstr>Visualizar el Plan de Ejecución de una Sentencia SQL</vt:lpstr>
      <vt:lpstr>Uso de  EXPLAIN PLAN  desde SQL*Plus</vt:lpstr>
      <vt:lpstr>Uso de  EXPLAIN PLAN  desde SQL*Plus</vt:lpstr>
      <vt:lpstr>Uso de  EXPLAIN PLAN  desde SQL Developer</vt:lpstr>
      <vt:lpstr>Uso de AUTOTRACE</vt:lpstr>
      <vt:lpstr>Información que entrega un Plan de Ejecución</vt:lpstr>
      <vt:lpstr>Operaciones de un Plan de Ejecución para Índices</vt:lpstr>
      <vt:lpstr>Operaciones de un Plan de Ejecución para Tablas</vt:lpstr>
      <vt:lpstr>Operaciones de un Plan de Ejecución para Joins</vt:lpstr>
      <vt:lpstr>Operaciones de un Plan de Ejecución para Ordenamientos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784</cp:revision>
  <dcterms:modified xsi:type="dcterms:W3CDTF">2020-06-24T16:26:42Z</dcterms:modified>
</cp:coreProperties>
</file>