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25"/>
  </p:notesMasterIdLst>
  <p:sldIdLst>
    <p:sldId id="367" r:id="rId2"/>
    <p:sldId id="339" r:id="rId3"/>
    <p:sldId id="369" r:id="rId4"/>
    <p:sldId id="258" r:id="rId5"/>
    <p:sldId id="409" r:id="rId6"/>
    <p:sldId id="407" r:id="rId7"/>
    <p:sldId id="410" r:id="rId8"/>
    <p:sldId id="411" r:id="rId9"/>
    <p:sldId id="412" r:id="rId10"/>
    <p:sldId id="413" r:id="rId11"/>
    <p:sldId id="414" r:id="rId12"/>
    <p:sldId id="415" r:id="rId13"/>
    <p:sldId id="416" r:id="rId14"/>
    <p:sldId id="417" r:id="rId15"/>
    <p:sldId id="427" r:id="rId16"/>
    <p:sldId id="424" r:id="rId17"/>
    <p:sldId id="426" r:id="rId18"/>
    <p:sldId id="418" r:id="rId19"/>
    <p:sldId id="419" r:id="rId20"/>
    <p:sldId id="420" r:id="rId21"/>
    <p:sldId id="423" r:id="rId22"/>
    <p:sldId id="421" r:id="rId23"/>
    <p:sldId id="314" r:id="rId24"/>
  </p:sldIdLst>
  <p:sldSz cx="9144000" cy="6858000" type="screen4x3"/>
  <p:notesSz cx="6858000" cy="9144000"/>
  <p:embeddedFontLst>
    <p:embeddedFont>
      <p:font typeface="Franklin Gothic" panose="020B0604020202020204" charset="0"/>
      <p:regular r:id="rId26"/>
      <p:bold r:id="rId27"/>
      <p:italic r:id="rId28"/>
      <p:boldItalic r:id="rId29"/>
    </p:embeddedFont>
    <p:embeddedFont>
      <p:font typeface="Roboto Mono" panose="020B0604020202020204" charset="0"/>
      <p:regular r:id="rId30"/>
      <p:bold r:id="rId31"/>
      <p:italic r:id="rId32"/>
      <p:boldItalic r:id="rId33"/>
    </p:embeddedFont>
    <p:embeddedFont>
      <p:font typeface="Calibri" panose="020F0502020204030204" pitchFamily="34" charset="0"/>
      <p:regular r:id="rId34"/>
      <p:bold r:id="rId35"/>
      <p:italic r:id="rId36"/>
      <p:boldItalic r:id="rId37"/>
    </p:embeddedFont>
    <p:embeddedFont>
      <p:font typeface="Bebas Neue" panose="020B0604020202020204" charset="0"/>
      <p:regular r:id="rId38"/>
    </p:embeddedFont>
    <p:embeddedFont>
      <p:font typeface="Arial Unicode MS" panose="020B0604020202020204" pitchFamily="34" charset="-128"/>
      <p:regular r:id="rId39"/>
    </p:embeddedFont>
    <p:embeddedFont>
      <p:font typeface="Roboto Condensed" panose="020B0604020202020204" charset="0"/>
      <p:regular r:id="rId40"/>
      <p:bold r:id="rId41"/>
      <p:italic r:id="rId42"/>
      <p:boldItalic r:id="rId43"/>
    </p:embeddedFont>
    <p:embeddedFont>
      <p:font typeface="ＭＳ Ｐゴシック" panose="020B0600070205080204" pitchFamily="34" charset="-128"/>
      <p:regular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88126" autoAdjust="0"/>
  </p:normalViewPr>
  <p:slideViewPr>
    <p:cSldViewPr snapToGrid="0" snapToObjects="1">
      <p:cViewPr varScale="1">
        <p:scale>
          <a:sx n="102" d="100"/>
          <a:sy n="102" d="100"/>
        </p:scale>
        <p:origin x="18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71447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63392f1e7f_0_4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63392f1e7f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39570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855104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63392f1e7f_0_5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63392f1e7f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7813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charset="0"/>
              </a:rPr>
              <a:t>Conceptos de Índices</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charset="0"/>
              </a:rPr>
              <a:t>Cuando las tablas involucradas en esta simple consulta tenían pocas filas, el resultado es retornado al usuario en pocos segundos. Sin embargo, ahora que las tablas poseen millones de filas y siguen aumentado, tarda cada vez más. ¿Qué está pasando?</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charset="0"/>
              </a:rPr>
              <a:t>Cuando se ejecuta una consulta SQL, el optimizador calcula un plan de ejecución que detalla cómo recuperará los valores de las columnas especificadas en la consulta. Al calcular el plan, el optimizador determina qué tablas e índices se usarán para recuperar datos.</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charset="0"/>
              </a:rPr>
              <a:t>Cuando no existe un índice que el optimizador pueda  utilizar, la tabla en sí misma es la única ruta de acceso disponible para satisfacer los resultados de la consulta. Al no existir un índice adecuado para ser usado, el optimizador no tiene más remedio que inspeccionar cada fila dentro de cada bloque utilizado en la tabla.</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charset="0"/>
              </a:rPr>
              <a:t>A medida que se insertan más datos en esta tabla, la consulta lleva más tiempo. El costo de esta consulta es proporcional al número de bloques de la tabla. La única forma de hacer que esta consulta se ejecute más rápido es comprar un mejor hardware o usar una función de mejora del rendimiento, como un ÍNDICE.</a:t>
            </a:r>
          </a:p>
        </p:txBody>
      </p:sp>
    </p:spTree>
    <p:extLst>
      <p:ext uri="{BB962C8B-B14F-4D97-AF65-F5344CB8AC3E}">
        <p14:creationId xmlns:p14="http://schemas.microsoft.com/office/powerpoint/2010/main" val="299362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Conceptos de Índices</a:t>
            </a:r>
          </a:p>
          <a:p>
            <a:pPr marL="0" marR="0" lvl="0" indent="0" algn="just" defTabSz="914400" rtl="0" eaLnBrk="1" fontAlgn="base" latinLnBrk="0" hangingPunct="1">
              <a:lnSpc>
                <a:spcPct val="100000"/>
              </a:lnSpc>
              <a:spcBef>
                <a:spcPct val="0"/>
              </a:spcBef>
              <a:spcAft>
                <a:spcPct val="0"/>
              </a:spcAft>
              <a:buClrTx/>
              <a:buSzTx/>
              <a:buFontTx/>
              <a:buNone/>
              <a:tabLst/>
              <a:defRPr/>
            </a:pPr>
            <a:r>
              <a:rPr lang="es-CL" sz="1200" b="0" dirty="0">
                <a:latin typeface="Calibri" panose="020F0502020204030204" pitchFamily="34" charset="0"/>
                <a:cs typeface="Calibri" panose="020F0502020204030204" pitchFamily="34" charset="0"/>
              </a:rPr>
              <a:t>En términos generales, un índice:</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Es una estructura u objeto opcional que se asocia con tablas y clústeres.</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Es un objeto que se crea en un esquema de la base de datos.</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Es un objeto independiente lógica y físicamente de los datos de la tabla con el está asociado.</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Almacena el valor de la(s) columna(s) que lo conforma(n) junto con su identificador de fila (ROWID)</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Proporciona una ruta de acceso más rápida a los datos de la tabla</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Se utiliza principalmente para aumentar el rendimiento de la consulta</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Es el medio principal para reducir el I/O a disco cuando se usan correctamente</a:t>
            </a:r>
          </a:p>
          <a:p>
            <a:pPr marL="171450" indent="-171450">
              <a:buFont typeface="Arial" panose="020B0604020202020204" pitchFamily="34" charset="0"/>
              <a:buChar char="•"/>
            </a:pPr>
            <a:endParaRPr lang="es-CL" sz="1200" b="0" dirty="0"/>
          </a:p>
        </p:txBody>
      </p:sp>
    </p:spTree>
    <p:extLst>
      <p:ext uri="{BB962C8B-B14F-4D97-AF65-F5344CB8AC3E}">
        <p14:creationId xmlns:p14="http://schemas.microsoft.com/office/powerpoint/2010/main" val="2710412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Consideraciones si se desea crear Índices</a:t>
            </a:r>
          </a:p>
          <a:p>
            <a:pPr marL="0" marR="0" lvl="0" indent="0" algn="just" defTabSz="914400" rtl="0" eaLnBrk="1" fontAlgn="base" latinLnBrk="0" hangingPunct="1">
              <a:lnSpc>
                <a:spcPct val="100000"/>
              </a:lnSpc>
              <a:spcBef>
                <a:spcPct val="0"/>
              </a:spcBef>
              <a:spcAft>
                <a:spcPct val="0"/>
              </a:spcAft>
              <a:buClrTx/>
              <a:buSzTx/>
              <a:buFontTx/>
              <a:buNone/>
              <a:tabLst/>
              <a:defRPr/>
            </a:pPr>
            <a:r>
              <a:rPr lang="es-CL" sz="1200" b="0" dirty="0">
                <a:latin typeface="Calibri" panose="020F0502020204030204" pitchFamily="34" charset="0"/>
                <a:cs typeface="Calibri" panose="020F0502020204030204" pitchFamily="34" charset="0"/>
              </a:rPr>
              <a:t>Antes de decidir crear índices sobre las tablas, se deben tener presente las siguientes consideraciones:</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Los índices no son gratuitos. Ellos consumen espacio en disco y recursos del sistema</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Como los valores de la(as) columna(s) de las tablas se modifican, los índices asociados a esas columnas también deben actualizarse</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Al actualizarse los índices, se usan recursos de almacenamiento, I/O, CPU y memoria</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Una mala elección de los índices significa un mal uso de discos y al consumo excesivo de recursos del sistema</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Una mala elección de los índices por lo tanto, puede  significar una disminución en el rendimiento de la base de datos</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Debido al costo de los índices en sentencias DML, se recomienda eliminarlos cuando se efectúe carga masiva de datos y volver a crearlos después. Se recomienda también eliminarlos cando ya no se utilizan.</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El optimizador puede decidir recuperar datos para una consulta solo accediendo al índice; sin tener que acceder a la tabla</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El optimizador de la Base de Datos es quien decide que índice se requiere en cierto caso específico</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En algunos escenarios, el optimizador puede decidir no utilizar un índice. La decisión de utilizar o no un índice está basada en el costo, que calcula el optimizador, al acceder a la tabla completa o a un índice existente.</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Crear los índices en </a:t>
            </a:r>
            <a:r>
              <a:rPr lang="es-CL" sz="1200" b="0" dirty="0" err="1">
                <a:latin typeface="Calibri" panose="020F0502020204030204" pitchFamily="34" charset="0"/>
                <a:cs typeface="Calibri" panose="020F0502020204030204" pitchFamily="34" charset="0"/>
              </a:rPr>
              <a:t>tablespaces</a:t>
            </a:r>
            <a:r>
              <a:rPr lang="es-CL" sz="1200" b="0" dirty="0">
                <a:latin typeface="Calibri" panose="020F0502020204030204" pitchFamily="34" charset="0"/>
                <a:cs typeface="Calibri" panose="020F0502020204030204" pitchFamily="34" charset="0"/>
              </a:rPr>
              <a:t> (y disco) diferentes al </a:t>
            </a:r>
            <a:r>
              <a:rPr lang="es-CL" sz="1200" b="0" dirty="0" err="1">
                <a:latin typeface="Calibri" panose="020F0502020204030204" pitchFamily="34" charset="0"/>
                <a:cs typeface="Calibri" panose="020F0502020204030204" pitchFamily="34" charset="0"/>
              </a:rPr>
              <a:t>tablespaces</a:t>
            </a:r>
            <a:r>
              <a:rPr lang="es-CL" sz="1200" b="0" dirty="0">
                <a:latin typeface="Calibri" panose="020F0502020204030204" pitchFamily="34" charset="0"/>
                <a:cs typeface="Calibri" panose="020F0502020204030204" pitchFamily="34" charset="0"/>
              </a:rPr>
              <a:t> de otros objetos</a:t>
            </a:r>
          </a:p>
          <a:p>
            <a:pPr marL="171450" indent="-171450">
              <a:buFont typeface="Arial" panose="020B0604020202020204" pitchFamily="34" charset="0"/>
              <a:buChar char="•"/>
            </a:pPr>
            <a:endParaRPr lang="es-CL" sz="1200" b="0" dirty="0"/>
          </a:p>
        </p:txBody>
      </p:sp>
    </p:spTree>
    <p:extLst>
      <p:ext uri="{BB962C8B-B14F-4D97-AF65-F5344CB8AC3E}">
        <p14:creationId xmlns:p14="http://schemas.microsoft.com/office/powerpoint/2010/main" val="4046716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Factores importantes al decidir usar Índices</a:t>
            </a:r>
          </a:p>
          <a:p>
            <a:pPr marL="0" marR="0" lvl="0" indent="0" algn="just" defTabSz="914400" rtl="0" eaLnBrk="1" fontAlgn="base" latinLnBrk="0" hangingPunct="1">
              <a:lnSpc>
                <a:spcPct val="100000"/>
              </a:lnSpc>
              <a:spcBef>
                <a:spcPct val="0"/>
              </a:spcBef>
              <a:spcAft>
                <a:spcPct val="0"/>
              </a:spcAft>
              <a:buClrTx/>
              <a:buSzTx/>
              <a:buFontTx/>
              <a:buNone/>
              <a:tabLst/>
              <a:defRPr/>
            </a:pPr>
            <a:r>
              <a:rPr lang="es-CL" sz="1200" b="0" dirty="0">
                <a:latin typeface="Calibri" panose="020F0502020204030204" pitchFamily="34" charset="0"/>
                <a:cs typeface="Calibri" panose="020F0502020204030204" pitchFamily="34" charset="0"/>
              </a:rPr>
              <a:t>Una vez que se ha decidido crear y usar índices, los siguientes factores siempre se deben tener presente:</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Demasiados índices para la tabla pueden mejorar el  acceso de lectura pero degradar la eficiencia en la actualización de los datos</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Demasiadas columnas en un índice pueden hacer que el optimizador considere que el índice es menos eficiente que leer toda la tabla</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Las columnas numéricas, son más eficientes para indexar que aquellas que almacenan fechas o caracteres de largo variables</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El optimizador examina las cláusulas WHERE, ORDER BY y GROUP BY de las sentencias al decidir si usar un índice. La cláusula WHERE suele ser la más importante al decidir el uso del índice porque filtra información no deseada antes y durante el I/O a disco</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Las tablas pequeñas a menudo se pueden leer más rápido sin índices utilizando un Full </a:t>
            </a:r>
            <a:r>
              <a:rPr lang="es-CL" sz="1200" b="0" dirty="0" err="1">
                <a:latin typeface="Calibri" panose="020F0502020204030204" pitchFamily="34" charset="0"/>
                <a:cs typeface="Calibri" panose="020F0502020204030204" pitchFamily="34" charset="0"/>
              </a:rPr>
              <a:t>Scan</a:t>
            </a:r>
            <a:endParaRPr lang="es-CL" sz="1200" b="0" dirty="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El tipo de índice predeterminado es un índice de B-</a:t>
            </a:r>
            <a:r>
              <a:rPr lang="es-CL" sz="1200" b="0" dirty="0" err="1">
                <a:latin typeface="Calibri" panose="020F0502020204030204" pitchFamily="34" charset="0"/>
                <a:cs typeface="Calibri" panose="020F0502020204030204" pitchFamily="34" charset="0"/>
              </a:rPr>
              <a:t>Tree</a:t>
            </a:r>
            <a:r>
              <a:rPr lang="es-CL" sz="1200" b="0" dirty="0">
                <a:latin typeface="Calibri" panose="020F0502020204030204" pitchFamily="34" charset="0"/>
                <a:cs typeface="Calibri" panose="020F0502020204030204" pitchFamily="34" charset="0"/>
              </a:rPr>
              <a:t>. Es el tipo de índice más comúnmente utilizado y por defecto se crean índices B-</a:t>
            </a:r>
            <a:r>
              <a:rPr lang="es-CL" sz="1200" b="0" dirty="0" err="1">
                <a:latin typeface="Calibri" panose="020F0502020204030204" pitchFamily="34" charset="0"/>
                <a:cs typeface="Calibri" panose="020F0502020204030204" pitchFamily="34" charset="0"/>
              </a:rPr>
              <a:t>Tree</a:t>
            </a:r>
            <a:r>
              <a:rPr lang="es-CL" sz="1200" b="0" dirty="0">
                <a:latin typeface="Calibri" panose="020F0502020204030204" pitchFamily="34" charset="0"/>
                <a:cs typeface="Calibri" panose="020F0502020204030204" pitchFamily="34" charset="0"/>
              </a:rPr>
              <a:t> para las </a:t>
            </a:r>
            <a:r>
              <a:rPr lang="es-CL" sz="1200" b="0" dirty="0" err="1">
                <a:latin typeface="Calibri" panose="020F0502020204030204" pitchFamily="34" charset="0"/>
                <a:cs typeface="Calibri" panose="020F0502020204030204" pitchFamily="34" charset="0"/>
              </a:rPr>
              <a:t>constraints</a:t>
            </a:r>
            <a:r>
              <a:rPr lang="es-CL" sz="1200" b="0" dirty="0">
                <a:latin typeface="Calibri" panose="020F0502020204030204" pitchFamily="34" charset="0"/>
                <a:cs typeface="Calibri" panose="020F0502020204030204" pitchFamily="34" charset="0"/>
              </a:rPr>
              <a:t> </a:t>
            </a:r>
            <a:r>
              <a:rPr lang="es-CL" sz="1200" b="0" dirty="0" err="1">
                <a:latin typeface="Calibri" panose="020F0502020204030204" pitchFamily="34" charset="0"/>
                <a:cs typeface="Calibri" panose="020F0502020204030204" pitchFamily="34" charset="0"/>
              </a:rPr>
              <a:t>Primary</a:t>
            </a:r>
            <a:r>
              <a:rPr lang="es-CL" sz="1200" b="0" dirty="0">
                <a:latin typeface="Calibri" panose="020F0502020204030204" pitchFamily="34" charset="0"/>
                <a:cs typeface="Calibri" panose="020F0502020204030204" pitchFamily="34" charset="0"/>
              </a:rPr>
              <a:t> Key y </a:t>
            </a:r>
            <a:r>
              <a:rPr lang="es-CL" sz="1200" b="0" dirty="0" err="1">
                <a:latin typeface="Calibri" panose="020F0502020204030204" pitchFamily="34" charset="0"/>
                <a:cs typeface="Calibri" panose="020F0502020204030204" pitchFamily="34" charset="0"/>
              </a:rPr>
              <a:t>Unique</a:t>
            </a:r>
            <a:endParaRPr lang="es-CL" sz="1200" b="0" dirty="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Limitar el número de índices en las tablas porque, aunque aceleran las consultas, las operaciones DML se vuelven más lentas</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1623341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Cómo decidir si de deben crear Índices a las Tablas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dirty="0">
                <a:latin typeface="Calibri" panose="020F0502020204030204" pitchFamily="34" charset="0"/>
                <a:cs typeface="Calibri" panose="020F0502020204030204" pitchFamily="34" charset="0"/>
              </a:rPr>
              <a:t>Si bien se tiende a creer que la creación de índices soluciona todos los problemas de rendimiento o performance de las sentencias SQL, esto no es así ya que existen situaciones en que el problema se agrava mucho más. Entonces ¿Cómo decidir si se crear o no un índice?. Por lo general si se cumplen algunas de estas condiciones:</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Sobre tablas grandes y que se espera que la mayoría de las consultas recuperen entre el 2% al 4% de las filas en la tabla</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Sobre columnas que contienen gran cantidad de valores nulos y que son usadas con mucha frecuencia en las cláusulas WHERE</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Sobre columnas utilizadas en las cláusulas SELECT, ORDER BY, GROUP BY, UNION y DISTINCT</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Una o más columnas se utilizan con frecuencia juntas en una cláusula WHERE o en una condición de unión (</a:t>
            </a:r>
            <a:r>
              <a:rPr lang="es-CL" sz="1200" b="0" dirty="0" err="1">
                <a:latin typeface="Calibri" panose="020F0502020204030204" pitchFamily="34" charset="0"/>
                <a:cs typeface="Calibri" panose="020F0502020204030204" pitchFamily="34" charset="0"/>
              </a:rPr>
              <a:t>Join</a:t>
            </a:r>
            <a:r>
              <a:rPr lang="es-CL" sz="1200" b="0" dirty="0">
                <a:latin typeface="Calibri" panose="020F0502020204030204" pitchFamily="34" charset="0"/>
                <a:cs typeface="Calibri" panose="020F0502020204030204" pitchFamily="34" charset="0"/>
              </a:rPr>
              <a:t> de tablas)</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Sobre una  columna que contiene una gran cantidad de valores diferentes</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Al crear índices compuestos, considerar el orden de las columnas. La columna que más se usa en las consultas debería ser la primera en el índice</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Considerar crear índices en columnas de Clave Foránea.</a:t>
            </a:r>
          </a:p>
        </p:txBody>
      </p:sp>
    </p:spTree>
    <p:extLst>
      <p:ext uri="{BB962C8B-B14F-4D97-AF65-F5344CB8AC3E}">
        <p14:creationId xmlns:p14="http://schemas.microsoft.com/office/powerpoint/2010/main" val="1105478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Arial"/>
                <a:cs typeface="Arial"/>
                <a:sym typeface="Arial"/>
              </a:rPr>
              <a:t>Tipos d</a:t>
            </a: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e Índices</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Existe distintos tipos de índices, cada uno de ellos con características particulares. El uso correcto de ellos permite que una aplicación sea escalable y de buen rendimiento. Algunos de los más utilizados son:</a:t>
            </a:r>
          </a:p>
          <a:p>
            <a:pPr marL="171450" indent="-171450">
              <a:buFont typeface="Arial" panose="020B0604020202020204" pitchFamily="34" charset="0"/>
              <a:buChar char="•"/>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B-</a:t>
            </a:r>
            <a:r>
              <a:rPr lang="es-CL" sz="1200" b="1" i="0" u="none" strike="noStrike" cap="none" dirty="0" err="1">
                <a:solidFill>
                  <a:srgbClr val="000000"/>
                </a:solidFill>
                <a:latin typeface="Calibri" panose="020F0502020204030204" pitchFamily="34" charset="0"/>
                <a:ea typeface="Arial"/>
                <a:cs typeface="Calibri" panose="020F0502020204030204" pitchFamily="34" charset="0"/>
                <a:sym typeface="Arial"/>
              </a:rPr>
              <a:t>Tree</a:t>
            </a: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a:t>
            </a:r>
            <a:r>
              <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rPr>
              <a:t>s el tipo de índice por defecto. Óptimo para columnas de alta cardinalidad (alto grado de valores distintos</a:t>
            </a:r>
          </a:p>
          <a:p>
            <a:pPr marL="171450" indent="-171450">
              <a:buFont typeface="Arial" panose="020B0604020202020204" pitchFamily="34" charset="0"/>
              <a:buChar char="•"/>
            </a:pPr>
            <a:r>
              <a:rPr lang="es-CL" sz="1200" b="1" i="0" u="none" strike="noStrike" cap="none" dirty="0" err="1">
                <a:solidFill>
                  <a:srgbClr val="000000"/>
                </a:solidFill>
                <a:latin typeface="Calibri" panose="020F0502020204030204" pitchFamily="34" charset="0"/>
                <a:ea typeface="Arial"/>
                <a:cs typeface="Calibri" panose="020F0502020204030204" pitchFamily="34" charset="0"/>
                <a:sym typeface="Arial"/>
              </a:rPr>
              <a:t>Index-Organized</a:t>
            </a: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 Table (IOT):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a:t>
            </a:r>
            <a:r>
              <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rPr>
              <a:t>ficiente cuando la mayoría de las columnas que están incluidas en la </a:t>
            </a:r>
            <a:r>
              <a:rPr lang="es-CL" sz="1200" b="0" i="0" u="none" strike="noStrike" cap="none" dirty="0" err="1">
                <a:solidFill>
                  <a:schemeClr val="tx1"/>
                </a:solidFill>
                <a:latin typeface="Calibri" panose="020F0502020204030204" pitchFamily="34" charset="0"/>
                <a:ea typeface="Arial"/>
                <a:cs typeface="Calibri" panose="020F0502020204030204" pitchFamily="34" charset="0"/>
                <a:sym typeface="Arial"/>
              </a:rPr>
              <a:t>Primary</a:t>
            </a:r>
            <a:r>
              <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rPr>
              <a:t> Key</a:t>
            </a:r>
          </a:p>
          <a:p>
            <a:pPr marL="171450" indent="-171450">
              <a:buFont typeface="Arial" panose="020B0604020202020204" pitchFamily="34" charset="0"/>
              <a:buChar char="•"/>
            </a:pPr>
            <a:r>
              <a:rPr lang="es-CL" sz="1200" b="1" i="0" u="none" strike="noStrike" cap="none" dirty="0" err="1">
                <a:solidFill>
                  <a:srgbClr val="000000"/>
                </a:solidFill>
                <a:latin typeface="Calibri" panose="020F0502020204030204" pitchFamily="34" charset="0"/>
                <a:ea typeface="Arial"/>
                <a:cs typeface="Calibri" panose="020F0502020204030204" pitchFamily="34" charset="0"/>
                <a:sym typeface="Arial"/>
              </a:rPr>
              <a:t>Unique</a:t>
            </a: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a:t>
            </a:r>
            <a:r>
              <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rPr>
              <a:t>s una forma de índice B-</a:t>
            </a:r>
            <a:r>
              <a:rPr lang="es-CL" sz="1200" b="0" i="0" u="none" strike="noStrike" cap="none" dirty="0" err="1">
                <a:solidFill>
                  <a:schemeClr val="tx1"/>
                </a:solidFill>
                <a:latin typeface="Calibri" panose="020F0502020204030204" pitchFamily="34" charset="0"/>
                <a:ea typeface="Arial"/>
                <a:cs typeface="Calibri" panose="020F0502020204030204" pitchFamily="34" charset="0"/>
                <a:sym typeface="Arial"/>
              </a:rPr>
              <a:t>tree</a:t>
            </a:r>
            <a:r>
              <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rPr>
              <a:t>, que garantizan que no hay dos filas de una tabla con valores duplicados en la(s) columna(s) que lo conforman.</a:t>
            </a:r>
          </a:p>
          <a:p>
            <a:pPr marL="171450" indent="-171450">
              <a:buFont typeface="Arial" panose="020B0604020202020204" pitchFamily="34" charset="0"/>
              <a:buChar char="•"/>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Reverse-Key:</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rPr>
              <a:t>es una forma de índice B-</a:t>
            </a:r>
            <a:r>
              <a:rPr lang="es-CL" sz="1200" b="0" i="0" u="none" strike="noStrike" cap="none" dirty="0" err="1">
                <a:solidFill>
                  <a:schemeClr val="tx1"/>
                </a:solidFill>
                <a:latin typeface="Calibri" panose="020F0502020204030204" pitchFamily="34" charset="0"/>
                <a:ea typeface="Arial"/>
                <a:cs typeface="Calibri" panose="020F0502020204030204" pitchFamily="34" charset="0"/>
                <a:sym typeface="Arial"/>
              </a:rPr>
              <a:t>tree</a:t>
            </a:r>
            <a:r>
              <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rPr>
              <a:t>. Útil para balancear el I/O y que acelera las inserciones sobre columnas incrementales.</a:t>
            </a:r>
          </a:p>
          <a:p>
            <a:pPr marL="171450" indent="-171450">
              <a:buFont typeface="Arial" panose="020B0604020202020204" pitchFamily="34" charset="0"/>
              <a:buChar char="•"/>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Bitmap:</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rPr>
              <a:t>Apropiado para entornos Data </a:t>
            </a:r>
            <a:r>
              <a:rPr lang="es-CL" sz="1200" b="0" i="0" u="none" strike="noStrike" cap="none" dirty="0" err="1">
                <a:solidFill>
                  <a:schemeClr val="tx1"/>
                </a:solidFill>
                <a:latin typeface="Calibri" panose="020F0502020204030204" pitchFamily="34" charset="0"/>
                <a:ea typeface="Arial"/>
                <a:cs typeface="Calibri" panose="020F0502020204030204" pitchFamily="34" charset="0"/>
                <a:sym typeface="Arial"/>
              </a:rPr>
              <a:t>Warehouse</a:t>
            </a:r>
            <a:r>
              <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rPr>
              <a:t> sobre columnas de baja cardinalidad y que son utilizadas en muchos operadores AND y OR en la cláusula WHERE.</a:t>
            </a:r>
          </a:p>
          <a:p>
            <a:pPr marL="171450" indent="-171450">
              <a:buFont typeface="Arial" panose="020B0604020202020204" pitchFamily="34" charset="0"/>
              <a:buChar char="•"/>
            </a:pPr>
            <a:r>
              <a:rPr lang="es-CL" sz="1200" b="1" i="0" u="none" strike="noStrike" cap="none" dirty="0" err="1">
                <a:solidFill>
                  <a:srgbClr val="000000"/>
                </a:solidFill>
                <a:latin typeface="Calibri" panose="020F0502020204030204" pitchFamily="34" charset="0"/>
                <a:ea typeface="Arial"/>
                <a:cs typeface="Calibri" panose="020F0502020204030204" pitchFamily="34" charset="0"/>
                <a:sym typeface="Arial"/>
              </a:rPr>
              <a:t>Function-Based</a:t>
            </a: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c</a:t>
            </a:r>
            <a:r>
              <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rPr>
              <a:t>onsiderar para las columnas que tienen funciones SQL aplicadas a ellas. Esto se puede usar con un índice B-</a:t>
            </a:r>
            <a:r>
              <a:rPr lang="es-CL" sz="1200" b="0" i="0" u="none" strike="noStrike" cap="none" dirty="0" err="1">
                <a:solidFill>
                  <a:schemeClr val="tx1"/>
                </a:solidFill>
                <a:latin typeface="Calibri" panose="020F0502020204030204" pitchFamily="34" charset="0"/>
                <a:ea typeface="Arial"/>
                <a:cs typeface="Calibri" panose="020F0502020204030204" pitchFamily="34" charset="0"/>
                <a:sym typeface="Arial"/>
              </a:rPr>
              <a:t>tree</a:t>
            </a:r>
            <a:r>
              <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rPr>
              <a:t> o Bitmap</a:t>
            </a:r>
          </a:p>
          <a:p>
            <a:pPr marL="171450" indent="-171450">
              <a:buFont typeface="Arial" panose="020B0604020202020204" pitchFamily="34" charset="0"/>
              <a:buChar char="•"/>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Global/Local </a:t>
            </a:r>
            <a:r>
              <a:rPr lang="es-CL" sz="1200" b="1" i="0" u="none" strike="noStrike" cap="none" dirty="0" err="1">
                <a:solidFill>
                  <a:srgbClr val="000000"/>
                </a:solidFill>
                <a:latin typeface="Calibri" panose="020F0502020204030204" pitchFamily="34" charset="0"/>
                <a:ea typeface="Arial"/>
                <a:cs typeface="Calibri" panose="020F0502020204030204" pitchFamily="34" charset="0"/>
                <a:sym typeface="Arial"/>
              </a:rPr>
              <a:t>partitioned</a:t>
            </a: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u</a:t>
            </a:r>
            <a:r>
              <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rPr>
              <a:t>tilizado para todas las particiones de una tabla particionada o para una partición individual de la tabla</a:t>
            </a:r>
          </a:p>
          <a:p>
            <a:pPr marL="171450" indent="-171450">
              <a:buFont typeface="Arial" panose="020B0604020202020204" pitchFamily="34" charset="0"/>
              <a:buChar char="•"/>
            </a:pPr>
            <a:r>
              <a:rPr lang="es-CL" sz="1200" b="1" i="0" u="none" strike="noStrike" cap="none" dirty="0" err="1">
                <a:solidFill>
                  <a:srgbClr val="000000"/>
                </a:solidFill>
                <a:latin typeface="Calibri" panose="020F0502020204030204" pitchFamily="34" charset="0"/>
                <a:ea typeface="Arial"/>
                <a:cs typeface="Calibri" panose="020F0502020204030204" pitchFamily="34" charset="0"/>
                <a:sym typeface="Arial"/>
              </a:rPr>
              <a:t>Domain</a:t>
            </a: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a:t>
            </a:r>
            <a:r>
              <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rPr>
              <a:t>sociado a aplicaciones específicas que procesan imágenes, videos documentos y datos espaciales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B-</a:t>
            </a:r>
            <a:r>
              <a:rPr lang="es-CL" sz="1200" b="1" i="0" u="none" strike="noStrike" cap="none" dirty="0" err="1">
                <a:solidFill>
                  <a:srgbClr val="000000"/>
                </a:solidFill>
                <a:latin typeface="Calibri" panose="020F0502020204030204" pitchFamily="34" charset="0"/>
                <a:ea typeface="Arial"/>
                <a:cs typeface="Calibri" panose="020F0502020204030204" pitchFamily="34" charset="0"/>
                <a:sym typeface="Arial"/>
              </a:rPr>
              <a:t>Tree</a:t>
            </a: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 y Hash </a:t>
            </a:r>
            <a:r>
              <a:rPr lang="es-CL" sz="1200" b="1" i="0" u="none" strike="noStrike" cap="none" dirty="0" err="1">
                <a:solidFill>
                  <a:srgbClr val="000000"/>
                </a:solidFill>
                <a:latin typeface="Calibri" panose="020F0502020204030204" pitchFamily="34" charset="0"/>
                <a:ea typeface="Arial"/>
                <a:cs typeface="Calibri" panose="020F0502020204030204" pitchFamily="34" charset="0"/>
                <a:sym typeface="Arial"/>
              </a:rPr>
              <a:t>cluster</a:t>
            </a: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a</a:t>
            </a:r>
            <a:r>
              <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rPr>
              <a:t>sociado a tablas en </a:t>
            </a:r>
            <a:r>
              <a:rPr lang="es-CL" sz="1200" b="0" i="0" u="none" strike="noStrike" cap="none" dirty="0" err="1">
                <a:solidFill>
                  <a:schemeClr val="tx1"/>
                </a:solidFill>
                <a:latin typeface="Calibri" panose="020F0502020204030204" pitchFamily="34" charset="0"/>
                <a:ea typeface="Arial"/>
                <a:cs typeface="Calibri" panose="020F0502020204030204" pitchFamily="34" charset="0"/>
                <a:sym typeface="Arial"/>
              </a:rPr>
              <a:t>cluster</a:t>
            </a:r>
            <a:endParaRPr lang="es-CL" sz="1200" b="0" i="0" u="none" strike="noStrike" cap="none" dirty="0">
              <a:solidFill>
                <a:schemeClr val="tx1"/>
              </a:solidFill>
              <a:latin typeface="Calibri" panose="020F0502020204030204" pitchFamily="34" charset="0"/>
              <a:ea typeface="Arial"/>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0" dirty="0">
                <a:latin typeface="Calibri" panose="020F0502020204030204" pitchFamily="34" charset="0"/>
                <a:cs typeface="Calibri" panose="020F0502020204030204" pitchFamily="34" charset="0"/>
              </a:rPr>
              <a:t>En esta experiencia, sólo veremos la creación de los índices más comunes: B-</a:t>
            </a:r>
            <a:r>
              <a:rPr lang="es-CL" sz="1200" b="0" dirty="0" err="1">
                <a:latin typeface="Calibri" panose="020F0502020204030204" pitchFamily="34" charset="0"/>
                <a:cs typeface="Calibri" panose="020F0502020204030204" pitchFamily="34" charset="0"/>
              </a:rPr>
              <a:t>Tree</a:t>
            </a:r>
            <a:r>
              <a:rPr lang="es-CL" sz="1200" b="0" dirty="0">
                <a:latin typeface="Calibri" panose="020F0502020204030204" pitchFamily="34" charset="0"/>
                <a:cs typeface="Calibri" panose="020F0502020204030204" pitchFamily="34" charset="0"/>
              </a:rPr>
              <a:t>, </a:t>
            </a:r>
            <a:r>
              <a:rPr lang="es-CL" sz="1200" b="0" dirty="0" err="1">
                <a:latin typeface="Calibri" panose="020F0502020204030204" pitchFamily="34" charset="0"/>
                <a:cs typeface="Calibri" panose="020F0502020204030204" pitchFamily="34" charset="0"/>
              </a:rPr>
              <a:t>Unique</a:t>
            </a:r>
            <a:r>
              <a:rPr lang="es-CL" sz="1200" b="0" dirty="0">
                <a:latin typeface="Calibri" panose="020F0502020204030204" pitchFamily="34" charset="0"/>
                <a:cs typeface="Calibri" panose="020F0502020204030204" pitchFamily="34" charset="0"/>
              </a:rPr>
              <a:t> y </a:t>
            </a:r>
            <a:r>
              <a:rPr lang="es-CL" sz="1200" b="0" dirty="0" err="1">
                <a:latin typeface="Calibri" panose="020F0502020204030204" pitchFamily="34" charset="0"/>
                <a:cs typeface="Calibri" panose="020F0502020204030204" pitchFamily="34" charset="0"/>
              </a:rPr>
              <a:t>Function-Based</a:t>
            </a:r>
            <a:r>
              <a:rPr lang="es-CL" sz="1200" b="0" dirty="0">
                <a:latin typeface="Calibri" panose="020F0502020204030204" pitchFamily="34" charset="0"/>
                <a:cs typeface="Calibri" panose="020F0502020204030204" pitchFamily="34" charset="0"/>
              </a:rPr>
              <a:t> (basado en función)</a:t>
            </a:r>
            <a:endParaRPr kumimoji="0" lang="es-CL" sz="12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828562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Creación de Índices B-</a:t>
            </a:r>
            <a:r>
              <a:rPr lang="es-CL" sz="1200" b="1" dirty="0" err="1">
                <a:solidFill>
                  <a:prstClr val="white"/>
                </a:solidFill>
                <a:latin typeface="Calibri" panose="020F0502020204030204" pitchFamily="34" charset="0"/>
                <a:cs typeface="Calibri" panose="020F0502020204030204" pitchFamily="34" charset="0"/>
              </a:rPr>
              <a:t>Tree</a:t>
            </a:r>
            <a:r>
              <a:rPr lang="es-CL" sz="1200" b="1" dirty="0">
                <a:solidFill>
                  <a:prstClr val="white"/>
                </a:solidFill>
                <a:latin typeface="Calibri" panose="020F0502020204030204" pitchFamily="34" charset="0"/>
                <a:cs typeface="Calibri" panose="020F0502020204030204" pitchFamily="34" charset="0"/>
              </a:rPr>
              <a:t>, </a:t>
            </a:r>
            <a:r>
              <a:rPr lang="es-CL" sz="1200" b="1" dirty="0" err="1">
                <a:solidFill>
                  <a:prstClr val="white"/>
                </a:solidFill>
                <a:latin typeface="Calibri" panose="020F0502020204030204" pitchFamily="34" charset="0"/>
                <a:cs typeface="Calibri" panose="020F0502020204030204" pitchFamily="34" charset="0"/>
              </a:rPr>
              <a:t>Unique</a:t>
            </a:r>
            <a:r>
              <a:rPr lang="es-CL" sz="1200" b="1" dirty="0">
                <a:solidFill>
                  <a:prstClr val="white"/>
                </a:solidFill>
                <a:latin typeface="Calibri" panose="020F0502020204030204" pitchFamily="34" charset="0"/>
                <a:cs typeface="Calibri" panose="020F0502020204030204" pitchFamily="34" charset="0"/>
              </a:rPr>
              <a:t> y </a:t>
            </a:r>
            <a:r>
              <a:rPr lang="es-CL" sz="1200" b="1" dirty="0" err="1">
                <a:solidFill>
                  <a:prstClr val="white"/>
                </a:solidFill>
                <a:latin typeface="Calibri" panose="020F0502020204030204" pitchFamily="34" charset="0"/>
                <a:cs typeface="Calibri" panose="020F0502020204030204" pitchFamily="34" charset="0"/>
              </a:rPr>
              <a:t>Function-Based</a:t>
            </a:r>
            <a:endParaRPr lang="es-CL" sz="1200" b="1" dirty="0">
              <a:solidFill>
                <a:prstClr val="white"/>
              </a:solidFill>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dirty="0">
                <a:latin typeface="Calibri" panose="020F0502020204030204" pitchFamily="34" charset="0"/>
                <a:cs typeface="Calibri" panose="020F0502020204030204" pitchFamily="34" charset="0"/>
              </a:rPr>
              <a:t>En la sintaxis: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1" u="none" strike="noStrike" cap="none" dirty="0" err="1">
                <a:solidFill>
                  <a:prstClr val="white"/>
                </a:solidFill>
                <a:latin typeface="Calibri" panose="020F0502020204030204" pitchFamily="34" charset="0"/>
                <a:ea typeface="Arial"/>
                <a:cs typeface="Calibri" panose="020F0502020204030204" pitchFamily="34" charset="0"/>
                <a:sym typeface="Arial"/>
              </a:rPr>
              <a:t>esquema_crea_indice</a:t>
            </a:r>
            <a:r>
              <a:rPr lang="es-CL" sz="1200" b="1" i="1" u="none" strike="noStrike" cap="none" dirty="0">
                <a:solidFill>
                  <a:prstClr val="white"/>
                </a:solidFill>
                <a:latin typeface="Calibri" panose="020F0502020204030204" pitchFamily="34" charset="0"/>
                <a:ea typeface="Arial"/>
                <a:cs typeface="Calibri" panose="020F0502020204030204" pitchFamily="34" charset="0"/>
                <a:sym typeface="Arial"/>
              </a:rPr>
              <a:t>:</a:t>
            </a:r>
            <a:r>
              <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rPr>
              <a:t> nombre del esquema de base de datos en donde se creará el índice.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1" u="none" strike="noStrike" cap="none" dirty="0" err="1">
                <a:solidFill>
                  <a:prstClr val="white"/>
                </a:solidFill>
                <a:latin typeface="Calibri" panose="020F0502020204030204" pitchFamily="34" charset="0"/>
                <a:ea typeface="Arial"/>
                <a:cs typeface="Calibri" panose="020F0502020204030204" pitchFamily="34" charset="0"/>
                <a:sym typeface="Arial"/>
              </a:rPr>
              <a:t>nombre_índice</a:t>
            </a: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a:t>
            </a:r>
            <a:r>
              <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rPr>
              <a:t> es el nombre del índice que se desea crear.</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1" u="none" strike="noStrike" cap="none" dirty="0" err="1">
                <a:solidFill>
                  <a:prstClr val="white"/>
                </a:solidFill>
                <a:latin typeface="Calibri" panose="020F0502020204030204" pitchFamily="34" charset="0"/>
                <a:ea typeface="Arial"/>
                <a:cs typeface="Calibri" panose="020F0502020204030204" pitchFamily="34" charset="0"/>
                <a:sym typeface="Arial"/>
              </a:rPr>
              <a:t>esquema_dueño_tabla</a:t>
            </a:r>
            <a:r>
              <a:rPr lang="es-CL" sz="1200" b="1" i="1" u="none" strike="noStrike" cap="none" dirty="0">
                <a:solidFill>
                  <a:prstClr val="white"/>
                </a:solidFill>
                <a:latin typeface="Calibri" panose="020F0502020204030204" pitchFamily="34" charset="0"/>
                <a:ea typeface="Arial"/>
                <a:cs typeface="Calibri" panose="020F0502020204030204" pitchFamily="34" charset="0"/>
                <a:sym typeface="Arial"/>
              </a:rPr>
              <a:t>:</a:t>
            </a:r>
            <a:r>
              <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rPr>
              <a:t> nombre del dueño de la tabla sobre la cual se creará el índice.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1" u="none" strike="noStrike" cap="none" dirty="0" err="1">
                <a:solidFill>
                  <a:prstClr val="white"/>
                </a:solidFill>
                <a:latin typeface="Calibri" panose="020F0502020204030204" pitchFamily="34" charset="0"/>
                <a:ea typeface="Arial"/>
                <a:cs typeface="Calibri" panose="020F0502020204030204" pitchFamily="34" charset="0"/>
                <a:sym typeface="Arial"/>
              </a:rPr>
              <a:t>nombre_tabla</a:t>
            </a: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a:t>
            </a:r>
            <a:r>
              <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rPr>
              <a:t> es la tabla sobre la cual se creará en índice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1" u="none" strike="noStrike" cap="none" dirty="0">
                <a:solidFill>
                  <a:prstClr val="white"/>
                </a:solidFill>
                <a:latin typeface="Calibri" panose="020F0502020204030204" pitchFamily="34" charset="0"/>
                <a:ea typeface="Arial"/>
                <a:cs typeface="Calibri" panose="020F0502020204030204" pitchFamily="34" charset="0"/>
                <a:sym typeface="Arial"/>
              </a:rPr>
              <a:t>columna</a:t>
            </a: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a:t>
            </a:r>
            <a:r>
              <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rPr>
              <a:t> especifica las columnas que conformarán el índice.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1" u="none" strike="noStrike" cap="none" dirty="0" err="1">
                <a:solidFill>
                  <a:prstClr val="white"/>
                </a:solidFill>
                <a:latin typeface="Calibri" panose="020F0502020204030204" pitchFamily="34" charset="0"/>
                <a:ea typeface="Arial"/>
                <a:cs typeface="Calibri" panose="020F0502020204030204" pitchFamily="34" charset="0"/>
                <a:sym typeface="Arial"/>
              </a:rPr>
              <a:t>nombre_tablespace</a:t>
            </a: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a:t>
            </a:r>
            <a:r>
              <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rPr>
              <a:t> es el </a:t>
            </a:r>
            <a:r>
              <a:rPr lang="es-CL" sz="1200" b="0" i="0" u="none" strike="noStrike" cap="none" dirty="0" err="1">
                <a:solidFill>
                  <a:prstClr val="white"/>
                </a:solidFill>
                <a:latin typeface="Calibri" panose="020F0502020204030204" pitchFamily="34" charset="0"/>
                <a:ea typeface="Arial"/>
                <a:cs typeface="Calibri" panose="020F0502020204030204" pitchFamily="34" charset="0"/>
                <a:sym typeface="Arial"/>
              </a:rPr>
              <a:t>tablespace</a:t>
            </a:r>
            <a:r>
              <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rPr>
              <a:t> en donde se almacenará el índice. Si no se especifica, el índice será creado en el </a:t>
            </a:r>
            <a:r>
              <a:rPr lang="es-CL" sz="1200" b="0" i="0" u="none" strike="noStrike" cap="none" dirty="0" err="1">
                <a:solidFill>
                  <a:prstClr val="white"/>
                </a:solidFill>
                <a:latin typeface="Calibri" panose="020F0502020204030204" pitchFamily="34" charset="0"/>
                <a:ea typeface="Arial"/>
                <a:cs typeface="Calibri" panose="020F0502020204030204" pitchFamily="34" charset="0"/>
                <a:sym typeface="Arial"/>
              </a:rPr>
              <a:t>tablesapace</a:t>
            </a:r>
            <a:r>
              <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rPr>
              <a:t> por defecto del usuario.</a:t>
            </a:r>
            <a:endParaRPr lang="es-CL" sz="1200" b="1" i="1"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rPr>
              <a:t>Los índices que se crean a continuación están asociados a la tabla EMPLEADO</a:t>
            </a:r>
          </a:p>
        </p:txBody>
      </p:sp>
    </p:spTree>
    <p:extLst>
      <p:ext uri="{BB962C8B-B14F-4D97-AF65-F5344CB8AC3E}">
        <p14:creationId xmlns:p14="http://schemas.microsoft.com/office/powerpoint/2010/main" val="6939104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Creación de Índices B-</a:t>
            </a:r>
            <a:r>
              <a:rPr lang="es-CL" sz="1200" b="1" dirty="0" err="1">
                <a:solidFill>
                  <a:prstClr val="white"/>
                </a:solidFill>
                <a:latin typeface="Calibri" panose="020F0502020204030204" pitchFamily="34" charset="0"/>
                <a:cs typeface="Calibri" panose="020F0502020204030204" pitchFamily="34" charset="0"/>
              </a:rPr>
              <a:t>Tree</a:t>
            </a:r>
            <a:r>
              <a:rPr lang="es-CL" sz="1200" b="1" dirty="0">
                <a:solidFill>
                  <a:prstClr val="white"/>
                </a:solidFill>
                <a:latin typeface="Calibri" panose="020F0502020204030204" pitchFamily="34" charset="0"/>
                <a:cs typeface="Calibri" panose="020F0502020204030204" pitchFamily="34" charset="0"/>
              </a:rPr>
              <a:t>, </a:t>
            </a:r>
            <a:r>
              <a:rPr lang="es-CL" sz="1200" b="1" dirty="0" err="1">
                <a:solidFill>
                  <a:prstClr val="white"/>
                </a:solidFill>
                <a:latin typeface="Calibri" panose="020F0502020204030204" pitchFamily="34" charset="0"/>
                <a:cs typeface="Calibri" panose="020F0502020204030204" pitchFamily="34" charset="0"/>
              </a:rPr>
              <a:t>Unique</a:t>
            </a:r>
            <a:r>
              <a:rPr lang="es-CL" sz="1200" b="1" dirty="0">
                <a:solidFill>
                  <a:prstClr val="white"/>
                </a:solidFill>
                <a:latin typeface="Calibri" panose="020F0502020204030204" pitchFamily="34" charset="0"/>
                <a:cs typeface="Calibri" panose="020F0502020204030204" pitchFamily="34" charset="0"/>
              </a:rPr>
              <a:t> y </a:t>
            </a:r>
            <a:r>
              <a:rPr lang="es-CL" sz="1200" b="1" dirty="0" err="1">
                <a:solidFill>
                  <a:prstClr val="white"/>
                </a:solidFill>
                <a:latin typeface="Calibri" panose="020F0502020204030204" pitchFamily="34" charset="0"/>
                <a:cs typeface="Calibri" panose="020F0502020204030204" pitchFamily="34" charset="0"/>
              </a:rPr>
              <a:t>Function-Based</a:t>
            </a:r>
            <a:endParaRPr lang="es-CL" sz="1200" b="1" dirty="0">
              <a:solidFill>
                <a:prstClr val="white"/>
              </a:solidFill>
              <a:latin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En el primer ejemplo, se crean dos índices simple: El primer índice para búsquedas por el apellido paterno del empleado y el segundo índice para búsqueda por categoría del empleado.</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En el segundo ejemplo, se crea un índice compuesto para búsqueda por run y fecha de ingreso del empleado.</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En el tercer ejemplo, otro ejemplo de índice basado en funciones se puede considerar la creación de un índice para una expresión matemática</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dirty="0">
                <a:latin typeface="Calibri" panose="020F0502020204030204" pitchFamily="34" charset="0"/>
                <a:cs typeface="Calibri" panose="020F0502020204030204" pitchFamily="34" charset="0"/>
              </a:rPr>
              <a:t>En el último ejemplo, se crea un índice </a:t>
            </a:r>
            <a:r>
              <a:rPr lang="es-CL" sz="1200" dirty="0" err="1">
                <a:latin typeface="Calibri" panose="020F0502020204030204" pitchFamily="34" charset="0"/>
                <a:cs typeface="Calibri" panose="020F0502020204030204" pitchFamily="34" charset="0"/>
              </a:rPr>
              <a:t>Unique</a:t>
            </a:r>
            <a:r>
              <a:rPr lang="es-CL" sz="1200" dirty="0">
                <a:latin typeface="Calibri" panose="020F0502020204030204" pitchFamily="34" charset="0"/>
                <a:cs typeface="Calibri" panose="020F0502020204030204" pitchFamily="34" charset="0"/>
              </a:rPr>
              <a:t> </a:t>
            </a:r>
            <a:r>
              <a:rPr lang="es-CL" sz="1200" dirty="0">
                <a:latin typeface="Calibri" panose="020F0502020204030204" pitchFamily="34" charset="0"/>
                <a:ea typeface="Arial Unicode MS"/>
                <a:cs typeface="Calibri" panose="020F0502020204030204" pitchFamily="34" charset="0"/>
              </a:rPr>
              <a:t>para búsquedas por código del empleado. Se puede crear un índice de tipo UNIQUE cuando los valores almacenados en esa columna son únicos para todas las filas. Es decir, cuando no el valor no se repite en ninguna otra fila.</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1662592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Planes de Ejecución cuando se han creado Índices</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Una vez que se han creado los índices sobre las tablas, podemos ver si éstos han mejorado los planes de ejecución de las sentencias SQL.</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En el ejemplo, se muestra el plan de ejecución inicial de todos los ejemplos cuando aún no se habían creado los índices.</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Podemos observar que si bien la tabla EMPLEADO está siendo accedida por el índice asociado a su clave primera, el optimizador debe recorrer todas las filas del índice (misma cantidad de filas que la tabla) porque la columna de la condición de la sentencia no es parte de la clave primaria de la tabla. Por esta razón, es que aún cuando la tabla ya posee un índice (por defecto la base de datos crea un índice para la clave primaria de la tabla), éste no permite mejorar la lectura FULL al índice.</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720590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Planes de Ejecución cuando se han creado Índices</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Si vemos el nuevo plan de ejecución de la misma sentencia SQL, posterior a la creación de lo índices, podemos apreciar que ahora la tabla EMPLEADO, además de ser accedida por su clave primaria realizando una lectura UNIQUE SCAN, el optimizador está usando el índice IDX_EMP_ID_CATEGORIA que se creó anteriormente sobre la columna </a:t>
            </a:r>
            <a:r>
              <a:rPr lang="es-MX" sz="1200" dirty="0" err="1">
                <a:latin typeface="Calibri" panose="020F0502020204030204" pitchFamily="34" charset="0"/>
                <a:cs typeface="Calibri" panose="020F0502020204030204" pitchFamily="34" charset="0"/>
              </a:rPr>
              <a:t>id_categoría</a:t>
            </a:r>
            <a:r>
              <a:rPr lang="es-MX" sz="1200" dirty="0">
                <a:latin typeface="Calibri" panose="020F0502020204030204" pitchFamily="34" charset="0"/>
                <a:cs typeface="Calibri" panose="020F0502020204030204" pitchFamily="34" charset="0"/>
              </a:rPr>
              <a:t> de la tabla EMPLEADO. Como esta columna se está usando en la condición de la sentencia, el optimizador de la base de datos usa el índice creado para acceder a la tabla con el método </a:t>
            </a:r>
            <a:r>
              <a:rPr lang="en-US" sz="1200" b="0" dirty="0">
                <a:latin typeface="Calibri" panose="020F0502020204030204" pitchFamily="34" charset="0"/>
                <a:cs typeface="Calibri" panose="020F0502020204030204" pitchFamily="34" charset="0"/>
              </a:rPr>
              <a:t>BY INDEX ROWID BATCHED.</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0637994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Planes de Ejecución cuando se han creado Índices</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En el ejemplo, se muestra el plan de ejecución de la misma sentencia SQL al ser ejecutada en la base de datos Oracle Cloud de Oracle </a:t>
            </a:r>
            <a:r>
              <a:rPr lang="es-MX" sz="1200" dirty="0" err="1">
                <a:latin typeface="Calibri" panose="020F0502020204030204" pitchFamily="34" charset="0"/>
                <a:cs typeface="Calibri" panose="020F0502020204030204" pitchFamily="34" charset="0"/>
              </a:rPr>
              <a:t>Academy</a:t>
            </a:r>
            <a:r>
              <a:rPr lang="es-MX" sz="1200" dirty="0">
                <a:latin typeface="Calibri" panose="020F0502020204030204" pitchFamily="34" charset="0"/>
                <a:cs typeface="Calibri" panose="020F0502020204030204" pitchFamily="34" charset="0"/>
              </a:rPr>
              <a:t>. Esta base de datos en la nube está configurada con ASM (configuración de las bases de datos del tipo </a:t>
            </a:r>
            <a:r>
              <a:rPr lang="es-MX" sz="1200" dirty="0" err="1">
                <a:latin typeface="Calibri" panose="020F0502020204030204" pitchFamily="34" charset="0"/>
                <a:cs typeface="Calibri" panose="020F0502020204030204" pitchFamily="34" charset="0"/>
              </a:rPr>
              <a:t>Exadata</a:t>
            </a:r>
            <a:r>
              <a:rPr lang="es-MX" sz="1200" dirty="0">
                <a:latin typeface="Calibri" panose="020F0502020204030204" pitchFamily="34" charset="0"/>
                <a:cs typeface="Calibri" panose="020F0502020204030204" pitchFamily="34" charset="0"/>
              </a:rPr>
              <a:t>). La diferencia del plan de ejecución de una base de datos Oracle tradicional es que las lecturas FULL se realizan en le servidor de almacenamiento, por eso es que el modo de acceso es STORAGE FULL.  Esto permite que las lecturas completas y a las tablas sean mucho más rápido. </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102106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Planes de Ejecución cuando se han creado Índices</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En este ejemplo se obtienen el total de las propiedades arrendadas, valor total de los arriendos y comisión para los ejecutivos de arriendos cuya primera letra del apellido paterno comience con la letra que se asigna a la variable de sustitución. Este ejemplo, se ejecutó ingresando la letra A.</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Si bien la tabla EMPLEADO se está accediendo por la clave primaria,  el acceso es FULL al índice asociado a la clave primaria, es decir, el optimizador debe recorrer todas la filas del índice (la misma cantidad de filas que la tabla posee la tabla) </a:t>
            </a:r>
            <a:r>
              <a:rPr lang="es-CL" sz="1200" dirty="0">
                <a:latin typeface="Calibri" panose="020F0502020204030204" pitchFamily="34" charset="0"/>
                <a:cs typeface="Calibri" panose="020F0502020204030204" pitchFamily="34" charset="0"/>
              </a:rPr>
              <a:t>para obtener sólo las filas en las que el apellido paterno del empleado comience con una letra determinada.  Esto se debe a que </a:t>
            </a:r>
            <a:r>
              <a:rPr lang="es-MX" sz="1200" dirty="0">
                <a:latin typeface="Calibri" panose="020F0502020204030204" pitchFamily="34" charset="0"/>
                <a:cs typeface="Calibri" panose="020F0502020204030204" pitchFamily="34" charset="0"/>
              </a:rPr>
              <a:t>la columna de la condición de la sentencia no es parte de la clave primaria de la tabla. </a:t>
            </a:r>
          </a:p>
        </p:txBody>
      </p:sp>
    </p:spTree>
    <p:extLst>
      <p:ext uri="{BB962C8B-B14F-4D97-AF65-F5344CB8AC3E}">
        <p14:creationId xmlns:p14="http://schemas.microsoft.com/office/powerpoint/2010/main" val="258273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Planes de Ejecución cuando se han creado Índices</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Posteriormente, se crea el índice basado en función IDX_EMP_APPAT_SUBSTRLOW para la búsqueda de la primera letra en minúscula del apellido del empleado.</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Al obtener nuevamente el plan de ejecución de la sentencia, se puede observar que ahora la tabla EMPLEADO se está accediendo a través del índice IDX_EMP_APPAT_SUBSTRLOW porque como esta columna se está usando en la condición de la sentencia, el optimizador de la base de datos usa el índice creado para acceder a la tabla con el método </a:t>
            </a:r>
            <a:r>
              <a:rPr lang="en-US" sz="1200" b="0" dirty="0">
                <a:latin typeface="Calibri" panose="020F0502020204030204" pitchFamily="34" charset="0"/>
                <a:cs typeface="Calibri" panose="020F0502020204030204" pitchFamily="34" charset="0"/>
              </a:rPr>
              <a:t>BY INDEX ROWID BATCHED.</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5711696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Planes de Ejecución cuando se han creado Índices</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En este ejemplo se obtienen el total de las propiedades arrendadas, valor total de los arriendos y comisión para los ejecutivos de arriendos que a la fecha de ejecutar la sentencia, sus propiedades a su cargo están arriendadas.</a:t>
            </a:r>
          </a:p>
        </p:txBody>
      </p:sp>
    </p:spTree>
    <p:extLst>
      <p:ext uri="{BB962C8B-B14F-4D97-AF65-F5344CB8AC3E}">
        <p14:creationId xmlns:p14="http://schemas.microsoft.com/office/powerpoint/2010/main" val="20425246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CL" sz="1200" b="1" dirty="0">
                <a:solidFill>
                  <a:prstClr val="white"/>
                </a:solidFill>
                <a:latin typeface="Calibri"/>
              </a:rPr>
              <a:t>Planes de Ejecución cuando se han creado Índices</a:t>
            </a:r>
            <a:endParaRPr lang="es-CL" sz="1200" b="1" dirty="0">
              <a:solidFill>
                <a:prstClr val="white"/>
              </a:solidFill>
              <a:latin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dirty="0">
                <a:latin typeface="Calibri" panose="020F0502020204030204" pitchFamily="34" charset="0"/>
                <a:cs typeface="Calibri" panose="020F0502020204030204" pitchFamily="34" charset="0"/>
              </a:rPr>
              <a:t>Al obtener el plan de ejecución de la sentencia anterior, se puede ver que la tabla PROPIEDAD_ARRENDADA se está accediendo FULL, es decir el optimizador debe recorrer toda las tabla para obtener sólo las filas cuya fecha de término del arriendo mayor a la fecha del sistema.</a:t>
            </a:r>
            <a:endPar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120595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Planes de Ejecución cuando se han creado Índices</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Posteriormente, se crea el índice IDX_PA_FECTER_ARRIENDO sobre la columna </a:t>
            </a:r>
            <a:r>
              <a:rPr lang="es-MX" sz="1200" dirty="0" err="1">
                <a:latin typeface="Calibri" panose="020F0502020204030204" pitchFamily="34" charset="0"/>
                <a:cs typeface="Calibri" panose="020F0502020204030204" pitchFamily="34" charset="0"/>
              </a:rPr>
              <a:t>fecter_arriendo</a:t>
            </a:r>
            <a:r>
              <a:rPr lang="es-MX" sz="1200" dirty="0">
                <a:latin typeface="Calibri" panose="020F0502020204030204" pitchFamily="34" charset="0"/>
                <a:cs typeface="Calibri" panose="020F0502020204030204" pitchFamily="34" charset="0"/>
              </a:rPr>
              <a:t> de la tabla PROPIEDAD_ARRENDADA.</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dirty="0">
                <a:latin typeface="Calibri" panose="020F0502020204030204" pitchFamily="34" charset="0"/>
                <a:cs typeface="Calibri" panose="020F0502020204030204" pitchFamily="34" charset="0"/>
              </a:rPr>
              <a:t>Al obtener nuevamente el plan de ejecución de la sentencia, se puede observar que ahora la tabla PROPIEDAD_ARRENDADA se está accediendo a través del índice IDX_PA_FECTER_ARRIENDO porque como esta columna se está usando en la condición de la sentencia, la optimizador de la base de datos usa el índice creado para acceder a la tabla con el método </a:t>
            </a:r>
            <a:r>
              <a:rPr lang="en-US" sz="1200" b="0" dirty="0">
                <a:latin typeface="Calibri" panose="020F0502020204030204" pitchFamily="34" charset="0"/>
                <a:cs typeface="Calibri" panose="020F0502020204030204" pitchFamily="34" charset="0"/>
              </a:rPr>
              <a:t>BY INDEX ROWID BATCHED.</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27493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Estadísticas de los objetos para el uso de Índices</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100" b="0" i="0" u="none" strike="noStrike" cap="none" dirty="0">
                <a:solidFill>
                  <a:srgbClr val="000000"/>
                </a:solidFill>
                <a:effectLst/>
                <a:latin typeface="Arial"/>
                <a:ea typeface="Arial"/>
                <a:cs typeface="Arial"/>
                <a:sym typeface="Arial"/>
              </a:rPr>
              <a:t>La rapidez en que una consulta SQL retorna la información al usuario siempre ha sido un factor de alta importancia para los sistemas informativos.  Como ya sabemos, el optimizador es el encargado de generar el plan de ejecución de cada sentencia SQL que describe la forma cómo se accederán las tablas involucradas en la sentencia.</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100" b="0" i="0" u="none" strike="noStrike" cap="none" dirty="0">
                <a:solidFill>
                  <a:srgbClr val="000000"/>
                </a:solidFill>
                <a:effectLst/>
                <a:latin typeface="Arial"/>
                <a:ea typeface="Arial Unicode MS"/>
                <a:cs typeface="Arial"/>
                <a:sym typeface="Arial"/>
              </a:rPr>
              <a:t>Hemos visto como la creación de índices modifica un plan de ejecución de una sentencia SQL optimizando el acceso a los datos. Sin embargo, hay un factor importante para que el Optimizador de la base de datos use los índices creados </a:t>
            </a:r>
            <a:r>
              <a:rPr lang="es-MX" sz="1100" b="0" i="0" u="none" strike="noStrike" cap="none" dirty="0">
                <a:solidFill>
                  <a:srgbClr val="000000"/>
                </a:solidFill>
                <a:effectLst/>
                <a:latin typeface="Arial"/>
                <a:ea typeface="Arial"/>
                <a:cs typeface="Arial"/>
                <a:sym typeface="Arial"/>
              </a:rPr>
              <a:t>y pueda elegir el plan de ejecución más adecuado a cada sentencia SQL, esto es </a:t>
            </a:r>
            <a:r>
              <a:rPr lang="es-MX" sz="1100" b="0" i="0" u="none" strike="noStrike" cap="none" dirty="0">
                <a:solidFill>
                  <a:srgbClr val="000000"/>
                </a:solidFill>
                <a:effectLst/>
                <a:latin typeface="Arial"/>
                <a:ea typeface="Arial Unicode MS"/>
                <a:cs typeface="Arial"/>
                <a:sym typeface="Arial"/>
              </a:rPr>
              <a:t>las ESTADISTICAS DE LAS TABLAS.</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100" b="0" i="0" u="none" strike="noStrike" cap="none" dirty="0">
                <a:solidFill>
                  <a:srgbClr val="000000"/>
                </a:solidFill>
                <a:effectLst/>
                <a:latin typeface="Arial"/>
                <a:ea typeface="Arial Unicode MS"/>
                <a:cs typeface="Arial"/>
                <a:sym typeface="Arial"/>
              </a:rPr>
              <a:t>Las estadísticas es información de las tablas e índices y que se almacenan en las vistas del diccionario de la base de datos. Para esto, Oracle osee un proceso automático que se ejecuta de acuerdo a las modificaciones (inserción, actualización y/o eliminación de filas) que se han realizado en la tabla. Sin embargo, el DBA también puede programar estadísticas de las tablas e índices de las tablas según lo requieran los sistemas informáticos. </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100" b="0" i="0" u="none" strike="noStrike" cap="none" dirty="0">
                <a:solidFill>
                  <a:srgbClr val="000000"/>
                </a:solidFill>
                <a:effectLst/>
                <a:latin typeface="Arial"/>
                <a:ea typeface="Arial Unicode MS"/>
                <a:cs typeface="Arial"/>
                <a:sym typeface="Arial"/>
              </a:rPr>
              <a:t>Entre la información que se almacena en el diccionario de datos es: cantidad de filas de la tabla, cantidad de filas del índice, los valores diferentes de las columnas, </a:t>
            </a:r>
            <a:r>
              <a:rPr lang="es-MX" sz="1100" b="0" i="0" u="none" strike="noStrike" cap="none" dirty="0">
                <a:solidFill>
                  <a:srgbClr val="000000"/>
                </a:solidFill>
                <a:effectLst/>
                <a:latin typeface="Arial"/>
                <a:ea typeface="Arial"/>
                <a:cs typeface="Arial"/>
                <a:sym typeface="Arial"/>
              </a:rPr>
              <a:t>el número de bloques de datos vacíos, el espacio libre promedio de bloques de datos, la longitud promedio de las filas, entre otra.</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100" b="0" i="0" u="none" strike="noStrike" cap="none" dirty="0">
                <a:solidFill>
                  <a:srgbClr val="000000"/>
                </a:solidFill>
                <a:effectLst/>
                <a:latin typeface="Arial"/>
                <a:ea typeface="Arial Unicode MS"/>
                <a:cs typeface="Arial"/>
                <a:sym typeface="Arial"/>
              </a:rPr>
              <a:t>Por lo tanto, no sólo basta con crear índices para mejorar el rendimiento de una sentencia SQL, sino que además es importante que la base de datos tenga las estadísticas actualizadas de las tablas e índices.</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s-MX" sz="1100" b="0" i="0" u="none" strike="noStrike" cap="none" dirty="0">
              <a:solidFill>
                <a:srgbClr val="000000"/>
              </a:solidFill>
              <a:effectLst/>
              <a:latin typeface="Arial"/>
              <a:ea typeface="Arial Unicode MS"/>
              <a:cs typeface="Arial"/>
              <a:sym typeface="Arial"/>
            </a:endParaRP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s-MX" sz="1100" b="0" i="0" u="none" strike="noStrike" cap="none" dirty="0">
              <a:solidFill>
                <a:srgbClr val="000000"/>
              </a:solidFill>
              <a:effectLst/>
              <a:latin typeface="Arial"/>
              <a:ea typeface="Arial Unicode MS"/>
              <a:cs typeface="Arial"/>
              <a:sym typeface="Arial"/>
            </a:endParaRP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s-MX" sz="1100" b="0" i="0" u="none" strike="noStrike" cap="none" dirty="0">
              <a:solidFill>
                <a:srgbClr val="000000"/>
              </a:solidFill>
              <a:effectLst/>
              <a:latin typeface="Arial"/>
              <a:ea typeface="Arial Unicode MS"/>
              <a:cs typeface="Arial"/>
              <a:sym typeface="Arial"/>
            </a:endParaRP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s-CL" sz="1200" dirty="0">
              <a:ea typeface="Arial Unicode MS"/>
            </a:endParaRPr>
          </a:p>
        </p:txBody>
      </p:sp>
    </p:spTree>
    <p:extLst>
      <p:ext uri="{BB962C8B-B14F-4D97-AF65-F5344CB8AC3E}">
        <p14:creationId xmlns:p14="http://schemas.microsoft.com/office/powerpoint/2010/main" val="5464968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Eliminación de Índices Creados</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dirty="0"/>
              <a:t>Para eliminar un índice, se debe usar la cláusula DROP INDEX seguido del nombre del índice que se desea eliminar. En el ejemplo, se eliminan algunos de los índices creados anteriormente.</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dirty="0">
                <a:ea typeface="Arial Unicode MS"/>
              </a:rPr>
              <a:t>Además, es importante mencionar que cuando una tabla se  elimina, automáticamente se eliminan todos los índices asociados a esa tabla.</a:t>
            </a:r>
          </a:p>
        </p:txBody>
      </p:sp>
    </p:spTree>
    <p:extLst>
      <p:ext uri="{BB962C8B-B14F-4D97-AF65-F5344CB8AC3E}">
        <p14:creationId xmlns:p14="http://schemas.microsoft.com/office/powerpoint/2010/main" val="7057001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userDrawn="1">
  <p:cSld name="TITLE">
    <p:bg>
      <p:bgPr>
        <a:solidFill>
          <a:schemeClr val="dk2"/>
        </a:solidFill>
        <a:effectLst/>
      </p:bgPr>
    </p:bg>
    <p:spTree>
      <p:nvGrpSpPr>
        <p:cNvPr id="1" name="Shape 9"/>
        <p:cNvGrpSpPr/>
        <p:nvPr/>
      </p:nvGrpSpPr>
      <p:grpSpPr>
        <a:xfrm>
          <a:off x="0" y="0"/>
          <a:ext cx="0" cy="0"/>
          <a:chOff x="0" y="0"/>
          <a:chExt cx="0" cy="0"/>
        </a:xfrm>
      </p:grpSpPr>
      <p:sp>
        <p:nvSpPr>
          <p:cNvPr id="10" name="Google Shape;10;p2"/>
          <p:cNvSpPr/>
          <p:nvPr/>
        </p:nvSpPr>
        <p:spPr>
          <a:xfrm flipH="1">
            <a:off x="-1" y="0"/>
            <a:ext cx="4629587"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1" name="Google Shape;11;p2"/>
          <p:cNvPicPr preferRelativeResize="0"/>
          <p:nvPr/>
        </p:nvPicPr>
        <p:blipFill rotWithShape="1">
          <a:blip r:embed="rId2">
            <a:alphaModFix/>
          </a:blip>
          <a:srcRect/>
          <a:stretch/>
        </p:blipFill>
        <p:spPr>
          <a:xfrm>
            <a:off x="20" y="11958"/>
            <a:ext cx="4518116" cy="6840855"/>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2" name="Google Shape;12;p2"/>
          <p:cNvPicPr preferRelativeResize="0"/>
          <p:nvPr/>
        </p:nvPicPr>
        <p:blipFill rotWithShape="1">
          <a:blip r:embed="rId3">
            <a:alphaModFix/>
          </a:blip>
          <a:srcRect/>
          <a:stretch/>
        </p:blipFill>
        <p:spPr>
          <a:xfrm>
            <a:off x="5190123" y="212270"/>
            <a:ext cx="3748263" cy="586221"/>
          </a:xfrm>
          <a:prstGeom prst="rect">
            <a:avLst/>
          </a:prstGeom>
          <a:noFill/>
          <a:ln>
            <a:noFill/>
          </a:ln>
        </p:spPr>
      </p:pic>
      <p:sp>
        <p:nvSpPr>
          <p:cNvPr id="14" name="Google Shape;14;p2"/>
          <p:cNvSpPr txBox="1">
            <a:spLocks noGrp="1"/>
          </p:cNvSpPr>
          <p:nvPr>
            <p:ph type="subTitle" idx="1"/>
          </p:nvPr>
        </p:nvSpPr>
        <p:spPr>
          <a:xfrm>
            <a:off x="5284700" y="5620875"/>
            <a:ext cx="3603900" cy="873900"/>
          </a:xfrm>
          <a:prstGeom prst="rect">
            <a:avLst/>
          </a:prstGeom>
          <a:solidFill>
            <a:srgbClr val="DE3075"/>
          </a:solidFill>
          <a:ln>
            <a:noFill/>
          </a:ln>
        </p:spPr>
        <p:txBody>
          <a:bodyPr spcFirstLastPara="1" wrap="square" lIns="91425" tIns="0" rIns="182875" bIns="0" anchor="t" anchorCtr="0">
            <a:noAutofit/>
          </a:bodyPr>
          <a:lstStyle>
            <a:lvl1pPr lvl="0" algn="r" rtl="0">
              <a:spcBef>
                <a:spcPts val="1000"/>
              </a:spcBef>
              <a:spcAft>
                <a:spcPts val="0"/>
              </a:spcAft>
              <a:buNone/>
              <a:defRPr sz="4800" b="1">
                <a:solidFill>
                  <a:srgbClr val="FFFFFF"/>
                </a:solidFill>
                <a:latin typeface="Calibri" panose="020F0502020204030204" pitchFamily="34" charset="0"/>
                <a:cs typeface="Calibri" panose="020F0502020204030204" pitchFamily="34" charset="0"/>
              </a:defRPr>
            </a:lvl1pPr>
            <a:lvl2pPr lvl="1" algn="r" rtl="0">
              <a:spcBef>
                <a:spcPts val="1000"/>
              </a:spcBef>
              <a:spcAft>
                <a:spcPts val="0"/>
              </a:spcAft>
              <a:buNone/>
              <a:defRPr sz="4800" b="1">
                <a:solidFill>
                  <a:srgbClr val="FFFFFF"/>
                </a:solidFill>
              </a:defRPr>
            </a:lvl2pPr>
            <a:lvl3pPr lvl="2" algn="r" rtl="0">
              <a:spcBef>
                <a:spcPts val="1000"/>
              </a:spcBef>
              <a:spcAft>
                <a:spcPts val="0"/>
              </a:spcAft>
              <a:buNone/>
              <a:defRPr sz="4800" b="1">
                <a:solidFill>
                  <a:srgbClr val="FFFFFF"/>
                </a:solidFill>
              </a:defRPr>
            </a:lvl3pPr>
            <a:lvl4pPr lvl="3" algn="r" rtl="0">
              <a:spcBef>
                <a:spcPts val="1000"/>
              </a:spcBef>
              <a:spcAft>
                <a:spcPts val="0"/>
              </a:spcAft>
              <a:buNone/>
              <a:defRPr sz="4800" b="1">
                <a:solidFill>
                  <a:srgbClr val="FFFFFF"/>
                </a:solidFill>
              </a:defRPr>
            </a:lvl4pPr>
            <a:lvl5pPr lvl="4" algn="r" rtl="0">
              <a:spcBef>
                <a:spcPts val="1000"/>
              </a:spcBef>
              <a:spcAft>
                <a:spcPts val="0"/>
              </a:spcAft>
              <a:buNone/>
              <a:defRPr sz="4800" b="1">
                <a:solidFill>
                  <a:srgbClr val="FFFFFF"/>
                </a:solidFill>
              </a:defRPr>
            </a:lvl5pPr>
            <a:lvl6pPr lvl="5" algn="r" rtl="0">
              <a:spcBef>
                <a:spcPts val="1000"/>
              </a:spcBef>
              <a:spcAft>
                <a:spcPts val="0"/>
              </a:spcAft>
              <a:buNone/>
              <a:defRPr sz="4800" b="1">
                <a:solidFill>
                  <a:srgbClr val="FFFFFF"/>
                </a:solidFill>
              </a:defRPr>
            </a:lvl6pPr>
            <a:lvl7pPr lvl="6" algn="r" rtl="0">
              <a:spcBef>
                <a:spcPts val="1000"/>
              </a:spcBef>
              <a:spcAft>
                <a:spcPts val="0"/>
              </a:spcAft>
              <a:buNone/>
              <a:defRPr sz="4800" b="1">
                <a:solidFill>
                  <a:srgbClr val="FFFFFF"/>
                </a:solidFill>
              </a:defRPr>
            </a:lvl7pPr>
            <a:lvl8pPr lvl="7" algn="r" rtl="0">
              <a:spcBef>
                <a:spcPts val="1000"/>
              </a:spcBef>
              <a:spcAft>
                <a:spcPts val="0"/>
              </a:spcAft>
              <a:buNone/>
              <a:defRPr sz="4800" b="1">
                <a:solidFill>
                  <a:srgbClr val="FFFFFF"/>
                </a:solidFill>
              </a:defRPr>
            </a:lvl8pPr>
            <a:lvl9pPr lvl="8" algn="r" rtl="0">
              <a:spcBef>
                <a:spcPts val="1000"/>
              </a:spcBef>
              <a:spcAft>
                <a:spcPts val="0"/>
              </a:spcAft>
              <a:buNone/>
              <a:defRPr sz="4800" b="1">
                <a:solidFill>
                  <a:srgbClr val="FFFFFF"/>
                </a:solidFill>
              </a:defRPr>
            </a:lvl9pPr>
          </a:lstStyle>
          <a:p>
            <a:endParaRPr/>
          </a:p>
        </p:txBody>
      </p:sp>
      <p:sp>
        <p:nvSpPr>
          <p:cNvPr id="7" name="Google Shape;13;p2">
            <a:extLst>
              <a:ext uri="{FF2B5EF4-FFF2-40B4-BE49-F238E27FC236}">
                <a16:creationId xmlns:a16="http://schemas.microsoft.com/office/drawing/2014/main" xmlns="" id="{64854533-8DCC-1C49-8946-547AD8D471A7}"/>
              </a:ext>
            </a:extLst>
          </p:cNvPr>
          <p:cNvSpPr txBox="1">
            <a:spLocks noGrp="1"/>
          </p:cNvSpPr>
          <p:nvPr>
            <p:ph type="title"/>
          </p:nvPr>
        </p:nvSpPr>
        <p:spPr>
          <a:xfrm>
            <a:off x="3993775" y="2487700"/>
            <a:ext cx="4894800" cy="2891100"/>
          </a:xfrm>
          <a:prstGeom prst="rect">
            <a:avLst/>
          </a:prstGeom>
        </p:spPr>
        <p:txBody>
          <a:bodyPr spcFirstLastPara="1" wrap="square" lIns="91425" tIns="45700" rIns="91425" bIns="45700" anchor="b" anchorCtr="0">
            <a:noAutofit/>
          </a:bodyPr>
          <a:lstStyle>
            <a:lvl1pPr lvl="0" algn="r" rtl="0">
              <a:spcBef>
                <a:spcPts val="0"/>
              </a:spcBef>
              <a:spcAft>
                <a:spcPts val="0"/>
              </a:spcAft>
              <a:buNone/>
              <a:defRPr sz="6600">
                <a:latin typeface="Calibri" panose="020F0502020204030204" pitchFamily="34" charset="0"/>
                <a:cs typeface="Calibri" panose="020F0502020204030204" pitchFamily="34" charset="0"/>
              </a:defRPr>
            </a:lvl1pPr>
            <a:lvl2pPr lvl="1" algn="r" rtl="0">
              <a:spcBef>
                <a:spcPts val="0"/>
              </a:spcBef>
              <a:spcAft>
                <a:spcPts val="0"/>
              </a:spcAft>
              <a:buNone/>
              <a:defRPr sz="5600"/>
            </a:lvl2pPr>
            <a:lvl3pPr lvl="2" algn="r" rtl="0">
              <a:spcBef>
                <a:spcPts val="0"/>
              </a:spcBef>
              <a:spcAft>
                <a:spcPts val="0"/>
              </a:spcAft>
              <a:buNone/>
              <a:defRPr sz="5600"/>
            </a:lvl3pPr>
            <a:lvl4pPr lvl="3" algn="r" rtl="0">
              <a:spcBef>
                <a:spcPts val="0"/>
              </a:spcBef>
              <a:spcAft>
                <a:spcPts val="0"/>
              </a:spcAft>
              <a:buNone/>
              <a:defRPr sz="5600"/>
            </a:lvl4pPr>
            <a:lvl5pPr lvl="4" algn="r" rtl="0">
              <a:spcBef>
                <a:spcPts val="0"/>
              </a:spcBef>
              <a:spcAft>
                <a:spcPts val="0"/>
              </a:spcAft>
              <a:buNone/>
              <a:defRPr sz="5600"/>
            </a:lvl5pPr>
            <a:lvl6pPr lvl="5" algn="r" rtl="0">
              <a:spcBef>
                <a:spcPts val="0"/>
              </a:spcBef>
              <a:spcAft>
                <a:spcPts val="0"/>
              </a:spcAft>
              <a:buNone/>
              <a:defRPr sz="5600"/>
            </a:lvl6pPr>
            <a:lvl7pPr lvl="6" algn="r" rtl="0">
              <a:spcBef>
                <a:spcPts val="0"/>
              </a:spcBef>
              <a:spcAft>
                <a:spcPts val="0"/>
              </a:spcAft>
              <a:buNone/>
              <a:defRPr sz="5600"/>
            </a:lvl7pPr>
            <a:lvl8pPr lvl="7" algn="r" rtl="0">
              <a:spcBef>
                <a:spcPts val="0"/>
              </a:spcBef>
              <a:spcAft>
                <a:spcPts val="0"/>
              </a:spcAft>
              <a:buNone/>
              <a:defRPr sz="5600"/>
            </a:lvl8pPr>
            <a:lvl9pPr lvl="8" algn="r" rtl="0">
              <a:spcBef>
                <a:spcPts val="0"/>
              </a:spcBef>
              <a:spcAft>
                <a:spcPts val="0"/>
              </a:spcAft>
              <a:buNone/>
              <a:defRPr sz="5600"/>
            </a:lvl9pPr>
          </a:lstStyle>
          <a:p>
            <a:endParaRPr lang="es-ES_tradnl"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1">
  <p:cSld name="TITLE_4_1_1">
    <p:bg>
      <p:bgPr>
        <a:solidFill>
          <a:schemeClr val="dk2"/>
        </a:solidFill>
        <a:effectLst/>
      </p:bgPr>
    </p:bg>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a:stretch/>
        </p:blipFill>
        <p:spPr>
          <a:xfrm>
            <a:off x="5177307" y="186298"/>
            <a:ext cx="3812148" cy="601304"/>
          </a:xfrm>
          <a:prstGeom prst="rect">
            <a:avLst/>
          </a:prstGeom>
          <a:noFill/>
          <a:ln>
            <a:noFill/>
          </a:ln>
        </p:spPr>
      </p:pic>
      <p:grpSp>
        <p:nvGrpSpPr>
          <p:cNvPr id="18" name="Google Shape;18;p3"/>
          <p:cNvGrpSpPr/>
          <p:nvPr/>
        </p:nvGrpSpPr>
        <p:grpSpPr>
          <a:xfrm>
            <a:off x="0" y="-124"/>
            <a:ext cx="4853665" cy="5740374"/>
            <a:chOff x="0" y="-126"/>
            <a:chExt cx="4554438" cy="5386482"/>
          </a:xfrm>
        </p:grpSpPr>
        <p:sp>
          <p:nvSpPr>
            <p:cNvPr id="19" name="Google Shape;19;p3"/>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0" name="Google Shape;20;p3" descr="Una caricatura de una ciudad&#10;&#10;Descripción generada automáticamente"/>
            <p:cNvPicPr preferRelativeResize="0"/>
            <p:nvPr/>
          </p:nvPicPr>
          <p:blipFill rotWithShape="1">
            <a:blip r:embed="rId3">
              <a:alphaModFix/>
            </a:blip>
            <a:srcRect l="9870" r="648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1" name="Google Shape;21;p3"/>
          <p:cNvSpPr txBox="1">
            <a:spLocks noGrp="1"/>
          </p:cNvSpPr>
          <p:nvPr>
            <p:ph type="title"/>
          </p:nvPr>
        </p:nvSpPr>
        <p:spPr>
          <a:xfrm>
            <a:off x="3004575" y="3476150"/>
            <a:ext cx="5995800" cy="1603200"/>
          </a:xfrm>
          <a:prstGeom prst="rect">
            <a:avLst/>
          </a:prstGeom>
          <a:solidFill>
            <a:srgbClr val="DE3075">
              <a:alpha val="6429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1" preserve="1">
  <p:cSld name="Título y objetos 1">
    <p:spTree>
      <p:nvGrpSpPr>
        <p:cNvPr id="1" name="Shape 83"/>
        <p:cNvGrpSpPr/>
        <p:nvPr/>
      </p:nvGrpSpPr>
      <p:grpSpPr>
        <a:xfrm>
          <a:off x="0" y="0"/>
          <a:ext cx="0" cy="0"/>
          <a:chOff x="0" y="0"/>
          <a:chExt cx="0" cy="0"/>
        </a:xfrm>
      </p:grpSpPr>
      <p:sp>
        <p:nvSpPr>
          <p:cNvPr id="84" name="Google Shape;84;p14"/>
          <p:cNvSpPr/>
          <p:nvPr/>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85" name="Google Shape;85;p14"/>
          <p:cNvSpPr/>
          <p:nvPr/>
        </p:nvSpPr>
        <p:spPr>
          <a:xfrm>
            <a:off x="770850" y="212725"/>
            <a:ext cx="903600" cy="813000"/>
          </a:xfrm>
          <a:prstGeom prst="parallelogram">
            <a:avLst>
              <a:gd name="adj" fmla="val 45310"/>
            </a:avLst>
          </a:prstGeom>
          <a:solidFill>
            <a:srgbClr val="8189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a:off x="146422" y="212725"/>
            <a:ext cx="903600" cy="813000"/>
          </a:xfrm>
          <a:prstGeom prst="parallelogram">
            <a:avLst>
              <a:gd name="adj" fmla="val 45310"/>
            </a:avLst>
          </a:prstGeom>
          <a:gradFill>
            <a:gsLst>
              <a:gs pos="0">
                <a:srgbClr val="FFFFFF"/>
              </a:gs>
              <a:gs pos="65000">
                <a:schemeClr val="dk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pic>
        <p:nvPicPr>
          <p:cNvPr id="89" name="Google Shape;89;p14"/>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0" name="Google Shape;90;p14"/>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7;p1">
            <a:extLst>
              <a:ext uri="{FF2B5EF4-FFF2-40B4-BE49-F238E27FC236}">
                <a16:creationId xmlns:a16="http://schemas.microsoft.com/office/drawing/2014/main" xmlns="" id="{0B5789D4-A1BB-0442-8135-68C7C82B7CE3}"/>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423579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solidFill>
          <a:schemeClr val="bg2"/>
        </a:solid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xmlns="" id="{EC7D9485-9D22-5647-86A2-61337F2EBDAC}"/>
              </a:ext>
            </a:extLst>
          </p:cNvPr>
          <p:cNvSpPr>
            <a:spLocks noGrp="1"/>
          </p:cNvSpPr>
          <p:nvPr>
            <p:ph type="body" sz="quarter" idx="11"/>
          </p:nvPr>
        </p:nvSpPr>
        <p:spPr>
          <a:xfrm>
            <a:off x="560387" y="2634922"/>
            <a:ext cx="8023225" cy="2275770"/>
          </a:xfrm>
          <a:prstGeom prst="rect">
            <a:avLst/>
          </a:prstGeom>
        </p:spPr>
        <p:txBody>
          <a:bodyPr anchor="ctr"/>
          <a:lstStyle>
            <a:lvl1pPr marL="50800" indent="0" algn="ctr">
              <a:buNone/>
              <a:defRPr sz="4000">
                <a:solidFill>
                  <a:schemeClr val="bg1"/>
                </a:solidFill>
                <a:latin typeface="Calibri" panose="020F0502020204030204" pitchFamily="34" charset="0"/>
                <a:cs typeface="Calibri" panose="020F0502020204030204" pitchFamily="34" charset="0"/>
              </a:defRPr>
            </a:lvl1pPr>
          </a:lstStyle>
          <a:p>
            <a:pPr lvl="0"/>
            <a:endParaRPr lang="es-ES_tradnl" dirty="0"/>
          </a:p>
        </p:txBody>
      </p:sp>
      <p:pic>
        <p:nvPicPr>
          <p:cNvPr id="6" name="Google Shape;12;p2">
            <a:extLst>
              <a:ext uri="{FF2B5EF4-FFF2-40B4-BE49-F238E27FC236}">
                <a16:creationId xmlns:a16="http://schemas.microsoft.com/office/drawing/2014/main" xmlns="" id="{0D343A73-BC54-BF4C-A259-A0C913A07BC0}"/>
              </a:ext>
            </a:extLst>
          </p:cNvPr>
          <p:cNvPicPr preferRelativeResize="0"/>
          <p:nvPr userDrawn="1"/>
        </p:nvPicPr>
        <p:blipFill rotWithShape="1">
          <a:blip r:embed="rId2">
            <a:alphaModFix/>
          </a:blip>
          <a:srcRect/>
          <a:stretch/>
        </p:blipFill>
        <p:spPr>
          <a:xfrm>
            <a:off x="6179349" y="392750"/>
            <a:ext cx="2759037" cy="459625"/>
          </a:xfrm>
          <a:prstGeom prst="rect">
            <a:avLst/>
          </a:prstGeom>
          <a:noFill/>
          <a:ln>
            <a:noFill/>
          </a:ln>
        </p:spPr>
      </p:pic>
      <p:sp>
        <p:nvSpPr>
          <p:cNvPr id="10" name="Marcador de texto 4">
            <a:extLst>
              <a:ext uri="{FF2B5EF4-FFF2-40B4-BE49-F238E27FC236}">
                <a16:creationId xmlns:a16="http://schemas.microsoft.com/office/drawing/2014/main" xmlns="" id="{A2F63D34-FBAE-5442-A997-D0933D828667}"/>
              </a:ext>
            </a:extLst>
          </p:cNvPr>
          <p:cNvSpPr>
            <a:spLocks noGrp="1"/>
          </p:cNvSpPr>
          <p:nvPr>
            <p:ph type="body" sz="quarter" idx="12"/>
          </p:nvPr>
        </p:nvSpPr>
        <p:spPr>
          <a:xfrm>
            <a:off x="560387" y="1632286"/>
            <a:ext cx="8023225" cy="665749"/>
          </a:xfrm>
          <a:prstGeom prst="rect">
            <a:avLst/>
          </a:prstGeom>
          <a:solidFill>
            <a:schemeClr val="accent1"/>
          </a:solidFill>
        </p:spPr>
        <p:txBody>
          <a:bodyPr/>
          <a:lstStyle>
            <a:lvl1pPr marL="50800" indent="0" algn="ctr">
              <a:buNone/>
              <a:defRPr sz="2800">
                <a:solidFill>
                  <a:schemeClr val="bg1"/>
                </a:solidFill>
                <a:latin typeface="Calibri" panose="020F0502020204030204" pitchFamily="34" charset="0"/>
                <a:cs typeface="Calibri" panose="020F0502020204030204" pitchFamily="34" charset="0"/>
              </a:defRPr>
            </a:lvl1pPr>
          </a:lstStyle>
          <a:p>
            <a:pPr lvl="0"/>
            <a:endParaRPr lang="es-ES_tradnl" dirty="0"/>
          </a:p>
        </p:txBody>
      </p:sp>
      <p:sp>
        <p:nvSpPr>
          <p:cNvPr id="11" name="Google Shape;165;p24">
            <a:extLst>
              <a:ext uri="{FF2B5EF4-FFF2-40B4-BE49-F238E27FC236}">
                <a16:creationId xmlns:a16="http://schemas.microsoft.com/office/drawing/2014/main" xmlns="" id="{ED241A5B-D2F8-1D45-8F9D-D1D4B48E7814}"/>
              </a:ext>
            </a:extLst>
          </p:cNvPr>
          <p:cNvSpPr/>
          <p:nvPr userDrawn="1"/>
        </p:nvSpPr>
        <p:spPr>
          <a:xfrm>
            <a:off x="770850" y="212725"/>
            <a:ext cx="903600"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6;p24">
            <a:extLst>
              <a:ext uri="{FF2B5EF4-FFF2-40B4-BE49-F238E27FC236}">
                <a16:creationId xmlns:a16="http://schemas.microsoft.com/office/drawing/2014/main" xmlns="" id="{990F690A-789C-6740-B34D-11153A9BBDDB}"/>
              </a:ext>
            </a:extLst>
          </p:cNvPr>
          <p:cNvSpPr/>
          <p:nvPr userDrawn="1"/>
        </p:nvSpPr>
        <p:spPr>
          <a:xfrm>
            <a:off x="146422" y="212725"/>
            <a:ext cx="903600" cy="813000"/>
          </a:xfrm>
          <a:prstGeom prst="parallelogram">
            <a:avLst>
              <a:gd name="adj" fmla="val 45310"/>
            </a:avLst>
          </a:prstGeom>
          <a:gradFill>
            <a:gsLst>
              <a:gs pos="0">
                <a:schemeClr val="bg2"/>
              </a:gs>
              <a:gs pos="65000">
                <a:schemeClr val="bg1"/>
              </a:gs>
              <a:gs pos="100000">
                <a:schemeClr val="bg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4;p14">
            <a:extLst>
              <a:ext uri="{FF2B5EF4-FFF2-40B4-BE49-F238E27FC236}">
                <a16:creationId xmlns:a16="http://schemas.microsoft.com/office/drawing/2014/main" xmlns="" id="{7FF938C0-C0B1-8543-A7DC-F3B0AA5BE94F}"/>
              </a:ext>
            </a:extLst>
          </p:cNvPr>
          <p:cNvSpPr/>
          <p:nvPr userDrawn="1"/>
        </p:nvSpPr>
        <p:spPr>
          <a:xfrm>
            <a:off x="1372975" y="212725"/>
            <a:ext cx="4806374"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dirty="0">
              <a:latin typeface="Bebas Neue" panose="020B0606020202050201" pitchFamily="34" charset="77"/>
            </a:endParaRPr>
          </a:p>
        </p:txBody>
      </p:sp>
      <p:sp>
        <p:nvSpPr>
          <p:cNvPr id="15" name="Google Shape;87;p14">
            <a:extLst>
              <a:ext uri="{FF2B5EF4-FFF2-40B4-BE49-F238E27FC236}">
                <a16:creationId xmlns:a16="http://schemas.microsoft.com/office/drawing/2014/main" xmlns="" id="{D9228F07-B61E-0645-862B-247F10F5B15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solidFill>
                  <a:schemeClr val="accent1"/>
                </a:solidFill>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Tree>
    <p:extLst>
      <p:ext uri="{BB962C8B-B14F-4D97-AF65-F5344CB8AC3E}">
        <p14:creationId xmlns:p14="http://schemas.microsoft.com/office/powerpoint/2010/main" val="359457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 blanco" type="blank" preserve="1">
  <p:cSld name="1_En blanco">
    <p:spTree>
      <p:nvGrpSpPr>
        <p:cNvPr id="1" name="Shape 205"/>
        <p:cNvGrpSpPr/>
        <p:nvPr/>
      </p:nvGrpSpPr>
      <p:grpSpPr>
        <a:xfrm>
          <a:off x="0" y="0"/>
          <a:ext cx="0" cy="0"/>
          <a:chOff x="0" y="0"/>
          <a:chExt cx="0" cy="0"/>
        </a:xfrm>
      </p:grpSpPr>
      <p:sp>
        <p:nvSpPr>
          <p:cNvPr id="4" name="Google Shape;7;p1">
            <a:extLst>
              <a:ext uri="{FF2B5EF4-FFF2-40B4-BE49-F238E27FC236}">
                <a16:creationId xmlns:a16="http://schemas.microsoft.com/office/drawing/2014/main" xmlns="" id="{FCAE1A83-104E-8B4E-949F-BE3A9ADE6BA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9778142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94150" y="1218600"/>
            <a:ext cx="8555700" cy="5137800"/>
          </a:xfrm>
          <a:prstGeom prst="rect">
            <a:avLst/>
          </a:prstGeom>
          <a:noFill/>
          <a:ln>
            <a:noFill/>
          </a:ln>
        </p:spPr>
        <p:txBody>
          <a:bodyPr spcFirstLastPara="1" wrap="square" lIns="90000"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Franklin Gothic"/>
                <a:ea typeface="Franklin Gothic"/>
                <a:cs typeface="Franklin Gothic"/>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dirty="0"/>
          </a:p>
        </p:txBody>
      </p:sp>
      <p:sp>
        <p:nvSpPr>
          <p:cNvPr id="7" name="Google Shape;7;p1"/>
          <p:cNvSpPr txBox="1">
            <a:spLocks noGrp="1"/>
          </p:cNvSpPr>
          <p:nvPr>
            <p:ph type="sldNum" idx="12"/>
          </p:nvPr>
        </p:nvSpPr>
        <p:spPr>
          <a:xfrm>
            <a:off x="69151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i="0" u="none" strike="noStrike" cap="none">
                <a:solidFill>
                  <a:srgbClr val="6C7A8A"/>
                </a:solidFill>
                <a:latin typeface="Calibri" panose="020F0502020204030204" pitchFamily="34" charset="0"/>
                <a:ea typeface="Roboto Mono"/>
                <a:cs typeface="Calibri" panose="020F0502020204030204" pitchFamily="34" charset="0"/>
                <a:sym typeface="Roboto Mono"/>
              </a:defRPr>
            </a:lvl1pPr>
            <a:lvl2pPr marL="0" marR="0" lvl="1" indent="0" algn="r" rtl="0">
              <a:spcBef>
                <a:spcPts val="0"/>
              </a:spcBef>
              <a:buNone/>
              <a:defRPr sz="1200" i="0" u="none" strike="noStrike" cap="none">
                <a:solidFill>
                  <a:srgbClr val="6C7A8A"/>
                </a:solidFill>
                <a:latin typeface="Roboto Mono"/>
                <a:ea typeface="Roboto Mono"/>
                <a:cs typeface="Roboto Mono"/>
                <a:sym typeface="Roboto Mono"/>
              </a:defRPr>
            </a:lvl2pPr>
            <a:lvl3pPr marL="0" marR="0" lvl="2" indent="0" algn="r" rtl="0">
              <a:spcBef>
                <a:spcPts val="0"/>
              </a:spcBef>
              <a:buNone/>
              <a:defRPr sz="1200" i="0" u="none" strike="noStrike" cap="none">
                <a:solidFill>
                  <a:srgbClr val="6C7A8A"/>
                </a:solidFill>
                <a:latin typeface="Roboto Mono"/>
                <a:ea typeface="Roboto Mono"/>
                <a:cs typeface="Roboto Mono"/>
                <a:sym typeface="Roboto Mono"/>
              </a:defRPr>
            </a:lvl3pPr>
            <a:lvl4pPr marL="0" marR="0" lvl="3" indent="0" algn="r" rtl="0">
              <a:spcBef>
                <a:spcPts val="0"/>
              </a:spcBef>
              <a:buNone/>
              <a:defRPr sz="1200" i="0" u="none" strike="noStrike" cap="none">
                <a:solidFill>
                  <a:srgbClr val="6C7A8A"/>
                </a:solidFill>
                <a:latin typeface="Roboto Mono"/>
                <a:ea typeface="Roboto Mono"/>
                <a:cs typeface="Roboto Mono"/>
                <a:sym typeface="Roboto Mono"/>
              </a:defRPr>
            </a:lvl4pPr>
            <a:lvl5pPr marL="0" marR="0" lvl="4" indent="0" algn="r" rtl="0">
              <a:spcBef>
                <a:spcPts val="0"/>
              </a:spcBef>
              <a:buNone/>
              <a:defRPr sz="1200" i="0" u="none" strike="noStrike" cap="none">
                <a:solidFill>
                  <a:srgbClr val="6C7A8A"/>
                </a:solidFill>
                <a:latin typeface="Roboto Mono"/>
                <a:ea typeface="Roboto Mono"/>
                <a:cs typeface="Roboto Mono"/>
                <a:sym typeface="Roboto Mono"/>
              </a:defRPr>
            </a:lvl5pPr>
            <a:lvl6pPr marL="0" marR="0" lvl="5" indent="0" algn="r" rtl="0">
              <a:spcBef>
                <a:spcPts val="0"/>
              </a:spcBef>
              <a:buNone/>
              <a:defRPr sz="1200" i="0" u="none" strike="noStrike" cap="none">
                <a:solidFill>
                  <a:srgbClr val="6C7A8A"/>
                </a:solidFill>
                <a:latin typeface="Roboto Mono"/>
                <a:ea typeface="Roboto Mono"/>
                <a:cs typeface="Roboto Mono"/>
                <a:sym typeface="Roboto Mono"/>
              </a:defRPr>
            </a:lvl6pPr>
            <a:lvl7pPr marL="0" marR="0" lvl="6" indent="0" algn="r" rtl="0">
              <a:spcBef>
                <a:spcPts val="0"/>
              </a:spcBef>
              <a:buNone/>
              <a:defRPr sz="1200" i="0" u="none" strike="noStrike" cap="none">
                <a:solidFill>
                  <a:srgbClr val="6C7A8A"/>
                </a:solidFill>
                <a:latin typeface="Roboto Mono"/>
                <a:ea typeface="Roboto Mono"/>
                <a:cs typeface="Roboto Mono"/>
                <a:sym typeface="Roboto Mono"/>
              </a:defRPr>
            </a:lvl7pPr>
            <a:lvl8pPr marL="0" marR="0" lvl="7" indent="0" algn="r" rtl="0">
              <a:spcBef>
                <a:spcPts val="0"/>
              </a:spcBef>
              <a:buNone/>
              <a:defRPr sz="1200" i="0" u="none" strike="noStrike" cap="none">
                <a:solidFill>
                  <a:srgbClr val="6C7A8A"/>
                </a:solidFill>
                <a:latin typeface="Roboto Mono"/>
                <a:ea typeface="Roboto Mono"/>
                <a:cs typeface="Roboto Mono"/>
                <a:sym typeface="Roboto Mono"/>
              </a:defRPr>
            </a:lvl8pPr>
            <a:lvl9pPr marL="0" marR="0" lvl="8" indent="0" algn="r" rtl="0">
              <a:spcBef>
                <a:spcPts val="0"/>
              </a:spcBef>
              <a:buNone/>
              <a:defRPr sz="120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dirty="0"/>
          </a:p>
        </p:txBody>
      </p:sp>
      <p:sp>
        <p:nvSpPr>
          <p:cNvPr id="8" name="Google Shape;8;p1"/>
          <p:cNvSpPr txBox="1">
            <a:spLocks noGrp="1"/>
          </p:cNvSpPr>
          <p:nvPr>
            <p:ph type="title"/>
          </p:nvPr>
        </p:nvSpPr>
        <p:spPr>
          <a:xfrm>
            <a:off x="1763700" y="212725"/>
            <a:ext cx="6751800" cy="81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FFFFFF"/>
              </a:buClr>
              <a:buSzPts val="3000"/>
              <a:buFont typeface="Roboto Condensed"/>
              <a:buNone/>
              <a:defRPr sz="3000" i="0" u="none" strike="noStrike" cap="none">
                <a:solidFill>
                  <a:srgbClr val="FFFFFF"/>
                </a:solidFill>
                <a:latin typeface="Roboto Condensed"/>
                <a:ea typeface="Roboto Condensed"/>
                <a:cs typeface="Roboto Condensed"/>
                <a:sym typeface="Roboto Condensed"/>
              </a:defRPr>
            </a:lvl1pPr>
            <a:lvl2pPr lvl="1"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2pPr>
            <a:lvl3pPr lvl="2"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3pPr>
            <a:lvl4pPr lvl="3"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4pPr>
            <a:lvl5pPr lvl="4"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5pPr>
            <a:lvl6pPr lvl="5"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6pPr>
            <a:lvl7pPr lvl="6"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7pPr>
            <a:lvl8pPr lvl="7"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8pPr>
            <a:lvl9pPr lvl="8"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9pPr>
          </a:lstStyle>
          <a:p>
            <a:endParaRPr lang="es-CL"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79" r:id="rId3"/>
    <p:sldLayoutId id="2147483678" r:id="rId4"/>
    <p:sldLayoutId id="2147483677"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Roboto" panose="02000000000000000000" pitchFamily="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3303037" y="2452947"/>
            <a:ext cx="5758963" cy="2891100"/>
          </a:xfrm>
          <a:prstGeom prst="rect">
            <a:avLst/>
          </a:prstGeom>
        </p:spPr>
        <p:txBody>
          <a:bodyPr spcFirstLastPara="1" wrap="square" lIns="91425" tIns="45700" rIns="91425" bIns="45700" anchor="b" anchorCtr="0">
            <a:noAutofit/>
          </a:bodyPr>
          <a:lstStyle/>
          <a:p>
            <a:pPr lvl="0"/>
            <a:r>
              <a:rPr lang="es-CL" sz="5800" b="1" dirty="0"/>
              <a:t>Creación de Índices para mejorar el acceso a los Datos</a:t>
            </a:r>
          </a:p>
        </p:txBody>
      </p:sp>
      <p:sp>
        <p:nvSpPr>
          <p:cNvPr id="213" name="Google Shape;213;p30"/>
          <p:cNvSpPr txBox="1">
            <a:spLocks noGrp="1"/>
          </p:cNvSpPr>
          <p:nvPr>
            <p:ph type="subTitle" idx="1"/>
          </p:nvPr>
        </p:nvSpPr>
        <p:spPr>
          <a:xfrm>
            <a:off x="6386512" y="5620875"/>
            <a:ext cx="2502087" cy="873900"/>
          </a:xfrm>
          <a:prstGeom prst="roundRect">
            <a:avLst/>
          </a:prstGeom>
        </p:spPr>
        <p:txBody>
          <a:bodyPr spcFirstLastPara="1" wrap="square" lIns="91425" tIns="0" rIns="182875" bIns="0" anchor="t" anchorCtr="0">
            <a:noAutofit/>
          </a:bodyPr>
          <a:lstStyle/>
          <a:p>
            <a:pPr marL="0" lvl="0" indent="0" algn="ctr"/>
            <a:r>
              <a:rPr lang="en-US" sz="3600"/>
              <a:t>MDY2131</a:t>
            </a: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6">
            <a:extLst>
              <a:ext uri="{FF2B5EF4-FFF2-40B4-BE49-F238E27FC236}">
                <a16:creationId xmlns:a16="http://schemas.microsoft.com/office/drawing/2014/main" xmlns="" id="{FB9E9EC4-1442-454F-96A7-8DBD75B3E084}"/>
              </a:ext>
            </a:extLst>
          </p:cNvPr>
          <p:cNvGraphicFramePr>
            <a:graphicFrameLocks noGrp="1"/>
          </p:cNvGraphicFramePr>
          <p:nvPr>
            <p:extLst>
              <p:ext uri="{D42A27DB-BD31-4B8C-83A1-F6EECF244321}">
                <p14:modId xmlns:p14="http://schemas.microsoft.com/office/powerpoint/2010/main" val="895108186"/>
              </p:ext>
            </p:extLst>
          </p:nvPr>
        </p:nvGraphicFramePr>
        <p:xfrm>
          <a:off x="428622" y="1668467"/>
          <a:ext cx="8315325" cy="3664770"/>
        </p:xfrm>
        <a:graphic>
          <a:graphicData uri="http://schemas.openxmlformats.org/drawingml/2006/table">
            <a:tbl>
              <a:tblPr firstRow="1" bandRow="1">
                <a:tableStyleId>{073A0DAA-6AF3-43AB-8588-CEC1D06C72B9}</a:tableStyleId>
              </a:tblPr>
              <a:tblGrid>
                <a:gridCol w="1457328">
                  <a:extLst>
                    <a:ext uri="{9D8B030D-6E8A-4147-A177-3AD203B41FA5}">
                      <a16:colId xmlns:a16="http://schemas.microsoft.com/office/drawing/2014/main" xmlns="" val="447460705"/>
                    </a:ext>
                  </a:extLst>
                </a:gridCol>
                <a:gridCol w="2928935">
                  <a:extLst>
                    <a:ext uri="{9D8B030D-6E8A-4147-A177-3AD203B41FA5}">
                      <a16:colId xmlns:a16="http://schemas.microsoft.com/office/drawing/2014/main" xmlns="" val="745656918"/>
                    </a:ext>
                  </a:extLst>
                </a:gridCol>
                <a:gridCol w="3929062">
                  <a:extLst>
                    <a:ext uri="{9D8B030D-6E8A-4147-A177-3AD203B41FA5}">
                      <a16:colId xmlns:a16="http://schemas.microsoft.com/office/drawing/2014/main" xmlns="" val="4006272735"/>
                    </a:ext>
                  </a:extLst>
                </a:gridCol>
              </a:tblGrid>
              <a:tr h="1205362">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Experiencia</a:t>
                      </a:r>
                      <a:endParaRPr lang="es-CL" dirty="0"/>
                    </a:p>
                  </a:txBody>
                  <a:tcPr anchor="ctr"/>
                </a:tc>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Nombre</a:t>
                      </a:r>
                      <a:endParaRPr lang="es-CL" dirty="0"/>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Unidad de Competencia Especialidad – Nivel de la Competencia de Empleabilidad</a:t>
                      </a:r>
                      <a:endParaRPr lang="es-CL" dirty="0"/>
                    </a:p>
                  </a:txBody>
                  <a:tcPr anchor="ctr"/>
                </a:tc>
                <a:extLst>
                  <a:ext uri="{0D108BD9-81ED-4DB2-BD59-A6C34878D82A}">
                    <a16:rowId xmlns:a16="http://schemas.microsoft.com/office/drawing/2014/main" xmlns="" val="1379131601"/>
                  </a:ext>
                </a:extLst>
              </a:tr>
              <a:tr h="722048">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_tradnl" sz="1800" b="0" i="0" u="none" strike="noStrike" kern="0" cap="none" spc="0" normalizeH="0" baseline="0" noProof="0" err="1">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Nº</a:t>
                      </a:r>
                      <a:r>
                        <a:rPr kumimoji="0" lang="es-ES_tradnl" sz="1800" b="0" i="0" u="none" strike="noStrike" kern="0" cap="none" spc="0" normalizeH="0" baseline="0" noProof="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 </a:t>
                      </a:r>
                      <a:r>
                        <a:rPr kumimoji="0" lang="es-ES_tradnl" sz="1800" b="0" i="0" u="none" strike="noStrike" kern="0" cap="none" spc="0" normalizeH="0" baseline="0" noProof="0" smtClean="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3</a:t>
                      </a:r>
                      <a:endParaRPr kumimoji="0" lang="es-ES_tradn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endParaRPr>
                    </a:p>
                    <a:p>
                      <a:endParaRPr lang="es-CL" dirty="0"/>
                    </a:p>
                  </a:txBody>
                  <a:tcPr anchor="ctr"/>
                </a:tc>
                <a:tc rowSpan="2">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MX"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Gestión de usuarios y objetos de la base de datos </a:t>
                      </a:r>
                      <a:endParaRPr lang="es-CL" sz="1800"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MX" sz="1800" b="0" i="0" u="none" strike="noStrike" kern="0" cap="none" spc="0" normalizeH="0" baseline="0" noProof="0" dirty="0">
                          <a:ln>
                            <a:noFill/>
                          </a:ln>
                          <a:solidFill>
                            <a:srgbClr val="172740"/>
                          </a:solidFill>
                          <a:effectLst/>
                          <a:uLnTx/>
                          <a:uFillTx/>
                          <a:latin typeface="Calibri" panose="020F0502020204030204" pitchFamily="34" charset="0"/>
                          <a:ea typeface="+mn-ea"/>
                          <a:cs typeface="Calibri" panose="020F0502020204030204" pitchFamily="34" charset="0"/>
                          <a:sym typeface="Arial"/>
                        </a:rPr>
                        <a:t>Desarrolla operaciones en la base de datos que permitan controlar y mejorar la manipulación y recuperación de datos utilizando el lenguaje asociado y de acuerdo a los requerimientos de la organización.</a:t>
                      </a:r>
                      <a:endParaRPr lang="es-CL" sz="1800" dirty="0"/>
                    </a:p>
                  </a:txBody>
                  <a:tcPr anchor="ctr"/>
                </a:tc>
                <a:extLst>
                  <a:ext uri="{0D108BD9-81ED-4DB2-BD59-A6C34878D82A}">
                    <a16:rowId xmlns:a16="http://schemas.microsoft.com/office/drawing/2014/main" xmlns="" val="3941631869"/>
                  </a:ext>
                </a:extLst>
              </a:tr>
              <a:tr h="722048">
                <a:tc vMerge="1">
                  <a:txBody>
                    <a:bodyPr/>
                    <a:lstStyle/>
                    <a:p>
                      <a:endParaRPr lang="es-CL" dirty="0"/>
                    </a:p>
                  </a:txBody>
                  <a:tcPr anchor="ctr"/>
                </a:tc>
                <a:tc vMerge="1">
                  <a:txBody>
                    <a:bodyPr/>
                    <a:lstStyle/>
                    <a:p>
                      <a:endParaRPr lang="es-CL"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s-MX" sz="1800" dirty="0">
                          <a:effectLst/>
                          <a:latin typeface="Calibri" panose="020F0502020204030204" pitchFamily="34" charset="0"/>
                          <a:ea typeface="Calibri" panose="020F0502020204030204" pitchFamily="34" charset="0"/>
                        </a:rPr>
                        <a:t>Resolución de Problemas (N1)</a:t>
                      </a:r>
                      <a:endParaRPr lang="es-CL" sz="1800" dirty="0"/>
                    </a:p>
                  </a:txBody>
                  <a:tcPr anchor="ctr"/>
                </a:tc>
                <a:extLst>
                  <a:ext uri="{0D108BD9-81ED-4DB2-BD59-A6C34878D82A}">
                    <a16:rowId xmlns:a16="http://schemas.microsoft.com/office/drawing/2014/main" xmlns="" val="2871679439"/>
                  </a:ext>
                </a:extLst>
              </a:tr>
            </a:tbl>
          </a:graphicData>
        </a:graphic>
      </p:graphicFrame>
      <p:sp>
        <p:nvSpPr>
          <p:cNvPr id="11" name="Título 1">
            <a:extLst>
              <a:ext uri="{FF2B5EF4-FFF2-40B4-BE49-F238E27FC236}">
                <a16:creationId xmlns:a16="http://schemas.microsoft.com/office/drawing/2014/main" xmlns="" id="{7573328E-BCD9-4056-AEDD-0C97FCE1A1DC}"/>
              </a:ext>
            </a:extLst>
          </p:cNvPr>
          <p:cNvSpPr>
            <a:spLocks noGrp="1"/>
          </p:cNvSpPr>
          <p:nvPr>
            <p:ph type="title"/>
          </p:nvPr>
        </p:nvSpPr>
        <p:spPr>
          <a:xfrm>
            <a:off x="1606532" y="229658"/>
            <a:ext cx="4594244" cy="813000"/>
          </a:xfrm>
        </p:spPr>
        <p:txBody>
          <a:bodyPr/>
          <a:lstStyle/>
          <a:p>
            <a:r>
              <a:rPr lang="es-ES_tradnl" b="1" dirty="0"/>
              <a:t>Experiencia de Aprendizaje</a:t>
            </a:r>
            <a:br>
              <a:rPr lang="es-ES_tradnl" b="1" dirty="0"/>
            </a:br>
            <a:r>
              <a:rPr lang="es-ES_tradnl" b="1" dirty="0"/>
              <a:t>y Competencia Asociada</a:t>
            </a:r>
          </a:p>
        </p:txBody>
      </p:sp>
    </p:spTree>
    <p:extLst>
      <p:ext uri="{BB962C8B-B14F-4D97-AF65-F5344CB8AC3E}">
        <p14:creationId xmlns:p14="http://schemas.microsoft.com/office/powerpoint/2010/main" val="4212306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Objetivos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a:xfrm>
            <a:off x="575885" y="2657998"/>
            <a:ext cx="8023225" cy="2275770"/>
          </a:xfrm>
        </p:spPr>
        <p:txBody>
          <a:bodyPr/>
          <a:lstStyle/>
          <a:p>
            <a:pPr marL="285750" indent="-285750" algn="just" defTabSz="457200">
              <a:buFont typeface="Arial" panose="020B0604020202020204" pitchFamily="34" charset="0"/>
              <a:buChar char="•"/>
            </a:pPr>
            <a:r>
              <a:rPr lang="es-MX" sz="2200" dirty="0">
                <a:ea typeface="ＭＳ Ｐゴシック" pitchFamily="34" charset="-128"/>
              </a:rPr>
              <a:t>Explicar conceptos generales de Índices.</a:t>
            </a:r>
          </a:p>
          <a:p>
            <a:pPr marL="285750" indent="-285750" algn="just" defTabSz="457200">
              <a:buFont typeface="Arial" panose="020B0604020202020204" pitchFamily="34" charset="0"/>
              <a:buChar char="•"/>
            </a:pPr>
            <a:r>
              <a:rPr lang="es-MX" sz="2200" dirty="0">
                <a:ea typeface="ＭＳ Ｐゴシック" pitchFamily="34" charset="-128"/>
              </a:rPr>
              <a:t>Explicar consideraciones importantes desde el punto de vista del costo (optimizador) y el uso de recursos del servidor de base de datos cuando se utilizan Índices.</a:t>
            </a:r>
          </a:p>
          <a:p>
            <a:pPr marL="285750" indent="-285750" algn="just" defTabSz="457200">
              <a:buFont typeface="Arial" panose="020B0604020202020204" pitchFamily="34" charset="0"/>
              <a:buChar char="•"/>
            </a:pPr>
            <a:r>
              <a:rPr lang="es-MX" sz="2200" dirty="0">
                <a:ea typeface="ＭＳ Ｐゴシック" pitchFamily="34" charset="-128"/>
              </a:rPr>
              <a:t>Explicar los factores que se deben considerar crear y utilizar índices para las sentencias SQL.</a:t>
            </a:r>
          </a:p>
          <a:p>
            <a:pPr marL="285750" indent="-285750" algn="just" defTabSz="457200">
              <a:buFont typeface="Arial" panose="020B0604020202020204" pitchFamily="34" charset="0"/>
              <a:buChar char="•"/>
            </a:pPr>
            <a:r>
              <a:rPr lang="es-MX" sz="2200" dirty="0">
                <a:ea typeface="ＭＳ Ｐゴシック" pitchFamily="34" charset="-128"/>
              </a:rPr>
              <a:t>Describir algunos de los índices más utilizados.</a:t>
            </a:r>
          </a:p>
          <a:p>
            <a:pPr marL="285750" indent="-285750" algn="just" defTabSz="457200">
              <a:buFont typeface="Arial" panose="020B0604020202020204" pitchFamily="34" charset="0"/>
              <a:buChar char="•"/>
            </a:pPr>
            <a:r>
              <a:rPr lang="es-MX" sz="2200" dirty="0">
                <a:ea typeface="ＭＳ Ｐゴシック" pitchFamily="34" charset="-128"/>
              </a:rPr>
              <a:t>Explicar cómo se crean los índices B-</a:t>
            </a:r>
            <a:r>
              <a:rPr lang="es-MX" sz="2200" dirty="0" err="1">
                <a:ea typeface="ＭＳ Ｐゴシック" pitchFamily="34" charset="-128"/>
              </a:rPr>
              <a:t>Tree</a:t>
            </a:r>
            <a:r>
              <a:rPr lang="es-MX" sz="2200" dirty="0">
                <a:ea typeface="ＭＳ Ｐゴシック" pitchFamily="34" charset="-128"/>
              </a:rPr>
              <a:t>, </a:t>
            </a:r>
            <a:r>
              <a:rPr lang="es-MX" sz="2200" dirty="0" err="1">
                <a:ea typeface="ＭＳ Ｐゴシック" pitchFamily="34" charset="-128"/>
              </a:rPr>
              <a:t>Unique</a:t>
            </a:r>
            <a:r>
              <a:rPr lang="es-MX" sz="2200" dirty="0">
                <a:ea typeface="ＭＳ Ｐゴシック" pitchFamily="34" charset="-128"/>
              </a:rPr>
              <a:t> y </a:t>
            </a:r>
            <a:r>
              <a:rPr lang="es-MX" sz="2200" dirty="0" err="1">
                <a:ea typeface="ＭＳ Ｐゴシック" pitchFamily="34" charset="-128"/>
              </a:rPr>
              <a:t>Function-Based</a:t>
            </a:r>
            <a:r>
              <a:rPr lang="es-MX" sz="2200" dirty="0">
                <a:ea typeface="ＭＳ Ｐゴシック" pitchFamily="34" charset="-128"/>
              </a:rPr>
              <a:t> y cómo afectan en el plan de ejecución de una sentencia SQL.</a:t>
            </a:r>
          </a:p>
          <a:p>
            <a:pPr marL="285750" indent="-285750" algn="just" defTabSz="457200">
              <a:buFont typeface="Arial" panose="020B0604020202020204" pitchFamily="34" charset="0"/>
              <a:buChar char="•"/>
            </a:pPr>
            <a:endParaRPr lang="es-MX" sz="2200" dirty="0">
              <a:ea typeface="ＭＳ Ｐゴシック" pitchFamily="34" charset="-128"/>
            </a:endParaRPr>
          </a:p>
          <a:p>
            <a:pPr algn="l"/>
            <a:endParaRPr lang="es-CL" sz="2200" dirty="0"/>
          </a:p>
        </p:txBody>
      </p:sp>
    </p:spTree>
    <p:extLst>
      <p:ext uri="{BB962C8B-B14F-4D97-AF65-F5344CB8AC3E}">
        <p14:creationId xmlns:p14="http://schemas.microsoft.com/office/powerpoint/2010/main" val="13291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3021508" y="2596205"/>
            <a:ext cx="5995800" cy="2889690"/>
          </a:xfrm>
          <a:prstGeom prst="rect">
            <a:avLst/>
          </a:prstGeom>
        </p:spPr>
        <p:txBody>
          <a:bodyPr spcFirstLastPara="1" wrap="square" lIns="91425" tIns="45700" rIns="91425" bIns="45700" anchor="ctr" anchorCtr="0">
            <a:noAutofit/>
          </a:bodyPr>
          <a:lstStyle/>
          <a:p>
            <a:pPr lvl="0" defTabSz="457200">
              <a:defRPr/>
            </a:pPr>
            <a:r>
              <a:rPr lang="es-ES_tradnl" sz="4800" b="1" dirty="0"/>
              <a:t>Creación de Índices </a:t>
            </a:r>
            <a:br>
              <a:rPr lang="es-ES_tradnl" sz="4800" b="1" dirty="0"/>
            </a:br>
            <a:r>
              <a:rPr lang="es-ES_tradnl" sz="4800" b="1" dirty="0"/>
              <a:t>y su efecto en el </a:t>
            </a:r>
            <a:br>
              <a:rPr lang="es-ES_tradnl" sz="4800" b="1" dirty="0"/>
            </a:br>
            <a:r>
              <a:rPr lang="es-ES_tradnl" sz="4800" b="1" dirty="0"/>
              <a:t>Plan de Ejecución </a:t>
            </a:r>
            <a:br>
              <a:rPr lang="es-ES_tradnl" sz="4800" b="1" dirty="0"/>
            </a:br>
            <a:r>
              <a:rPr lang="es-ES_tradnl" sz="4800" b="1" dirty="0"/>
              <a:t>de una sentencia SQL</a:t>
            </a:r>
            <a:endParaRPr lang="es-CL" sz="4800" b="1" dirty="0">
              <a:solidFill>
                <a:prstClr val="white"/>
              </a:solidFill>
              <a:latin typeface="Calibri"/>
            </a:endParaRPr>
          </a:p>
        </p:txBody>
      </p:sp>
      <p:sp>
        <p:nvSpPr>
          <p:cNvPr id="3" name="CuadroTexto 1">
            <a:extLst>
              <a:ext uri="{FF2B5EF4-FFF2-40B4-BE49-F238E27FC236}">
                <a16:creationId xmlns:a16="http://schemas.microsoft.com/office/drawing/2014/main" xmlns="" id="{E9277658-66A1-4D7C-AE81-C6AC9A877A25}"/>
              </a:ext>
            </a:extLst>
          </p:cNvPr>
          <p:cNvSpPr txBox="1"/>
          <p:nvPr/>
        </p:nvSpPr>
        <p:spPr>
          <a:xfrm>
            <a:off x="475865" y="5959528"/>
            <a:ext cx="914400" cy="914400"/>
          </a:xfrm>
          <a:prstGeom prst="rect">
            <a:avLst/>
          </a:prstGeom>
          <a:noFill/>
          <a:ln>
            <a:noFill/>
          </a:ln>
        </p:spPr>
        <p:txBody>
          <a:bodyPr spcFirstLastPara="1" wrap="none" lIns="91425" tIns="45700" rIns="91425" bIns="45700" rtl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MX" sz="1600" b="1" dirty="0">
                <a:solidFill>
                  <a:schemeClr val="bg1"/>
                </a:solidFill>
              </a:rPr>
              <a:t>*</a:t>
            </a:r>
            <a:r>
              <a:rPr lang="es-MX" sz="1200" b="1" dirty="0">
                <a:solidFill>
                  <a:schemeClr val="bg1"/>
                </a:solidFill>
              </a:rPr>
              <a:t>Las sentencias SQL de los ejemplos utilizan las tablas del script </a:t>
            </a:r>
            <a:r>
              <a:rPr lang="es-MX" sz="1200" b="1" dirty="0" err="1">
                <a:solidFill>
                  <a:schemeClr val="bg1"/>
                </a:solidFill>
              </a:rPr>
              <a:t>crea_pobla_tablsa_bd_RENT_A_HOUSE.SQL</a:t>
            </a:r>
            <a:endParaRPr lang="es-MX" sz="1200" b="1" dirty="0">
              <a:solidFill>
                <a:schemeClr val="bg1"/>
              </a:solidFill>
            </a:endParaRPr>
          </a:p>
          <a:p>
            <a:r>
              <a:rPr lang="es-MX" sz="1800" b="1" dirty="0">
                <a:solidFill>
                  <a:schemeClr val="bg1"/>
                </a:solidFill>
              </a:rPr>
              <a:t>*</a:t>
            </a:r>
            <a:r>
              <a:rPr lang="es-MX" sz="1200" b="1" dirty="0">
                <a:solidFill>
                  <a:schemeClr val="bg1"/>
                </a:solidFill>
              </a:rPr>
              <a:t> Los índices los crea el mismo usuario dueño de las tablas</a:t>
            </a:r>
            <a:br>
              <a:rPr lang="es-MX" sz="1200" b="1" dirty="0">
                <a:solidFill>
                  <a:schemeClr val="bg1"/>
                </a:solidFill>
              </a:rPr>
            </a:br>
            <a:endParaRPr lang="es-CL" sz="1200" b="1"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cs typeface="Arial" panose="020B0604020202020204" pitchFamily="34" charset="0"/>
              </a:rPr>
              <a:t>Conceptos de Índices</a:t>
            </a:r>
            <a:endParaRPr lang="es-CL" sz="2800" b="1" kern="1200" dirty="0">
              <a:solidFill>
                <a:prstClr val="white"/>
              </a:solidFill>
              <a:latin typeface="Calibri"/>
              <a:cs typeface="Arial" panose="020B0604020202020204" pitchFamily="34" charset="0"/>
            </a:endParaRPr>
          </a:p>
        </p:txBody>
      </p:sp>
      <p:pic>
        <p:nvPicPr>
          <p:cNvPr id="5" name="Imagen 4">
            <a:extLst>
              <a:ext uri="{FF2B5EF4-FFF2-40B4-BE49-F238E27FC236}">
                <a16:creationId xmlns:a16="http://schemas.microsoft.com/office/drawing/2014/main" xmlns="" id="{0D4F1397-163E-4669-9B94-4178AB8A2C8D}"/>
              </a:ext>
            </a:extLst>
          </p:cNvPr>
          <p:cNvPicPr>
            <a:picLocks noChangeAspect="1"/>
          </p:cNvPicPr>
          <p:nvPr/>
        </p:nvPicPr>
        <p:blipFill>
          <a:blip r:embed="rId3"/>
          <a:stretch>
            <a:fillRect/>
          </a:stretch>
        </p:blipFill>
        <p:spPr>
          <a:xfrm>
            <a:off x="84959" y="1088372"/>
            <a:ext cx="8974090" cy="5675868"/>
          </a:xfrm>
          <a:prstGeom prst="rect">
            <a:avLst/>
          </a:prstGeom>
        </p:spPr>
      </p:pic>
      <p:sp>
        <p:nvSpPr>
          <p:cNvPr id="6" name="Text Box 5">
            <a:extLst>
              <a:ext uri="{FF2B5EF4-FFF2-40B4-BE49-F238E27FC236}">
                <a16:creationId xmlns:a16="http://schemas.microsoft.com/office/drawing/2014/main" xmlns="" id="{56AF7D70-9CDF-4337-A7FD-70F9CB7716CB}"/>
              </a:ext>
            </a:extLst>
          </p:cNvPr>
          <p:cNvSpPr txBox="1">
            <a:spLocks noChangeArrowheads="1"/>
          </p:cNvSpPr>
          <p:nvPr/>
        </p:nvSpPr>
        <p:spPr bwMode="auto">
          <a:xfrm>
            <a:off x="3052532" y="1085315"/>
            <a:ext cx="5786668" cy="3046988"/>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eaLnBrk="1" hangingPunct="1"/>
            <a:r>
              <a:rPr lang="en-US" sz="1600" b="1" dirty="0">
                <a:latin typeface="Calibri" panose="020F0502020204030204" pitchFamily="34" charset="0"/>
                <a:cs typeface="Calibri" panose="020F0502020204030204" pitchFamily="34" charset="0"/>
              </a:rPr>
              <a:t>SELECT e.numrut_emp || '-' || e.dvrut_emp "RUT EMPLEADO",</a:t>
            </a:r>
          </a:p>
          <a:p>
            <a:pPr eaLnBrk="1" hangingPunct="1"/>
            <a:r>
              <a:rPr lang="en-US" sz="1600" b="1" dirty="0">
                <a:latin typeface="Calibri" panose="020F0502020204030204" pitchFamily="34" charset="0"/>
                <a:cs typeface="Calibri" panose="020F0502020204030204" pitchFamily="34" charset="0"/>
              </a:rPr>
              <a:t>              e.nombre_emp || ' ' || e.appaterno_emp || ' ' || </a:t>
            </a:r>
          </a:p>
          <a:p>
            <a:pPr eaLnBrk="1" hangingPunct="1"/>
            <a:r>
              <a:rPr lang="en-US" sz="1600" b="1" dirty="0">
                <a:latin typeface="Calibri" panose="020F0502020204030204" pitchFamily="34" charset="0"/>
                <a:cs typeface="Calibri" panose="020F0502020204030204" pitchFamily="34" charset="0"/>
              </a:rPr>
              <a:t>              e.apmaterno_emp "NOMBRE EMPLEADO",</a:t>
            </a:r>
          </a:p>
          <a:p>
            <a:pPr eaLnBrk="1" hangingPunct="1"/>
            <a:r>
              <a:rPr lang="en-US" sz="1600" b="1" dirty="0">
                <a:latin typeface="Calibri" panose="020F0502020204030204" pitchFamily="34" charset="0"/>
                <a:cs typeface="Calibri" panose="020F0502020204030204" pitchFamily="34" charset="0"/>
              </a:rPr>
              <a:t>             TO_CHAR(e.sueldo_emp, '999G999G999') sueldo,</a:t>
            </a:r>
          </a:p>
          <a:p>
            <a:pPr eaLnBrk="1" hangingPunct="1"/>
            <a:r>
              <a:rPr lang="en-US" sz="1600" b="1" dirty="0">
                <a:latin typeface="Calibri" panose="020F0502020204030204" pitchFamily="34" charset="0"/>
                <a:cs typeface="Calibri" panose="020F0502020204030204" pitchFamily="34" charset="0"/>
              </a:rPr>
              <a:t>              COUNT(p.nro_propiedad) "PROPIEDADES A SU CARGO"</a:t>
            </a:r>
          </a:p>
          <a:p>
            <a:pPr eaLnBrk="1" hangingPunct="1"/>
            <a:r>
              <a:rPr lang="en-US" sz="1600" b="1" dirty="0">
                <a:latin typeface="Calibri" panose="020F0502020204030204" pitchFamily="34" charset="0"/>
                <a:cs typeface="Calibri" panose="020F0502020204030204" pitchFamily="34" charset="0"/>
              </a:rPr>
              <a:t>FROM empleado e JOIN propiedad p</a:t>
            </a:r>
          </a:p>
          <a:p>
            <a:pPr eaLnBrk="1" hangingPunct="1"/>
            <a:r>
              <a:rPr lang="en-US" sz="1600" b="1" dirty="0">
                <a:latin typeface="Calibri" panose="020F0502020204030204" pitchFamily="34" charset="0"/>
                <a:cs typeface="Calibri" panose="020F0502020204030204" pitchFamily="34" charset="0"/>
              </a:rPr>
              <a:t>     ON e.numrut_emp=p.numrut_emp</a:t>
            </a:r>
          </a:p>
          <a:p>
            <a:pPr eaLnBrk="1" hangingPunct="1"/>
            <a:r>
              <a:rPr lang="en-US" sz="1600" b="1" dirty="0">
                <a:latin typeface="Calibri" panose="020F0502020204030204" pitchFamily="34" charset="0"/>
                <a:cs typeface="Calibri" panose="020F0502020204030204" pitchFamily="34" charset="0"/>
              </a:rPr>
              <a:t>WHERE e.id_categoria_emp = 3</a:t>
            </a:r>
          </a:p>
          <a:p>
            <a:pPr eaLnBrk="1" hangingPunct="1"/>
            <a:r>
              <a:rPr lang="en-US" sz="1600" b="1" dirty="0">
                <a:latin typeface="Calibri" panose="020F0502020204030204" pitchFamily="34" charset="0"/>
                <a:cs typeface="Calibri" panose="020F0502020204030204" pitchFamily="34" charset="0"/>
              </a:rPr>
              <a:t>GROUP BY e.numrut_emp, e.dvrut_emp, e.nombre_emp, </a:t>
            </a:r>
          </a:p>
          <a:p>
            <a:pPr eaLnBrk="1" hangingPunct="1"/>
            <a:r>
              <a:rPr lang="en-US" sz="1600" b="1" dirty="0">
                <a:latin typeface="Calibri" panose="020F0502020204030204" pitchFamily="34" charset="0"/>
                <a:cs typeface="Calibri" panose="020F0502020204030204" pitchFamily="34" charset="0"/>
              </a:rPr>
              <a:t>                    </a:t>
            </a:r>
            <a:r>
              <a:rPr lang="en-US" sz="1600" b="1" dirty="0" err="1">
                <a:latin typeface="Calibri" panose="020F0502020204030204" pitchFamily="34" charset="0"/>
                <a:cs typeface="Calibri" panose="020F0502020204030204" pitchFamily="34" charset="0"/>
              </a:rPr>
              <a:t>e.appaterno_emp</a:t>
            </a:r>
            <a:r>
              <a:rPr lang="en-US" sz="1600" b="1" dirty="0">
                <a:latin typeface="Calibri" panose="020F0502020204030204" pitchFamily="34" charset="0"/>
                <a:cs typeface="Calibri" panose="020F0502020204030204" pitchFamily="34" charset="0"/>
              </a:rPr>
              <a:t>, e.apmaterno_emp, e.sueldo_emp</a:t>
            </a:r>
          </a:p>
          <a:p>
            <a:pPr eaLnBrk="1" hangingPunct="1"/>
            <a:r>
              <a:rPr lang="en-US" sz="1600" b="1" dirty="0">
                <a:latin typeface="Calibri" panose="020F0502020204030204" pitchFamily="34" charset="0"/>
                <a:cs typeface="Calibri" panose="020F0502020204030204" pitchFamily="34" charset="0"/>
              </a:rPr>
              <a:t>ORDER BY e.appaterno_emp;</a:t>
            </a:r>
          </a:p>
          <a:p>
            <a:pPr eaLnBrk="1" hangingPunct="1"/>
            <a:endParaRPr lang="es-MX" sz="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34600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cs typeface="Arial" panose="020B0604020202020204" pitchFamily="34" charset="0"/>
              </a:rPr>
              <a:t>Conceptos de Índices</a:t>
            </a:r>
            <a:endParaRPr lang="es-CL" sz="2800" b="1" kern="1200" dirty="0">
              <a:solidFill>
                <a:prstClr val="white"/>
              </a:solidFill>
              <a:latin typeface="Calibri"/>
              <a:cs typeface="Arial" panose="020B0604020202020204" pitchFamily="34" charset="0"/>
            </a:endParaRPr>
          </a:p>
        </p:txBody>
      </p:sp>
      <p:pic>
        <p:nvPicPr>
          <p:cNvPr id="4" name="Imagen 3">
            <a:extLst>
              <a:ext uri="{FF2B5EF4-FFF2-40B4-BE49-F238E27FC236}">
                <a16:creationId xmlns:a16="http://schemas.microsoft.com/office/drawing/2014/main" xmlns="" id="{F46C26CA-F152-4D95-8FC8-DF2EC4FDA181}"/>
              </a:ext>
            </a:extLst>
          </p:cNvPr>
          <p:cNvPicPr>
            <a:picLocks noChangeAspect="1"/>
          </p:cNvPicPr>
          <p:nvPr/>
        </p:nvPicPr>
        <p:blipFill>
          <a:blip r:embed="rId3"/>
          <a:stretch>
            <a:fillRect/>
          </a:stretch>
        </p:blipFill>
        <p:spPr>
          <a:xfrm>
            <a:off x="341714" y="1653166"/>
            <a:ext cx="8425402" cy="4584589"/>
          </a:xfrm>
          <a:prstGeom prst="rect">
            <a:avLst/>
          </a:prstGeom>
        </p:spPr>
      </p:pic>
    </p:spTree>
    <p:extLst>
      <p:ext uri="{BB962C8B-B14F-4D97-AF65-F5344CB8AC3E}">
        <p14:creationId xmlns:p14="http://schemas.microsoft.com/office/powerpoint/2010/main" val="3983518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Consideraciones si se desea crear Índices</a:t>
            </a:r>
            <a:endParaRPr lang="es-CL" sz="2800" b="1" kern="1200" dirty="0">
              <a:solidFill>
                <a:prstClr val="white"/>
              </a:solidFill>
              <a:latin typeface="Calibri"/>
              <a:cs typeface="Arial" panose="020B0604020202020204" pitchFamily="34" charset="0"/>
            </a:endParaRPr>
          </a:p>
        </p:txBody>
      </p:sp>
      <p:pic>
        <p:nvPicPr>
          <p:cNvPr id="5" name="Imagen 4">
            <a:extLst>
              <a:ext uri="{FF2B5EF4-FFF2-40B4-BE49-F238E27FC236}">
                <a16:creationId xmlns:a16="http://schemas.microsoft.com/office/drawing/2014/main" xmlns="" id="{518A34AD-C945-465E-A05C-1600954B7ECA}"/>
              </a:ext>
            </a:extLst>
          </p:cNvPr>
          <p:cNvPicPr>
            <a:picLocks noChangeAspect="1"/>
          </p:cNvPicPr>
          <p:nvPr/>
        </p:nvPicPr>
        <p:blipFill>
          <a:blip r:embed="rId3"/>
          <a:stretch>
            <a:fillRect/>
          </a:stretch>
        </p:blipFill>
        <p:spPr>
          <a:xfrm>
            <a:off x="307478" y="1494275"/>
            <a:ext cx="8529043" cy="4865030"/>
          </a:xfrm>
          <a:prstGeom prst="rect">
            <a:avLst/>
          </a:prstGeom>
        </p:spPr>
      </p:pic>
    </p:spTree>
    <p:extLst>
      <p:ext uri="{BB962C8B-B14F-4D97-AF65-F5344CB8AC3E}">
        <p14:creationId xmlns:p14="http://schemas.microsoft.com/office/powerpoint/2010/main" val="2991835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Factores  importantes al decidir usar Índices</a:t>
            </a:r>
            <a:endParaRPr lang="es-CL" sz="2800" b="1" kern="1200" dirty="0">
              <a:solidFill>
                <a:prstClr val="white"/>
              </a:solidFill>
              <a:latin typeface="Calibri"/>
              <a:cs typeface="Arial" panose="020B0604020202020204" pitchFamily="34" charset="0"/>
            </a:endParaRPr>
          </a:p>
        </p:txBody>
      </p:sp>
      <p:pic>
        <p:nvPicPr>
          <p:cNvPr id="4" name="Imagen 3">
            <a:extLst>
              <a:ext uri="{FF2B5EF4-FFF2-40B4-BE49-F238E27FC236}">
                <a16:creationId xmlns:a16="http://schemas.microsoft.com/office/drawing/2014/main" xmlns="" id="{A316FEA6-E726-4C5C-866F-4D8239B0C49D}"/>
              </a:ext>
            </a:extLst>
          </p:cNvPr>
          <p:cNvPicPr>
            <a:picLocks noChangeAspect="1"/>
          </p:cNvPicPr>
          <p:nvPr/>
        </p:nvPicPr>
        <p:blipFill>
          <a:blip r:embed="rId3"/>
          <a:stretch>
            <a:fillRect/>
          </a:stretch>
        </p:blipFill>
        <p:spPr>
          <a:xfrm>
            <a:off x="198173" y="1478190"/>
            <a:ext cx="8729018" cy="4979097"/>
          </a:xfrm>
          <a:prstGeom prst="rect">
            <a:avLst/>
          </a:prstGeom>
        </p:spPr>
      </p:pic>
    </p:spTree>
    <p:extLst>
      <p:ext uri="{BB962C8B-B14F-4D97-AF65-F5344CB8AC3E}">
        <p14:creationId xmlns:p14="http://schemas.microsoft.com/office/powerpoint/2010/main" val="2410740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Cómo decidir si de deben crear Índices a las Tablas</a:t>
            </a:r>
            <a:endParaRPr lang="es-CL" sz="2800" b="1" kern="1200" dirty="0">
              <a:solidFill>
                <a:prstClr val="white"/>
              </a:solidFill>
              <a:latin typeface="Calibri"/>
              <a:cs typeface="Arial" panose="020B0604020202020204" pitchFamily="34" charset="0"/>
            </a:endParaRPr>
          </a:p>
        </p:txBody>
      </p:sp>
      <p:pic>
        <p:nvPicPr>
          <p:cNvPr id="5" name="Imagen 4">
            <a:extLst>
              <a:ext uri="{FF2B5EF4-FFF2-40B4-BE49-F238E27FC236}">
                <a16:creationId xmlns:a16="http://schemas.microsoft.com/office/drawing/2014/main" xmlns="" id="{C32F2C3C-607B-4493-AF5B-13AE799A9942}"/>
              </a:ext>
            </a:extLst>
          </p:cNvPr>
          <p:cNvPicPr>
            <a:picLocks noChangeAspect="1"/>
          </p:cNvPicPr>
          <p:nvPr/>
        </p:nvPicPr>
        <p:blipFill>
          <a:blip r:embed="rId3"/>
          <a:stretch>
            <a:fillRect/>
          </a:stretch>
        </p:blipFill>
        <p:spPr>
          <a:xfrm>
            <a:off x="215152" y="1401942"/>
            <a:ext cx="8780929" cy="4790052"/>
          </a:xfrm>
          <a:prstGeom prst="rect">
            <a:avLst/>
          </a:prstGeom>
        </p:spPr>
      </p:pic>
    </p:spTree>
    <p:extLst>
      <p:ext uri="{BB962C8B-B14F-4D97-AF65-F5344CB8AC3E}">
        <p14:creationId xmlns:p14="http://schemas.microsoft.com/office/powerpoint/2010/main" val="2193839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cs typeface="Arial" panose="020B0604020202020204" pitchFamily="34" charset="0"/>
              </a:rPr>
              <a:t>Tipos de Índices</a:t>
            </a:r>
            <a:endParaRPr lang="es-CL" sz="2800" b="1" kern="1200" dirty="0">
              <a:solidFill>
                <a:prstClr val="white"/>
              </a:solidFill>
              <a:latin typeface="Calibri"/>
              <a:cs typeface="Arial" panose="020B0604020202020204" pitchFamily="34" charset="0"/>
            </a:endParaRPr>
          </a:p>
        </p:txBody>
      </p:sp>
      <p:pic>
        <p:nvPicPr>
          <p:cNvPr id="4" name="Imagen 3">
            <a:extLst>
              <a:ext uri="{FF2B5EF4-FFF2-40B4-BE49-F238E27FC236}">
                <a16:creationId xmlns:a16="http://schemas.microsoft.com/office/drawing/2014/main" xmlns="" id="{470B4E27-EEA2-416D-A732-624396497252}"/>
              </a:ext>
            </a:extLst>
          </p:cNvPr>
          <p:cNvPicPr>
            <a:picLocks noChangeAspect="1"/>
          </p:cNvPicPr>
          <p:nvPr/>
        </p:nvPicPr>
        <p:blipFill>
          <a:blip r:embed="rId3"/>
          <a:stretch>
            <a:fillRect/>
          </a:stretch>
        </p:blipFill>
        <p:spPr>
          <a:xfrm>
            <a:off x="270211" y="1762450"/>
            <a:ext cx="8662772" cy="3867542"/>
          </a:xfrm>
          <a:prstGeom prst="rect">
            <a:avLst/>
          </a:prstGeom>
        </p:spPr>
      </p:pic>
    </p:spTree>
    <p:extLst>
      <p:ext uri="{BB962C8B-B14F-4D97-AF65-F5344CB8AC3E}">
        <p14:creationId xmlns:p14="http://schemas.microsoft.com/office/powerpoint/2010/main" val="3694178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Creación de Índices B-</a:t>
            </a:r>
            <a:r>
              <a:rPr lang="es-CL" sz="2800" b="1" dirty="0" err="1">
                <a:solidFill>
                  <a:prstClr val="white"/>
                </a:solidFill>
                <a:latin typeface="Calibri"/>
              </a:rPr>
              <a:t>Tree</a:t>
            </a:r>
            <a:r>
              <a:rPr lang="es-CL" sz="2800" b="1" dirty="0">
                <a:solidFill>
                  <a:prstClr val="white"/>
                </a:solidFill>
                <a:latin typeface="Calibri"/>
              </a:rPr>
              <a:t>, </a:t>
            </a:r>
            <a:r>
              <a:rPr lang="es-CL" sz="2800" b="1" dirty="0" err="1">
                <a:solidFill>
                  <a:prstClr val="white"/>
                </a:solidFill>
                <a:latin typeface="Calibri"/>
              </a:rPr>
              <a:t>Unique</a:t>
            </a:r>
            <a:r>
              <a:rPr lang="es-CL" sz="2800" b="1" dirty="0">
                <a:solidFill>
                  <a:prstClr val="white"/>
                </a:solidFill>
                <a:latin typeface="Calibri"/>
              </a:rPr>
              <a:t> y </a:t>
            </a:r>
            <a:r>
              <a:rPr lang="es-CL" sz="2800" b="1" dirty="0" err="1">
                <a:solidFill>
                  <a:prstClr val="white"/>
                </a:solidFill>
                <a:latin typeface="Calibri"/>
              </a:rPr>
              <a:t>Function-Based</a:t>
            </a:r>
            <a:endParaRPr lang="es-CL" sz="2800" b="1" kern="1200" dirty="0">
              <a:solidFill>
                <a:prstClr val="white"/>
              </a:solidFill>
              <a:latin typeface="Calibri"/>
              <a:cs typeface="Arial" panose="020B0604020202020204" pitchFamily="34" charset="0"/>
            </a:endParaRPr>
          </a:p>
        </p:txBody>
      </p:sp>
      <p:sp>
        <p:nvSpPr>
          <p:cNvPr id="5" name="Marcador de contenido 1">
            <a:extLst>
              <a:ext uri="{FF2B5EF4-FFF2-40B4-BE49-F238E27FC236}">
                <a16:creationId xmlns:a16="http://schemas.microsoft.com/office/drawing/2014/main" xmlns="" id="{A1D95564-AA91-4758-BED8-AF2B05ED0A7E}"/>
              </a:ext>
            </a:extLst>
          </p:cNvPr>
          <p:cNvSpPr txBox="1">
            <a:spLocks/>
          </p:cNvSpPr>
          <p:nvPr/>
        </p:nvSpPr>
        <p:spPr>
          <a:xfrm>
            <a:off x="590872" y="1052736"/>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Sintaxis: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De acuerdo a la estructura de la tabla EMPLEADO, se crean los siguientes índices: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p:txBody>
      </p:sp>
      <p:sp>
        <p:nvSpPr>
          <p:cNvPr id="6" name="Text Box 5">
            <a:extLst>
              <a:ext uri="{FF2B5EF4-FFF2-40B4-BE49-F238E27FC236}">
                <a16:creationId xmlns:a16="http://schemas.microsoft.com/office/drawing/2014/main" xmlns="" id="{C66D0CB8-5DD5-43B9-944F-6FFD1E5CDDB9}"/>
              </a:ext>
            </a:extLst>
          </p:cNvPr>
          <p:cNvSpPr txBox="1">
            <a:spLocks noChangeArrowheads="1"/>
          </p:cNvSpPr>
          <p:nvPr/>
        </p:nvSpPr>
        <p:spPr bwMode="auto">
          <a:xfrm>
            <a:off x="1187624" y="1628800"/>
            <a:ext cx="6696744" cy="1077218"/>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p>
            <a:pPr algn="l">
              <a:defRPr/>
            </a:pPr>
            <a:endParaRPr lang="en-US" sz="800" b="1"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CREATE [UNIQUE] INDEX [</a:t>
            </a:r>
            <a:r>
              <a:rPr lang="en-US" sz="1600" b="1" i="1" dirty="0" err="1">
                <a:latin typeface="Calibri" panose="020F0502020204030204" pitchFamily="34" charset="0"/>
                <a:cs typeface="Calibri" panose="020F0502020204030204" pitchFamily="34" charset="0"/>
              </a:rPr>
              <a:t>esquema_crea_indice</a:t>
            </a:r>
            <a:r>
              <a:rPr lang="en-US" sz="1600" b="1" i="1" dirty="0">
                <a:latin typeface="Calibri" panose="020F0502020204030204" pitchFamily="34" charset="0"/>
                <a:cs typeface="Calibri" panose="020F0502020204030204" pitchFamily="34" charset="0"/>
              </a:rPr>
              <a:t>.</a:t>
            </a:r>
            <a:r>
              <a:rPr lang="en-US" sz="1600" b="1" dirty="0">
                <a:latin typeface="Calibri" panose="020F0502020204030204" pitchFamily="34" charset="0"/>
                <a:cs typeface="Calibri" panose="020F0502020204030204" pitchFamily="34" charset="0"/>
              </a:rPr>
              <a:t>]</a:t>
            </a:r>
            <a:r>
              <a:rPr lang="en-US" sz="1600" b="1" i="1" dirty="0">
                <a:latin typeface="Calibri" panose="020F0502020204030204" pitchFamily="34" charset="0"/>
                <a:cs typeface="Calibri" panose="020F0502020204030204" pitchFamily="34" charset="0"/>
              </a:rPr>
              <a:t>nombre_índice</a:t>
            </a:r>
          </a:p>
          <a:p>
            <a:pPr>
              <a:defRPr/>
            </a:pPr>
            <a:r>
              <a:rPr lang="en-US" sz="1600" b="1" dirty="0">
                <a:latin typeface="Calibri" panose="020F0502020204030204" pitchFamily="34" charset="0"/>
                <a:cs typeface="Calibri" panose="020F0502020204030204" pitchFamily="34" charset="0"/>
              </a:rPr>
              <a:t>ON [</a:t>
            </a:r>
            <a:r>
              <a:rPr lang="en-US" sz="1600" b="1" i="1" dirty="0" err="1">
                <a:latin typeface="Calibri" panose="020F0502020204030204" pitchFamily="34" charset="0"/>
                <a:cs typeface="Calibri" panose="020F0502020204030204" pitchFamily="34" charset="0"/>
              </a:rPr>
              <a:t>esquema_dueño_tabla</a:t>
            </a:r>
            <a:r>
              <a:rPr lang="en-US" sz="1600" b="1" i="1" dirty="0">
                <a:latin typeface="Calibri" panose="020F0502020204030204" pitchFamily="34" charset="0"/>
                <a:cs typeface="Calibri" panose="020F0502020204030204" pitchFamily="34" charset="0"/>
              </a:rPr>
              <a:t>.</a:t>
            </a:r>
            <a:r>
              <a:rPr lang="en-US" sz="1600" b="1" dirty="0">
                <a:latin typeface="Calibri" panose="020F0502020204030204" pitchFamily="34" charset="0"/>
                <a:cs typeface="Calibri" panose="020F0502020204030204" pitchFamily="34" charset="0"/>
              </a:rPr>
              <a:t>]</a:t>
            </a:r>
            <a:r>
              <a:rPr lang="en-US" sz="1600" b="1" i="1" dirty="0" err="1">
                <a:latin typeface="Calibri" panose="020F0502020204030204" pitchFamily="34" charset="0"/>
                <a:cs typeface="Calibri" panose="020F0502020204030204" pitchFamily="34" charset="0"/>
              </a:rPr>
              <a:t>nombre_tabla</a:t>
            </a:r>
            <a:r>
              <a:rPr lang="en-US" sz="1600" b="1" i="1" dirty="0">
                <a:latin typeface="Calibri" panose="020F0502020204030204" pitchFamily="34" charset="0"/>
                <a:cs typeface="Calibri" panose="020F0502020204030204" pitchFamily="34" charset="0"/>
              </a:rPr>
              <a:t> </a:t>
            </a:r>
            <a:r>
              <a:rPr lang="en-US" sz="1600" b="1" dirty="0">
                <a:latin typeface="Calibri" panose="020F0502020204030204" pitchFamily="34" charset="0"/>
                <a:cs typeface="Calibri" panose="020F0502020204030204" pitchFamily="34" charset="0"/>
              </a:rPr>
              <a:t>(</a:t>
            </a:r>
            <a:r>
              <a:rPr lang="en-US" sz="1600" b="1" i="1" dirty="0">
                <a:latin typeface="Calibri" panose="020F0502020204030204" pitchFamily="34" charset="0"/>
                <a:cs typeface="Calibri" panose="020F0502020204030204" pitchFamily="34" charset="0"/>
              </a:rPr>
              <a:t>columna</a:t>
            </a:r>
            <a:r>
              <a:rPr lang="en-US" sz="1600" b="1" dirty="0">
                <a:latin typeface="Calibri" panose="020F0502020204030204" pitchFamily="34" charset="0"/>
                <a:cs typeface="Calibri" panose="020F0502020204030204" pitchFamily="34" charset="0"/>
              </a:rPr>
              <a:t>[, </a:t>
            </a:r>
            <a:r>
              <a:rPr lang="en-US" sz="1600" b="1" i="1" dirty="0">
                <a:latin typeface="Calibri" panose="020F0502020204030204" pitchFamily="34" charset="0"/>
                <a:cs typeface="Calibri" panose="020F0502020204030204" pitchFamily="34" charset="0"/>
              </a:rPr>
              <a:t>columna</a:t>
            </a:r>
            <a:r>
              <a:rPr lang="en-US" sz="1600" b="1" dirty="0">
                <a:latin typeface="Calibri" panose="020F0502020204030204" pitchFamily="34" charset="0"/>
                <a:cs typeface="Calibri" panose="020F0502020204030204" pitchFamily="34" charset="0"/>
              </a:rPr>
              <a:t>]...)</a:t>
            </a:r>
          </a:p>
          <a:p>
            <a:pPr algn="l">
              <a:defRPr/>
            </a:pPr>
            <a:r>
              <a:rPr lang="en-US" sz="1600" b="1" dirty="0">
                <a:latin typeface="Calibri" panose="020F0502020204030204" pitchFamily="34" charset="0"/>
                <a:cs typeface="Calibri" panose="020F0502020204030204" pitchFamily="34" charset="0"/>
              </a:rPr>
              <a:t>[</a:t>
            </a:r>
            <a:r>
              <a:rPr lang="en-US" sz="1600" b="1" i="1" dirty="0">
                <a:latin typeface="Calibri" panose="020F0502020204030204" pitchFamily="34" charset="0"/>
                <a:cs typeface="Calibri" panose="020F0502020204030204" pitchFamily="34" charset="0"/>
              </a:rPr>
              <a:t>nombre_tablespace </a:t>
            </a:r>
            <a:r>
              <a:rPr lang="en-US" sz="1600" b="1" dirty="0">
                <a:latin typeface="Calibri" panose="020F0502020204030204" pitchFamily="34" charset="0"/>
                <a:cs typeface="Calibri" panose="020F0502020204030204" pitchFamily="34" charset="0"/>
              </a:rPr>
              <a:t>];</a:t>
            </a:r>
          </a:p>
          <a:p>
            <a:pPr algn="l">
              <a:defRPr/>
            </a:pPr>
            <a:endParaRPr lang="es-MX" sz="800" b="1" dirty="0">
              <a:latin typeface="Calibri" panose="020F0502020204030204" pitchFamily="34" charset="0"/>
              <a:cs typeface="Calibri" panose="020F0502020204030204" pitchFamily="34" charset="0"/>
            </a:endParaRPr>
          </a:p>
        </p:txBody>
      </p:sp>
      <p:pic>
        <p:nvPicPr>
          <p:cNvPr id="7" name="Imagen 6">
            <a:extLst>
              <a:ext uri="{FF2B5EF4-FFF2-40B4-BE49-F238E27FC236}">
                <a16:creationId xmlns:a16="http://schemas.microsoft.com/office/drawing/2014/main" xmlns="" id="{76768D37-A536-45B5-B8F9-70364FDD405B}"/>
              </a:ext>
            </a:extLst>
          </p:cNvPr>
          <p:cNvPicPr>
            <a:picLocks noChangeAspect="1"/>
          </p:cNvPicPr>
          <p:nvPr/>
        </p:nvPicPr>
        <p:blipFill>
          <a:blip r:embed="rId3"/>
          <a:stretch>
            <a:fillRect/>
          </a:stretch>
        </p:blipFill>
        <p:spPr>
          <a:xfrm>
            <a:off x="1349952" y="3797791"/>
            <a:ext cx="5437710" cy="2801401"/>
          </a:xfrm>
          <a:prstGeom prst="rect">
            <a:avLst/>
          </a:prstGeom>
        </p:spPr>
      </p:pic>
    </p:spTree>
    <p:extLst>
      <p:ext uri="{BB962C8B-B14F-4D97-AF65-F5344CB8AC3E}">
        <p14:creationId xmlns:p14="http://schemas.microsoft.com/office/powerpoint/2010/main" val="1214281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Creación de Índices B-</a:t>
            </a:r>
            <a:r>
              <a:rPr lang="es-CL" sz="2800" b="1" dirty="0" err="1">
                <a:solidFill>
                  <a:prstClr val="white"/>
                </a:solidFill>
                <a:latin typeface="Calibri"/>
              </a:rPr>
              <a:t>Tree</a:t>
            </a:r>
            <a:r>
              <a:rPr lang="es-CL" sz="2800" b="1" dirty="0">
                <a:solidFill>
                  <a:prstClr val="white"/>
                </a:solidFill>
                <a:latin typeface="Calibri"/>
              </a:rPr>
              <a:t>, </a:t>
            </a:r>
            <a:r>
              <a:rPr lang="es-CL" sz="2800" b="1" dirty="0" err="1">
                <a:solidFill>
                  <a:prstClr val="white"/>
                </a:solidFill>
                <a:latin typeface="Calibri"/>
              </a:rPr>
              <a:t>Unique</a:t>
            </a:r>
            <a:r>
              <a:rPr lang="es-CL" sz="2800" b="1" dirty="0">
                <a:solidFill>
                  <a:prstClr val="white"/>
                </a:solidFill>
                <a:latin typeface="Calibri"/>
              </a:rPr>
              <a:t> y </a:t>
            </a:r>
            <a:r>
              <a:rPr lang="es-CL" sz="2800" b="1" dirty="0" err="1">
                <a:solidFill>
                  <a:prstClr val="white"/>
                </a:solidFill>
                <a:latin typeface="Calibri"/>
              </a:rPr>
              <a:t>Function-Based</a:t>
            </a:r>
            <a:endParaRPr lang="es-CL" sz="2800" b="1" kern="1200" dirty="0">
              <a:solidFill>
                <a:prstClr val="white"/>
              </a:solidFill>
              <a:latin typeface="Calibri"/>
              <a:cs typeface="Arial" panose="020B0604020202020204" pitchFamily="34" charset="0"/>
            </a:endParaRPr>
          </a:p>
        </p:txBody>
      </p:sp>
      <p:sp>
        <p:nvSpPr>
          <p:cNvPr id="9" name="Marcador de contenido 1">
            <a:extLst>
              <a:ext uri="{FF2B5EF4-FFF2-40B4-BE49-F238E27FC236}">
                <a16:creationId xmlns:a16="http://schemas.microsoft.com/office/drawing/2014/main" xmlns="" id="{5DCF220F-9B7F-4C61-9062-C8C05CAACD3E}"/>
              </a:ext>
            </a:extLst>
          </p:cNvPr>
          <p:cNvSpPr txBox="1">
            <a:spLocks/>
          </p:cNvSpPr>
          <p:nvPr/>
        </p:nvSpPr>
        <p:spPr>
          <a:xfrm>
            <a:off x="620960" y="1103451"/>
            <a:ext cx="6759352" cy="4525963"/>
          </a:xfrm>
          <a:prstGeom prst="rect">
            <a:avLst/>
          </a:prstGeom>
        </p:spPr>
        <p:txBody>
          <a:bodyPr vert="horz" lIns="91440" tIns="45720" rIns="91440" bIns="45720" rtlCol="0">
            <a:normAutofit fontScale="25000" lnSpcReduction="20000"/>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 índice B-Tree:</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0" marR="0" lvl="0" indent="0" algn="just" defTabSz="342900" rtl="0" eaLnBrk="1" fontAlgn="auto" latinLnBrk="0" hangingPunct="1">
              <a:lnSpc>
                <a:spcPct val="80000"/>
              </a:lnSpc>
              <a:spcBef>
                <a:spcPct val="20000"/>
              </a:spcBef>
              <a:spcAft>
                <a:spcPts val="0"/>
              </a:spcAft>
              <a:buClrTx/>
              <a:buSzTx/>
              <a:buNone/>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0" marR="0" lvl="0" indent="0" algn="just" defTabSz="342900" rtl="0" eaLnBrk="1" fontAlgn="auto" latinLnBrk="0" hangingPunct="1">
              <a:lnSpc>
                <a:spcPct val="80000"/>
              </a:lnSpc>
              <a:spcBef>
                <a:spcPct val="20000"/>
              </a:spcBef>
              <a:spcAft>
                <a:spcPts val="0"/>
              </a:spcAft>
              <a:buClrTx/>
              <a:buSzTx/>
              <a:buNone/>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96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lvl="0" indent="-609600" algn="just" fontAlgn="auto">
              <a:lnSpc>
                <a:spcPct val="80000"/>
              </a:lnSpc>
              <a:spcAft>
                <a:spcPts val="0"/>
              </a:spcAf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lvl="0" indent="-609600" algn="just" fontAlgn="auto">
              <a:lnSpc>
                <a:spcPct val="80000"/>
              </a:lnSpc>
              <a:spcAft>
                <a:spcPts val="0"/>
              </a:spcAft>
              <a:defRPr/>
            </a:pPr>
            <a:r>
              <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 índice B-Tree :</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64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48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72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defRPr/>
            </a:pPr>
            <a:r>
              <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 índice basado en función:</a:t>
            </a:r>
          </a:p>
          <a:p>
            <a:pPr marL="609600" indent="-609600" algn="just" fontAlgn="auto">
              <a:lnSpc>
                <a:spcPct val="80000"/>
              </a:lnSpc>
              <a:spcAft>
                <a:spcPts val="0"/>
              </a:spcAf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defRPr/>
            </a:pPr>
            <a:endParaRPr lang="es-CL" sz="56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defRPr/>
            </a:pPr>
            <a:endParaRPr lang="es-CL" sz="44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indent="-609600" algn="just">
              <a:lnSpc>
                <a:spcPct val="80000"/>
              </a:lnSpc>
              <a:defRPr/>
            </a:pPr>
            <a:r>
              <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 índice </a:t>
            </a:r>
            <a:r>
              <a:rPr lang="es-CL" sz="8000" dirty="0" err="1">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Unique</a:t>
            </a:r>
            <a:r>
              <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a:t>
            </a:r>
          </a:p>
          <a:p>
            <a:pPr marL="609600" indent="-609600" algn="just" fontAlgn="auto">
              <a:lnSpc>
                <a:spcPct val="80000"/>
              </a:lnSpc>
              <a:spcAft>
                <a:spcPts val="0"/>
              </a:spcAf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defRPr/>
            </a:pPr>
            <a:endParaRPr lang="es-CL" sz="48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defRPr/>
            </a:pPr>
            <a:endParaRPr lang="es-CL" sz="48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0" marR="0" lvl="0" indent="0" algn="just" defTabSz="342900" rtl="0" eaLnBrk="1" fontAlgn="auto" latinLnBrk="0" hangingPunct="1">
              <a:lnSpc>
                <a:spcPct val="80000"/>
              </a:lnSpc>
              <a:spcBef>
                <a:spcPct val="20000"/>
              </a:spcBef>
              <a:spcAft>
                <a:spcPts val="0"/>
              </a:spcAft>
              <a:buClrTx/>
              <a:buSzTx/>
              <a:buNone/>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8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sz="8000"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p:txBody>
      </p:sp>
      <p:sp>
        <p:nvSpPr>
          <p:cNvPr id="10" name="Text Box 5">
            <a:extLst>
              <a:ext uri="{FF2B5EF4-FFF2-40B4-BE49-F238E27FC236}">
                <a16:creationId xmlns:a16="http://schemas.microsoft.com/office/drawing/2014/main" xmlns="" id="{D31244BC-A11D-473D-AC10-68B1CDB24C8E}"/>
              </a:ext>
            </a:extLst>
          </p:cNvPr>
          <p:cNvSpPr txBox="1">
            <a:spLocks noChangeArrowheads="1"/>
          </p:cNvSpPr>
          <p:nvPr/>
        </p:nvSpPr>
        <p:spPr bwMode="auto">
          <a:xfrm>
            <a:off x="477723" y="1742814"/>
            <a:ext cx="8316000" cy="830997"/>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p>
            <a:pPr algn="l">
              <a:defRPr/>
            </a:pPr>
            <a:endParaRPr lang="en-US" sz="800" b="1"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CREATE INDEX idx_emp_appaterno ON empleado(</a:t>
            </a:r>
            <a:r>
              <a:rPr lang="en-US" sz="1600" b="1" dirty="0" err="1">
                <a:latin typeface="Calibri" panose="020F0502020204030204" pitchFamily="34" charset="0"/>
                <a:cs typeface="Calibri" panose="020F0502020204030204" pitchFamily="34" charset="0"/>
              </a:rPr>
              <a:t>appaterno_emp</a:t>
            </a:r>
            <a:r>
              <a:rPr lang="en-US" sz="1600" b="1" dirty="0">
                <a:latin typeface="Calibri" panose="020F0502020204030204" pitchFamily="34" charset="0"/>
                <a:cs typeface="Calibri" panose="020F0502020204030204" pitchFamily="34" charset="0"/>
              </a:rPr>
              <a:t>);</a:t>
            </a:r>
          </a:p>
          <a:p>
            <a:pPr>
              <a:defRPr/>
            </a:pPr>
            <a:r>
              <a:rPr lang="en-US" sz="1600" b="1" dirty="0">
                <a:latin typeface="Calibri" panose="020F0502020204030204" pitchFamily="34" charset="0"/>
                <a:cs typeface="Calibri" panose="020F0502020204030204" pitchFamily="34" charset="0"/>
              </a:rPr>
              <a:t>CREATE INDEX </a:t>
            </a:r>
            <a:r>
              <a:rPr lang="en-US" sz="1600" b="1" dirty="0" err="1">
                <a:latin typeface="Calibri" panose="020F0502020204030204" pitchFamily="34" charset="0"/>
                <a:cs typeface="Calibri" panose="020F0502020204030204" pitchFamily="34" charset="0"/>
              </a:rPr>
              <a:t>idx_emp_id_categoria</a:t>
            </a:r>
            <a:r>
              <a:rPr lang="en-US" sz="1600" b="1" dirty="0">
                <a:latin typeface="Calibri" panose="020F0502020204030204" pitchFamily="34" charset="0"/>
                <a:cs typeface="Calibri" panose="020F0502020204030204" pitchFamily="34" charset="0"/>
              </a:rPr>
              <a:t> ON </a:t>
            </a:r>
            <a:r>
              <a:rPr lang="en-US" sz="1600" b="1" dirty="0" err="1">
                <a:latin typeface="Calibri" panose="020F0502020204030204" pitchFamily="34" charset="0"/>
                <a:cs typeface="Calibri" panose="020F0502020204030204" pitchFamily="34" charset="0"/>
              </a:rPr>
              <a:t>empleado</a:t>
            </a:r>
            <a:r>
              <a:rPr lang="en-US" sz="1600" b="1" dirty="0">
                <a:latin typeface="Calibri" panose="020F0502020204030204" pitchFamily="34" charset="0"/>
                <a:cs typeface="Calibri" panose="020F0502020204030204" pitchFamily="34" charset="0"/>
              </a:rPr>
              <a:t>(</a:t>
            </a:r>
            <a:r>
              <a:rPr lang="en-US" sz="1600" b="1" dirty="0" err="1">
                <a:latin typeface="Calibri" panose="020F0502020204030204" pitchFamily="34" charset="0"/>
                <a:cs typeface="Calibri" panose="020F0502020204030204" pitchFamily="34" charset="0"/>
              </a:rPr>
              <a:t>id_categoria_emp</a:t>
            </a:r>
            <a:r>
              <a:rPr lang="en-US" sz="1600" b="1" dirty="0">
                <a:latin typeface="Calibri" panose="020F0502020204030204" pitchFamily="34" charset="0"/>
                <a:cs typeface="Calibri" panose="020F0502020204030204" pitchFamily="34" charset="0"/>
              </a:rPr>
              <a:t>);</a:t>
            </a:r>
          </a:p>
          <a:p>
            <a:pPr algn="l">
              <a:defRPr/>
            </a:pPr>
            <a:endParaRPr lang="es-MX" sz="800" b="1" dirty="0">
              <a:latin typeface="Calibri" panose="020F0502020204030204" pitchFamily="34" charset="0"/>
              <a:cs typeface="Calibri" panose="020F0502020204030204" pitchFamily="34" charset="0"/>
            </a:endParaRPr>
          </a:p>
        </p:txBody>
      </p:sp>
      <p:sp>
        <p:nvSpPr>
          <p:cNvPr id="11" name="Text Box 5">
            <a:extLst>
              <a:ext uri="{FF2B5EF4-FFF2-40B4-BE49-F238E27FC236}">
                <a16:creationId xmlns:a16="http://schemas.microsoft.com/office/drawing/2014/main" xmlns="" id="{C9652FC2-071C-49E2-858C-4F3A5342FFFD}"/>
              </a:ext>
            </a:extLst>
          </p:cNvPr>
          <p:cNvSpPr txBox="1">
            <a:spLocks noChangeArrowheads="1"/>
          </p:cNvSpPr>
          <p:nvPr/>
        </p:nvSpPr>
        <p:spPr bwMode="auto">
          <a:xfrm>
            <a:off x="477723" y="3247347"/>
            <a:ext cx="8316000" cy="576000"/>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p>
            <a:pPr algn="l">
              <a:defRPr/>
            </a:pPr>
            <a:endParaRPr lang="en-US" sz="800" b="1"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CREATE INDEX idx_emp_rut_fecing ON empleado(</a:t>
            </a:r>
            <a:r>
              <a:rPr lang="en-US" sz="1600" b="1" dirty="0" err="1">
                <a:latin typeface="Calibri" panose="020F0502020204030204" pitchFamily="34" charset="0"/>
                <a:cs typeface="Calibri" panose="020F0502020204030204" pitchFamily="34" charset="0"/>
              </a:rPr>
              <a:t>numrut_emp</a:t>
            </a:r>
            <a:r>
              <a:rPr lang="en-US" sz="1600" b="1" dirty="0">
                <a:latin typeface="Calibri" panose="020F0502020204030204" pitchFamily="34" charset="0"/>
                <a:cs typeface="Calibri" panose="020F0502020204030204" pitchFamily="34" charset="0"/>
              </a:rPr>
              <a:t>, </a:t>
            </a:r>
            <a:r>
              <a:rPr lang="en-US" sz="1600" b="1" dirty="0" err="1">
                <a:latin typeface="Calibri" panose="020F0502020204030204" pitchFamily="34" charset="0"/>
                <a:cs typeface="Calibri" panose="020F0502020204030204" pitchFamily="34" charset="0"/>
              </a:rPr>
              <a:t>fecing_emp</a:t>
            </a:r>
            <a:r>
              <a:rPr lang="en-US" sz="1600" b="1" dirty="0">
                <a:latin typeface="Calibri" panose="020F0502020204030204" pitchFamily="34" charset="0"/>
                <a:cs typeface="Calibri" panose="020F0502020204030204" pitchFamily="34" charset="0"/>
              </a:rPr>
              <a:t>);</a:t>
            </a:r>
          </a:p>
          <a:p>
            <a:pPr algn="l">
              <a:defRPr/>
            </a:pPr>
            <a:endParaRPr lang="es-MX" sz="800" b="1" dirty="0">
              <a:latin typeface="Calibri" panose="020F0502020204030204" pitchFamily="34" charset="0"/>
              <a:cs typeface="Calibri" panose="020F0502020204030204" pitchFamily="34" charset="0"/>
            </a:endParaRPr>
          </a:p>
        </p:txBody>
      </p:sp>
      <p:sp>
        <p:nvSpPr>
          <p:cNvPr id="13" name="Text Box 5">
            <a:extLst>
              <a:ext uri="{FF2B5EF4-FFF2-40B4-BE49-F238E27FC236}">
                <a16:creationId xmlns:a16="http://schemas.microsoft.com/office/drawing/2014/main" xmlns="" id="{84007E08-25A4-4AE5-98C6-F449A29F8DD6}"/>
              </a:ext>
            </a:extLst>
          </p:cNvPr>
          <p:cNvSpPr txBox="1">
            <a:spLocks noChangeArrowheads="1"/>
          </p:cNvSpPr>
          <p:nvPr/>
        </p:nvSpPr>
        <p:spPr bwMode="auto">
          <a:xfrm>
            <a:off x="477723" y="4555363"/>
            <a:ext cx="8316000" cy="576000"/>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p>
            <a:pPr algn="l">
              <a:defRPr/>
            </a:pPr>
            <a:endParaRPr lang="en-US" sz="800" b="1" dirty="0">
              <a:latin typeface="Calibri" panose="020F0502020204030204" pitchFamily="34" charset="0"/>
              <a:cs typeface="Calibri" panose="020F0502020204030204" pitchFamily="34" charset="0"/>
            </a:endParaRPr>
          </a:p>
          <a:p>
            <a:pPr>
              <a:defRPr/>
            </a:pPr>
            <a:r>
              <a:rPr lang="en-US" sz="1600" b="1" dirty="0">
                <a:latin typeface="Calibri" panose="020F0502020204030204" pitchFamily="34" charset="0"/>
                <a:cs typeface="Calibri" panose="020F0502020204030204" pitchFamily="34" charset="0"/>
              </a:rPr>
              <a:t>CREATE INDEX </a:t>
            </a:r>
            <a:r>
              <a:rPr lang="en-US" sz="1600" b="1" dirty="0" err="1">
                <a:latin typeface="Calibri" panose="020F0502020204030204" pitchFamily="34" charset="0"/>
                <a:cs typeface="Calibri" panose="020F0502020204030204" pitchFamily="34" charset="0"/>
              </a:rPr>
              <a:t>idx_emp_calc_sldo_bono_com</a:t>
            </a:r>
            <a:r>
              <a:rPr lang="en-US" sz="1600" b="1" dirty="0">
                <a:latin typeface="Calibri" panose="020F0502020204030204" pitchFamily="34" charset="0"/>
                <a:cs typeface="Calibri" panose="020F0502020204030204" pitchFamily="34" charset="0"/>
              </a:rPr>
              <a:t> ON </a:t>
            </a:r>
            <a:r>
              <a:rPr lang="en-US" sz="1600" b="1" dirty="0" err="1">
                <a:latin typeface="Calibri" panose="020F0502020204030204" pitchFamily="34" charset="0"/>
                <a:cs typeface="Calibri" panose="020F0502020204030204" pitchFamily="34" charset="0"/>
              </a:rPr>
              <a:t>empleado</a:t>
            </a:r>
            <a:r>
              <a:rPr lang="en-US" sz="1600" b="1" dirty="0">
                <a:latin typeface="Calibri" panose="020F0502020204030204" pitchFamily="34" charset="0"/>
                <a:cs typeface="Calibri" panose="020F0502020204030204" pitchFamily="34" charset="0"/>
              </a:rPr>
              <a:t>(ROUND(</a:t>
            </a:r>
            <a:r>
              <a:rPr lang="en-US" sz="1600" b="1" dirty="0" err="1">
                <a:latin typeface="Calibri" panose="020F0502020204030204" pitchFamily="34" charset="0"/>
                <a:cs typeface="Calibri" panose="020F0502020204030204" pitchFamily="34" charset="0"/>
              </a:rPr>
              <a:t>sueldo_emp</a:t>
            </a:r>
            <a:r>
              <a:rPr lang="en-US" sz="1600" b="1" dirty="0">
                <a:latin typeface="Calibri" panose="020F0502020204030204" pitchFamily="34" charset="0"/>
                <a:cs typeface="Calibri" panose="020F0502020204030204" pitchFamily="34" charset="0"/>
              </a:rPr>
              <a:t>*.25));</a:t>
            </a:r>
          </a:p>
          <a:p>
            <a:pPr>
              <a:defRPr/>
            </a:pPr>
            <a:endParaRPr lang="es-MX" sz="800" b="1" dirty="0">
              <a:latin typeface="Calibri" panose="020F0502020204030204" pitchFamily="34" charset="0"/>
              <a:cs typeface="Calibri" panose="020F0502020204030204" pitchFamily="34" charset="0"/>
            </a:endParaRPr>
          </a:p>
        </p:txBody>
      </p:sp>
      <p:sp>
        <p:nvSpPr>
          <p:cNvPr id="14" name="Text Box 5">
            <a:extLst>
              <a:ext uri="{FF2B5EF4-FFF2-40B4-BE49-F238E27FC236}">
                <a16:creationId xmlns:a16="http://schemas.microsoft.com/office/drawing/2014/main" xmlns="" id="{743FE959-BC30-49C2-9C0C-67DBC9C0FD15}"/>
              </a:ext>
            </a:extLst>
          </p:cNvPr>
          <p:cNvSpPr txBox="1">
            <a:spLocks noChangeArrowheads="1"/>
          </p:cNvSpPr>
          <p:nvPr/>
        </p:nvSpPr>
        <p:spPr bwMode="auto">
          <a:xfrm>
            <a:off x="490136" y="5653891"/>
            <a:ext cx="8316000" cy="58477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p>
            <a:pPr algn="l">
              <a:defRPr/>
            </a:pPr>
            <a:endParaRPr lang="en-US" sz="800" b="1" dirty="0">
              <a:latin typeface="Calibri" panose="020F0502020204030204" pitchFamily="34" charset="0"/>
              <a:cs typeface="Calibri" panose="020F0502020204030204" pitchFamily="34" charset="0"/>
            </a:endParaRPr>
          </a:p>
          <a:p>
            <a:pPr>
              <a:defRPr/>
            </a:pPr>
            <a:r>
              <a:rPr lang="es-CL" sz="1600" b="1" dirty="0">
                <a:latin typeface="Calibri" panose="020F0502020204030204" pitchFamily="34" charset="0"/>
                <a:cs typeface="Calibri" panose="020F0502020204030204" pitchFamily="34" charset="0"/>
              </a:rPr>
              <a:t>CREATE UNIQUE INDEX </a:t>
            </a:r>
            <a:r>
              <a:rPr lang="es-CL" sz="1600" b="1" dirty="0" err="1">
                <a:latin typeface="Calibri" panose="020F0502020204030204" pitchFamily="34" charset="0"/>
                <a:cs typeface="Calibri" panose="020F0502020204030204" pitchFamily="34" charset="0"/>
              </a:rPr>
              <a:t>idx_emp_uniq_codigo</a:t>
            </a:r>
            <a:r>
              <a:rPr lang="es-CL" sz="1600" b="1" dirty="0">
                <a:latin typeface="Calibri" panose="020F0502020204030204" pitchFamily="34" charset="0"/>
                <a:cs typeface="Calibri" panose="020F0502020204030204" pitchFamily="34" charset="0"/>
              </a:rPr>
              <a:t> ON empleado(</a:t>
            </a:r>
            <a:r>
              <a:rPr lang="es-CL" sz="1600" b="1" dirty="0" err="1">
                <a:latin typeface="Calibri" panose="020F0502020204030204" pitchFamily="34" charset="0"/>
                <a:cs typeface="Calibri" panose="020F0502020204030204" pitchFamily="34" charset="0"/>
              </a:rPr>
              <a:t>cod_emp</a:t>
            </a:r>
            <a:r>
              <a:rPr lang="es-CL" sz="1600" b="1" dirty="0">
                <a:latin typeface="Calibri" panose="020F0502020204030204" pitchFamily="34" charset="0"/>
                <a:cs typeface="Calibri" panose="020F0502020204030204" pitchFamily="34" charset="0"/>
              </a:rPr>
              <a:t>);</a:t>
            </a:r>
          </a:p>
          <a:p>
            <a:pPr>
              <a:defRPr/>
            </a:pPr>
            <a:endParaRPr lang="es-MX" sz="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01385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Planes de Ejecución cuando se han creado Índices</a:t>
            </a:r>
            <a:endParaRPr lang="es-CL" sz="2800" b="1" kern="1200" dirty="0">
              <a:solidFill>
                <a:prstClr val="white"/>
              </a:solidFill>
              <a:latin typeface="Calibri"/>
              <a:cs typeface="Arial" panose="020B0604020202020204" pitchFamily="34" charset="0"/>
            </a:endParaRPr>
          </a:p>
        </p:txBody>
      </p:sp>
      <p:sp>
        <p:nvSpPr>
          <p:cNvPr id="15" name="Marcador de contenido 1">
            <a:extLst>
              <a:ext uri="{FF2B5EF4-FFF2-40B4-BE49-F238E27FC236}">
                <a16:creationId xmlns:a16="http://schemas.microsoft.com/office/drawing/2014/main" xmlns="" id="{73CFD818-6754-406C-8B72-CF22AC9E7F3C}"/>
              </a:ext>
            </a:extLst>
          </p:cNvPr>
          <p:cNvSpPr txBox="1">
            <a:spLocks/>
          </p:cNvSpPr>
          <p:nvPr/>
        </p:nvSpPr>
        <p:spPr>
          <a:xfrm>
            <a:off x="590872" y="841719"/>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defRPr/>
            </a:pPr>
            <a:r>
              <a:rPr lang="es-CL" dirty="0">
                <a:solidFill>
                  <a:schemeClr val="tx1"/>
                </a:solidFill>
                <a:latin typeface="Calibri" panose="020F0502020204030204" pitchFamily="34" charset="0"/>
                <a:ea typeface="Arial Unicode MS" pitchFamily="34" charset="-128"/>
                <a:cs typeface="Calibri" panose="020F0502020204030204" pitchFamily="34" charset="0"/>
              </a:rPr>
              <a:t>Ejemplo </a:t>
            </a:r>
            <a:r>
              <a:rPr lang="es-CL" dirty="0">
                <a:solidFill>
                  <a:schemeClr val="tx1"/>
                </a:solidFill>
                <a:latin typeface="Calibri" panose="020F0502020204030204" pitchFamily="34" charset="0"/>
                <a:ea typeface="Arial Unicode MS"/>
                <a:cs typeface="Calibri" panose="020F0502020204030204" pitchFamily="34" charset="0"/>
              </a:rPr>
              <a:t>de cambio en el plan de ejecución de una sentencia SQL al crear índices: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p:txBody>
      </p:sp>
      <p:pic>
        <p:nvPicPr>
          <p:cNvPr id="16" name="Imagen 15" descr="Una captura de pantalla de una red social&#10;&#10;Descripción generada automáticamente">
            <a:extLst>
              <a:ext uri="{FF2B5EF4-FFF2-40B4-BE49-F238E27FC236}">
                <a16:creationId xmlns:a16="http://schemas.microsoft.com/office/drawing/2014/main" xmlns="" id="{6165FC2D-4993-4AE7-BB36-103A44B939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634" y="1725978"/>
            <a:ext cx="8029048" cy="2388641"/>
          </a:xfrm>
          <a:prstGeom prst="rect">
            <a:avLst/>
          </a:prstGeom>
        </p:spPr>
      </p:pic>
      <p:sp>
        <p:nvSpPr>
          <p:cNvPr id="17" name="CuadroTexto 16">
            <a:extLst>
              <a:ext uri="{FF2B5EF4-FFF2-40B4-BE49-F238E27FC236}">
                <a16:creationId xmlns:a16="http://schemas.microsoft.com/office/drawing/2014/main" xmlns="" id="{F1F2E2B8-07ED-4141-A56D-B10B20A0D87E}"/>
              </a:ext>
            </a:extLst>
          </p:cNvPr>
          <p:cNvSpPr txBox="1"/>
          <p:nvPr/>
        </p:nvSpPr>
        <p:spPr>
          <a:xfrm>
            <a:off x="118788" y="3468288"/>
            <a:ext cx="418704" cy="646331"/>
          </a:xfrm>
          <a:prstGeom prst="rect">
            <a:avLst/>
          </a:prstGeom>
          <a:noFill/>
        </p:spPr>
        <p:txBody>
          <a:bodyPr wrap="none" rtlCol="0">
            <a:spAutoFit/>
          </a:bodyPr>
          <a:lstStyle/>
          <a:p>
            <a:r>
              <a:rPr lang="es-CL" sz="3600" b="1" dirty="0">
                <a:solidFill>
                  <a:srgbClr val="C00000"/>
                </a:solidFill>
                <a:latin typeface="Calibri" panose="020F0502020204030204" pitchFamily="34" charset="0"/>
                <a:cs typeface="Calibri" panose="020F0502020204030204" pitchFamily="34" charset="0"/>
              </a:rPr>
              <a:t>1</a:t>
            </a:r>
          </a:p>
        </p:txBody>
      </p:sp>
      <p:pic>
        <p:nvPicPr>
          <p:cNvPr id="18" name="Imagen 17">
            <a:extLst>
              <a:ext uri="{FF2B5EF4-FFF2-40B4-BE49-F238E27FC236}">
                <a16:creationId xmlns:a16="http://schemas.microsoft.com/office/drawing/2014/main" xmlns="" id="{7EFDA862-A773-4786-8911-A4D5EF29EAB3}"/>
              </a:ext>
            </a:extLst>
          </p:cNvPr>
          <p:cNvPicPr>
            <a:picLocks noChangeAspect="1"/>
          </p:cNvPicPr>
          <p:nvPr/>
        </p:nvPicPr>
        <p:blipFill>
          <a:blip r:embed="rId4"/>
          <a:stretch>
            <a:fillRect/>
          </a:stretch>
        </p:blipFill>
        <p:spPr>
          <a:xfrm>
            <a:off x="611158" y="4251779"/>
            <a:ext cx="8029048" cy="2491275"/>
          </a:xfrm>
          <a:prstGeom prst="rect">
            <a:avLst/>
          </a:prstGeom>
        </p:spPr>
      </p:pic>
    </p:spTree>
    <p:extLst>
      <p:ext uri="{BB962C8B-B14F-4D97-AF65-F5344CB8AC3E}">
        <p14:creationId xmlns:p14="http://schemas.microsoft.com/office/powerpoint/2010/main" val="4076263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Planes de Ejecución cuando se han creado Índices</a:t>
            </a:r>
            <a:endParaRPr lang="es-CL" sz="2800" b="1" kern="1200" dirty="0">
              <a:solidFill>
                <a:prstClr val="white"/>
              </a:solidFill>
              <a:latin typeface="Calibri"/>
              <a:cs typeface="Arial" panose="020B0604020202020204" pitchFamily="34" charset="0"/>
            </a:endParaRPr>
          </a:p>
        </p:txBody>
      </p:sp>
      <p:sp>
        <p:nvSpPr>
          <p:cNvPr id="7" name="CuadroTexto 6">
            <a:extLst>
              <a:ext uri="{FF2B5EF4-FFF2-40B4-BE49-F238E27FC236}">
                <a16:creationId xmlns:a16="http://schemas.microsoft.com/office/drawing/2014/main" xmlns="" id="{B81E2C3B-0626-4DFF-AB7E-085FAE63E16F}"/>
              </a:ext>
            </a:extLst>
          </p:cNvPr>
          <p:cNvSpPr txBox="1"/>
          <p:nvPr/>
        </p:nvSpPr>
        <p:spPr>
          <a:xfrm>
            <a:off x="442346" y="1551565"/>
            <a:ext cx="418704" cy="646331"/>
          </a:xfrm>
          <a:prstGeom prst="rect">
            <a:avLst/>
          </a:prstGeom>
          <a:noFill/>
        </p:spPr>
        <p:txBody>
          <a:bodyPr wrap="none" rtlCol="0">
            <a:spAutoFit/>
          </a:bodyPr>
          <a:lstStyle/>
          <a:p>
            <a:r>
              <a:rPr lang="es-CL" sz="3600" b="1" dirty="0">
                <a:solidFill>
                  <a:srgbClr val="C00000"/>
                </a:solidFill>
                <a:latin typeface="Calibri" panose="020F0502020204030204" pitchFamily="34" charset="0"/>
                <a:cs typeface="Calibri" panose="020F0502020204030204" pitchFamily="34" charset="0"/>
              </a:rPr>
              <a:t>2</a:t>
            </a:r>
          </a:p>
        </p:txBody>
      </p:sp>
      <p:pic>
        <p:nvPicPr>
          <p:cNvPr id="9" name="Imagen 8">
            <a:extLst>
              <a:ext uri="{FF2B5EF4-FFF2-40B4-BE49-F238E27FC236}">
                <a16:creationId xmlns:a16="http://schemas.microsoft.com/office/drawing/2014/main" xmlns="" id="{D3C48256-D224-4A64-8BBD-DE0E904922A9}"/>
              </a:ext>
            </a:extLst>
          </p:cNvPr>
          <p:cNvPicPr>
            <a:picLocks noChangeAspect="1"/>
          </p:cNvPicPr>
          <p:nvPr/>
        </p:nvPicPr>
        <p:blipFill>
          <a:blip r:embed="rId3"/>
          <a:stretch>
            <a:fillRect/>
          </a:stretch>
        </p:blipFill>
        <p:spPr>
          <a:xfrm>
            <a:off x="161364" y="2126183"/>
            <a:ext cx="8875059" cy="3149365"/>
          </a:xfrm>
          <a:prstGeom prst="rect">
            <a:avLst/>
          </a:prstGeom>
        </p:spPr>
      </p:pic>
    </p:spTree>
    <p:extLst>
      <p:ext uri="{BB962C8B-B14F-4D97-AF65-F5344CB8AC3E}">
        <p14:creationId xmlns:p14="http://schemas.microsoft.com/office/powerpoint/2010/main" val="4123802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Planes de Ejecución cuando se han creado Índices</a:t>
            </a:r>
            <a:endParaRPr lang="es-CL" sz="2800" b="1" kern="1200" dirty="0">
              <a:solidFill>
                <a:prstClr val="white"/>
              </a:solidFill>
              <a:latin typeface="Calibri"/>
              <a:cs typeface="Arial" panose="020B0604020202020204" pitchFamily="34" charset="0"/>
            </a:endParaRPr>
          </a:p>
        </p:txBody>
      </p:sp>
      <p:sp>
        <p:nvSpPr>
          <p:cNvPr id="15" name="Marcador de contenido 1">
            <a:extLst>
              <a:ext uri="{FF2B5EF4-FFF2-40B4-BE49-F238E27FC236}">
                <a16:creationId xmlns:a16="http://schemas.microsoft.com/office/drawing/2014/main" xmlns="" id="{73CFD818-6754-406C-8B72-CF22AC9E7F3C}"/>
              </a:ext>
            </a:extLst>
          </p:cNvPr>
          <p:cNvSpPr txBox="1">
            <a:spLocks/>
          </p:cNvSpPr>
          <p:nvPr/>
        </p:nvSpPr>
        <p:spPr>
          <a:xfrm>
            <a:off x="590872" y="841719"/>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defRPr/>
            </a:pPr>
            <a:r>
              <a:rPr lang="es-CL" dirty="0">
                <a:solidFill>
                  <a:schemeClr val="tx1"/>
                </a:solidFill>
                <a:latin typeface="Calibri" panose="020F0502020204030204" pitchFamily="34" charset="0"/>
                <a:ea typeface="Arial Unicode MS" pitchFamily="34" charset="-128"/>
                <a:cs typeface="Calibri" panose="020F0502020204030204" pitchFamily="34" charset="0"/>
              </a:rPr>
              <a:t>Si la misma sentencia se ejecuta en una base de datos </a:t>
            </a:r>
            <a:r>
              <a:rPr lang="es-CL" dirty="0" err="1">
                <a:solidFill>
                  <a:schemeClr val="tx1"/>
                </a:solidFill>
                <a:latin typeface="Calibri" panose="020F0502020204030204" pitchFamily="34" charset="0"/>
                <a:ea typeface="Arial Unicode MS" pitchFamily="34" charset="-128"/>
                <a:cs typeface="Calibri" panose="020F0502020204030204" pitchFamily="34" charset="0"/>
              </a:rPr>
              <a:t>Exadata</a:t>
            </a:r>
            <a:r>
              <a:rPr lang="es-CL" dirty="0">
                <a:solidFill>
                  <a:schemeClr val="tx1"/>
                </a:solidFill>
                <a:latin typeface="Calibri" panose="020F0502020204030204" pitchFamily="34" charset="0"/>
                <a:ea typeface="Arial Unicode MS" pitchFamily="34" charset="-128"/>
                <a:cs typeface="Calibri" panose="020F0502020204030204" pitchFamily="34" charset="0"/>
              </a:rPr>
              <a:t> la diferencia sería en el acceso FULL ya que el modo es STORAGE FULL</a:t>
            </a:r>
            <a:r>
              <a:rPr lang="es-CL" dirty="0">
                <a:solidFill>
                  <a:schemeClr val="tx1"/>
                </a:solidFill>
                <a:latin typeface="Calibri" panose="020F0502020204030204" pitchFamily="34" charset="0"/>
                <a:ea typeface="Arial Unicode MS"/>
                <a:cs typeface="Calibri" panose="020F0502020204030204" pitchFamily="34" charset="0"/>
              </a:rPr>
              <a:t>:</a:t>
            </a:r>
          </a:p>
          <a:p>
            <a:pPr marL="609600" indent="-609600" algn="just" fontAlgn="auto">
              <a:lnSpc>
                <a:spcPct val="80000"/>
              </a:lnSpc>
              <a:spcAft>
                <a:spcPts val="0"/>
              </a:spcAft>
              <a:defRPr/>
            </a:pPr>
            <a:endParaRPr lang="es-CL" dirty="0">
              <a:solidFill>
                <a:schemeClr val="tx1"/>
              </a:solidFill>
              <a:latin typeface="Calibri" panose="020F0502020204030204" pitchFamily="34" charset="0"/>
              <a:ea typeface="Arial Unicode MS"/>
              <a:cs typeface="Calibri" panose="020F0502020204030204" pitchFamily="34" charset="0"/>
            </a:endParaRPr>
          </a:p>
          <a:p>
            <a:pPr marL="0" indent="0" algn="just" fontAlgn="auto">
              <a:lnSpc>
                <a:spcPct val="80000"/>
              </a:lnSpc>
              <a:spcAft>
                <a:spcPts val="0"/>
              </a:spcAft>
              <a:buNone/>
              <a:defRPr/>
            </a:pPr>
            <a:r>
              <a:rPr lang="es-CL" dirty="0">
                <a:solidFill>
                  <a:schemeClr val="tx1"/>
                </a:solidFill>
                <a:latin typeface="Calibri" panose="020F0502020204030204" pitchFamily="34" charset="0"/>
                <a:ea typeface="Arial Unicode MS"/>
                <a:cs typeface="Calibri" panose="020F0502020204030204" pitchFamily="34" charset="0"/>
              </a:rPr>
              <a:t>Ejecución de la sentencia sin los índices creados:</a:t>
            </a:r>
          </a:p>
          <a:p>
            <a:pPr marL="0" indent="0" algn="just" fontAlgn="auto">
              <a:lnSpc>
                <a:spcPct val="80000"/>
              </a:lnSpc>
              <a:spcAft>
                <a:spcPts val="0"/>
              </a:spcAft>
              <a:buNone/>
              <a:defRPr/>
            </a:pPr>
            <a:endParaRPr lang="es-CL" dirty="0">
              <a:solidFill>
                <a:schemeClr val="tx1"/>
              </a:solidFill>
              <a:latin typeface="Calibri" panose="020F0502020204030204" pitchFamily="34" charset="0"/>
              <a:ea typeface="Arial Unicode MS"/>
              <a:cs typeface="Calibri" panose="020F0502020204030204" pitchFamily="34" charset="0"/>
            </a:endParaRPr>
          </a:p>
          <a:p>
            <a:pPr marL="0" indent="0" algn="just" fontAlgn="auto">
              <a:lnSpc>
                <a:spcPct val="80000"/>
              </a:lnSpc>
              <a:spcAft>
                <a:spcPts val="0"/>
              </a:spcAft>
              <a:buNone/>
              <a:defRPr/>
            </a:pPr>
            <a:endParaRPr lang="es-CL" dirty="0">
              <a:solidFill>
                <a:schemeClr val="tx1"/>
              </a:solidFill>
              <a:latin typeface="Calibri" panose="020F0502020204030204" pitchFamily="34" charset="0"/>
              <a:ea typeface="Arial Unicode MS"/>
              <a:cs typeface="Calibri" panose="020F0502020204030204" pitchFamily="34" charset="0"/>
            </a:endParaRPr>
          </a:p>
          <a:p>
            <a:pPr marL="0" indent="0" algn="just" fontAlgn="auto">
              <a:lnSpc>
                <a:spcPct val="80000"/>
              </a:lnSpc>
              <a:spcAft>
                <a:spcPts val="0"/>
              </a:spcAft>
              <a:buNone/>
              <a:defRPr/>
            </a:pPr>
            <a:endParaRPr lang="es-CL" dirty="0">
              <a:solidFill>
                <a:schemeClr val="tx1"/>
              </a:solidFill>
              <a:latin typeface="Calibri" panose="020F0502020204030204" pitchFamily="34" charset="0"/>
              <a:ea typeface="Arial Unicode MS"/>
              <a:cs typeface="Calibri" panose="020F0502020204030204" pitchFamily="34" charset="0"/>
            </a:endParaRPr>
          </a:p>
          <a:p>
            <a:pPr marL="0" indent="0" algn="just" fontAlgn="auto">
              <a:lnSpc>
                <a:spcPct val="80000"/>
              </a:lnSpc>
              <a:spcAft>
                <a:spcPts val="0"/>
              </a:spcAft>
              <a:buNone/>
              <a:defRPr/>
            </a:pPr>
            <a:endParaRPr lang="es-CL" dirty="0">
              <a:solidFill>
                <a:schemeClr val="tx1"/>
              </a:solidFill>
              <a:latin typeface="Calibri" panose="020F0502020204030204" pitchFamily="34" charset="0"/>
              <a:ea typeface="Arial Unicode MS"/>
              <a:cs typeface="Calibri" panose="020F0502020204030204" pitchFamily="34" charset="0"/>
            </a:endParaRPr>
          </a:p>
          <a:p>
            <a:pPr marL="0" indent="0" algn="just" fontAlgn="auto">
              <a:lnSpc>
                <a:spcPct val="80000"/>
              </a:lnSpc>
              <a:spcAft>
                <a:spcPts val="0"/>
              </a:spcAft>
              <a:buNone/>
              <a:defRPr/>
            </a:pPr>
            <a:endParaRPr lang="es-CL" dirty="0">
              <a:solidFill>
                <a:schemeClr val="tx1"/>
              </a:solidFill>
              <a:latin typeface="Calibri" panose="020F0502020204030204" pitchFamily="34" charset="0"/>
              <a:ea typeface="Arial Unicode MS"/>
              <a:cs typeface="Calibri" panose="020F0502020204030204" pitchFamily="34" charset="0"/>
            </a:endParaRPr>
          </a:p>
          <a:p>
            <a:pPr marL="0" indent="0" algn="just" fontAlgn="auto">
              <a:lnSpc>
                <a:spcPct val="80000"/>
              </a:lnSpc>
              <a:spcAft>
                <a:spcPts val="0"/>
              </a:spcAft>
              <a:buNone/>
              <a:defRPr/>
            </a:pPr>
            <a:endParaRPr lang="es-CL" dirty="0">
              <a:solidFill>
                <a:schemeClr val="tx1"/>
              </a:solidFill>
              <a:latin typeface="Calibri" panose="020F0502020204030204" pitchFamily="34" charset="0"/>
              <a:ea typeface="Arial Unicode MS"/>
              <a:cs typeface="Calibri" panose="020F0502020204030204" pitchFamily="34" charset="0"/>
            </a:endParaRPr>
          </a:p>
          <a:p>
            <a:pPr marL="0" indent="0" algn="just" fontAlgn="auto">
              <a:lnSpc>
                <a:spcPct val="80000"/>
              </a:lnSpc>
              <a:spcAft>
                <a:spcPts val="0"/>
              </a:spcAft>
              <a:buNone/>
              <a:defRPr/>
            </a:pPr>
            <a:endParaRPr lang="es-CL" dirty="0">
              <a:solidFill>
                <a:schemeClr val="tx1"/>
              </a:solidFill>
              <a:latin typeface="Calibri" panose="020F0502020204030204" pitchFamily="34" charset="0"/>
              <a:ea typeface="Arial Unicode MS"/>
              <a:cs typeface="Calibri" panose="020F0502020204030204" pitchFamily="34" charset="0"/>
            </a:endParaRPr>
          </a:p>
          <a:p>
            <a:pPr marL="0" indent="0" algn="just">
              <a:lnSpc>
                <a:spcPct val="80000"/>
              </a:lnSpc>
              <a:buNone/>
              <a:defRPr/>
            </a:pPr>
            <a:r>
              <a:rPr lang="es-CL" dirty="0">
                <a:solidFill>
                  <a:schemeClr val="tx1"/>
                </a:solidFill>
                <a:latin typeface="Calibri" panose="020F0502020204030204" pitchFamily="34" charset="0"/>
                <a:ea typeface="Arial Unicode MS"/>
                <a:cs typeface="Calibri" panose="020F0502020204030204" pitchFamily="34" charset="0"/>
              </a:rPr>
              <a:t>Ejecución de la sentencia después de crear los índices: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p:txBody>
      </p:sp>
      <p:pic>
        <p:nvPicPr>
          <p:cNvPr id="6" name="Imagen 5">
            <a:extLst>
              <a:ext uri="{FF2B5EF4-FFF2-40B4-BE49-F238E27FC236}">
                <a16:creationId xmlns:a16="http://schemas.microsoft.com/office/drawing/2014/main" xmlns="" id="{371A4478-F18D-41A2-A666-A96AE749412B}"/>
              </a:ext>
            </a:extLst>
          </p:cNvPr>
          <p:cNvPicPr>
            <a:picLocks noChangeAspect="1"/>
          </p:cNvPicPr>
          <p:nvPr/>
        </p:nvPicPr>
        <p:blipFill>
          <a:blip r:embed="rId3"/>
          <a:stretch>
            <a:fillRect/>
          </a:stretch>
        </p:blipFill>
        <p:spPr>
          <a:xfrm>
            <a:off x="353202" y="2295635"/>
            <a:ext cx="8437595" cy="1896020"/>
          </a:xfrm>
          <a:prstGeom prst="rect">
            <a:avLst/>
          </a:prstGeom>
        </p:spPr>
      </p:pic>
      <p:pic>
        <p:nvPicPr>
          <p:cNvPr id="7" name="Imagen 6">
            <a:extLst>
              <a:ext uri="{FF2B5EF4-FFF2-40B4-BE49-F238E27FC236}">
                <a16:creationId xmlns:a16="http://schemas.microsoft.com/office/drawing/2014/main" xmlns="" id="{BCD216CE-A3C1-42C4-9F96-1DDAC0058B6D}"/>
              </a:ext>
            </a:extLst>
          </p:cNvPr>
          <p:cNvPicPr>
            <a:picLocks noChangeAspect="1"/>
          </p:cNvPicPr>
          <p:nvPr/>
        </p:nvPicPr>
        <p:blipFill>
          <a:blip r:embed="rId4"/>
          <a:stretch>
            <a:fillRect/>
          </a:stretch>
        </p:blipFill>
        <p:spPr>
          <a:xfrm>
            <a:off x="353202" y="4721601"/>
            <a:ext cx="8437595" cy="2036240"/>
          </a:xfrm>
          <a:prstGeom prst="rect">
            <a:avLst/>
          </a:prstGeom>
        </p:spPr>
      </p:pic>
    </p:spTree>
    <p:extLst>
      <p:ext uri="{BB962C8B-B14F-4D97-AF65-F5344CB8AC3E}">
        <p14:creationId xmlns:p14="http://schemas.microsoft.com/office/powerpoint/2010/main" val="823869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Planes de Ejecución cuando se han creado Índices</a:t>
            </a:r>
            <a:endParaRPr lang="es-CL" sz="2800" b="1" kern="1200" dirty="0">
              <a:solidFill>
                <a:prstClr val="white"/>
              </a:solidFill>
              <a:latin typeface="Calibri"/>
              <a:cs typeface="Arial" panose="020B0604020202020204" pitchFamily="34" charset="0"/>
            </a:endParaRPr>
          </a:p>
        </p:txBody>
      </p:sp>
      <p:sp>
        <p:nvSpPr>
          <p:cNvPr id="5" name="Marcador de contenido 1">
            <a:extLst>
              <a:ext uri="{FF2B5EF4-FFF2-40B4-BE49-F238E27FC236}">
                <a16:creationId xmlns:a16="http://schemas.microsoft.com/office/drawing/2014/main" xmlns="" id="{E0DBA22A-A7D6-4027-B846-58442FD3B41E}"/>
              </a:ext>
            </a:extLst>
          </p:cNvPr>
          <p:cNvSpPr txBox="1">
            <a:spLocks/>
          </p:cNvSpPr>
          <p:nvPr/>
        </p:nvSpPr>
        <p:spPr>
          <a:xfrm>
            <a:off x="590872" y="841719"/>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defRPr/>
            </a:pPr>
            <a:r>
              <a:rPr lang="es-CL" dirty="0">
                <a:solidFill>
                  <a:schemeClr val="tx1"/>
                </a:solidFill>
                <a:latin typeface="Calibri" panose="020F0502020204030204" pitchFamily="34" charset="0"/>
                <a:ea typeface="Arial Unicode MS" pitchFamily="34" charset="-128"/>
                <a:cs typeface="Calibri" panose="020F0502020204030204" pitchFamily="34" charset="0"/>
              </a:rPr>
              <a:t>Ejemplo </a:t>
            </a:r>
            <a:r>
              <a:rPr lang="es-CL" dirty="0">
                <a:solidFill>
                  <a:schemeClr val="tx1"/>
                </a:solidFill>
                <a:latin typeface="Calibri" panose="020F0502020204030204" pitchFamily="34" charset="0"/>
                <a:ea typeface="Arial Unicode MS"/>
                <a:cs typeface="Calibri" panose="020F0502020204030204" pitchFamily="34" charset="0"/>
              </a:rPr>
              <a:t>de cambio en el plan de ejecución de una sentencia SQL al crear índices: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p:txBody>
      </p:sp>
      <p:sp>
        <p:nvSpPr>
          <p:cNvPr id="6" name="CuadroTexto 5">
            <a:extLst>
              <a:ext uri="{FF2B5EF4-FFF2-40B4-BE49-F238E27FC236}">
                <a16:creationId xmlns:a16="http://schemas.microsoft.com/office/drawing/2014/main" xmlns="" id="{26ADF6FA-50DA-4734-A4C2-F9445EB64B9A}"/>
              </a:ext>
            </a:extLst>
          </p:cNvPr>
          <p:cNvSpPr txBox="1"/>
          <p:nvPr/>
        </p:nvSpPr>
        <p:spPr>
          <a:xfrm>
            <a:off x="118788" y="1098027"/>
            <a:ext cx="418704" cy="646331"/>
          </a:xfrm>
          <a:prstGeom prst="rect">
            <a:avLst/>
          </a:prstGeom>
          <a:noFill/>
        </p:spPr>
        <p:txBody>
          <a:bodyPr wrap="none" rtlCol="0">
            <a:spAutoFit/>
          </a:bodyPr>
          <a:lstStyle/>
          <a:p>
            <a:r>
              <a:rPr lang="es-CL" sz="3600" b="1" dirty="0">
                <a:solidFill>
                  <a:srgbClr val="C00000"/>
                </a:solidFill>
                <a:latin typeface="Calibri" panose="020F0502020204030204" pitchFamily="34" charset="0"/>
                <a:cs typeface="Calibri" panose="020F0502020204030204" pitchFamily="34" charset="0"/>
              </a:rPr>
              <a:t>1</a:t>
            </a:r>
          </a:p>
        </p:txBody>
      </p:sp>
      <p:sp>
        <p:nvSpPr>
          <p:cNvPr id="10" name="Text Box 5">
            <a:extLst>
              <a:ext uri="{FF2B5EF4-FFF2-40B4-BE49-F238E27FC236}">
                <a16:creationId xmlns:a16="http://schemas.microsoft.com/office/drawing/2014/main" xmlns="" id="{0C6B5276-6C1A-4756-823D-84F3395209F6}"/>
              </a:ext>
            </a:extLst>
          </p:cNvPr>
          <p:cNvSpPr txBox="1">
            <a:spLocks noChangeArrowheads="1"/>
          </p:cNvSpPr>
          <p:nvPr/>
        </p:nvSpPr>
        <p:spPr bwMode="auto">
          <a:xfrm>
            <a:off x="314898" y="1763700"/>
            <a:ext cx="8748170" cy="280076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lvl="0" eaLnBrk="1" hangingPunct="1">
              <a:buClrTx/>
              <a:defRPr/>
            </a:pPr>
            <a:endParaRPr lang="es-MX" sz="800" b="1" kern="1200" dirty="0">
              <a:solidFill>
                <a:prstClr val="black"/>
              </a:solidFill>
              <a:latin typeface="Calibri" panose="020F0502020204030204" pitchFamily="34" charset="0"/>
              <a:ea typeface="+mn-ea"/>
              <a:cs typeface="Calibri" panose="020F0502020204030204" pitchFamily="34" charset="0"/>
            </a:endParaRPr>
          </a:p>
          <a:p>
            <a:pPr lvl="0" eaLnBrk="1" hangingPunct="1">
              <a:buClrTx/>
              <a:defRPr/>
            </a:pPr>
            <a:r>
              <a:rPr lang="es-MX" sz="1600" b="1" kern="1200" dirty="0">
                <a:solidFill>
                  <a:prstClr val="black"/>
                </a:solidFill>
                <a:latin typeface="Calibri" panose="020F0502020204030204" pitchFamily="34" charset="0"/>
                <a:ea typeface="+mn-ea"/>
                <a:cs typeface="Calibri" panose="020F0502020204030204" pitchFamily="34" charset="0"/>
              </a:rPr>
              <a:t>SELECT </a:t>
            </a:r>
            <a:r>
              <a:rPr lang="es-MX" sz="1600" b="1" kern="1200" dirty="0" err="1">
                <a:solidFill>
                  <a:prstClr val="black"/>
                </a:solidFill>
                <a:latin typeface="Calibri" panose="020F0502020204030204" pitchFamily="34" charset="0"/>
                <a:ea typeface="+mn-ea"/>
                <a:cs typeface="Calibri" panose="020F0502020204030204" pitchFamily="34" charset="0"/>
              </a:rPr>
              <a:t>e.numrut_emp</a:t>
            </a:r>
            <a:r>
              <a:rPr lang="es-MX" sz="1600" b="1" kern="1200" dirty="0">
                <a:solidFill>
                  <a:prstClr val="black"/>
                </a:solidFill>
                <a:latin typeface="Calibri" panose="020F0502020204030204" pitchFamily="34" charset="0"/>
                <a:ea typeface="+mn-ea"/>
                <a:cs typeface="Calibri" panose="020F0502020204030204" pitchFamily="34" charset="0"/>
              </a:rPr>
              <a:t> || '-' || </a:t>
            </a:r>
            <a:r>
              <a:rPr lang="es-MX" sz="1600" b="1" kern="1200" dirty="0" err="1">
                <a:solidFill>
                  <a:prstClr val="black"/>
                </a:solidFill>
                <a:latin typeface="Calibri" panose="020F0502020204030204" pitchFamily="34" charset="0"/>
                <a:ea typeface="+mn-ea"/>
                <a:cs typeface="Calibri" panose="020F0502020204030204" pitchFamily="34" charset="0"/>
              </a:rPr>
              <a:t>e.dvrut_emp</a:t>
            </a:r>
            <a:r>
              <a:rPr lang="es-MX" sz="1600" b="1" kern="1200" dirty="0">
                <a:solidFill>
                  <a:prstClr val="black"/>
                </a:solidFill>
                <a:latin typeface="Calibri" panose="020F0502020204030204" pitchFamily="34" charset="0"/>
                <a:ea typeface="+mn-ea"/>
                <a:cs typeface="Calibri" panose="020F0502020204030204" pitchFamily="34" charset="0"/>
              </a:rPr>
              <a:t> "RUT EMPLEADO",</a:t>
            </a:r>
          </a:p>
          <a:p>
            <a:pPr lvl="0" eaLnBrk="1" hangingPunct="1">
              <a:buClrTx/>
              <a:defRPr/>
            </a:pPr>
            <a:r>
              <a:rPr lang="es-MX" sz="1600" b="1" kern="1200" dirty="0">
                <a:solidFill>
                  <a:prstClr val="black"/>
                </a:solidFill>
                <a:latin typeface="Calibri" panose="020F0502020204030204" pitchFamily="34" charset="0"/>
                <a:ea typeface="+mn-ea"/>
                <a:cs typeface="Calibri" panose="020F0502020204030204" pitchFamily="34" charset="0"/>
              </a:rPr>
              <a:t>              </a:t>
            </a:r>
            <a:r>
              <a:rPr lang="es-MX" sz="1600" b="1" kern="1200" dirty="0" err="1">
                <a:solidFill>
                  <a:prstClr val="black"/>
                </a:solidFill>
                <a:latin typeface="Calibri" panose="020F0502020204030204" pitchFamily="34" charset="0"/>
                <a:ea typeface="+mn-ea"/>
                <a:cs typeface="Calibri" panose="020F0502020204030204" pitchFamily="34" charset="0"/>
              </a:rPr>
              <a:t>e.nombre_emp</a:t>
            </a:r>
            <a:r>
              <a:rPr lang="es-MX" sz="1600" b="1" kern="1200" dirty="0">
                <a:solidFill>
                  <a:prstClr val="black"/>
                </a:solidFill>
                <a:latin typeface="Calibri" panose="020F0502020204030204" pitchFamily="34" charset="0"/>
                <a:ea typeface="+mn-ea"/>
                <a:cs typeface="Calibri" panose="020F0502020204030204" pitchFamily="34" charset="0"/>
              </a:rPr>
              <a:t> || ' ' || </a:t>
            </a:r>
            <a:r>
              <a:rPr lang="es-MX" sz="1600" b="1" kern="1200" dirty="0" err="1">
                <a:solidFill>
                  <a:prstClr val="black"/>
                </a:solidFill>
                <a:latin typeface="Calibri" panose="020F0502020204030204" pitchFamily="34" charset="0"/>
                <a:ea typeface="+mn-ea"/>
                <a:cs typeface="Calibri" panose="020F0502020204030204" pitchFamily="34" charset="0"/>
              </a:rPr>
              <a:t>e.appaterno_emp</a:t>
            </a:r>
            <a:r>
              <a:rPr lang="es-MX" sz="1600" b="1" kern="1200" dirty="0">
                <a:solidFill>
                  <a:prstClr val="black"/>
                </a:solidFill>
                <a:latin typeface="Calibri" panose="020F0502020204030204" pitchFamily="34" charset="0"/>
                <a:ea typeface="+mn-ea"/>
                <a:cs typeface="Calibri" panose="020F0502020204030204" pitchFamily="34" charset="0"/>
              </a:rPr>
              <a:t> || ' ' ||  </a:t>
            </a:r>
            <a:r>
              <a:rPr lang="es-MX" sz="1600" b="1" kern="1200" dirty="0" err="1">
                <a:solidFill>
                  <a:prstClr val="black"/>
                </a:solidFill>
                <a:latin typeface="Calibri" panose="020F0502020204030204" pitchFamily="34" charset="0"/>
                <a:ea typeface="+mn-ea"/>
                <a:cs typeface="Calibri" panose="020F0502020204030204" pitchFamily="34" charset="0"/>
              </a:rPr>
              <a:t>e.apmaterno_emp</a:t>
            </a:r>
            <a:r>
              <a:rPr lang="es-MX" sz="1600" b="1" kern="1200" dirty="0">
                <a:solidFill>
                  <a:prstClr val="black"/>
                </a:solidFill>
                <a:latin typeface="Calibri" panose="020F0502020204030204" pitchFamily="34" charset="0"/>
                <a:ea typeface="+mn-ea"/>
                <a:cs typeface="Calibri" panose="020F0502020204030204" pitchFamily="34" charset="0"/>
              </a:rPr>
              <a:t> "NOMBRE EMPLEADO",</a:t>
            </a:r>
          </a:p>
          <a:p>
            <a:pPr lvl="0" eaLnBrk="1" hangingPunct="1">
              <a:buClrTx/>
              <a:defRPr/>
            </a:pPr>
            <a:r>
              <a:rPr lang="es-MX" sz="1600" b="1" kern="1200" dirty="0">
                <a:solidFill>
                  <a:prstClr val="black"/>
                </a:solidFill>
                <a:latin typeface="Calibri" panose="020F0502020204030204" pitchFamily="34" charset="0"/>
                <a:ea typeface="+mn-ea"/>
                <a:cs typeface="Calibri" panose="020F0502020204030204" pitchFamily="34" charset="0"/>
              </a:rPr>
              <a:t>             TO_CHAR(</a:t>
            </a:r>
            <a:r>
              <a:rPr lang="es-MX" sz="1600" b="1" kern="1200" dirty="0" err="1">
                <a:solidFill>
                  <a:prstClr val="black"/>
                </a:solidFill>
                <a:latin typeface="Calibri" panose="020F0502020204030204" pitchFamily="34" charset="0"/>
                <a:ea typeface="+mn-ea"/>
                <a:cs typeface="Calibri" panose="020F0502020204030204" pitchFamily="34" charset="0"/>
              </a:rPr>
              <a:t>e.sueldo_emp</a:t>
            </a:r>
            <a:r>
              <a:rPr lang="es-MX" sz="1600" b="1" kern="1200" dirty="0">
                <a:solidFill>
                  <a:prstClr val="black"/>
                </a:solidFill>
                <a:latin typeface="Calibri" panose="020F0502020204030204" pitchFamily="34" charset="0"/>
                <a:ea typeface="+mn-ea"/>
                <a:cs typeface="Calibri" panose="020F0502020204030204" pitchFamily="34" charset="0"/>
              </a:rPr>
              <a:t>, '999G999G999') sueldo,</a:t>
            </a:r>
          </a:p>
          <a:p>
            <a:pPr lvl="0" eaLnBrk="1" hangingPunct="1">
              <a:buClrTx/>
              <a:defRPr/>
            </a:pPr>
            <a:r>
              <a:rPr lang="es-MX" sz="1600" b="1" kern="1200" dirty="0">
                <a:solidFill>
                  <a:prstClr val="black"/>
                </a:solidFill>
                <a:latin typeface="Calibri" panose="020F0502020204030204" pitchFamily="34" charset="0"/>
                <a:ea typeface="+mn-ea"/>
                <a:cs typeface="Calibri" panose="020F0502020204030204" pitchFamily="34" charset="0"/>
              </a:rPr>
              <a:t>              COUNT(</a:t>
            </a:r>
            <a:r>
              <a:rPr lang="es-MX" sz="1600" b="1" kern="1200" dirty="0" err="1">
                <a:solidFill>
                  <a:prstClr val="black"/>
                </a:solidFill>
                <a:latin typeface="Calibri" panose="020F0502020204030204" pitchFamily="34" charset="0"/>
                <a:ea typeface="+mn-ea"/>
                <a:cs typeface="Calibri" panose="020F0502020204030204" pitchFamily="34" charset="0"/>
              </a:rPr>
              <a:t>p.nro_propiedad</a:t>
            </a:r>
            <a:r>
              <a:rPr lang="es-MX" sz="1600" b="1" kern="1200" dirty="0">
                <a:solidFill>
                  <a:prstClr val="black"/>
                </a:solidFill>
                <a:latin typeface="Calibri" panose="020F0502020204030204" pitchFamily="34" charset="0"/>
                <a:ea typeface="+mn-ea"/>
                <a:cs typeface="Calibri" panose="020F0502020204030204" pitchFamily="34" charset="0"/>
              </a:rPr>
              <a:t>) "PROPIEDADES A SU CARGO"</a:t>
            </a:r>
          </a:p>
          <a:p>
            <a:pPr lvl="0" eaLnBrk="1" hangingPunct="1">
              <a:buClrTx/>
              <a:defRPr/>
            </a:pPr>
            <a:r>
              <a:rPr lang="es-MX" sz="1600" b="1" kern="1200" dirty="0">
                <a:solidFill>
                  <a:prstClr val="black"/>
                </a:solidFill>
                <a:latin typeface="Calibri" panose="020F0502020204030204" pitchFamily="34" charset="0"/>
                <a:ea typeface="+mn-ea"/>
                <a:cs typeface="Calibri" panose="020F0502020204030204" pitchFamily="34" charset="0"/>
              </a:rPr>
              <a:t>FROM empleado e JOIN propiedad p</a:t>
            </a:r>
          </a:p>
          <a:p>
            <a:pPr lvl="0" eaLnBrk="1" hangingPunct="1">
              <a:buClrTx/>
              <a:defRPr/>
            </a:pPr>
            <a:r>
              <a:rPr lang="es-MX" sz="1600" b="1" kern="1200" dirty="0">
                <a:solidFill>
                  <a:prstClr val="black"/>
                </a:solidFill>
                <a:latin typeface="Calibri" panose="020F0502020204030204" pitchFamily="34" charset="0"/>
                <a:ea typeface="+mn-ea"/>
                <a:cs typeface="Calibri" panose="020F0502020204030204" pitchFamily="34" charset="0"/>
              </a:rPr>
              <a:t>     ON </a:t>
            </a:r>
            <a:r>
              <a:rPr lang="es-MX" sz="1600" b="1" kern="1200" dirty="0" err="1">
                <a:solidFill>
                  <a:prstClr val="black"/>
                </a:solidFill>
                <a:latin typeface="Calibri" panose="020F0502020204030204" pitchFamily="34" charset="0"/>
                <a:ea typeface="+mn-ea"/>
                <a:cs typeface="Calibri" panose="020F0502020204030204" pitchFamily="34" charset="0"/>
              </a:rPr>
              <a:t>e.numrut_emp</a:t>
            </a:r>
            <a:r>
              <a:rPr lang="es-MX" sz="1600" b="1" kern="1200" dirty="0">
                <a:solidFill>
                  <a:prstClr val="black"/>
                </a:solidFill>
                <a:latin typeface="Calibri" panose="020F0502020204030204" pitchFamily="34" charset="0"/>
                <a:ea typeface="+mn-ea"/>
                <a:cs typeface="Calibri" panose="020F0502020204030204" pitchFamily="34" charset="0"/>
              </a:rPr>
              <a:t>=</a:t>
            </a:r>
            <a:r>
              <a:rPr lang="es-MX" sz="1600" b="1" kern="1200" dirty="0" err="1">
                <a:solidFill>
                  <a:prstClr val="black"/>
                </a:solidFill>
                <a:latin typeface="Calibri" panose="020F0502020204030204" pitchFamily="34" charset="0"/>
                <a:ea typeface="+mn-ea"/>
                <a:cs typeface="Calibri" panose="020F0502020204030204" pitchFamily="34" charset="0"/>
              </a:rPr>
              <a:t>p.numrut_emp</a:t>
            </a:r>
            <a:endParaRPr lang="es-MX" sz="1600" b="1" kern="1200" dirty="0">
              <a:solidFill>
                <a:prstClr val="black"/>
              </a:solidFill>
              <a:latin typeface="Calibri" panose="020F0502020204030204" pitchFamily="34" charset="0"/>
              <a:ea typeface="+mn-ea"/>
              <a:cs typeface="Calibri" panose="020F0502020204030204" pitchFamily="34" charset="0"/>
            </a:endParaRPr>
          </a:p>
          <a:p>
            <a:pPr lvl="0" eaLnBrk="1" hangingPunct="1">
              <a:buClrTx/>
              <a:defRPr/>
            </a:pPr>
            <a:r>
              <a:rPr lang="es-MX" sz="1600" b="1" kern="1200" dirty="0">
                <a:solidFill>
                  <a:prstClr val="black"/>
                </a:solidFill>
                <a:latin typeface="Calibri" panose="020F0502020204030204" pitchFamily="34" charset="0"/>
                <a:ea typeface="+mn-ea"/>
                <a:cs typeface="Calibri" panose="020F0502020204030204" pitchFamily="34" charset="0"/>
              </a:rPr>
              <a:t>WHERE LOWER(SUBSTR(appaterno_emp,1,1)) = '&amp;</a:t>
            </a:r>
            <a:r>
              <a:rPr lang="es-MX" sz="1600" b="1" kern="1200" dirty="0" err="1">
                <a:solidFill>
                  <a:prstClr val="black"/>
                </a:solidFill>
                <a:latin typeface="Calibri" panose="020F0502020204030204" pitchFamily="34" charset="0"/>
                <a:ea typeface="+mn-ea"/>
                <a:cs typeface="Calibri" panose="020F0502020204030204" pitchFamily="34" charset="0"/>
              </a:rPr>
              <a:t>v_letra</a:t>
            </a:r>
            <a:r>
              <a:rPr lang="es-MX" sz="1600" b="1" kern="1200" dirty="0">
                <a:solidFill>
                  <a:prstClr val="black"/>
                </a:solidFill>
                <a:latin typeface="Calibri" panose="020F0502020204030204" pitchFamily="34" charset="0"/>
                <a:ea typeface="+mn-ea"/>
                <a:cs typeface="Calibri" panose="020F0502020204030204" pitchFamily="34" charset="0"/>
              </a:rPr>
              <a:t>'</a:t>
            </a:r>
          </a:p>
          <a:p>
            <a:pPr lvl="0" eaLnBrk="1" hangingPunct="1">
              <a:buClrTx/>
              <a:defRPr/>
            </a:pPr>
            <a:r>
              <a:rPr lang="es-MX" sz="1600" b="1" kern="1200" dirty="0">
                <a:solidFill>
                  <a:prstClr val="black"/>
                </a:solidFill>
                <a:latin typeface="Calibri" panose="020F0502020204030204" pitchFamily="34" charset="0"/>
                <a:ea typeface="+mn-ea"/>
                <a:cs typeface="Calibri" panose="020F0502020204030204" pitchFamily="34" charset="0"/>
              </a:rPr>
              <a:t>GROUP BY </a:t>
            </a:r>
            <a:r>
              <a:rPr lang="es-MX" sz="1600" b="1" kern="1200" dirty="0" err="1">
                <a:solidFill>
                  <a:prstClr val="black"/>
                </a:solidFill>
                <a:latin typeface="Calibri" panose="020F0502020204030204" pitchFamily="34" charset="0"/>
                <a:ea typeface="+mn-ea"/>
                <a:cs typeface="Calibri" panose="020F0502020204030204" pitchFamily="34" charset="0"/>
              </a:rPr>
              <a:t>e.numrut_emp</a:t>
            </a:r>
            <a:r>
              <a:rPr lang="es-MX" sz="1600" b="1" kern="1200" dirty="0">
                <a:solidFill>
                  <a:prstClr val="black"/>
                </a:solidFill>
                <a:latin typeface="Calibri" panose="020F0502020204030204" pitchFamily="34" charset="0"/>
                <a:ea typeface="+mn-ea"/>
                <a:cs typeface="Calibri" panose="020F0502020204030204" pitchFamily="34" charset="0"/>
              </a:rPr>
              <a:t>, </a:t>
            </a:r>
            <a:r>
              <a:rPr lang="es-MX" sz="1600" b="1" kern="1200" dirty="0" err="1">
                <a:solidFill>
                  <a:prstClr val="black"/>
                </a:solidFill>
                <a:latin typeface="Calibri" panose="020F0502020204030204" pitchFamily="34" charset="0"/>
                <a:ea typeface="+mn-ea"/>
                <a:cs typeface="Calibri" panose="020F0502020204030204" pitchFamily="34" charset="0"/>
              </a:rPr>
              <a:t>e.dvrut_emp</a:t>
            </a:r>
            <a:r>
              <a:rPr lang="es-MX" sz="1600" b="1" kern="1200" dirty="0">
                <a:solidFill>
                  <a:prstClr val="black"/>
                </a:solidFill>
                <a:latin typeface="Calibri" panose="020F0502020204030204" pitchFamily="34" charset="0"/>
                <a:ea typeface="+mn-ea"/>
                <a:cs typeface="Calibri" panose="020F0502020204030204" pitchFamily="34" charset="0"/>
              </a:rPr>
              <a:t>, </a:t>
            </a:r>
            <a:r>
              <a:rPr lang="es-MX" sz="1600" b="1" kern="1200" dirty="0" err="1">
                <a:solidFill>
                  <a:prstClr val="black"/>
                </a:solidFill>
                <a:latin typeface="Calibri" panose="020F0502020204030204" pitchFamily="34" charset="0"/>
                <a:ea typeface="+mn-ea"/>
                <a:cs typeface="Calibri" panose="020F0502020204030204" pitchFamily="34" charset="0"/>
              </a:rPr>
              <a:t>e.nombre_emp</a:t>
            </a:r>
            <a:r>
              <a:rPr lang="es-MX" sz="1600" b="1" kern="1200" dirty="0">
                <a:solidFill>
                  <a:prstClr val="black"/>
                </a:solidFill>
                <a:latin typeface="Calibri" panose="020F0502020204030204" pitchFamily="34" charset="0"/>
                <a:ea typeface="+mn-ea"/>
                <a:cs typeface="Calibri" panose="020F0502020204030204" pitchFamily="34" charset="0"/>
              </a:rPr>
              <a:t>, </a:t>
            </a:r>
          </a:p>
          <a:p>
            <a:pPr lvl="0" eaLnBrk="1" hangingPunct="1">
              <a:buClrTx/>
              <a:defRPr/>
            </a:pPr>
            <a:r>
              <a:rPr lang="es-MX" sz="1600" b="1" kern="1200" dirty="0">
                <a:solidFill>
                  <a:prstClr val="black"/>
                </a:solidFill>
                <a:latin typeface="Calibri" panose="020F0502020204030204" pitchFamily="34" charset="0"/>
                <a:ea typeface="+mn-ea"/>
                <a:cs typeface="Calibri" panose="020F0502020204030204" pitchFamily="34" charset="0"/>
              </a:rPr>
              <a:t>                    </a:t>
            </a:r>
            <a:r>
              <a:rPr lang="es-MX" sz="1600" b="1" kern="1200" dirty="0" err="1">
                <a:solidFill>
                  <a:prstClr val="black"/>
                </a:solidFill>
                <a:latin typeface="Calibri" panose="020F0502020204030204" pitchFamily="34" charset="0"/>
                <a:ea typeface="+mn-ea"/>
                <a:cs typeface="Calibri" panose="020F0502020204030204" pitchFamily="34" charset="0"/>
              </a:rPr>
              <a:t>e.appaterno_emp</a:t>
            </a:r>
            <a:r>
              <a:rPr lang="es-MX" sz="1600" b="1" kern="1200" dirty="0">
                <a:solidFill>
                  <a:prstClr val="black"/>
                </a:solidFill>
                <a:latin typeface="Calibri" panose="020F0502020204030204" pitchFamily="34" charset="0"/>
                <a:ea typeface="+mn-ea"/>
                <a:cs typeface="Calibri" panose="020F0502020204030204" pitchFamily="34" charset="0"/>
              </a:rPr>
              <a:t>, </a:t>
            </a:r>
            <a:r>
              <a:rPr lang="es-MX" sz="1600" b="1" kern="1200" dirty="0" err="1">
                <a:solidFill>
                  <a:prstClr val="black"/>
                </a:solidFill>
                <a:latin typeface="Calibri" panose="020F0502020204030204" pitchFamily="34" charset="0"/>
                <a:ea typeface="+mn-ea"/>
                <a:cs typeface="Calibri" panose="020F0502020204030204" pitchFamily="34" charset="0"/>
              </a:rPr>
              <a:t>e.apmaterno_emp</a:t>
            </a:r>
            <a:r>
              <a:rPr lang="es-MX" sz="1600" b="1" kern="1200" dirty="0">
                <a:solidFill>
                  <a:prstClr val="black"/>
                </a:solidFill>
                <a:latin typeface="Calibri" panose="020F0502020204030204" pitchFamily="34" charset="0"/>
                <a:ea typeface="+mn-ea"/>
                <a:cs typeface="Calibri" panose="020F0502020204030204" pitchFamily="34" charset="0"/>
              </a:rPr>
              <a:t>, </a:t>
            </a:r>
            <a:r>
              <a:rPr lang="es-MX" sz="1600" b="1" kern="1200" dirty="0" err="1">
                <a:solidFill>
                  <a:prstClr val="black"/>
                </a:solidFill>
                <a:latin typeface="Calibri" panose="020F0502020204030204" pitchFamily="34" charset="0"/>
                <a:ea typeface="+mn-ea"/>
                <a:cs typeface="Calibri" panose="020F0502020204030204" pitchFamily="34" charset="0"/>
              </a:rPr>
              <a:t>e.sueldo_emp</a:t>
            </a:r>
            <a:endParaRPr lang="es-MX" sz="1600" b="1" kern="1200" dirty="0">
              <a:solidFill>
                <a:prstClr val="black"/>
              </a:solidFill>
              <a:latin typeface="Calibri" panose="020F0502020204030204" pitchFamily="34" charset="0"/>
              <a:ea typeface="+mn-ea"/>
              <a:cs typeface="Calibri" panose="020F0502020204030204" pitchFamily="34" charset="0"/>
            </a:endParaRPr>
          </a:p>
          <a:p>
            <a:pPr lvl="0" eaLnBrk="1" hangingPunct="1">
              <a:buClrTx/>
              <a:defRPr/>
            </a:pPr>
            <a:r>
              <a:rPr lang="es-MX" sz="1600" b="1" kern="1200" dirty="0">
                <a:solidFill>
                  <a:prstClr val="black"/>
                </a:solidFill>
                <a:latin typeface="Calibri" panose="020F0502020204030204" pitchFamily="34" charset="0"/>
                <a:ea typeface="+mn-ea"/>
                <a:cs typeface="Calibri" panose="020F0502020204030204" pitchFamily="34" charset="0"/>
              </a:rPr>
              <a:t>ORDER BY </a:t>
            </a:r>
            <a:r>
              <a:rPr lang="es-MX" sz="1600" b="1" kern="1200" dirty="0" err="1">
                <a:solidFill>
                  <a:prstClr val="black"/>
                </a:solidFill>
                <a:latin typeface="Calibri" panose="020F0502020204030204" pitchFamily="34" charset="0"/>
                <a:ea typeface="+mn-ea"/>
                <a:cs typeface="Calibri" panose="020F0502020204030204" pitchFamily="34" charset="0"/>
              </a:rPr>
              <a:t>e.appaterno_emp</a:t>
            </a:r>
            <a:r>
              <a:rPr lang="es-MX" sz="1600" b="1" kern="1200" dirty="0">
                <a:solidFill>
                  <a:prstClr val="black"/>
                </a:solidFill>
                <a:latin typeface="Calibri" panose="020F0502020204030204" pitchFamily="34" charset="0"/>
                <a:ea typeface="+mn-ea"/>
                <a:cs typeface="Calibri" panose="020F0502020204030204" pitchFamily="34" charset="0"/>
              </a:rPr>
              <a:t>;</a:t>
            </a:r>
          </a:p>
          <a:p>
            <a:pPr lvl="0" eaLnBrk="1" hangingPunct="1">
              <a:buClrTx/>
              <a:defRPr/>
            </a:pPr>
            <a:endParaRPr kumimoji="0" lang="es-MX" sz="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11" name="Imagen 10">
            <a:extLst>
              <a:ext uri="{FF2B5EF4-FFF2-40B4-BE49-F238E27FC236}">
                <a16:creationId xmlns:a16="http://schemas.microsoft.com/office/drawing/2014/main" xmlns="" id="{EBD1A470-3823-4A23-90BD-7C626ACCBC23}"/>
              </a:ext>
            </a:extLst>
          </p:cNvPr>
          <p:cNvPicPr>
            <a:picLocks noChangeAspect="1"/>
          </p:cNvPicPr>
          <p:nvPr/>
        </p:nvPicPr>
        <p:blipFill>
          <a:blip r:embed="rId3"/>
          <a:stretch>
            <a:fillRect/>
          </a:stretch>
        </p:blipFill>
        <p:spPr>
          <a:xfrm>
            <a:off x="537492" y="4628806"/>
            <a:ext cx="8282980" cy="2063270"/>
          </a:xfrm>
          <a:prstGeom prst="rect">
            <a:avLst/>
          </a:prstGeom>
        </p:spPr>
      </p:pic>
    </p:spTree>
    <p:extLst>
      <p:ext uri="{BB962C8B-B14F-4D97-AF65-F5344CB8AC3E}">
        <p14:creationId xmlns:p14="http://schemas.microsoft.com/office/powerpoint/2010/main" val="1079110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Planes de Ejecución cuando se han creado Índices</a:t>
            </a:r>
            <a:endParaRPr lang="es-CL" sz="2800" b="1" kern="1200" dirty="0">
              <a:solidFill>
                <a:prstClr val="white"/>
              </a:solidFill>
              <a:latin typeface="Calibri"/>
              <a:cs typeface="Arial" panose="020B0604020202020204" pitchFamily="34" charset="0"/>
            </a:endParaRPr>
          </a:p>
        </p:txBody>
      </p:sp>
      <p:sp>
        <p:nvSpPr>
          <p:cNvPr id="5" name="CuadroTexto 4">
            <a:extLst>
              <a:ext uri="{FF2B5EF4-FFF2-40B4-BE49-F238E27FC236}">
                <a16:creationId xmlns:a16="http://schemas.microsoft.com/office/drawing/2014/main" xmlns="" id="{208165B4-2263-465A-819F-F665B1E8C5A1}"/>
              </a:ext>
            </a:extLst>
          </p:cNvPr>
          <p:cNvSpPr txBox="1"/>
          <p:nvPr/>
        </p:nvSpPr>
        <p:spPr>
          <a:xfrm>
            <a:off x="35530" y="1101398"/>
            <a:ext cx="418704" cy="646331"/>
          </a:xfrm>
          <a:prstGeom prst="rect">
            <a:avLst/>
          </a:prstGeom>
          <a:noFill/>
        </p:spPr>
        <p:txBody>
          <a:bodyPr wrap="none" rtlCol="0">
            <a:spAutoFit/>
          </a:bodyPr>
          <a:lstStyle/>
          <a:p>
            <a:r>
              <a:rPr lang="es-CL" sz="3600" b="1" dirty="0">
                <a:solidFill>
                  <a:srgbClr val="C00000"/>
                </a:solidFill>
                <a:latin typeface="Calibri" panose="020F0502020204030204" pitchFamily="34" charset="0"/>
                <a:cs typeface="Calibri" panose="020F0502020204030204" pitchFamily="34" charset="0"/>
              </a:rPr>
              <a:t>2</a:t>
            </a:r>
          </a:p>
        </p:txBody>
      </p:sp>
      <p:sp>
        <p:nvSpPr>
          <p:cNvPr id="7" name="Text Box 5">
            <a:extLst>
              <a:ext uri="{FF2B5EF4-FFF2-40B4-BE49-F238E27FC236}">
                <a16:creationId xmlns:a16="http://schemas.microsoft.com/office/drawing/2014/main" xmlns="" id="{F3F9C743-82C1-4969-AA7F-36D4D16A519A}"/>
              </a:ext>
            </a:extLst>
          </p:cNvPr>
          <p:cNvSpPr txBox="1">
            <a:spLocks noChangeArrowheads="1"/>
          </p:cNvSpPr>
          <p:nvPr/>
        </p:nvSpPr>
        <p:spPr bwMode="auto">
          <a:xfrm>
            <a:off x="589691" y="2163444"/>
            <a:ext cx="8316000" cy="576000"/>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p>
            <a:pPr algn="l">
              <a:defRPr/>
            </a:pPr>
            <a:endParaRPr lang="en-US" sz="800" b="1"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CREATE INDEX </a:t>
            </a:r>
            <a:r>
              <a:rPr lang="en-US" sz="1600" b="1" dirty="0" err="1">
                <a:latin typeface="Calibri" panose="020F0502020204030204" pitchFamily="34" charset="0"/>
                <a:cs typeface="Calibri" panose="020F0502020204030204" pitchFamily="34" charset="0"/>
              </a:rPr>
              <a:t>idx_emp_appat_substrlow</a:t>
            </a:r>
            <a:r>
              <a:rPr lang="en-US" sz="1600" b="1" dirty="0">
                <a:latin typeface="Calibri" panose="020F0502020204030204" pitchFamily="34" charset="0"/>
                <a:cs typeface="Calibri" panose="020F0502020204030204" pitchFamily="34" charset="0"/>
              </a:rPr>
              <a:t> ON empleado(LOWER(SUBSTR(appaterno_emp,1,1)));</a:t>
            </a:r>
          </a:p>
          <a:p>
            <a:pPr algn="l">
              <a:defRPr/>
            </a:pPr>
            <a:endParaRPr lang="es-MX" sz="800" b="1" dirty="0">
              <a:latin typeface="Calibri" panose="020F0502020204030204" pitchFamily="34" charset="0"/>
              <a:cs typeface="Calibri" panose="020F0502020204030204" pitchFamily="34" charset="0"/>
            </a:endParaRPr>
          </a:p>
        </p:txBody>
      </p:sp>
      <p:pic>
        <p:nvPicPr>
          <p:cNvPr id="2" name="Imagen 1">
            <a:extLst>
              <a:ext uri="{FF2B5EF4-FFF2-40B4-BE49-F238E27FC236}">
                <a16:creationId xmlns:a16="http://schemas.microsoft.com/office/drawing/2014/main" xmlns="" id="{1290521F-0E0A-4689-887F-0C6C05ED0C7C}"/>
              </a:ext>
            </a:extLst>
          </p:cNvPr>
          <p:cNvPicPr>
            <a:picLocks noChangeAspect="1"/>
          </p:cNvPicPr>
          <p:nvPr/>
        </p:nvPicPr>
        <p:blipFill>
          <a:blip r:embed="rId3"/>
          <a:stretch>
            <a:fillRect/>
          </a:stretch>
        </p:blipFill>
        <p:spPr>
          <a:xfrm>
            <a:off x="408799" y="3363348"/>
            <a:ext cx="8565502" cy="1706930"/>
          </a:xfrm>
          <a:prstGeom prst="rect">
            <a:avLst/>
          </a:prstGeom>
        </p:spPr>
      </p:pic>
    </p:spTree>
    <p:extLst>
      <p:ext uri="{BB962C8B-B14F-4D97-AF65-F5344CB8AC3E}">
        <p14:creationId xmlns:p14="http://schemas.microsoft.com/office/powerpoint/2010/main" val="2912509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Planes de Ejecución cuando se han creado Índices</a:t>
            </a:r>
            <a:endParaRPr lang="es-CL" sz="2800" b="1" kern="1200" dirty="0">
              <a:solidFill>
                <a:prstClr val="white"/>
              </a:solidFill>
              <a:latin typeface="Calibri"/>
              <a:cs typeface="Arial" panose="020B0604020202020204" pitchFamily="34" charset="0"/>
            </a:endParaRPr>
          </a:p>
        </p:txBody>
      </p:sp>
      <p:sp>
        <p:nvSpPr>
          <p:cNvPr id="5" name="Marcador de contenido 1">
            <a:extLst>
              <a:ext uri="{FF2B5EF4-FFF2-40B4-BE49-F238E27FC236}">
                <a16:creationId xmlns:a16="http://schemas.microsoft.com/office/drawing/2014/main" xmlns="" id="{E0DBA22A-A7D6-4027-B846-58442FD3B41E}"/>
              </a:ext>
            </a:extLst>
          </p:cNvPr>
          <p:cNvSpPr txBox="1">
            <a:spLocks/>
          </p:cNvSpPr>
          <p:nvPr/>
        </p:nvSpPr>
        <p:spPr>
          <a:xfrm>
            <a:off x="590872" y="841719"/>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defRPr/>
            </a:pPr>
            <a:r>
              <a:rPr lang="es-CL" dirty="0">
                <a:solidFill>
                  <a:schemeClr val="tx1"/>
                </a:solidFill>
                <a:latin typeface="Calibri" panose="020F0502020204030204" pitchFamily="34" charset="0"/>
                <a:ea typeface="Arial Unicode MS" pitchFamily="34" charset="-128"/>
                <a:cs typeface="Calibri" panose="020F0502020204030204" pitchFamily="34" charset="0"/>
              </a:rPr>
              <a:t>Ejemplo </a:t>
            </a:r>
            <a:r>
              <a:rPr lang="es-CL" dirty="0">
                <a:solidFill>
                  <a:schemeClr val="tx1"/>
                </a:solidFill>
                <a:latin typeface="Calibri" panose="020F0502020204030204" pitchFamily="34" charset="0"/>
                <a:ea typeface="Arial Unicode MS"/>
                <a:cs typeface="Calibri" panose="020F0502020204030204" pitchFamily="34" charset="0"/>
              </a:rPr>
              <a:t>de cambio en el plan de ejecución de una sentencia SQL al crear índices: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p:txBody>
      </p:sp>
      <p:sp>
        <p:nvSpPr>
          <p:cNvPr id="6" name="CuadroTexto 5">
            <a:extLst>
              <a:ext uri="{FF2B5EF4-FFF2-40B4-BE49-F238E27FC236}">
                <a16:creationId xmlns:a16="http://schemas.microsoft.com/office/drawing/2014/main" xmlns="" id="{26ADF6FA-50DA-4734-A4C2-F9445EB64B9A}"/>
              </a:ext>
            </a:extLst>
          </p:cNvPr>
          <p:cNvSpPr txBox="1"/>
          <p:nvPr/>
        </p:nvSpPr>
        <p:spPr>
          <a:xfrm>
            <a:off x="118788" y="1583221"/>
            <a:ext cx="418704" cy="646331"/>
          </a:xfrm>
          <a:prstGeom prst="rect">
            <a:avLst/>
          </a:prstGeom>
          <a:noFill/>
        </p:spPr>
        <p:txBody>
          <a:bodyPr wrap="none" rtlCol="0">
            <a:spAutoFit/>
          </a:bodyPr>
          <a:lstStyle/>
          <a:p>
            <a:r>
              <a:rPr lang="es-CL" sz="3600" b="1" dirty="0">
                <a:solidFill>
                  <a:srgbClr val="C00000"/>
                </a:solidFill>
                <a:latin typeface="Calibri" panose="020F0502020204030204" pitchFamily="34" charset="0"/>
                <a:cs typeface="Calibri" panose="020F0502020204030204" pitchFamily="34" charset="0"/>
              </a:rPr>
              <a:t>1</a:t>
            </a:r>
          </a:p>
        </p:txBody>
      </p:sp>
      <p:sp>
        <p:nvSpPr>
          <p:cNvPr id="10" name="Text Box 5">
            <a:extLst>
              <a:ext uri="{FF2B5EF4-FFF2-40B4-BE49-F238E27FC236}">
                <a16:creationId xmlns:a16="http://schemas.microsoft.com/office/drawing/2014/main" xmlns="" id="{0C6B5276-6C1A-4756-823D-84F3395209F6}"/>
              </a:ext>
            </a:extLst>
          </p:cNvPr>
          <p:cNvSpPr txBox="1">
            <a:spLocks noChangeArrowheads="1"/>
          </p:cNvSpPr>
          <p:nvPr/>
        </p:nvSpPr>
        <p:spPr bwMode="auto">
          <a:xfrm>
            <a:off x="128287" y="2211577"/>
            <a:ext cx="8931307" cy="353943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lvl="0" eaLnBrk="1" hangingPunct="1">
              <a:buClrTx/>
              <a:defRPr/>
            </a:pPr>
            <a:r>
              <a:rPr lang="en-US" sz="1600" b="1" kern="1200" dirty="0">
                <a:solidFill>
                  <a:prstClr val="black"/>
                </a:solidFill>
                <a:latin typeface="Calibri" panose="020F0502020204030204" pitchFamily="34" charset="0"/>
                <a:ea typeface="+mn-ea"/>
                <a:cs typeface="Calibri" panose="020F0502020204030204" pitchFamily="34" charset="0"/>
              </a:rPr>
              <a:t>SELECT </a:t>
            </a:r>
            <a:r>
              <a:rPr lang="en-US" sz="1600" b="1" kern="1200" dirty="0" err="1">
                <a:solidFill>
                  <a:prstClr val="black"/>
                </a:solidFill>
                <a:latin typeface="Calibri" panose="020F0502020204030204" pitchFamily="34" charset="0"/>
                <a:ea typeface="+mn-ea"/>
                <a:cs typeface="Calibri" panose="020F0502020204030204" pitchFamily="34" charset="0"/>
              </a:rPr>
              <a:t>e.numrut_emp</a:t>
            </a:r>
            <a:r>
              <a:rPr lang="en-US" sz="1600" b="1" kern="1200" dirty="0">
                <a:solidFill>
                  <a:prstClr val="black"/>
                </a:solidFill>
                <a:latin typeface="Calibri" panose="020F0502020204030204" pitchFamily="34" charset="0"/>
                <a:ea typeface="+mn-ea"/>
                <a:cs typeface="Calibri" panose="020F0502020204030204" pitchFamily="34" charset="0"/>
              </a:rPr>
              <a:t> || '-' || </a:t>
            </a:r>
            <a:r>
              <a:rPr lang="en-US" sz="1600" b="1" kern="1200" dirty="0" err="1">
                <a:solidFill>
                  <a:prstClr val="black"/>
                </a:solidFill>
                <a:latin typeface="Calibri" panose="020F0502020204030204" pitchFamily="34" charset="0"/>
                <a:ea typeface="+mn-ea"/>
                <a:cs typeface="Calibri" panose="020F0502020204030204" pitchFamily="34" charset="0"/>
              </a:rPr>
              <a:t>e.dvrut_emp</a:t>
            </a:r>
            <a:r>
              <a:rPr lang="en-US" sz="1600" b="1" kern="1200" dirty="0">
                <a:solidFill>
                  <a:prstClr val="black"/>
                </a:solidFill>
                <a:latin typeface="Calibri" panose="020F0502020204030204" pitchFamily="34" charset="0"/>
                <a:ea typeface="+mn-ea"/>
                <a:cs typeface="Calibri" panose="020F0502020204030204" pitchFamily="34" charset="0"/>
              </a:rPr>
              <a:t> "RUT EMPLEADO",</a:t>
            </a:r>
          </a:p>
          <a:p>
            <a:pPr lvl="0" eaLnBrk="1" hangingPunct="1">
              <a:buClrTx/>
              <a:defRPr/>
            </a:pPr>
            <a:r>
              <a:rPr lang="en-US" sz="1600" b="1" kern="1200" dirty="0">
                <a:solidFill>
                  <a:prstClr val="black"/>
                </a:solidFill>
                <a:latin typeface="Calibri" panose="020F0502020204030204" pitchFamily="34" charset="0"/>
                <a:ea typeface="+mn-ea"/>
                <a:cs typeface="Calibri" panose="020F0502020204030204" pitchFamily="34" charset="0"/>
              </a:rPr>
              <a:t>  </a:t>
            </a:r>
            <a:r>
              <a:rPr lang="en-US" sz="1600" b="1" kern="1200" dirty="0" err="1">
                <a:solidFill>
                  <a:prstClr val="black"/>
                </a:solidFill>
                <a:latin typeface="Calibri" panose="020F0502020204030204" pitchFamily="34" charset="0"/>
                <a:ea typeface="+mn-ea"/>
                <a:cs typeface="Calibri" panose="020F0502020204030204" pitchFamily="34" charset="0"/>
              </a:rPr>
              <a:t>e.nombre_emp</a:t>
            </a:r>
            <a:r>
              <a:rPr lang="en-US" sz="1600" b="1" kern="1200" dirty="0">
                <a:solidFill>
                  <a:prstClr val="black"/>
                </a:solidFill>
                <a:latin typeface="Calibri" panose="020F0502020204030204" pitchFamily="34" charset="0"/>
                <a:ea typeface="+mn-ea"/>
                <a:cs typeface="Calibri" panose="020F0502020204030204" pitchFamily="34" charset="0"/>
              </a:rPr>
              <a:t> || ' ' || </a:t>
            </a:r>
            <a:r>
              <a:rPr lang="en-US" sz="1600" b="1" kern="1200" dirty="0" err="1">
                <a:solidFill>
                  <a:prstClr val="black"/>
                </a:solidFill>
                <a:latin typeface="Calibri" panose="020F0502020204030204" pitchFamily="34" charset="0"/>
                <a:ea typeface="+mn-ea"/>
                <a:cs typeface="Calibri" panose="020F0502020204030204" pitchFamily="34" charset="0"/>
              </a:rPr>
              <a:t>e.appaterno_emp</a:t>
            </a:r>
            <a:r>
              <a:rPr lang="en-US" sz="1600" b="1" kern="1200" dirty="0">
                <a:solidFill>
                  <a:prstClr val="black"/>
                </a:solidFill>
                <a:latin typeface="Calibri" panose="020F0502020204030204" pitchFamily="34" charset="0"/>
                <a:ea typeface="+mn-ea"/>
                <a:cs typeface="Calibri" panose="020F0502020204030204" pitchFamily="34" charset="0"/>
              </a:rPr>
              <a:t> || ' ' || </a:t>
            </a:r>
            <a:r>
              <a:rPr lang="en-US" sz="1600" b="1" kern="1200" dirty="0" err="1">
                <a:solidFill>
                  <a:prstClr val="black"/>
                </a:solidFill>
                <a:latin typeface="Calibri" panose="020F0502020204030204" pitchFamily="34" charset="0"/>
                <a:ea typeface="+mn-ea"/>
                <a:cs typeface="Calibri" panose="020F0502020204030204" pitchFamily="34" charset="0"/>
              </a:rPr>
              <a:t>e.apmaterno_emp</a:t>
            </a:r>
            <a:r>
              <a:rPr lang="en-US" sz="1600" b="1" kern="1200" dirty="0">
                <a:solidFill>
                  <a:prstClr val="black"/>
                </a:solidFill>
                <a:latin typeface="Calibri" panose="020F0502020204030204" pitchFamily="34" charset="0"/>
                <a:ea typeface="+mn-ea"/>
                <a:cs typeface="Calibri" panose="020F0502020204030204" pitchFamily="34" charset="0"/>
              </a:rPr>
              <a:t> "NOMBRE EMPLEADO",</a:t>
            </a:r>
          </a:p>
          <a:p>
            <a:pPr lvl="0" eaLnBrk="1" hangingPunct="1">
              <a:buClrTx/>
              <a:defRPr/>
            </a:pPr>
            <a:r>
              <a:rPr lang="en-US" sz="1600" b="1" kern="1200" dirty="0">
                <a:solidFill>
                  <a:prstClr val="black"/>
                </a:solidFill>
                <a:latin typeface="Calibri" panose="020F0502020204030204" pitchFamily="34" charset="0"/>
                <a:ea typeface="+mn-ea"/>
                <a:cs typeface="Calibri" panose="020F0502020204030204" pitchFamily="34" charset="0"/>
              </a:rPr>
              <a:t>  TO_CHAR(SUM(</a:t>
            </a:r>
            <a:r>
              <a:rPr lang="en-US" sz="1600" b="1" kern="1200" dirty="0" err="1">
                <a:solidFill>
                  <a:prstClr val="black"/>
                </a:solidFill>
                <a:latin typeface="Calibri" panose="020F0502020204030204" pitchFamily="34" charset="0"/>
                <a:ea typeface="+mn-ea"/>
                <a:cs typeface="Calibri" panose="020F0502020204030204" pitchFamily="34" charset="0"/>
              </a:rPr>
              <a:t>p.valor_arriendo</a:t>
            </a:r>
            <a:r>
              <a:rPr lang="en-US" sz="1600" b="1" kern="1200" dirty="0">
                <a:solidFill>
                  <a:prstClr val="black"/>
                </a:solidFill>
                <a:latin typeface="Calibri" panose="020F0502020204030204" pitchFamily="34" charset="0"/>
                <a:ea typeface="+mn-ea"/>
                <a:cs typeface="Calibri" panose="020F0502020204030204" pitchFamily="34" charset="0"/>
              </a:rPr>
              <a:t>), '999G999G999') "VALOR TOTAL ARRIENDO",</a:t>
            </a:r>
          </a:p>
          <a:p>
            <a:pPr lvl="0" eaLnBrk="1" hangingPunct="1">
              <a:buClrTx/>
              <a:defRPr/>
            </a:pPr>
            <a:r>
              <a:rPr lang="en-US" sz="1600" b="1" kern="1200" dirty="0">
                <a:solidFill>
                  <a:prstClr val="black"/>
                </a:solidFill>
                <a:latin typeface="Calibri" panose="020F0502020204030204" pitchFamily="34" charset="0"/>
                <a:ea typeface="+mn-ea"/>
                <a:cs typeface="Calibri" panose="020F0502020204030204" pitchFamily="34" charset="0"/>
              </a:rPr>
              <a:t>  COUNT(</a:t>
            </a:r>
            <a:r>
              <a:rPr lang="en-US" sz="1600" b="1" kern="1200" dirty="0" err="1">
                <a:solidFill>
                  <a:prstClr val="black"/>
                </a:solidFill>
                <a:latin typeface="Calibri" panose="020F0502020204030204" pitchFamily="34" charset="0"/>
                <a:ea typeface="+mn-ea"/>
                <a:cs typeface="Calibri" panose="020F0502020204030204" pitchFamily="34" charset="0"/>
              </a:rPr>
              <a:t>pa.nro_propiedad</a:t>
            </a:r>
            <a:r>
              <a:rPr lang="en-US" sz="1600" b="1" kern="1200" dirty="0">
                <a:solidFill>
                  <a:prstClr val="black"/>
                </a:solidFill>
                <a:latin typeface="Calibri" panose="020F0502020204030204" pitchFamily="34" charset="0"/>
                <a:ea typeface="+mn-ea"/>
                <a:cs typeface="Calibri" panose="020F0502020204030204" pitchFamily="34" charset="0"/>
              </a:rPr>
              <a:t>) "PROPIEDADES ARRENDADAS",</a:t>
            </a:r>
          </a:p>
          <a:p>
            <a:pPr lvl="0" eaLnBrk="1" hangingPunct="1">
              <a:buClrTx/>
              <a:defRPr/>
            </a:pPr>
            <a:r>
              <a:rPr lang="en-US" sz="1600" b="1" kern="1200" dirty="0">
                <a:solidFill>
                  <a:prstClr val="black"/>
                </a:solidFill>
                <a:latin typeface="Calibri" panose="020F0502020204030204" pitchFamily="34" charset="0"/>
                <a:ea typeface="+mn-ea"/>
                <a:cs typeface="Calibri" panose="020F0502020204030204" pitchFamily="34" charset="0"/>
              </a:rPr>
              <a:t>   TO_CHAR(COUNT(</a:t>
            </a:r>
            <a:r>
              <a:rPr lang="en-US" sz="1600" b="1" kern="1200" dirty="0" err="1">
                <a:solidFill>
                  <a:prstClr val="black"/>
                </a:solidFill>
                <a:latin typeface="Calibri" panose="020F0502020204030204" pitchFamily="34" charset="0"/>
                <a:ea typeface="+mn-ea"/>
                <a:cs typeface="Calibri" panose="020F0502020204030204" pitchFamily="34" charset="0"/>
              </a:rPr>
              <a:t>pa.nro_propiedad</a:t>
            </a:r>
            <a:r>
              <a:rPr lang="en-US" sz="1600" b="1" kern="1200" dirty="0">
                <a:solidFill>
                  <a:prstClr val="black"/>
                </a:solidFill>
                <a:latin typeface="Calibri" panose="020F0502020204030204" pitchFamily="34" charset="0"/>
                <a:ea typeface="+mn-ea"/>
                <a:cs typeface="Calibri" panose="020F0502020204030204" pitchFamily="34" charset="0"/>
              </a:rPr>
              <a:t>)/100*ROUND(SUM(</a:t>
            </a:r>
            <a:r>
              <a:rPr lang="en-US" sz="1600" b="1" kern="1200" dirty="0" err="1">
                <a:solidFill>
                  <a:prstClr val="black"/>
                </a:solidFill>
                <a:latin typeface="Calibri" panose="020F0502020204030204" pitchFamily="34" charset="0"/>
                <a:ea typeface="+mn-ea"/>
                <a:cs typeface="Calibri" panose="020F0502020204030204" pitchFamily="34" charset="0"/>
              </a:rPr>
              <a:t>p.valor_arriendo</a:t>
            </a:r>
            <a:r>
              <a:rPr lang="en-US" sz="1600" b="1" kern="1200" dirty="0">
                <a:solidFill>
                  <a:prstClr val="black"/>
                </a:solidFill>
                <a:latin typeface="Calibri" panose="020F0502020204030204" pitchFamily="34" charset="0"/>
                <a:ea typeface="+mn-ea"/>
                <a:cs typeface="Calibri" panose="020F0502020204030204" pitchFamily="34" charset="0"/>
              </a:rPr>
              <a:t>)),'999G999G999') </a:t>
            </a:r>
            <a:r>
              <a:rPr lang="en-US" sz="1600" b="1" kern="1200" dirty="0" err="1">
                <a:solidFill>
                  <a:prstClr val="black"/>
                </a:solidFill>
                <a:latin typeface="Calibri" panose="020F0502020204030204" pitchFamily="34" charset="0"/>
                <a:ea typeface="+mn-ea"/>
                <a:cs typeface="Calibri" panose="020F0502020204030204" pitchFamily="34" charset="0"/>
              </a:rPr>
              <a:t>comision</a:t>
            </a:r>
            <a:endParaRPr lang="en-US" sz="1600" b="1" kern="1200" dirty="0">
              <a:solidFill>
                <a:prstClr val="black"/>
              </a:solidFill>
              <a:latin typeface="Calibri" panose="020F0502020204030204" pitchFamily="34" charset="0"/>
              <a:ea typeface="+mn-ea"/>
              <a:cs typeface="Calibri" panose="020F0502020204030204" pitchFamily="34" charset="0"/>
            </a:endParaRPr>
          </a:p>
          <a:p>
            <a:pPr lvl="0" eaLnBrk="1" hangingPunct="1">
              <a:buClrTx/>
              <a:defRPr/>
            </a:pPr>
            <a:r>
              <a:rPr lang="en-US" sz="1600" b="1" kern="1200" dirty="0">
                <a:solidFill>
                  <a:prstClr val="black"/>
                </a:solidFill>
                <a:latin typeface="Calibri" panose="020F0502020204030204" pitchFamily="34" charset="0"/>
                <a:ea typeface="+mn-ea"/>
                <a:cs typeface="Calibri" panose="020F0502020204030204" pitchFamily="34" charset="0"/>
              </a:rPr>
              <a:t>FROM </a:t>
            </a:r>
            <a:r>
              <a:rPr lang="en-US" sz="1600" b="1" kern="1200" dirty="0" err="1">
                <a:solidFill>
                  <a:prstClr val="black"/>
                </a:solidFill>
                <a:latin typeface="Calibri" panose="020F0502020204030204" pitchFamily="34" charset="0"/>
                <a:ea typeface="+mn-ea"/>
                <a:cs typeface="Calibri" panose="020F0502020204030204" pitchFamily="34" charset="0"/>
              </a:rPr>
              <a:t>empleado</a:t>
            </a:r>
            <a:r>
              <a:rPr lang="en-US" sz="1600" b="1" kern="1200" dirty="0">
                <a:solidFill>
                  <a:prstClr val="black"/>
                </a:solidFill>
                <a:latin typeface="Calibri" panose="020F0502020204030204" pitchFamily="34" charset="0"/>
                <a:ea typeface="+mn-ea"/>
                <a:cs typeface="Calibri" panose="020F0502020204030204" pitchFamily="34" charset="0"/>
              </a:rPr>
              <a:t> e JOIN </a:t>
            </a:r>
            <a:r>
              <a:rPr lang="en-US" sz="1600" b="1" kern="1200" dirty="0" err="1">
                <a:solidFill>
                  <a:prstClr val="black"/>
                </a:solidFill>
                <a:latin typeface="Calibri" panose="020F0502020204030204" pitchFamily="34" charset="0"/>
                <a:ea typeface="+mn-ea"/>
                <a:cs typeface="Calibri" panose="020F0502020204030204" pitchFamily="34" charset="0"/>
              </a:rPr>
              <a:t>propiedad</a:t>
            </a:r>
            <a:r>
              <a:rPr lang="en-US" sz="1600" b="1" kern="1200" dirty="0">
                <a:solidFill>
                  <a:prstClr val="black"/>
                </a:solidFill>
                <a:latin typeface="Calibri" panose="020F0502020204030204" pitchFamily="34" charset="0"/>
                <a:ea typeface="+mn-ea"/>
                <a:cs typeface="Calibri" panose="020F0502020204030204" pitchFamily="34" charset="0"/>
              </a:rPr>
              <a:t> p</a:t>
            </a:r>
          </a:p>
          <a:p>
            <a:pPr lvl="0" eaLnBrk="1" hangingPunct="1">
              <a:buClrTx/>
              <a:defRPr/>
            </a:pPr>
            <a:r>
              <a:rPr lang="en-US" sz="1600" b="1" kern="1200" dirty="0">
                <a:solidFill>
                  <a:prstClr val="black"/>
                </a:solidFill>
                <a:latin typeface="Calibri" panose="020F0502020204030204" pitchFamily="34" charset="0"/>
                <a:ea typeface="+mn-ea"/>
                <a:cs typeface="Calibri" panose="020F0502020204030204" pitchFamily="34" charset="0"/>
              </a:rPr>
              <a:t>ON (</a:t>
            </a:r>
            <a:r>
              <a:rPr lang="en-US" sz="1600" b="1" kern="1200" dirty="0" err="1">
                <a:solidFill>
                  <a:prstClr val="black"/>
                </a:solidFill>
                <a:latin typeface="Calibri" panose="020F0502020204030204" pitchFamily="34" charset="0"/>
                <a:ea typeface="+mn-ea"/>
                <a:cs typeface="Calibri" panose="020F0502020204030204" pitchFamily="34" charset="0"/>
              </a:rPr>
              <a:t>e.numrut_emp</a:t>
            </a:r>
            <a:r>
              <a:rPr lang="en-US" sz="1600" b="1" kern="1200" dirty="0">
                <a:solidFill>
                  <a:prstClr val="black"/>
                </a:solidFill>
                <a:latin typeface="Calibri" panose="020F0502020204030204" pitchFamily="34" charset="0"/>
                <a:ea typeface="+mn-ea"/>
                <a:cs typeface="Calibri" panose="020F0502020204030204" pitchFamily="34" charset="0"/>
              </a:rPr>
              <a:t>=</a:t>
            </a:r>
            <a:r>
              <a:rPr lang="en-US" sz="1600" b="1" kern="1200" dirty="0" err="1">
                <a:solidFill>
                  <a:prstClr val="black"/>
                </a:solidFill>
                <a:latin typeface="Calibri" panose="020F0502020204030204" pitchFamily="34" charset="0"/>
                <a:ea typeface="+mn-ea"/>
                <a:cs typeface="Calibri" panose="020F0502020204030204" pitchFamily="34" charset="0"/>
              </a:rPr>
              <a:t>p.numrut_emp</a:t>
            </a:r>
            <a:r>
              <a:rPr lang="en-US" sz="1600" b="1" kern="1200" dirty="0">
                <a:solidFill>
                  <a:prstClr val="black"/>
                </a:solidFill>
                <a:latin typeface="Calibri" panose="020F0502020204030204" pitchFamily="34" charset="0"/>
                <a:ea typeface="+mn-ea"/>
                <a:cs typeface="Calibri" panose="020F0502020204030204" pitchFamily="34" charset="0"/>
              </a:rPr>
              <a:t>)</a:t>
            </a:r>
          </a:p>
          <a:p>
            <a:pPr lvl="0" eaLnBrk="1" hangingPunct="1">
              <a:buClrTx/>
              <a:defRPr/>
            </a:pPr>
            <a:r>
              <a:rPr lang="en-US" sz="1600" b="1" kern="1200" dirty="0">
                <a:solidFill>
                  <a:prstClr val="black"/>
                </a:solidFill>
                <a:latin typeface="Calibri" panose="020F0502020204030204" pitchFamily="34" charset="0"/>
                <a:ea typeface="+mn-ea"/>
                <a:cs typeface="Calibri" panose="020F0502020204030204" pitchFamily="34" charset="0"/>
              </a:rPr>
              <a:t>LEFT JOIN </a:t>
            </a:r>
            <a:r>
              <a:rPr lang="en-US" sz="1600" b="1" kern="1200" dirty="0" err="1">
                <a:solidFill>
                  <a:prstClr val="black"/>
                </a:solidFill>
                <a:latin typeface="Calibri" panose="020F0502020204030204" pitchFamily="34" charset="0"/>
                <a:ea typeface="+mn-ea"/>
                <a:cs typeface="Calibri" panose="020F0502020204030204" pitchFamily="34" charset="0"/>
              </a:rPr>
              <a:t>propiedad_arrendada</a:t>
            </a:r>
            <a:r>
              <a:rPr lang="en-US" sz="1600" b="1" kern="1200" dirty="0">
                <a:solidFill>
                  <a:prstClr val="black"/>
                </a:solidFill>
                <a:latin typeface="Calibri" panose="020F0502020204030204" pitchFamily="34" charset="0"/>
                <a:ea typeface="+mn-ea"/>
                <a:cs typeface="Calibri" panose="020F0502020204030204" pitchFamily="34" charset="0"/>
              </a:rPr>
              <a:t> pa </a:t>
            </a:r>
          </a:p>
          <a:p>
            <a:pPr lvl="0" eaLnBrk="1" hangingPunct="1">
              <a:buClrTx/>
              <a:defRPr/>
            </a:pPr>
            <a:r>
              <a:rPr lang="en-US" sz="1600" b="1" kern="1200" dirty="0">
                <a:solidFill>
                  <a:prstClr val="black"/>
                </a:solidFill>
                <a:latin typeface="Calibri" panose="020F0502020204030204" pitchFamily="34" charset="0"/>
                <a:ea typeface="+mn-ea"/>
                <a:cs typeface="Calibri" panose="020F0502020204030204" pitchFamily="34" charset="0"/>
              </a:rPr>
              <a:t>ON (</a:t>
            </a:r>
            <a:r>
              <a:rPr lang="en-US" sz="1600" b="1" kern="1200" dirty="0" err="1">
                <a:solidFill>
                  <a:prstClr val="black"/>
                </a:solidFill>
                <a:latin typeface="Calibri" panose="020F0502020204030204" pitchFamily="34" charset="0"/>
                <a:ea typeface="+mn-ea"/>
                <a:cs typeface="Calibri" panose="020F0502020204030204" pitchFamily="34" charset="0"/>
              </a:rPr>
              <a:t>p.nro_propiedad</a:t>
            </a:r>
            <a:r>
              <a:rPr lang="en-US" sz="1600" b="1" kern="1200" dirty="0">
                <a:solidFill>
                  <a:prstClr val="black"/>
                </a:solidFill>
                <a:latin typeface="Calibri" panose="020F0502020204030204" pitchFamily="34" charset="0"/>
                <a:ea typeface="+mn-ea"/>
                <a:cs typeface="Calibri" panose="020F0502020204030204" pitchFamily="34" charset="0"/>
              </a:rPr>
              <a:t>=</a:t>
            </a:r>
            <a:r>
              <a:rPr lang="en-US" sz="1600" b="1" kern="1200" dirty="0" err="1">
                <a:solidFill>
                  <a:prstClr val="black"/>
                </a:solidFill>
                <a:latin typeface="Calibri" panose="020F0502020204030204" pitchFamily="34" charset="0"/>
                <a:ea typeface="+mn-ea"/>
                <a:cs typeface="Calibri" panose="020F0502020204030204" pitchFamily="34" charset="0"/>
              </a:rPr>
              <a:t>pa.nro_propiedad</a:t>
            </a:r>
            <a:r>
              <a:rPr lang="en-US" sz="1600" b="1" kern="1200" dirty="0">
                <a:solidFill>
                  <a:prstClr val="black"/>
                </a:solidFill>
                <a:latin typeface="Calibri" panose="020F0502020204030204" pitchFamily="34" charset="0"/>
                <a:ea typeface="+mn-ea"/>
                <a:cs typeface="Calibri" panose="020F0502020204030204" pitchFamily="34" charset="0"/>
              </a:rPr>
              <a:t>)</a:t>
            </a:r>
          </a:p>
          <a:p>
            <a:pPr lvl="0" eaLnBrk="1" hangingPunct="1">
              <a:buClrTx/>
              <a:defRPr/>
            </a:pPr>
            <a:r>
              <a:rPr lang="en-US" sz="1600" b="1" kern="1200" dirty="0">
                <a:solidFill>
                  <a:prstClr val="black"/>
                </a:solidFill>
                <a:latin typeface="Calibri" panose="020F0502020204030204" pitchFamily="34" charset="0"/>
                <a:ea typeface="+mn-ea"/>
                <a:cs typeface="Calibri" panose="020F0502020204030204" pitchFamily="34" charset="0"/>
              </a:rPr>
              <a:t>WHERE </a:t>
            </a:r>
            <a:r>
              <a:rPr lang="en-US" sz="1600" b="1" kern="1200" dirty="0" err="1">
                <a:solidFill>
                  <a:prstClr val="black"/>
                </a:solidFill>
                <a:latin typeface="Calibri" panose="020F0502020204030204" pitchFamily="34" charset="0"/>
                <a:ea typeface="+mn-ea"/>
                <a:cs typeface="Calibri" panose="020F0502020204030204" pitchFamily="34" charset="0"/>
              </a:rPr>
              <a:t>e.id_categoria_emp</a:t>
            </a:r>
            <a:r>
              <a:rPr lang="en-US" sz="1600" b="1" kern="1200" dirty="0">
                <a:solidFill>
                  <a:prstClr val="black"/>
                </a:solidFill>
                <a:latin typeface="Calibri" panose="020F0502020204030204" pitchFamily="34" charset="0"/>
                <a:ea typeface="+mn-ea"/>
                <a:cs typeface="Calibri" panose="020F0502020204030204" pitchFamily="34" charset="0"/>
              </a:rPr>
              <a:t> = 3</a:t>
            </a:r>
          </a:p>
          <a:p>
            <a:pPr lvl="0" eaLnBrk="1" hangingPunct="1">
              <a:buClrTx/>
              <a:defRPr/>
            </a:pPr>
            <a:r>
              <a:rPr lang="en-US" sz="1600" b="1" kern="1200" dirty="0">
                <a:solidFill>
                  <a:prstClr val="black"/>
                </a:solidFill>
                <a:latin typeface="Calibri" panose="020F0502020204030204" pitchFamily="34" charset="0"/>
                <a:ea typeface="+mn-ea"/>
                <a:cs typeface="Calibri" panose="020F0502020204030204" pitchFamily="34" charset="0"/>
              </a:rPr>
              <a:t>AND </a:t>
            </a:r>
            <a:r>
              <a:rPr lang="en-US" sz="1600" b="1" kern="1200" dirty="0" err="1">
                <a:solidFill>
                  <a:prstClr val="black"/>
                </a:solidFill>
                <a:latin typeface="Calibri" panose="020F0502020204030204" pitchFamily="34" charset="0"/>
                <a:ea typeface="+mn-ea"/>
                <a:cs typeface="Calibri" panose="020F0502020204030204" pitchFamily="34" charset="0"/>
              </a:rPr>
              <a:t>pa.fecter_arriendo</a:t>
            </a:r>
            <a:r>
              <a:rPr lang="en-US" sz="1600" b="1" kern="1200" dirty="0">
                <a:solidFill>
                  <a:prstClr val="black"/>
                </a:solidFill>
                <a:latin typeface="Calibri" panose="020F0502020204030204" pitchFamily="34" charset="0"/>
                <a:ea typeface="+mn-ea"/>
                <a:cs typeface="Calibri" panose="020F0502020204030204" pitchFamily="34" charset="0"/>
              </a:rPr>
              <a:t> &gt; SYSDATE</a:t>
            </a:r>
          </a:p>
          <a:p>
            <a:pPr lvl="0" eaLnBrk="1" hangingPunct="1">
              <a:buClrTx/>
              <a:defRPr/>
            </a:pPr>
            <a:r>
              <a:rPr lang="en-US" sz="1600" b="1" kern="1200" dirty="0">
                <a:solidFill>
                  <a:prstClr val="black"/>
                </a:solidFill>
                <a:latin typeface="Calibri" panose="020F0502020204030204" pitchFamily="34" charset="0"/>
                <a:ea typeface="+mn-ea"/>
                <a:cs typeface="Calibri" panose="020F0502020204030204" pitchFamily="34" charset="0"/>
              </a:rPr>
              <a:t>GROUP BY </a:t>
            </a:r>
            <a:r>
              <a:rPr lang="en-US" sz="1600" b="1" kern="1200" dirty="0" err="1">
                <a:solidFill>
                  <a:prstClr val="black"/>
                </a:solidFill>
                <a:latin typeface="Calibri" panose="020F0502020204030204" pitchFamily="34" charset="0"/>
                <a:ea typeface="+mn-ea"/>
                <a:cs typeface="Calibri" panose="020F0502020204030204" pitchFamily="34" charset="0"/>
              </a:rPr>
              <a:t>e.numrut_emp</a:t>
            </a:r>
            <a:r>
              <a:rPr lang="en-US" sz="1600" b="1" kern="1200" dirty="0">
                <a:solidFill>
                  <a:prstClr val="black"/>
                </a:solidFill>
                <a:latin typeface="Calibri" panose="020F0502020204030204" pitchFamily="34" charset="0"/>
                <a:ea typeface="+mn-ea"/>
                <a:cs typeface="Calibri" panose="020F0502020204030204" pitchFamily="34" charset="0"/>
              </a:rPr>
              <a:t>, </a:t>
            </a:r>
            <a:r>
              <a:rPr lang="en-US" sz="1600" b="1" kern="1200" dirty="0" err="1">
                <a:solidFill>
                  <a:prstClr val="black"/>
                </a:solidFill>
                <a:latin typeface="Calibri" panose="020F0502020204030204" pitchFamily="34" charset="0"/>
                <a:ea typeface="+mn-ea"/>
                <a:cs typeface="Calibri" panose="020F0502020204030204" pitchFamily="34" charset="0"/>
              </a:rPr>
              <a:t>e.dvrut_emp</a:t>
            </a:r>
            <a:r>
              <a:rPr lang="en-US" sz="1600" b="1" kern="1200" dirty="0">
                <a:solidFill>
                  <a:prstClr val="black"/>
                </a:solidFill>
                <a:latin typeface="Calibri" panose="020F0502020204030204" pitchFamily="34" charset="0"/>
                <a:ea typeface="+mn-ea"/>
                <a:cs typeface="Calibri" panose="020F0502020204030204" pitchFamily="34" charset="0"/>
              </a:rPr>
              <a:t>, </a:t>
            </a:r>
            <a:r>
              <a:rPr lang="en-US" sz="1600" b="1" kern="1200" dirty="0" err="1">
                <a:solidFill>
                  <a:prstClr val="black"/>
                </a:solidFill>
                <a:latin typeface="Calibri" panose="020F0502020204030204" pitchFamily="34" charset="0"/>
                <a:ea typeface="+mn-ea"/>
                <a:cs typeface="Calibri" panose="020F0502020204030204" pitchFamily="34" charset="0"/>
              </a:rPr>
              <a:t>e.nombre_emp</a:t>
            </a:r>
            <a:r>
              <a:rPr lang="en-US" sz="1600" b="1" kern="1200" dirty="0">
                <a:solidFill>
                  <a:prstClr val="black"/>
                </a:solidFill>
                <a:latin typeface="Calibri" panose="020F0502020204030204" pitchFamily="34" charset="0"/>
                <a:ea typeface="+mn-ea"/>
                <a:cs typeface="Calibri" panose="020F0502020204030204" pitchFamily="34" charset="0"/>
              </a:rPr>
              <a:t>, </a:t>
            </a:r>
            <a:r>
              <a:rPr lang="en-US" sz="1600" b="1" kern="1200" dirty="0" err="1">
                <a:solidFill>
                  <a:prstClr val="black"/>
                </a:solidFill>
                <a:latin typeface="Calibri" panose="020F0502020204030204" pitchFamily="34" charset="0"/>
                <a:ea typeface="+mn-ea"/>
                <a:cs typeface="Calibri" panose="020F0502020204030204" pitchFamily="34" charset="0"/>
              </a:rPr>
              <a:t>e.appaterno_emp</a:t>
            </a:r>
            <a:r>
              <a:rPr lang="en-US" sz="1600" b="1" kern="1200" dirty="0">
                <a:solidFill>
                  <a:prstClr val="black"/>
                </a:solidFill>
                <a:latin typeface="Calibri" panose="020F0502020204030204" pitchFamily="34" charset="0"/>
                <a:ea typeface="+mn-ea"/>
                <a:cs typeface="Calibri" panose="020F0502020204030204" pitchFamily="34" charset="0"/>
              </a:rPr>
              <a:t>, </a:t>
            </a:r>
            <a:r>
              <a:rPr lang="en-US" sz="1600" b="1" kern="1200" dirty="0" err="1">
                <a:solidFill>
                  <a:prstClr val="black"/>
                </a:solidFill>
                <a:latin typeface="Calibri" panose="020F0502020204030204" pitchFamily="34" charset="0"/>
                <a:ea typeface="+mn-ea"/>
                <a:cs typeface="Calibri" panose="020F0502020204030204" pitchFamily="34" charset="0"/>
              </a:rPr>
              <a:t>e.apmaterno_emp</a:t>
            </a:r>
            <a:endParaRPr lang="en-US" sz="1600" b="1" kern="1200" dirty="0">
              <a:solidFill>
                <a:prstClr val="black"/>
              </a:solidFill>
              <a:latin typeface="Calibri" panose="020F0502020204030204" pitchFamily="34" charset="0"/>
              <a:ea typeface="+mn-ea"/>
              <a:cs typeface="Calibri" panose="020F0502020204030204" pitchFamily="34" charset="0"/>
            </a:endParaRPr>
          </a:p>
          <a:p>
            <a:pPr lvl="0" eaLnBrk="1" hangingPunct="1">
              <a:buClrTx/>
              <a:defRPr/>
            </a:pPr>
            <a:r>
              <a:rPr lang="en-US" sz="1600" b="1" kern="1200" dirty="0">
                <a:solidFill>
                  <a:prstClr val="black"/>
                </a:solidFill>
                <a:latin typeface="Calibri" panose="020F0502020204030204" pitchFamily="34" charset="0"/>
                <a:ea typeface="+mn-ea"/>
                <a:cs typeface="Calibri" panose="020F0502020204030204" pitchFamily="34" charset="0"/>
              </a:rPr>
              <a:t>ORDER BY </a:t>
            </a:r>
            <a:r>
              <a:rPr lang="en-US" sz="1600" b="1" kern="1200" dirty="0" err="1">
                <a:solidFill>
                  <a:prstClr val="black"/>
                </a:solidFill>
                <a:latin typeface="Calibri" panose="020F0502020204030204" pitchFamily="34" charset="0"/>
                <a:ea typeface="+mn-ea"/>
                <a:cs typeface="Calibri" panose="020F0502020204030204" pitchFamily="34" charset="0"/>
              </a:rPr>
              <a:t>e.appaterno_emp</a:t>
            </a:r>
            <a:r>
              <a:rPr lang="en-US" sz="1600" b="1" kern="1200" dirty="0">
                <a:solidFill>
                  <a:prstClr val="black"/>
                </a:solidFill>
                <a:latin typeface="Calibri" panose="020F0502020204030204" pitchFamily="34" charset="0"/>
                <a:ea typeface="+mn-ea"/>
                <a:cs typeface="Calibri" panose="020F0502020204030204" pitchFamily="34" charset="0"/>
              </a:rPr>
              <a:t>;</a:t>
            </a:r>
          </a:p>
          <a:p>
            <a:pPr lvl="0" eaLnBrk="1" hangingPunct="1">
              <a:buClrTx/>
              <a:defRPr/>
            </a:pPr>
            <a:endParaRPr kumimoji="0" lang="es-MX" sz="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3771596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Planes de Ejecución cuando se han creado Índices</a:t>
            </a:r>
            <a:endParaRPr lang="es-CL" sz="2800" b="1" kern="1200" dirty="0">
              <a:solidFill>
                <a:prstClr val="white"/>
              </a:solidFill>
              <a:latin typeface="Calibri"/>
              <a:cs typeface="Arial" panose="020B0604020202020204" pitchFamily="34" charset="0"/>
            </a:endParaRPr>
          </a:p>
        </p:txBody>
      </p:sp>
      <p:sp>
        <p:nvSpPr>
          <p:cNvPr id="7" name="CuadroTexto 6">
            <a:extLst>
              <a:ext uri="{FF2B5EF4-FFF2-40B4-BE49-F238E27FC236}">
                <a16:creationId xmlns:a16="http://schemas.microsoft.com/office/drawing/2014/main" xmlns="" id="{D4FCE0F1-E4C5-49DB-81B1-9D807758B7E9}"/>
              </a:ext>
            </a:extLst>
          </p:cNvPr>
          <p:cNvSpPr txBox="1"/>
          <p:nvPr/>
        </p:nvSpPr>
        <p:spPr>
          <a:xfrm>
            <a:off x="132856" y="1034580"/>
            <a:ext cx="418704" cy="646331"/>
          </a:xfrm>
          <a:prstGeom prst="rect">
            <a:avLst/>
          </a:prstGeom>
          <a:noFill/>
        </p:spPr>
        <p:txBody>
          <a:bodyPr wrap="none" rtlCol="0">
            <a:spAutoFit/>
          </a:bodyPr>
          <a:lstStyle/>
          <a:p>
            <a:r>
              <a:rPr lang="es-CL" sz="3600" b="1" dirty="0">
                <a:solidFill>
                  <a:srgbClr val="C00000"/>
                </a:solidFill>
                <a:latin typeface="Calibri" panose="020F0502020204030204" pitchFamily="34" charset="0"/>
                <a:cs typeface="Calibri" panose="020F0502020204030204" pitchFamily="34" charset="0"/>
              </a:rPr>
              <a:t>2</a:t>
            </a:r>
          </a:p>
        </p:txBody>
      </p:sp>
      <p:pic>
        <p:nvPicPr>
          <p:cNvPr id="9" name="Imagen 8">
            <a:extLst>
              <a:ext uri="{FF2B5EF4-FFF2-40B4-BE49-F238E27FC236}">
                <a16:creationId xmlns:a16="http://schemas.microsoft.com/office/drawing/2014/main" xmlns="" id="{499564DA-FE4F-4AC6-BB5D-FC7E54F42C7C}"/>
              </a:ext>
            </a:extLst>
          </p:cNvPr>
          <p:cNvPicPr>
            <a:picLocks noChangeAspect="1"/>
          </p:cNvPicPr>
          <p:nvPr/>
        </p:nvPicPr>
        <p:blipFill>
          <a:blip r:embed="rId3"/>
          <a:stretch>
            <a:fillRect/>
          </a:stretch>
        </p:blipFill>
        <p:spPr>
          <a:xfrm>
            <a:off x="126612" y="1618004"/>
            <a:ext cx="8736034" cy="4777519"/>
          </a:xfrm>
          <a:prstGeom prst="rect">
            <a:avLst/>
          </a:prstGeom>
        </p:spPr>
      </p:pic>
    </p:spTree>
    <p:extLst>
      <p:ext uri="{BB962C8B-B14F-4D97-AF65-F5344CB8AC3E}">
        <p14:creationId xmlns:p14="http://schemas.microsoft.com/office/powerpoint/2010/main" val="2062156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Planes de Ejecución cuando se han creado Índices</a:t>
            </a:r>
            <a:endParaRPr lang="es-CL" sz="2800" b="1" kern="1200" dirty="0">
              <a:solidFill>
                <a:prstClr val="white"/>
              </a:solidFill>
              <a:latin typeface="Calibri"/>
              <a:cs typeface="Arial" panose="020B0604020202020204" pitchFamily="34" charset="0"/>
            </a:endParaRPr>
          </a:p>
        </p:txBody>
      </p:sp>
      <p:sp>
        <p:nvSpPr>
          <p:cNvPr id="5" name="CuadroTexto 4">
            <a:extLst>
              <a:ext uri="{FF2B5EF4-FFF2-40B4-BE49-F238E27FC236}">
                <a16:creationId xmlns:a16="http://schemas.microsoft.com/office/drawing/2014/main" xmlns="" id="{208165B4-2263-465A-819F-F665B1E8C5A1}"/>
              </a:ext>
            </a:extLst>
          </p:cNvPr>
          <p:cNvSpPr txBox="1"/>
          <p:nvPr/>
        </p:nvSpPr>
        <p:spPr>
          <a:xfrm>
            <a:off x="259466" y="1101398"/>
            <a:ext cx="418704" cy="646331"/>
          </a:xfrm>
          <a:prstGeom prst="rect">
            <a:avLst/>
          </a:prstGeom>
          <a:noFill/>
        </p:spPr>
        <p:txBody>
          <a:bodyPr wrap="none" rtlCol="0">
            <a:spAutoFit/>
          </a:bodyPr>
          <a:lstStyle/>
          <a:p>
            <a:r>
              <a:rPr lang="es-CL" sz="3600" b="1" dirty="0">
                <a:solidFill>
                  <a:srgbClr val="C00000"/>
                </a:solidFill>
                <a:latin typeface="Calibri" panose="020F0502020204030204" pitchFamily="34" charset="0"/>
                <a:cs typeface="Calibri" panose="020F0502020204030204" pitchFamily="34" charset="0"/>
              </a:rPr>
              <a:t>3</a:t>
            </a:r>
          </a:p>
        </p:txBody>
      </p:sp>
      <p:sp>
        <p:nvSpPr>
          <p:cNvPr id="6" name="Text Box 5">
            <a:extLst>
              <a:ext uri="{FF2B5EF4-FFF2-40B4-BE49-F238E27FC236}">
                <a16:creationId xmlns:a16="http://schemas.microsoft.com/office/drawing/2014/main" xmlns="" id="{FF4BA357-8ADF-4182-8503-F108E0AC6183}"/>
              </a:ext>
            </a:extLst>
          </p:cNvPr>
          <p:cNvSpPr txBox="1">
            <a:spLocks noChangeArrowheads="1"/>
          </p:cNvSpPr>
          <p:nvPr/>
        </p:nvSpPr>
        <p:spPr bwMode="auto">
          <a:xfrm>
            <a:off x="801279" y="1247292"/>
            <a:ext cx="7372049" cy="58477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p>
            <a:pPr algn="l">
              <a:defRPr/>
            </a:pPr>
            <a:endParaRPr lang="en-US" sz="800" b="1" dirty="0">
              <a:latin typeface="Calibri" panose="020F0502020204030204" pitchFamily="34" charset="0"/>
              <a:cs typeface="Calibri" panose="020F0502020204030204" pitchFamily="34" charset="0"/>
            </a:endParaRPr>
          </a:p>
          <a:p>
            <a:pPr>
              <a:defRPr/>
            </a:pPr>
            <a:r>
              <a:rPr lang="en-US" sz="1600" b="1" dirty="0">
                <a:latin typeface="Calibri" panose="020F0502020204030204" pitchFamily="34" charset="0"/>
                <a:cs typeface="Calibri" panose="020F0502020204030204" pitchFamily="34" charset="0"/>
              </a:rPr>
              <a:t>CREATE INDEX </a:t>
            </a:r>
            <a:r>
              <a:rPr lang="en-US" sz="1600" b="1" dirty="0" err="1">
                <a:latin typeface="Calibri" panose="020F0502020204030204" pitchFamily="34" charset="0"/>
                <a:cs typeface="Calibri" panose="020F0502020204030204" pitchFamily="34" charset="0"/>
              </a:rPr>
              <a:t>idx_pa_fecter_arriendo</a:t>
            </a:r>
            <a:r>
              <a:rPr lang="en-US" sz="1600" b="1" dirty="0">
                <a:latin typeface="Calibri" panose="020F0502020204030204" pitchFamily="34" charset="0"/>
                <a:cs typeface="Calibri" panose="020F0502020204030204" pitchFamily="34" charset="0"/>
              </a:rPr>
              <a:t> ON </a:t>
            </a:r>
            <a:r>
              <a:rPr lang="en-US" sz="1600" b="1" dirty="0" err="1">
                <a:latin typeface="Calibri" panose="020F0502020204030204" pitchFamily="34" charset="0"/>
                <a:cs typeface="Calibri" panose="020F0502020204030204" pitchFamily="34" charset="0"/>
              </a:rPr>
              <a:t>propiedad_arrendada</a:t>
            </a:r>
            <a:r>
              <a:rPr lang="en-US" sz="1600" b="1" dirty="0">
                <a:latin typeface="Calibri" panose="020F0502020204030204" pitchFamily="34" charset="0"/>
                <a:cs typeface="Calibri" panose="020F0502020204030204" pitchFamily="34" charset="0"/>
              </a:rPr>
              <a:t>(</a:t>
            </a:r>
            <a:r>
              <a:rPr lang="en-US" sz="1600" b="1" dirty="0" err="1">
                <a:latin typeface="Calibri" panose="020F0502020204030204" pitchFamily="34" charset="0"/>
                <a:cs typeface="Calibri" panose="020F0502020204030204" pitchFamily="34" charset="0"/>
              </a:rPr>
              <a:t>fecter_arriendo</a:t>
            </a:r>
            <a:r>
              <a:rPr lang="en-US" sz="1600" b="1" dirty="0">
                <a:latin typeface="Calibri" panose="020F0502020204030204" pitchFamily="34" charset="0"/>
                <a:cs typeface="Calibri" panose="020F0502020204030204" pitchFamily="34" charset="0"/>
              </a:rPr>
              <a:t>);</a:t>
            </a:r>
          </a:p>
          <a:p>
            <a:pPr>
              <a:defRPr/>
            </a:pPr>
            <a:endParaRPr lang="es-MX" sz="800" b="1" dirty="0">
              <a:latin typeface="Calibri" panose="020F0502020204030204" pitchFamily="34" charset="0"/>
              <a:cs typeface="Calibri" panose="020F0502020204030204" pitchFamily="34" charset="0"/>
            </a:endParaRPr>
          </a:p>
        </p:txBody>
      </p:sp>
      <p:pic>
        <p:nvPicPr>
          <p:cNvPr id="10" name="Imagen 9">
            <a:extLst>
              <a:ext uri="{FF2B5EF4-FFF2-40B4-BE49-F238E27FC236}">
                <a16:creationId xmlns:a16="http://schemas.microsoft.com/office/drawing/2014/main" xmlns="" id="{A3A3D822-6BCE-4B6C-B026-8FC0AB731E09}"/>
              </a:ext>
            </a:extLst>
          </p:cNvPr>
          <p:cNvPicPr>
            <a:picLocks noChangeAspect="1"/>
          </p:cNvPicPr>
          <p:nvPr/>
        </p:nvPicPr>
        <p:blipFill>
          <a:blip r:embed="rId3"/>
          <a:stretch>
            <a:fillRect/>
          </a:stretch>
        </p:blipFill>
        <p:spPr>
          <a:xfrm>
            <a:off x="404674" y="1957442"/>
            <a:ext cx="8259681" cy="4541832"/>
          </a:xfrm>
          <a:prstGeom prst="rect">
            <a:avLst/>
          </a:prstGeom>
        </p:spPr>
      </p:pic>
    </p:spTree>
    <p:extLst>
      <p:ext uri="{BB962C8B-B14F-4D97-AF65-F5344CB8AC3E}">
        <p14:creationId xmlns:p14="http://schemas.microsoft.com/office/powerpoint/2010/main" val="1948941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649960" y="224579"/>
            <a:ext cx="4647630" cy="813000"/>
          </a:xfrm>
        </p:spPr>
        <p:txBody>
          <a:bodyPr/>
          <a:lstStyle/>
          <a:p>
            <a:pPr lvl="0" defTabSz="457200">
              <a:defRPr/>
            </a:pPr>
            <a:r>
              <a:rPr lang="es-CL" sz="2800" b="1" dirty="0">
                <a:solidFill>
                  <a:prstClr val="white"/>
                </a:solidFill>
                <a:latin typeface="Calibri"/>
              </a:rPr>
              <a:t>Estadísticas de los objetos para el uso de Índices</a:t>
            </a:r>
            <a:endParaRPr lang="es-CL" sz="2800" b="1" kern="1200" dirty="0">
              <a:solidFill>
                <a:prstClr val="white"/>
              </a:solidFill>
              <a:latin typeface="Calibri"/>
              <a:cs typeface="Arial" panose="020B0604020202020204" pitchFamily="34" charset="0"/>
            </a:endParaRPr>
          </a:p>
        </p:txBody>
      </p:sp>
      <p:pic>
        <p:nvPicPr>
          <p:cNvPr id="4" name="Imagen 3">
            <a:extLst>
              <a:ext uri="{FF2B5EF4-FFF2-40B4-BE49-F238E27FC236}">
                <a16:creationId xmlns:a16="http://schemas.microsoft.com/office/drawing/2014/main" xmlns="" id="{6FB43D35-3DC1-442F-8DA7-388AC6B1F35E}"/>
              </a:ext>
            </a:extLst>
          </p:cNvPr>
          <p:cNvPicPr>
            <a:picLocks noChangeAspect="1"/>
          </p:cNvPicPr>
          <p:nvPr/>
        </p:nvPicPr>
        <p:blipFill>
          <a:blip r:embed="rId3"/>
          <a:stretch>
            <a:fillRect/>
          </a:stretch>
        </p:blipFill>
        <p:spPr>
          <a:xfrm>
            <a:off x="209934" y="1216478"/>
            <a:ext cx="8724132" cy="5395428"/>
          </a:xfrm>
          <a:prstGeom prst="rect">
            <a:avLst/>
          </a:prstGeom>
        </p:spPr>
      </p:pic>
    </p:spTree>
    <p:extLst>
      <p:ext uri="{BB962C8B-B14F-4D97-AF65-F5344CB8AC3E}">
        <p14:creationId xmlns:p14="http://schemas.microsoft.com/office/powerpoint/2010/main" val="170618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Eliminación de Índices Creados</a:t>
            </a:r>
            <a:endParaRPr lang="es-CL" sz="2800" b="1" kern="1200" dirty="0">
              <a:solidFill>
                <a:prstClr val="white"/>
              </a:solidFill>
              <a:latin typeface="Calibri"/>
              <a:cs typeface="Arial" panose="020B0604020202020204" pitchFamily="34" charset="0"/>
            </a:endParaRPr>
          </a:p>
        </p:txBody>
      </p:sp>
      <p:sp>
        <p:nvSpPr>
          <p:cNvPr id="7" name="Marcador de contenido 1">
            <a:extLst>
              <a:ext uri="{FF2B5EF4-FFF2-40B4-BE49-F238E27FC236}">
                <a16:creationId xmlns:a16="http://schemas.microsoft.com/office/drawing/2014/main" xmlns="" id="{D4FE9DC0-9067-4163-A454-55389FE397F2}"/>
              </a:ext>
            </a:extLst>
          </p:cNvPr>
          <p:cNvSpPr txBox="1">
            <a:spLocks/>
          </p:cNvSpPr>
          <p:nvPr/>
        </p:nvSpPr>
        <p:spPr>
          <a:xfrm>
            <a:off x="590872" y="1052737"/>
            <a:ext cx="6501408" cy="2808312"/>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just" defTabSz="342900" rtl="0" eaLnBrk="1" fontAlgn="auto" latinLnBrk="0" hangingPunct="1">
              <a:lnSpc>
                <a:spcPct val="8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Sintaxis: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rPr>
              <a:t>Ejemplos: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lang="es-CL" dirty="0">
              <a:solidFill>
                <a:sysClr val="windowText" lastClr="000000">
                  <a:lumMod val="75000"/>
                  <a:lumOff val="25000"/>
                </a:sysClr>
              </a:solidFill>
              <a:latin typeface="Calibri" panose="020F0502020204030204" pitchFamily="34" charset="0"/>
              <a:ea typeface="Arial Unicode MS" pitchFamily="34" charset="-128"/>
              <a:cs typeface="Calibri" panose="020F0502020204030204" pitchFamily="34" charset="0"/>
            </a:endParaRPr>
          </a:p>
        </p:txBody>
      </p:sp>
      <p:sp>
        <p:nvSpPr>
          <p:cNvPr id="9" name="Text Box 5">
            <a:extLst>
              <a:ext uri="{FF2B5EF4-FFF2-40B4-BE49-F238E27FC236}">
                <a16:creationId xmlns:a16="http://schemas.microsoft.com/office/drawing/2014/main" xmlns="" id="{EA0F491B-48D1-42A2-A11C-264AD27914A1}"/>
              </a:ext>
            </a:extLst>
          </p:cNvPr>
          <p:cNvSpPr txBox="1">
            <a:spLocks noChangeArrowheads="1"/>
          </p:cNvSpPr>
          <p:nvPr/>
        </p:nvSpPr>
        <p:spPr bwMode="auto">
          <a:xfrm>
            <a:off x="1331640" y="1666122"/>
            <a:ext cx="6696744" cy="58477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p>
            <a:pPr algn="l">
              <a:defRPr/>
            </a:pPr>
            <a:endParaRPr lang="en-US" sz="800" b="1"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DROP INDEX  [esquema.]nombre_índice</a:t>
            </a:r>
          </a:p>
          <a:p>
            <a:pPr algn="l">
              <a:defRPr/>
            </a:pPr>
            <a:endParaRPr lang="es-MX" sz="800" b="1" dirty="0">
              <a:latin typeface="Calibri" panose="020F0502020204030204" pitchFamily="34" charset="0"/>
              <a:cs typeface="Calibri" panose="020F0502020204030204" pitchFamily="34" charset="0"/>
            </a:endParaRPr>
          </a:p>
        </p:txBody>
      </p:sp>
      <p:sp>
        <p:nvSpPr>
          <p:cNvPr id="11" name="Text Box 5">
            <a:extLst>
              <a:ext uri="{FF2B5EF4-FFF2-40B4-BE49-F238E27FC236}">
                <a16:creationId xmlns:a16="http://schemas.microsoft.com/office/drawing/2014/main" xmlns="" id="{FC44F2C3-F656-4202-BBB2-B0BAA07BE749}"/>
              </a:ext>
            </a:extLst>
          </p:cNvPr>
          <p:cNvSpPr txBox="1">
            <a:spLocks noChangeArrowheads="1"/>
          </p:cNvSpPr>
          <p:nvPr/>
        </p:nvSpPr>
        <p:spPr bwMode="auto">
          <a:xfrm>
            <a:off x="1331640" y="2924944"/>
            <a:ext cx="6696744" cy="58477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p>
            <a:pPr algn="l">
              <a:defRPr/>
            </a:pPr>
            <a:endParaRPr lang="en-US" sz="800" b="1"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DROP INDEX idx_emp_appaterno;</a:t>
            </a:r>
          </a:p>
          <a:p>
            <a:pPr algn="l">
              <a:defRPr/>
            </a:pPr>
            <a:endParaRPr lang="es-MX" sz="800" b="1" dirty="0">
              <a:latin typeface="Calibri" panose="020F0502020204030204" pitchFamily="34" charset="0"/>
              <a:cs typeface="Calibri" panose="020F0502020204030204" pitchFamily="34" charset="0"/>
            </a:endParaRPr>
          </a:p>
        </p:txBody>
      </p:sp>
      <p:sp>
        <p:nvSpPr>
          <p:cNvPr id="12" name="Text Box 5">
            <a:extLst>
              <a:ext uri="{FF2B5EF4-FFF2-40B4-BE49-F238E27FC236}">
                <a16:creationId xmlns:a16="http://schemas.microsoft.com/office/drawing/2014/main" xmlns="" id="{78893871-EA21-4149-ABE0-A6DBB1CAA150}"/>
              </a:ext>
            </a:extLst>
          </p:cNvPr>
          <p:cNvSpPr txBox="1">
            <a:spLocks noChangeArrowheads="1"/>
          </p:cNvSpPr>
          <p:nvPr/>
        </p:nvSpPr>
        <p:spPr bwMode="auto">
          <a:xfrm>
            <a:off x="1331640" y="3683933"/>
            <a:ext cx="6696744" cy="58477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p>
            <a:pPr algn="l">
              <a:defRPr/>
            </a:pPr>
            <a:endParaRPr lang="en-US" sz="800" b="1"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DROP INDEX idx_emp_rut_fecing; </a:t>
            </a:r>
          </a:p>
          <a:p>
            <a:pPr algn="l">
              <a:defRPr/>
            </a:pPr>
            <a:endParaRPr lang="es-MX" sz="800" b="1" dirty="0">
              <a:latin typeface="Calibri" panose="020F0502020204030204" pitchFamily="34" charset="0"/>
              <a:cs typeface="Calibri" panose="020F0502020204030204" pitchFamily="34" charset="0"/>
            </a:endParaRPr>
          </a:p>
        </p:txBody>
      </p:sp>
      <p:sp>
        <p:nvSpPr>
          <p:cNvPr id="13" name="Text Box 5">
            <a:extLst>
              <a:ext uri="{FF2B5EF4-FFF2-40B4-BE49-F238E27FC236}">
                <a16:creationId xmlns:a16="http://schemas.microsoft.com/office/drawing/2014/main" xmlns="" id="{7C980B62-12DE-4EE5-B0A7-79D99E39D42F}"/>
              </a:ext>
            </a:extLst>
          </p:cNvPr>
          <p:cNvSpPr txBox="1">
            <a:spLocks noChangeArrowheads="1"/>
          </p:cNvSpPr>
          <p:nvPr/>
        </p:nvSpPr>
        <p:spPr bwMode="auto">
          <a:xfrm>
            <a:off x="1331640" y="4548029"/>
            <a:ext cx="6696744" cy="58477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p>
            <a:pPr algn="l">
              <a:defRPr/>
            </a:pPr>
            <a:endParaRPr lang="en-US" sz="800" b="1"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DROP INDEX idx_emp_appat_substrlow;</a:t>
            </a:r>
          </a:p>
          <a:p>
            <a:pPr algn="l">
              <a:defRPr/>
            </a:pPr>
            <a:endParaRPr lang="es-MX" sz="800" b="1" dirty="0">
              <a:latin typeface="Calibri" panose="020F0502020204030204" pitchFamily="34" charset="0"/>
              <a:cs typeface="Calibri" panose="020F0502020204030204" pitchFamily="34" charset="0"/>
            </a:endParaRPr>
          </a:p>
        </p:txBody>
      </p:sp>
      <p:sp>
        <p:nvSpPr>
          <p:cNvPr id="14" name="Text Box 5">
            <a:extLst>
              <a:ext uri="{FF2B5EF4-FFF2-40B4-BE49-F238E27FC236}">
                <a16:creationId xmlns:a16="http://schemas.microsoft.com/office/drawing/2014/main" xmlns="" id="{E8E2C0BF-C9B9-4C82-BFCB-14232F7C4833}"/>
              </a:ext>
            </a:extLst>
          </p:cNvPr>
          <p:cNvSpPr txBox="1">
            <a:spLocks noChangeArrowheads="1"/>
          </p:cNvSpPr>
          <p:nvPr/>
        </p:nvSpPr>
        <p:spPr bwMode="auto">
          <a:xfrm>
            <a:off x="1331640" y="5340117"/>
            <a:ext cx="6696744" cy="584775"/>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p>
            <a:pPr algn="l">
              <a:defRPr/>
            </a:pPr>
            <a:endParaRPr lang="en-US" sz="800" b="1"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DROP INDEX idx_emp_calc_sldo_bono_com;</a:t>
            </a:r>
          </a:p>
          <a:p>
            <a:pPr algn="l">
              <a:defRPr/>
            </a:pPr>
            <a:endParaRPr lang="es-MX" sz="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78843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23</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Resumen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a:xfrm>
            <a:off x="560387" y="2000440"/>
            <a:ext cx="8023225" cy="2275770"/>
          </a:xfrm>
        </p:spPr>
        <p:txBody>
          <a:bodyPr/>
          <a:lstStyle/>
          <a:p>
            <a:pPr marL="285750" indent="-285750" algn="just" defTabSz="457200">
              <a:buFont typeface="Arial" panose="020B0604020202020204" pitchFamily="34" charset="0"/>
              <a:buChar char="•"/>
            </a:pPr>
            <a:r>
              <a:rPr lang="es-MX" sz="2200" dirty="0">
                <a:ea typeface="ＭＳ Ｐゴシック" pitchFamily="34" charset="-128"/>
              </a:rPr>
              <a:t>Se explicaron los conceptos generales de Índices.</a:t>
            </a:r>
          </a:p>
          <a:p>
            <a:pPr marL="285750" indent="-285750" algn="just" defTabSz="457200">
              <a:buFont typeface="Arial" panose="020B0604020202020204" pitchFamily="34" charset="0"/>
              <a:buChar char="•"/>
            </a:pPr>
            <a:r>
              <a:rPr lang="es-MX" sz="2200" dirty="0">
                <a:ea typeface="ＭＳ Ｐゴシック" pitchFamily="34" charset="-128"/>
              </a:rPr>
              <a:t>Se explicaron consideraciones importantes desde el punto de vista del costo (optimizador) y el uso de recursos del servidor de base de datos cuando se utilizan Índices.</a:t>
            </a:r>
          </a:p>
          <a:p>
            <a:pPr marL="285750" indent="-285750" algn="just" defTabSz="457200">
              <a:buFont typeface="Arial" panose="020B0604020202020204" pitchFamily="34" charset="0"/>
              <a:buChar char="•"/>
            </a:pPr>
            <a:r>
              <a:rPr lang="es-MX" sz="2200" dirty="0">
                <a:ea typeface="ＭＳ Ｐゴシック" pitchFamily="34" charset="-128"/>
              </a:rPr>
              <a:t>Se explicaron los factores que se deben considerar crear y utilizar índices para las sentencias SQL.</a:t>
            </a:r>
          </a:p>
          <a:p>
            <a:pPr marL="285750" indent="-285750" algn="just" defTabSz="457200">
              <a:buFont typeface="Arial" panose="020B0604020202020204" pitchFamily="34" charset="0"/>
              <a:buChar char="•"/>
            </a:pPr>
            <a:r>
              <a:rPr lang="es-MX" sz="2200" dirty="0">
                <a:ea typeface="ＭＳ Ｐゴシック" pitchFamily="34" charset="-128"/>
              </a:rPr>
              <a:t>Se describir algunos de los índices más utilizados.</a:t>
            </a:r>
          </a:p>
          <a:p>
            <a:pPr marL="285750" indent="-285750" algn="just" defTabSz="457200">
              <a:buFont typeface="Arial" panose="020B0604020202020204" pitchFamily="34" charset="0"/>
              <a:buChar char="•"/>
            </a:pPr>
            <a:r>
              <a:rPr lang="es-MX" sz="2200" dirty="0">
                <a:ea typeface="ＭＳ Ｐゴシック" pitchFamily="34" charset="-128"/>
              </a:rPr>
              <a:t>Se explicó cómo se crean los índices B-</a:t>
            </a:r>
            <a:r>
              <a:rPr lang="es-MX" sz="2200" dirty="0" err="1">
                <a:ea typeface="ＭＳ Ｐゴシック" pitchFamily="34" charset="-128"/>
              </a:rPr>
              <a:t>Tree</a:t>
            </a:r>
            <a:r>
              <a:rPr lang="es-MX" sz="2200" dirty="0">
                <a:ea typeface="ＭＳ Ｐゴシック" pitchFamily="34" charset="-128"/>
              </a:rPr>
              <a:t>, </a:t>
            </a:r>
            <a:r>
              <a:rPr lang="es-MX" sz="2200" dirty="0" err="1">
                <a:ea typeface="ＭＳ Ｐゴシック" pitchFamily="34" charset="-128"/>
              </a:rPr>
              <a:t>Unique</a:t>
            </a:r>
            <a:r>
              <a:rPr lang="es-MX" sz="2200" dirty="0">
                <a:ea typeface="ＭＳ Ｐゴシック" pitchFamily="34" charset="-128"/>
              </a:rPr>
              <a:t> y </a:t>
            </a:r>
            <a:r>
              <a:rPr lang="es-MX" sz="2200" dirty="0" err="1">
                <a:ea typeface="ＭＳ Ｐゴシック" pitchFamily="34" charset="-128"/>
              </a:rPr>
              <a:t>Function-Based</a:t>
            </a:r>
            <a:r>
              <a:rPr lang="es-MX" sz="2200" dirty="0">
                <a:ea typeface="ＭＳ Ｐゴシック" pitchFamily="34" charset="-128"/>
              </a:rPr>
              <a:t> y cómo afectan en el plan de ejecución de una sentencia SQL.</a:t>
            </a:r>
          </a:p>
        </p:txBody>
      </p:sp>
    </p:spTree>
    <p:extLst>
      <p:ext uri="{BB962C8B-B14F-4D97-AF65-F5344CB8AC3E}">
        <p14:creationId xmlns:p14="http://schemas.microsoft.com/office/powerpoint/2010/main" val="540675517"/>
      </p:ext>
    </p:extLst>
  </p:cSld>
  <p:clrMapOvr>
    <a:masterClrMapping/>
  </p:clrMapOvr>
</p:sld>
</file>

<file path=ppt/theme/theme1.xml><?xml version="1.0" encoding="utf-8"?>
<a:theme xmlns:a="http://schemas.openxmlformats.org/drawingml/2006/main"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Autofit/>
      </a:bodyPr>
      <a:lstStyle>
        <a:defPPr algn="l">
          <a:defRPr sz="2400" dirty="0"/>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8585</TotalTime>
  <Words>3603</Words>
  <Application>Microsoft Office PowerPoint</Application>
  <PresentationFormat>Presentación en pantalla (4:3)</PresentationFormat>
  <Paragraphs>358</Paragraphs>
  <Slides>23</Slides>
  <Notes>21</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23</vt:i4>
      </vt:variant>
    </vt:vector>
  </HeadingPairs>
  <TitlesOfParts>
    <vt:vector size="33" baseType="lpstr">
      <vt:lpstr>Franklin Gothic</vt:lpstr>
      <vt:lpstr>Roboto Mono</vt:lpstr>
      <vt:lpstr>Calibri</vt:lpstr>
      <vt:lpstr>Bebas Neue</vt:lpstr>
      <vt:lpstr>Roboto</vt:lpstr>
      <vt:lpstr>Arial Unicode MS</vt:lpstr>
      <vt:lpstr>Roboto Condensed</vt:lpstr>
      <vt:lpstr>Arial</vt:lpstr>
      <vt:lpstr>ＭＳ Ｐゴシック</vt:lpstr>
      <vt:lpstr>Tema de Office</vt:lpstr>
      <vt:lpstr>Creación de Índices para mejorar el acceso a los Datos</vt:lpstr>
      <vt:lpstr>Experiencia de Aprendizaje y Competencia Asociada</vt:lpstr>
      <vt:lpstr>Objetivos de la Clase</vt:lpstr>
      <vt:lpstr>Creación de Índices  y su efecto en el  Plan de Ejecución  de una sentencia SQL</vt:lpstr>
      <vt:lpstr>Conceptos de Índices</vt:lpstr>
      <vt:lpstr>Conceptos de Índices</vt:lpstr>
      <vt:lpstr>Consideraciones si se desea crear Índices</vt:lpstr>
      <vt:lpstr>Factores  importantes al decidir usar Índices</vt:lpstr>
      <vt:lpstr>Cómo decidir si de deben crear Índices a las Tablas</vt:lpstr>
      <vt:lpstr>Tipos de Índices</vt:lpstr>
      <vt:lpstr>Creación de Índices B-Tree, Unique y Function-Based</vt:lpstr>
      <vt:lpstr>Creación de Índices B-Tree, Unique y Function-Based</vt:lpstr>
      <vt:lpstr>Planes de Ejecución cuando se han creado Índices</vt:lpstr>
      <vt:lpstr>Planes de Ejecución cuando se han creado Índices</vt:lpstr>
      <vt:lpstr>Planes de Ejecución cuando se han creado Índices</vt:lpstr>
      <vt:lpstr>Planes de Ejecución cuando se han creado Índices</vt:lpstr>
      <vt:lpstr>Planes de Ejecución cuando se han creado Índices</vt:lpstr>
      <vt:lpstr>Planes de Ejecución cuando se han creado Índices</vt:lpstr>
      <vt:lpstr>Planes de Ejecución cuando se han creado Índices</vt:lpstr>
      <vt:lpstr>Planes de Ejecución cuando se han creado Índices</vt:lpstr>
      <vt:lpstr>Estadísticas de los objetos para el uso de Índices</vt:lpstr>
      <vt:lpstr>Eliminación de Índices Creados</vt:lpstr>
      <vt:lpstr>Resumen de la Clase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Y GESTIÓN DE REQUISITOS</dc:title>
  <dc:creator>Alejandra Gajardo</dc:creator>
  <cp:lastModifiedBy>Usuario de Windows</cp:lastModifiedBy>
  <cp:revision>832</cp:revision>
  <dcterms:modified xsi:type="dcterms:W3CDTF">2020-06-24T16:27:34Z</dcterms:modified>
</cp:coreProperties>
</file>