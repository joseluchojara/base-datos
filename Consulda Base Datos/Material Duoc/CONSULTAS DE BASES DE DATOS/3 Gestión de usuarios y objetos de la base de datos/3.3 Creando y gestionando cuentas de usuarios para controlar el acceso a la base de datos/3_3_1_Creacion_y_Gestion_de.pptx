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7"/>
  </p:notesMasterIdLst>
  <p:sldIdLst>
    <p:sldId id="367" r:id="rId2"/>
    <p:sldId id="339" r:id="rId3"/>
    <p:sldId id="369" r:id="rId4"/>
    <p:sldId id="258" r:id="rId5"/>
    <p:sldId id="409" r:id="rId6"/>
    <p:sldId id="407" r:id="rId7"/>
    <p:sldId id="429" r:id="rId8"/>
    <p:sldId id="408" r:id="rId9"/>
    <p:sldId id="410" r:id="rId10"/>
    <p:sldId id="268" r:id="rId11"/>
    <p:sldId id="415" r:id="rId12"/>
    <p:sldId id="430" r:id="rId13"/>
    <p:sldId id="416" r:id="rId14"/>
    <p:sldId id="431" r:id="rId15"/>
    <p:sldId id="432" r:id="rId16"/>
    <p:sldId id="279" r:id="rId17"/>
    <p:sldId id="417" r:id="rId18"/>
    <p:sldId id="434" r:id="rId19"/>
    <p:sldId id="269" r:id="rId20"/>
    <p:sldId id="304" r:id="rId21"/>
    <p:sldId id="425" r:id="rId22"/>
    <p:sldId id="435" r:id="rId23"/>
    <p:sldId id="400" r:id="rId24"/>
    <p:sldId id="426" r:id="rId25"/>
    <p:sldId id="314" r:id="rId26"/>
  </p:sldIdLst>
  <p:sldSz cx="9144000" cy="6858000" type="screen4x3"/>
  <p:notesSz cx="6858000" cy="9144000"/>
  <p:embeddedFontLst>
    <p:embeddedFont>
      <p:font typeface="Franklin Gothic" panose="020B0604020202020204" charset="0"/>
      <p:regular r:id="rId28"/>
      <p:bold r:id="rId29"/>
      <p:italic r:id="rId30"/>
      <p:boldItalic r:id="rId31"/>
    </p:embeddedFont>
    <p:embeddedFont>
      <p:font typeface="Calibri" panose="020F0502020204030204" pitchFamily="34" charset="0"/>
      <p:regular r:id="rId32"/>
      <p:bold r:id="rId33"/>
      <p:italic r:id="rId34"/>
      <p:boldItalic r:id="rId35"/>
    </p:embeddedFont>
    <p:embeddedFont>
      <p:font typeface="Roboto Condensed" panose="020B0604020202020204" charset="0"/>
      <p:regular r:id="rId36"/>
      <p:bold r:id="rId37"/>
      <p:italic r:id="rId38"/>
      <p:boldItalic r:id="rId39"/>
    </p:embeddedFont>
    <p:embeddedFont>
      <p:font typeface="Arial Unicode MS" panose="020B0604020202020204" pitchFamily="34" charset="-128"/>
      <p:regular r:id="rId40"/>
    </p:embeddedFont>
    <p:embeddedFont>
      <p:font typeface="Roboto Mono" panose="020B0604020202020204" charset="0"/>
      <p:regular r:id="rId41"/>
      <p:bold r:id="rId42"/>
      <p:italic r:id="rId43"/>
      <p:boldItalic r:id="rId44"/>
    </p:embeddedFont>
    <p:embeddedFont>
      <p:font typeface="Bebas Neue" panose="020B0604020202020204" charset="0"/>
      <p:regular r:id="rId45"/>
    </p:embeddedFont>
    <p:embeddedFont>
      <p:font typeface="ＭＳ Ｐゴシック" panose="020B0600070205080204" pitchFamily="34" charset="-128"/>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8850" autoAdjust="0"/>
  </p:normalViewPr>
  <p:slideViewPr>
    <p:cSldViewPr snapToGrid="0" snapToObjects="1">
      <p:cViewPr varScale="1">
        <p:scale>
          <a:sx n="92" d="100"/>
          <a:sy n="92" d="100"/>
        </p:scale>
        <p:origin x="21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71447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63392f1e7f_0_4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63392f1e7f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9570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p:txBody>
      </p:sp>
    </p:spTree>
    <p:extLst>
      <p:ext uri="{BB962C8B-B14F-4D97-AF65-F5344CB8AC3E}">
        <p14:creationId xmlns:p14="http://schemas.microsoft.com/office/powerpoint/2010/main" val="2873502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63392f1e7f_0_5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63392f1e7f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7813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Acceso a la Base de Datos a nivel de Sistema</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En entornos de múltiples usuarios, la seguridad del acceso y uso de la base de datos se logra controlando el acceso a la base de datos, otorgando privilegios el acceso a objetos específicos en la base de datos y verificando los otorgados y recibidos consultando el diccionario de datos de la base de datos.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La seguridad de la base de datos se puede clasificar en dos categorías: seguridad del sistema y seguridad de datos. En la experiencia de aprendizaje anterior vimos cómo controlar la seguridad de los datos a través de los privilegios otorgados a los usuarios. En esta experiencia, el enfoque será la seguridad en el acceso y el uso de la base de datos a nivel del sistema como el nombre de usuario y la contraseña, el espacio en disco asignado a los usuarios y las operaciones del sistema que los usuarios pueden realizar. </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Una de las más básicas tareas de un administrador de base de datos es identificar los usuarios. Cada usuario que se conecta en la base de datos debe de tener una cuenta. Las cuentas de usuarios pueden ser individuales o compartidas por varias personas. En las cuentas compartidas es difíciles de aplicar una auditoria.</a:t>
            </a:r>
          </a:p>
        </p:txBody>
      </p:sp>
    </p:spTree>
    <p:extLst>
      <p:ext uri="{BB962C8B-B14F-4D97-AF65-F5344CB8AC3E}">
        <p14:creationId xmlns:p14="http://schemas.microsoft.com/office/powerpoint/2010/main" val="299362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Tipos de Usuarios de una Base de Datos</a:t>
            </a:r>
            <a:endPar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sym typeface="Arial"/>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La diversidad de usuarios de un sistema de base de datos (SGBD) depende del diseño de las aplicaciones. Por esta razón, no existe una clasificación exacta de ellos. Sin embargo, existe una clasificación general que se relaciona con la arquitectura de las aplicaciones y sus funciones:</a:t>
            </a:r>
          </a:p>
          <a:p>
            <a:pPr marL="171450" lvl="0" indent="-171450" algn="just">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Administrador de base de datos o DBA:</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 el usuario que tiene el control centralizado de la base de datos y es el responsable de su funcionamiento. Es el quien autoriza el acceso a la base de datos, coordina y monitorea su utilización. </a:t>
            </a:r>
          </a:p>
          <a:p>
            <a:pPr marL="171450" lvl="0" indent="-171450" algn="just">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Diseñadores de bases de datos: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se encargan de identificar los datos que se almacenarán en la base de datos y de elegir las estructuras apropiadas para almacenar dichos datos. Generalmente estas tareas se realizan antes de que se implemente la base de datos. Los diseñadores tienen la responsabilidad de comunicarse con los futuros usuarios de la base de datos con el fin de presentar y elaborar un diseño que </a:t>
            </a:r>
          </a:p>
          <a:p>
            <a:pPr marL="171450" lvl="0" indent="-171450" algn="just">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Operadores y personal de mantenimiento:</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son los responsables del funcionamiento y mantenimiento real del entorno software y hardware del sistema de base de datos.</a:t>
            </a:r>
          </a:p>
          <a:p>
            <a:pPr marL="171450" lvl="0" indent="-171450" algn="just">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Usuarios finales: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son las personas cuyo trabajo consiste en acceder a la base de datos para consultarla, modificarla y generar informes. La base de datos existe para que estos usuarios la utilicen. Existen las siguientes categorías de usuarios finales: </a:t>
            </a:r>
          </a:p>
          <a:p>
            <a:pPr marL="628650" lvl="1" indent="-171450" algn="just">
              <a:buFont typeface="Courier New" panose="02070309020205020404" pitchFamily="49" charset="0"/>
              <a:buChar char="o"/>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Usuarios ocasionales: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acceden de vez en cuando a la base de datos, pero es muy probable que necesiten información diferente en cada ocasión y suelen ser gerentes de nivel medio o alto u otras personas que acceden a la base de datos ocasionalmente.</a:t>
            </a:r>
          </a:p>
          <a:p>
            <a:pPr marL="628650" lvl="1" indent="-171450" algn="just">
              <a:buFont typeface="Courier New" panose="02070309020205020404" pitchFamily="49" charset="0"/>
              <a:buChar char="o"/>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Usuarios simples: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suelen ser la mayor cantidad de la totalidad de los usuarios finales. La función principal de su trabajo gira en torno a consultas y actualizaciones constantes de la base de datos, utilizando tipos de consultas y actualizaciones. estándar. </a:t>
            </a:r>
          </a:p>
          <a:p>
            <a:pPr marL="628650" lvl="1" indent="-171450" algn="just">
              <a:buFont typeface="Courier New" panose="02070309020205020404" pitchFamily="49" charset="0"/>
              <a:buChar char="o"/>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Usuarios avanzados: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 personal altamente calificado que está suficientemente familiarizado con los recursos del SGBD como para implementar sus propias aplicaciones y satisfacer sus deferentes necesidades. </a:t>
            </a:r>
          </a:p>
          <a:p>
            <a:pPr marL="628650" lvl="1" indent="-171450" algn="just">
              <a:buFont typeface="Courier New" panose="02070309020205020404" pitchFamily="49" charset="0"/>
              <a:buChar char="o"/>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Usuarios autónomos: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utilizan bases de datos personalizadas a través de programas comerciales que cuentan con interfaces de fácil uso basados en menús o en gráficos. Este tipo de usuarios adquieren gran habilidad para utilizar un software específico.  </a:t>
            </a:r>
          </a:p>
          <a:p>
            <a:pPr marL="171450" lvl="0" indent="-171450" algn="just">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Profesionales Informáticos (Analistas de sistemas y Programadores de aplicaciones):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aunque no se consideran usuarios en sí de una base de datos, sí es conveniente conocer la figura de estos para una mejor compresión de la estructura de un SGBD.  </a:t>
            </a:r>
          </a:p>
          <a:p>
            <a:pPr marL="628650" lvl="1" indent="-171450" algn="just">
              <a:buFont typeface="Courier New" panose="02070309020205020404" pitchFamily="49" charset="0"/>
              <a:buChar char="o"/>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Analistas de sistemas: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son profesionales informáticos que determinan los requerimientos de los usuarios finales y desarrollan especificaciones para transacciones que satisfagan esos requerimientos.  </a:t>
            </a:r>
          </a:p>
          <a:p>
            <a:pPr marL="628650" lvl="1" indent="-171450" algn="just">
              <a:buFont typeface="Courier New" panose="02070309020205020404" pitchFamily="49" charset="0"/>
              <a:buChar char="o"/>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Programadores de aplicaciones: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implementan las especificaciones definidas en forma de programas, efectúan las pruebas, optimizan, documentan y mantienen esas transacciones programadas</a:t>
            </a:r>
            <a:endParaRPr lang="es-CL"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0412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Cuentas de Usuarios de Base de Datos</a:t>
            </a:r>
            <a:endPar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sym typeface="Arial"/>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Desde el punto de vista de base de datos, un usuario es un conjunto de permisos que se aplican a una conexión de base de datos, para que pueda manipular objetos de la base de datos y efectuar acciones en la base de datos.</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Para acceder a una base de datos, se debe especificar una cuenta de usuario de base de datos válida y autenticarse correctamente según los requisitos de dicha cuenta. Cada usuario de base de datos debería tener una cuenta de base de única. Esto es recomendable para evitar posibles problemas de seguridad y proporcionar datos significativos cuando se efectúan ciertas auditorías. Sin embargo, cuando los usuarios comparten una cuenta de base de datos común, el sistema operativo y las aplicaciones deben debe proporcionar la seguridad para la base de datos.</a:t>
            </a:r>
          </a:p>
        </p:txBody>
      </p:sp>
    </p:spTree>
    <p:extLst>
      <p:ext uri="{BB962C8B-B14F-4D97-AF65-F5344CB8AC3E}">
        <p14:creationId xmlns:p14="http://schemas.microsoft.com/office/powerpoint/2010/main" val="10149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Cuentas de Usuarios de Base de Datos</a:t>
            </a:r>
            <a:endPar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sym typeface="Arial"/>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Una cuenta de usuario consta de lo siguiente:</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Nombre de usuario único:</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los nombres de usuarios no pueden contener más de 30 caracteres, ni contener caracteres especiales y deben comenzar con una letra.</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Método de autenticación:</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el método más común de autenticación es una contraseña (o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password</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pero Oracle 11g soporta los métodos de autenticación por contraseña, global y externa (como la autenticación biométrica, certificado y token).</a:t>
            </a:r>
          </a:p>
          <a:p>
            <a:pPr marL="171450" lvl="0" indent="-171450">
              <a:buFont typeface="Arial" panose="020B0604020202020204" pitchFamily="34" charset="0"/>
              <a:buChar char="•"/>
            </a:pPr>
            <a:r>
              <a:rPr lang="es-CL" sz="1200" b="1"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por defecto:</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este el lugar en el que el usuario creará objetos si no se especifica ningún otro al momento de crear la cuenta. Si embargo, para que el usuario pueda crear objetos en ese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se le debe otorgar los privilegios que corresponden. Para este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se debe indicar cuánto espacio cuánto es el espacio que el usuario podrá usar.</a:t>
            </a:r>
          </a:p>
          <a:p>
            <a:pPr marL="171450" lvl="0" indent="-171450">
              <a:buFont typeface="Arial" panose="020B0604020202020204" pitchFamily="34" charset="0"/>
              <a:buChar char="•"/>
            </a:pPr>
            <a:r>
              <a:rPr lang="es-CL" sz="1200" b="1"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temporal:</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 un lugar en el que la base de datos, por ejemplo, realiza el ordenamiento de los datos y creará las tablas temporales del usuario. Para este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no se indica cuánto es el espacio que el usuario podrá usar.</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Perfil de usuario:</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 un conjunto de restricciones de recursos y contraseñas asignadas al usuario. Si no se le asigna un perfil específico, la base de datos le asigna un perfil por defecto ya definido en la base de datos.</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Grupo consumidor inicial</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 una opción de que utiliza el gestor de recursos de la base de datos.</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Estado de cuenta:</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los usuarios solo pueden acceder a las cuentas cuando están desbloqueadas (estado OPEN). Las cuentas pueden tener el estado de bloqueada o caducada. </a:t>
            </a:r>
          </a:p>
          <a:p>
            <a:pPr marL="0" lvl="0" indent="0">
              <a:buFont typeface="Arial" panose="020B0604020202020204"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una base de datos Oracle existen varias cuentas predefinas para efectuar las tareas de administración de la base de datos y no para tareas rutinarias. Las dos cuentas de usuarios más conocidas son SYS, SYSTEM y ADMIN las que tienen otorgado por defecto el rol de administrador de base de datos (DBA). Además, la cuenta SYS es propietaria del diccionario de datos. Para conectarse a la cuenta SYS, se debe utilizar la cláusula AS SYSDBA. Las cuentas ADMIN y SYSTEM tienen otorgados roles especiales para efectuar la mayoría de las tareas de administración de la base de datos. Las cuentas SYS y SYSTEM son cuentas necesarias en la base de datos, por lo tanto, no se pueden eliminar.</a:t>
            </a:r>
            <a:endParaRPr lang="es-CL" sz="12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88664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Esquema del Usuario</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baseline="0" dirty="0">
                <a:latin typeface="Calibri" panose="020F0502020204030204" pitchFamily="34" charset="0"/>
                <a:cs typeface="Calibri" panose="020F0502020204030204" pitchFamily="34" charset="0"/>
              </a:rPr>
              <a:t>Un esquema es un conjunto de objetos de base de datos propiedad de un usuario y tiene el mismo nombre que ese usuario. Los objetos de base de datos son estructuras lógicas que de alguna forma todos hacen referencia a los datos almacenados en la base de datos. Estos objetos se pueden crear y manipular usando SQL y entre los más comunes podemos nombrar:</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baseline="0" dirty="0">
                <a:latin typeface="Calibri" panose="020F0502020204030204" pitchFamily="34" charset="0"/>
                <a:cs typeface="Calibri" panose="020F0502020204030204" pitchFamily="34" charset="0"/>
              </a:rPr>
              <a:t>Tablas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baseline="0" dirty="0">
                <a:latin typeface="Calibri" panose="020F0502020204030204" pitchFamily="34" charset="0"/>
                <a:cs typeface="Calibri" panose="020F0502020204030204" pitchFamily="34" charset="0"/>
              </a:rPr>
              <a:t>Vistas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baseline="0" dirty="0">
                <a:latin typeface="Calibri" panose="020F0502020204030204" pitchFamily="34" charset="0"/>
                <a:cs typeface="Calibri" panose="020F0502020204030204" pitchFamily="34" charset="0"/>
              </a:rPr>
              <a:t>Sinónimos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baseline="0" dirty="0">
                <a:latin typeface="Calibri" panose="020F0502020204030204" pitchFamily="34" charset="0"/>
                <a:cs typeface="Calibri" panose="020F0502020204030204" pitchFamily="34" charset="0"/>
              </a:rPr>
              <a:t>Secuencias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baseline="0" dirty="0">
                <a:latin typeface="Calibri" panose="020F0502020204030204" pitchFamily="34" charset="0"/>
                <a:cs typeface="Calibri" panose="020F0502020204030204" pitchFamily="34" charset="0"/>
              </a:rPr>
              <a:t>Índices (Claves Primarias, Índices B-</a:t>
            </a:r>
            <a:r>
              <a:rPr lang="es-CL" sz="1200" b="0" baseline="0" dirty="0" err="1">
                <a:latin typeface="Calibri" panose="020F0502020204030204" pitchFamily="34" charset="0"/>
                <a:cs typeface="Calibri" panose="020F0502020204030204" pitchFamily="34" charset="0"/>
              </a:rPr>
              <a:t>Tree</a:t>
            </a:r>
            <a:r>
              <a:rPr lang="es-CL" sz="1200" b="0" baseline="0" dirty="0">
                <a:latin typeface="Calibri" panose="020F0502020204030204" pitchFamily="34" charset="0"/>
                <a:cs typeface="Calibri" panose="020F0502020204030204" pitchFamily="34" charset="0"/>
              </a:rPr>
              <a:t>, etc.)</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baseline="0" dirty="0">
                <a:latin typeface="Calibri" panose="020F0502020204030204" pitchFamily="34" charset="0"/>
                <a:cs typeface="Calibri" panose="020F0502020204030204" pitchFamily="34" charset="0"/>
              </a:rPr>
              <a:t>Clases Java</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baseline="0" dirty="0">
                <a:latin typeface="Calibri" panose="020F0502020204030204" pitchFamily="34" charset="0"/>
                <a:cs typeface="Calibri" panose="020F0502020204030204" pitchFamily="34" charset="0"/>
              </a:rPr>
              <a:t>Vistas Materializadas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baseline="0" dirty="0">
                <a:latin typeface="Calibri" panose="020F0502020204030204" pitchFamily="34" charset="0"/>
                <a:cs typeface="Calibri" panose="020F0502020204030204" pitchFamily="34" charset="0"/>
              </a:rPr>
              <a:t>Programas PL/SQL (Procedimientos, Funciones, </a:t>
            </a:r>
            <a:r>
              <a:rPr lang="es-CL" sz="1200" b="0" baseline="0" dirty="0" err="1">
                <a:latin typeface="Calibri" panose="020F0502020204030204" pitchFamily="34" charset="0"/>
                <a:cs typeface="Calibri" panose="020F0502020204030204" pitchFamily="34" charset="0"/>
              </a:rPr>
              <a:t>Package</a:t>
            </a:r>
            <a:r>
              <a:rPr lang="es-CL" sz="1200" b="0" baseline="0" dirty="0">
                <a:latin typeface="Calibri" panose="020F0502020204030204" pitchFamily="34" charset="0"/>
                <a:cs typeface="Calibri" panose="020F0502020204030204" pitchFamily="34" charset="0"/>
              </a:rPr>
              <a:t>, </a:t>
            </a:r>
            <a:r>
              <a:rPr lang="es-CL" sz="1200" b="0" baseline="0" dirty="0" err="1">
                <a:latin typeface="Calibri" panose="020F0502020204030204" pitchFamily="34" charset="0"/>
                <a:cs typeface="Calibri" panose="020F0502020204030204" pitchFamily="34" charset="0"/>
              </a:rPr>
              <a:t>Triggers</a:t>
            </a:r>
            <a:r>
              <a:rPr lang="es-CL" sz="1200" b="0" baseline="0" dirty="0">
                <a:latin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Cuando se crea un usuario de base de datos automáticamente se crea un esquema con el mismo nombre. El propietario de un esquema tiene el control completo sobre sus propios objetos de esquema y, si posee los privilegios apropiados, puede otorgar permiso a otros usuarios para utilizarlos. </a:t>
            </a:r>
            <a:endParaRPr lang="es-CL" sz="1200" b="0" baseline="0" dirty="0">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baseline="0" dirty="0">
                <a:latin typeface="Calibri" panose="020F0502020204030204" pitchFamily="34" charset="0"/>
                <a:cs typeface="Calibri" panose="020F0502020204030204" pitchFamily="34" charset="0"/>
              </a:rPr>
              <a:t>Hay que tener presente que un usuario de base de datos no necesariamente es una persona. Una práctica común es crear un usuario que posea un esquema con todos los objetos necesarios de una aplicación y que ese usuario sea usado por diferentes personas según el rol que tengan dentro de la empresa. Sin embargo, esto también va a depender del diseño de la aplicación en términos de control de accesos y uso de la base de datos.</a:t>
            </a:r>
          </a:p>
        </p:txBody>
      </p:sp>
    </p:spTree>
    <p:extLst>
      <p:ext uri="{BB962C8B-B14F-4D97-AF65-F5344CB8AC3E}">
        <p14:creationId xmlns:p14="http://schemas.microsoft.com/office/powerpoint/2010/main" val="3148994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158750" indent="0">
              <a:buNone/>
            </a:pPr>
            <a:endParaRPr lang="es-CL" dirty="0"/>
          </a:p>
        </p:txBody>
      </p:sp>
    </p:spTree>
    <p:extLst>
      <p:ext uri="{BB962C8B-B14F-4D97-AF65-F5344CB8AC3E}">
        <p14:creationId xmlns:p14="http://schemas.microsoft.com/office/powerpoint/2010/main" val="2942048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Creando una Cuenta de Usuario</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Un usuario es un nombre de acceso a la base de datos Oracle. Normalmente va asociado a una clave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password</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Las acciones que un usuario puede hacer en la base de datos dependiendo e de los privilegios que tenga asignados ya sea directamente o a través de un rol. El privilegio mínimo que un usuario debe tener es para poder conectarse a la base de datos a través de privilegio de sistema CREATE SESSION.</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El perfil que tenga asignado influye en los recursos del sistema de los que dispone el usuario.</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la sintaxis:</a:t>
            </a:r>
          </a:p>
          <a:p>
            <a:pPr marL="171450" lvl="0" indent="-171450">
              <a:buFont typeface="Arial" panose="020B0604020202020204" pitchFamily="34" charset="0"/>
              <a:buChar char="•"/>
            </a:pPr>
            <a:r>
              <a:rPr lang="es-CL" sz="1200" b="1" i="1"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usuario</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especifica el nombre del usuario a crear. Debe tener como máximo 30 caracteres, no puede caracteres especiales y debe comenzar con una letra.</a:t>
            </a:r>
          </a:p>
          <a:p>
            <a:pPr marL="171450" lvl="0" indent="-171450">
              <a:buFont typeface="Arial" panose="020B0604020202020204" pitchFamily="34" charset="0"/>
              <a:buChar char="•"/>
            </a:pPr>
            <a:r>
              <a:rPr lang="es-CL" sz="1200" b="1" i="1"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contraseña:</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indica que el usuario debe especificar esa contraseña para iniciar sesión en la base de datos. A contar de Oracle 11g, las contraseñas con CASE SENSITIVE. Además, desde la versión 12c (excepto en Oracle XE), las contraseñas deben cumplir con las siguientes condiciones:</a:t>
            </a:r>
          </a:p>
          <a:p>
            <a:pPr lvl="1"/>
            <a:r>
              <a:rPr lang="es-CL" sz="1100" b="0" i="0" u="none" strike="noStrike" cap="none" dirty="0">
                <a:solidFill>
                  <a:srgbClr val="000000"/>
                </a:solidFill>
                <a:effectLst/>
                <a:latin typeface="Arial"/>
                <a:ea typeface="Arial"/>
                <a:cs typeface="Arial"/>
                <a:sym typeface="Arial"/>
              </a:rPr>
              <a:t>Debe contener mínimo 12 caracteres.</a:t>
            </a:r>
          </a:p>
          <a:p>
            <a:pPr lvl="1"/>
            <a:r>
              <a:rPr lang="es-CL" sz="1100" b="0" i="0" u="none" strike="noStrike" cap="none" dirty="0">
                <a:solidFill>
                  <a:srgbClr val="000000"/>
                </a:solidFill>
                <a:effectLst/>
                <a:latin typeface="Arial"/>
                <a:ea typeface="Arial"/>
                <a:cs typeface="Arial"/>
                <a:sym typeface="Arial"/>
              </a:rPr>
              <a:t>Debe contener mínimo 1 </a:t>
            </a:r>
            <a:r>
              <a:rPr lang="es-CL" sz="1100" b="0" i="0" u="none" strike="noStrike" cap="none" dirty="0" err="1">
                <a:solidFill>
                  <a:srgbClr val="000000"/>
                </a:solidFill>
                <a:effectLst/>
                <a:latin typeface="Arial"/>
                <a:ea typeface="Arial"/>
                <a:cs typeface="Arial"/>
                <a:sym typeface="Arial"/>
              </a:rPr>
              <a:t>caracter</a:t>
            </a:r>
            <a:r>
              <a:rPr lang="es-CL" sz="1100" b="0" i="0" u="none" strike="noStrike" cap="none" dirty="0">
                <a:solidFill>
                  <a:srgbClr val="000000"/>
                </a:solidFill>
                <a:effectLst/>
                <a:latin typeface="Arial"/>
                <a:ea typeface="Arial"/>
                <a:cs typeface="Arial"/>
                <a:sym typeface="Arial"/>
              </a:rPr>
              <a:t> en minúscula</a:t>
            </a:r>
          </a:p>
          <a:p>
            <a:pPr lvl="1"/>
            <a:r>
              <a:rPr lang="es-CL" sz="1100" b="0" i="0" u="none" strike="noStrike" cap="none" dirty="0">
                <a:solidFill>
                  <a:srgbClr val="000000"/>
                </a:solidFill>
                <a:effectLst/>
                <a:latin typeface="Arial"/>
                <a:ea typeface="Arial"/>
                <a:cs typeface="Arial"/>
                <a:sym typeface="Arial"/>
              </a:rPr>
              <a:t>Debe contener mínimo 1 </a:t>
            </a:r>
            <a:r>
              <a:rPr lang="es-CL" sz="1100" b="0" i="0" u="none" strike="noStrike" cap="none" dirty="0" err="1">
                <a:solidFill>
                  <a:srgbClr val="000000"/>
                </a:solidFill>
                <a:effectLst/>
                <a:latin typeface="Arial"/>
                <a:ea typeface="Arial"/>
                <a:cs typeface="Arial"/>
                <a:sym typeface="Arial"/>
              </a:rPr>
              <a:t>caractere</a:t>
            </a:r>
            <a:r>
              <a:rPr lang="es-CL" sz="1100" b="0" i="0" u="none" strike="noStrike" cap="none" dirty="0">
                <a:solidFill>
                  <a:srgbClr val="000000"/>
                </a:solidFill>
                <a:effectLst/>
                <a:latin typeface="Arial"/>
                <a:ea typeface="Arial"/>
                <a:cs typeface="Arial"/>
                <a:sym typeface="Arial"/>
              </a:rPr>
              <a:t> en mayúscula</a:t>
            </a:r>
          </a:p>
          <a:p>
            <a:pPr lvl="1"/>
            <a:r>
              <a:rPr lang="es-CL" sz="1100" b="0" i="0" u="none" strike="noStrike" cap="none" dirty="0">
                <a:solidFill>
                  <a:srgbClr val="000000"/>
                </a:solidFill>
                <a:effectLst/>
                <a:latin typeface="Arial"/>
                <a:ea typeface="Arial"/>
                <a:cs typeface="Arial"/>
                <a:sym typeface="Arial"/>
              </a:rPr>
              <a:t>Debe contener mínimo 1 número</a:t>
            </a:r>
          </a:p>
          <a:p>
            <a:pPr lvl="1"/>
            <a:r>
              <a:rPr lang="es-CL" sz="1100" b="0" i="0" u="none" strike="noStrike" cap="none" dirty="0">
                <a:solidFill>
                  <a:srgbClr val="000000"/>
                </a:solidFill>
                <a:effectLst/>
                <a:latin typeface="Arial"/>
                <a:ea typeface="Arial"/>
                <a:cs typeface="Arial"/>
                <a:sym typeface="Arial"/>
              </a:rPr>
              <a:t>No puede contener el nombre de la cuenta de usuario</a:t>
            </a: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DEFAULT 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especifica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por defecto en que los objetos creados por el usuario quedarán almacenados. Si se omite esta cláusula, los objetos del usuario se almacenan en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por defecto de la base de datos de lo contrario se almacenan en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SYSTEM.</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TEMPORARY 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especifica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temporal del usuario. Si omite esta cláusula, entonces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temporal del usuario será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por defecto de la base de datos de lo contrario será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SYSTEM.</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QUOTA: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especifica la cantidad máxima de espacio asignado al usuario en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para almacenar sus objetos. Se puede indicar el tamaño en Kilobytes (K) o Megabytes (M). Si se especifica UNLIMITED el usuario tiene espacio ilimitado en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para almacenar sus objetos.</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PROFILE: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especifica el perfil que se desea asignar al usuario. El perfil limita la cantidad de recursos de base de datos que el usuario puede usar. Si omite esta cláusula, entonces la base de datos Oracle asigna el perfil DEFAULT al usuario.</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PASSWORD EXPIRE: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especifica que la contraseña del usuario caducará. Esta configuración obliga al usuario o al DBA a cambiar la contraseña antes de que el usuario pueda iniciar sesión en la base de datos.</a:t>
            </a:r>
          </a:p>
          <a:p>
            <a:pPr marL="17145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ACCOUNT LOCK|UNLOCK: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especifica si la cuenta estará bloqueada o desbloqueada. Si la cuenta está bloqueada, el usuario no podrá iniciar sesión en la base de datos. El valor por defecto es UNLOCK.</a:t>
            </a:r>
          </a:p>
          <a:p>
            <a:pPr marL="0" indent="0">
              <a:buFont typeface="Arial" panose="020B0604020202020204" pitchFamily="34" charset="0"/>
              <a:buNone/>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el ejemplo, se crea el usuario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desa_inf</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 su contraseña será Des_inf_12*24. Si la contraseña contiene caracteres especiales o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carateres</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mayúsuculas</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 minúsculas debe ir entre comillas dobles. El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tablespace</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por defecto para crear objetos es USERS (DATA Base de Datos Oracle Cloud) y se le ha asignado cuota ilimitada sobre este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tablespace</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Para que el usuario efectúa ordenamientos o pueda crear tablas temporales, se le ha asignado el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tablespace</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TEMP.  Una vez creado el usuario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desa_inf</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se le asigna el privilegio CREATE SESSION para que se puede conectar a la base de datos.</a:t>
            </a:r>
          </a:p>
        </p:txBody>
      </p:sp>
    </p:spTree>
    <p:extLst>
      <p:ext uri="{BB962C8B-B14F-4D97-AF65-F5344CB8AC3E}">
        <p14:creationId xmlns:p14="http://schemas.microsoft.com/office/powerpoint/2010/main" val="473735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Creando una Cuenta de Usuario</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primer ejemplo, se crea el usuario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desa_procesos</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La contraseña se especifica entre comillas dobles porque es case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sentive</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 decir debe ser ingresada con las letras mayúsculas y minúsculas tal como está especificada.  Los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tablespaces</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por defecto del usuario son USERS y TEMP. Una vez creado el usuario, se le otorga el privilegio para que se pueda conectar a la base de datos y se el otorga el rol RESOURCE para que pueda crear algunos objetos en la base de datos.</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segundo ejemplo, se crea el usuario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cons_inf</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con contraseña USR_cons.234. Como la contraseña es case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sensitive</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y posee un punto, debe ir entre comillas dobles, deberá ser ingresada tal como está escrita. Los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tablespaces</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por defecto del usuario serán USERS y TEMP y para crear objetos tiene asignado hasta 2 megabytes en el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USERS.</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Como al usuario no se le asignado el privilegio CREATE SESSION, cuando se intenta conectar a la base de datos, se visualiza el error de que el usuario no posee el privilegio por lo tanto, no se puede conectar.</a:t>
            </a:r>
          </a:p>
        </p:txBody>
      </p:sp>
    </p:spTree>
    <p:extLst>
      <p:ext uri="{BB962C8B-B14F-4D97-AF65-F5344CB8AC3E}">
        <p14:creationId xmlns:p14="http://schemas.microsoft.com/office/powerpoint/2010/main" val="3693748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Arial"/>
                <a:cs typeface="Arial" pitchFamily="34" charset="0"/>
                <a:sym typeface="Arial"/>
              </a:rPr>
              <a:t>Área de Almacenamiento para el Usuario</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Cuando se crea un objeto como tabla, vista materializada, claves primaria e índice se debe crear en un </a:t>
            </a:r>
            <a:r>
              <a:rPr kumimoji="0" lang="es-MX" sz="1200" b="0" i="0" u="none" strike="noStrike" kern="1200" cap="none" spc="0" normalizeH="0" baseline="0" noProof="0" dirty="0" err="1">
                <a:ln>
                  <a:noFill/>
                </a:ln>
                <a:solidFill>
                  <a:prstClr val="black"/>
                </a:solidFill>
                <a:effectLst/>
                <a:uLnTx/>
                <a:uFillTx/>
                <a:latin typeface="Calibri"/>
                <a:ea typeface="Arial"/>
                <a:cs typeface="Arial" pitchFamily="34" charset="0"/>
                <a:sym typeface="Arial"/>
              </a:rPr>
              <a:t>tablespace</a:t>
            </a: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 determinado. Un </a:t>
            </a:r>
            <a:r>
              <a:rPr kumimoji="0" lang="es-MX" sz="1200" b="0" i="0" u="none" strike="noStrike" kern="1200" cap="none" spc="0" normalizeH="0" baseline="0" noProof="0" dirty="0" err="1">
                <a:ln>
                  <a:noFill/>
                </a:ln>
                <a:solidFill>
                  <a:prstClr val="black"/>
                </a:solidFill>
                <a:effectLst/>
                <a:uLnTx/>
                <a:uFillTx/>
                <a:latin typeface="Calibri"/>
                <a:ea typeface="Arial"/>
                <a:cs typeface="Arial" pitchFamily="34" charset="0"/>
                <a:sym typeface="Arial"/>
              </a:rPr>
              <a:t>tablespace</a:t>
            </a: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 es una unidad lógica de almacenamiento dentro de una base de datos </a:t>
            </a:r>
            <a:r>
              <a:rPr kumimoji="0" lang="es-MX" sz="1200" b="0" i="0" u="none" strike="noStrike" kern="1200" cap="none" spc="0" normalizeH="0" baseline="0" noProof="0" dirty="0" err="1">
                <a:ln>
                  <a:noFill/>
                </a:ln>
                <a:solidFill>
                  <a:prstClr val="black"/>
                </a:solidFill>
                <a:effectLst/>
                <a:uLnTx/>
                <a:uFillTx/>
                <a:latin typeface="Calibri"/>
                <a:ea typeface="Arial"/>
                <a:cs typeface="Arial" pitchFamily="34" charset="0"/>
                <a:sym typeface="Arial"/>
              </a:rPr>
              <a:t>oracle</a:t>
            </a: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 y es el nexo con el almacenamiento físico en el sistema de archivo del Sistema Operativo. Cada </a:t>
            </a:r>
            <a:r>
              <a:rPr kumimoji="0" lang="es-MX" sz="1200" b="0" i="0" u="none" strike="noStrike" kern="1200" cap="none" spc="0" normalizeH="0" baseline="0" noProof="0" dirty="0" err="1">
                <a:ln>
                  <a:noFill/>
                </a:ln>
                <a:solidFill>
                  <a:prstClr val="black"/>
                </a:solidFill>
                <a:effectLst/>
                <a:uLnTx/>
                <a:uFillTx/>
                <a:latin typeface="Calibri"/>
                <a:ea typeface="Arial"/>
                <a:cs typeface="Arial" pitchFamily="34" charset="0"/>
                <a:sym typeface="Arial"/>
              </a:rPr>
              <a:t>tablespace</a:t>
            </a: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 se compone de, al menos, un </a:t>
            </a:r>
            <a:r>
              <a:rPr kumimoji="0" lang="es-MX" sz="1200" b="0" i="0" u="none" strike="noStrike" kern="1200" cap="none" spc="0" normalizeH="0" baseline="0" noProof="0" dirty="0" err="1">
                <a:ln>
                  <a:noFill/>
                </a:ln>
                <a:solidFill>
                  <a:prstClr val="black"/>
                </a:solidFill>
                <a:effectLst/>
                <a:uLnTx/>
                <a:uFillTx/>
                <a:latin typeface="Calibri"/>
                <a:ea typeface="Arial"/>
                <a:cs typeface="Arial" pitchFamily="34" charset="0"/>
                <a:sym typeface="Arial"/>
              </a:rPr>
              <a:t>datafile</a:t>
            </a: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 (archivo de datos) y un </a:t>
            </a:r>
            <a:r>
              <a:rPr kumimoji="0" lang="es-MX" sz="1200" b="0" i="0" u="none" strike="noStrike" kern="1200" cap="none" spc="0" normalizeH="0" baseline="0" noProof="0" dirty="0" err="1">
                <a:ln>
                  <a:noFill/>
                </a:ln>
                <a:solidFill>
                  <a:prstClr val="black"/>
                </a:solidFill>
                <a:effectLst/>
                <a:uLnTx/>
                <a:uFillTx/>
                <a:latin typeface="Calibri"/>
                <a:ea typeface="Arial"/>
                <a:cs typeface="Arial" pitchFamily="34" charset="0"/>
                <a:sym typeface="Arial"/>
              </a:rPr>
              <a:t>datafile</a:t>
            </a: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 solo puede pertenecer a un </a:t>
            </a:r>
            <a:r>
              <a:rPr kumimoji="0" lang="es-MX" sz="1200" b="0" i="0" u="none" strike="noStrike" kern="1200" cap="none" spc="0" normalizeH="0" baseline="0" noProof="0" dirty="0" err="1">
                <a:ln>
                  <a:noFill/>
                </a:ln>
                <a:solidFill>
                  <a:prstClr val="black"/>
                </a:solidFill>
                <a:effectLst/>
                <a:uLnTx/>
                <a:uFillTx/>
                <a:latin typeface="Calibri"/>
                <a:ea typeface="Arial"/>
                <a:cs typeface="Arial" pitchFamily="34" charset="0"/>
                <a:sym typeface="Arial"/>
              </a:rPr>
              <a:t>tablespace</a:t>
            </a: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En una base de datos Oracle existen 3 tipos de </a:t>
            </a:r>
            <a:r>
              <a:rPr kumimoji="0" lang="es-MX" sz="1200" b="0" i="0" u="none" strike="noStrike" kern="1200" cap="none" spc="0" normalizeH="0" baseline="0" noProof="0" dirty="0" err="1">
                <a:ln>
                  <a:noFill/>
                </a:ln>
                <a:solidFill>
                  <a:prstClr val="black"/>
                </a:solidFill>
                <a:effectLst/>
                <a:uLnTx/>
                <a:uFillTx/>
                <a:latin typeface="Calibri"/>
                <a:ea typeface="Arial"/>
                <a:cs typeface="Arial" pitchFamily="34" charset="0"/>
                <a:sym typeface="Arial"/>
              </a:rPr>
              <a:t>tablespaces</a:t>
            </a: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 Permanente, de </a:t>
            </a:r>
            <a:r>
              <a:rPr kumimoji="0" lang="es-MX" sz="1200" b="0" i="0" u="none" strike="noStrike" kern="1200" cap="none" spc="0" normalizeH="0" baseline="0" noProof="0" dirty="0" err="1">
                <a:ln>
                  <a:noFill/>
                </a:ln>
                <a:solidFill>
                  <a:prstClr val="black"/>
                </a:solidFill>
                <a:effectLst/>
                <a:uLnTx/>
                <a:uFillTx/>
                <a:latin typeface="Calibri"/>
                <a:ea typeface="Arial"/>
                <a:cs typeface="Arial" pitchFamily="34" charset="0"/>
                <a:sym typeface="Arial"/>
              </a:rPr>
              <a:t>Undo</a:t>
            </a: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 y Temporal.  Los objetos de los usuarios se almacenan en un </a:t>
            </a:r>
            <a:r>
              <a:rPr kumimoji="0" lang="es-MX" sz="1200" b="0" i="0" u="none" strike="noStrike" kern="1200" cap="none" spc="0" normalizeH="0" baseline="0" noProof="0" dirty="0" err="1">
                <a:ln>
                  <a:noFill/>
                </a:ln>
                <a:solidFill>
                  <a:prstClr val="black"/>
                </a:solidFill>
                <a:effectLst/>
                <a:uLnTx/>
                <a:uFillTx/>
                <a:latin typeface="Calibri"/>
                <a:ea typeface="Arial"/>
                <a:cs typeface="Arial" pitchFamily="34" charset="0"/>
                <a:sym typeface="Arial"/>
              </a:rPr>
              <a:t>tablespace</a:t>
            </a: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 Permanente.</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Los </a:t>
            </a:r>
            <a:r>
              <a:rPr kumimoji="0" lang="es-MX" sz="1200" b="0" i="0" u="none" strike="noStrike" kern="1200" cap="none" spc="0" normalizeH="0" baseline="0" noProof="0" dirty="0" err="1">
                <a:ln>
                  <a:noFill/>
                </a:ln>
                <a:solidFill>
                  <a:prstClr val="black"/>
                </a:solidFill>
                <a:effectLst/>
                <a:uLnTx/>
                <a:uFillTx/>
                <a:latin typeface="Calibri"/>
                <a:ea typeface="Arial"/>
                <a:cs typeface="Arial" pitchFamily="34" charset="0"/>
                <a:sym typeface="Arial"/>
              </a:rPr>
              <a:t>tablespace</a:t>
            </a:r>
            <a:r>
              <a:rPr kumimoji="0" lang="es-MX"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rPr>
              <a:t> de la base de datos los crea el DBA o un usuario que tenga el privilegio de sistema CREATE TABLESPACE. </a:t>
            </a:r>
          </a:p>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Arial"/>
              <a:cs typeface="Arial" pitchFamily="34" charset="0"/>
              <a:sym typeface="Arial"/>
            </a:endParaRPr>
          </a:p>
        </p:txBody>
      </p:sp>
    </p:spTree>
    <p:extLst>
      <p:ext uri="{BB962C8B-B14F-4D97-AF65-F5344CB8AC3E}">
        <p14:creationId xmlns:p14="http://schemas.microsoft.com/office/powerpoint/2010/main" val="3071385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Creando un Área de Almacenamiento</a:t>
            </a:r>
          </a:p>
          <a:p>
            <a:pPr marL="0" marR="0" lvl="0" indent="0" algn="l" defTabSz="914400" rtl="0" eaLnBrk="1" fontAlgn="base" latinLnBrk="0" hangingPunct="1">
              <a:lnSpc>
                <a:spcPct val="90000"/>
              </a:lnSpc>
              <a:spcBef>
                <a:spcPct val="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la sintaxis:</a:t>
            </a:r>
          </a:p>
          <a:p>
            <a:pPr marL="171450" indent="-171450">
              <a:buFont typeface="Arial" panose="020B0604020202020204" pitchFamily="34" charset="0"/>
              <a:buChar char="•"/>
            </a:pPr>
            <a:r>
              <a:rPr lang="es-MX" sz="1200" b="1" i="1"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nombre_tablespace</a:t>
            </a:r>
            <a:r>
              <a:rPr lang="es-MX"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es el nombre del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tablacespace</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permanente que se desea crear.</a:t>
            </a:r>
          </a:p>
          <a:p>
            <a:pPr marL="171450" indent="-171450">
              <a:buFont typeface="Arial" panose="020B0604020202020204" pitchFamily="34" charset="0"/>
              <a:buChar char="•"/>
            </a:pPr>
            <a:r>
              <a:rPr lang="es-MX"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DATAFILE </a:t>
            </a:r>
            <a:r>
              <a:rPr lang="en-US" sz="1200" b="1" i="1" u="none" strike="noStrike" cap="none" dirty="0" err="1">
                <a:solidFill>
                  <a:srgbClr val="000000"/>
                </a:solidFill>
                <a:latin typeface="Calibri" panose="020F0502020204030204" pitchFamily="34" charset="0"/>
                <a:ea typeface="Arial"/>
                <a:cs typeface="Calibri" panose="020F0502020204030204" pitchFamily="34" charset="0"/>
                <a:sym typeface="Arial"/>
              </a:rPr>
              <a:t>nombre_datafile</a:t>
            </a:r>
            <a:r>
              <a:rPr lang="en-US" sz="1200" b="1" i="0" u="none" strike="noStrike" cap="none" dirty="0">
                <a:solidFill>
                  <a:srgbClr val="000000"/>
                </a:solidFill>
                <a:latin typeface="Calibri" panose="020F0502020204030204" pitchFamily="34" charset="0"/>
                <a:ea typeface="Arial"/>
                <a:cs typeface="Calibri" panose="020F0502020204030204" pitchFamily="34" charset="0"/>
                <a:sym typeface="Arial"/>
              </a:rPr>
              <a:t>:</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especifica</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la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ruta</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y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nombre</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del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archivo</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físico</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en</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que se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almacenarán</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los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datos</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de los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objetos</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La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ruta</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debe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existir</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en</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el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servidor</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de lo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contrario</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cuando</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se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cree</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el tablespace se </a:t>
            </a:r>
            <a:r>
              <a:rPr lang="en-U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producirá</a:t>
            </a:r>
            <a:r>
              <a:rPr lang="en-U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un error.</a:t>
            </a:r>
          </a:p>
          <a:p>
            <a:pPr marL="171450" indent="-171450">
              <a:buFont typeface="Arial" panose="020B0604020202020204" pitchFamily="34" charset="0"/>
              <a:buChar char="•"/>
            </a:pPr>
            <a:r>
              <a:rPr lang="es-MX"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SIZE </a:t>
            </a:r>
            <a:r>
              <a:rPr lang="es-MX" sz="1200" b="1" i="1"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tamaño</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indica el tamaño en kilobytes o megabytes del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datafile</a:t>
            </a:r>
            <a:endPar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a:p>
            <a:pPr marL="171450" indent="-171450" algn="l" eaLnBrk="1" hangingPunct="1">
              <a:buFont typeface="Arial" panose="020B0604020202020204" pitchFamily="34" charset="0"/>
              <a:buChar char="•"/>
            </a:pPr>
            <a:r>
              <a:rPr lang="en-US" sz="1200" b="1" i="0" u="none" strike="noStrike" cap="none" dirty="0">
                <a:solidFill>
                  <a:srgbClr val="000000"/>
                </a:solidFill>
                <a:latin typeface="Calibri" panose="020F0502020204030204" pitchFamily="34" charset="0"/>
                <a:ea typeface="Arial"/>
                <a:cs typeface="Calibri" panose="020F0502020204030204" pitchFamily="34" charset="0"/>
                <a:sym typeface="Arial"/>
              </a:rPr>
              <a:t>EXTENT MANAGEMENT LOCAL:</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indica que el espacio de las tablas se administrará localmente a partir de un mapa de bits creado para cada objeto.</a:t>
            </a:r>
            <a:endParaRPr lang="en-US"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indent="-171450" algn="l" eaLnBrk="1" hangingPunct="1">
              <a:buFont typeface="Arial" panose="020B0604020202020204" pitchFamily="34" charset="0"/>
              <a:buChar char="•"/>
            </a:pPr>
            <a:r>
              <a:rPr lang="en-US" sz="1200" b="1" i="0" u="none" strike="noStrike" cap="none" dirty="0">
                <a:solidFill>
                  <a:srgbClr val="000000"/>
                </a:solidFill>
                <a:latin typeface="Calibri" panose="020F0502020204030204" pitchFamily="34" charset="0"/>
                <a:ea typeface="Arial"/>
                <a:cs typeface="Calibri" panose="020F0502020204030204" pitchFamily="34" charset="0"/>
                <a:sym typeface="Arial"/>
              </a:rPr>
              <a:t>SEGMENT SPACE MANAGEMENT AUTO: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especifica que será la base de datos quien efectúe la administración del espacio libre y ocupado del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tablespace</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permanente</a:t>
            </a:r>
          </a:p>
          <a:p>
            <a:pPr marL="0" indent="0" algn="l" eaLnBrk="1" hangingPunct="1">
              <a:buFont typeface="Arial" panose="020B0604020202020204" pitchFamily="34" charset="0"/>
              <a:buNone/>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el ejemplo, primero se crea el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tablespace</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ctacte_datos</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con el archivo de datos(</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datafile</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datos_ctacte01.dbf de 50 megabytes y que físicamente se creará en la ruta  C:\oraclexe\datos_sistema_ctacte</a:t>
            </a:r>
          </a:p>
          <a:p>
            <a:pPr marL="0" indent="0" algn="l" eaLnBrk="1" hangingPunct="1">
              <a:buFont typeface="Arial" panose="020B0604020202020204" pitchFamily="34" charset="0"/>
              <a:buNone/>
            </a:pP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NOTA: En versión gratuita de la base de datos  Oracle Cloud (de Oracle </a:t>
            </a:r>
            <a:r>
              <a:rPr lang="es-CL" sz="1200" b="1"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Academy</a:t>
            </a: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no se puede crear un nuevo </a:t>
            </a:r>
            <a:r>
              <a:rPr lang="es-CL" sz="1200" b="1"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tablespace</a:t>
            </a: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ya que el usuario ADMIN no posee los privilegios para hacerlo. En las versiones de Oracle Cloud no hay </a:t>
            </a:r>
            <a:r>
              <a:rPr lang="es-CL" sz="1200" b="1"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incoveniente</a:t>
            </a:r>
            <a:r>
              <a:rPr lang="es-CL"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ya que se puede trabajar con los usuarios SYS y SYSTEM.</a:t>
            </a:r>
            <a:endParaRPr lang="es-MX"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p:txBody>
      </p:sp>
    </p:spTree>
    <p:extLst>
      <p:ext uri="{BB962C8B-B14F-4D97-AF65-F5344CB8AC3E}">
        <p14:creationId xmlns:p14="http://schemas.microsoft.com/office/powerpoint/2010/main" val="2025401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9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Creando un Área de Almacenamiento</a:t>
            </a:r>
          </a:p>
          <a:p>
            <a:pPr marL="0" marR="0" lvl="0" indent="0" algn="just" defTabSz="914400" rtl="0" eaLnBrk="1" fontAlgn="base" latinLnBrk="0" hangingPunct="1">
              <a:lnSpc>
                <a:spcPct val="9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A continuación, se crea el </a:t>
            </a:r>
            <a:r>
              <a:rPr kumimoji="0" lang="es-MX" sz="1200" b="0" i="0" u="none" strike="noStrike" kern="1200" cap="none" spc="0" normalizeH="0" baseline="0" noProof="0" dirty="0" err="1">
                <a:ln>
                  <a:noFill/>
                </a:ln>
                <a:solidFill>
                  <a:prstClr val="black"/>
                </a:solidFill>
                <a:effectLst/>
                <a:uLnTx/>
                <a:uFillTx/>
                <a:latin typeface="Calibri" panose="020F0502020204030204" pitchFamily="34" charset="0"/>
                <a:ea typeface="Arial"/>
                <a:cs typeface="Calibri" panose="020F0502020204030204" pitchFamily="34" charset="0"/>
                <a:sym typeface="Arial"/>
              </a:rPr>
              <a:t>tablepace</a:t>
            </a:r>
            <a:r>
              <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 </a:t>
            </a:r>
            <a:r>
              <a:rPr kumimoji="0" lang="es-MX" sz="1200" b="0" i="0" u="none" strike="noStrike" kern="1200" cap="none" spc="0" normalizeH="0" baseline="0" noProof="0" dirty="0" err="1">
                <a:ln>
                  <a:noFill/>
                </a:ln>
                <a:solidFill>
                  <a:prstClr val="black"/>
                </a:solidFill>
                <a:effectLst/>
                <a:uLnTx/>
                <a:uFillTx/>
                <a:latin typeface="Calibri" panose="020F0502020204030204" pitchFamily="34" charset="0"/>
                <a:ea typeface="Arial"/>
                <a:cs typeface="Calibri" panose="020F0502020204030204" pitchFamily="34" charset="0"/>
                <a:sym typeface="Arial"/>
              </a:rPr>
              <a:t>ctacte_indices</a:t>
            </a:r>
            <a:r>
              <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 El </a:t>
            </a:r>
            <a:r>
              <a:rPr kumimoji="0" lang="es-MX" sz="1200" b="0" i="0" u="none" strike="noStrike" kern="1200" cap="none" spc="0" normalizeH="0" baseline="0" noProof="0" dirty="0" err="1">
                <a:ln>
                  <a:noFill/>
                </a:ln>
                <a:solidFill>
                  <a:prstClr val="black"/>
                </a:solidFill>
                <a:effectLst/>
                <a:uLnTx/>
                <a:uFillTx/>
                <a:latin typeface="Calibri" panose="020F0502020204030204" pitchFamily="34" charset="0"/>
                <a:ea typeface="Arial"/>
                <a:cs typeface="Calibri" panose="020F0502020204030204" pitchFamily="34" charset="0"/>
                <a:sym typeface="Arial"/>
              </a:rPr>
              <a:t>datafile</a:t>
            </a:r>
            <a:r>
              <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 de este </a:t>
            </a:r>
            <a:r>
              <a:rPr kumimoji="0" lang="es-MX" sz="1200" b="0" i="0" u="none" strike="noStrike" kern="1200" cap="none" spc="0" normalizeH="0" baseline="0" noProof="0" dirty="0" err="1">
                <a:ln>
                  <a:noFill/>
                </a:ln>
                <a:solidFill>
                  <a:prstClr val="black"/>
                </a:solidFill>
                <a:effectLst/>
                <a:uLnTx/>
                <a:uFillTx/>
                <a:latin typeface="Calibri" panose="020F0502020204030204" pitchFamily="34" charset="0"/>
                <a:ea typeface="Arial"/>
                <a:cs typeface="Calibri" panose="020F0502020204030204" pitchFamily="34" charset="0"/>
                <a:sym typeface="Arial"/>
              </a:rPr>
              <a:t>tablespace</a:t>
            </a:r>
            <a:r>
              <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 se creará en la ruta C:\oraclexe\indices_sistema_ctacte con el nombre idx_ctacte01.dbf y con un tamaño de 10 megabytes. </a:t>
            </a:r>
          </a:p>
          <a:p>
            <a:pPr marL="0" marR="0" lvl="0" indent="0" algn="just" defTabSz="914400" rtl="0" eaLnBrk="1" fontAlgn="base" latinLnBrk="0" hangingPunct="1">
              <a:lnSpc>
                <a:spcPct val="9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Finalmente se crea el usuario </a:t>
            </a:r>
            <a:r>
              <a:rPr kumimoji="0" lang="es-MX" sz="1200" b="0" i="0" u="none" strike="noStrike" kern="1200" cap="none" spc="0" normalizeH="0" baseline="0" noProof="0" dirty="0" err="1">
                <a:ln>
                  <a:noFill/>
                </a:ln>
                <a:solidFill>
                  <a:prstClr val="black"/>
                </a:solidFill>
                <a:effectLst/>
                <a:uLnTx/>
                <a:uFillTx/>
                <a:latin typeface="Calibri" panose="020F0502020204030204" pitchFamily="34" charset="0"/>
                <a:ea typeface="Arial"/>
                <a:cs typeface="Calibri" panose="020F0502020204030204" pitchFamily="34" charset="0"/>
                <a:sym typeface="Arial"/>
              </a:rPr>
              <a:t>desa_sist_ctacte</a:t>
            </a:r>
            <a:r>
              <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 y su contraseña será DESA_ctate.1039. Los </a:t>
            </a:r>
            <a:r>
              <a:rPr kumimoji="0" lang="es-MX" sz="1200" b="0" i="0" u="none" strike="noStrike" kern="1200" cap="none" spc="0" normalizeH="0" baseline="0" noProof="0" dirty="0" err="1">
                <a:ln>
                  <a:noFill/>
                </a:ln>
                <a:solidFill>
                  <a:prstClr val="black"/>
                </a:solidFill>
                <a:effectLst/>
                <a:uLnTx/>
                <a:uFillTx/>
                <a:latin typeface="Calibri" panose="020F0502020204030204" pitchFamily="34" charset="0"/>
                <a:ea typeface="Arial"/>
                <a:cs typeface="Calibri" panose="020F0502020204030204" pitchFamily="34" charset="0"/>
                <a:sym typeface="Arial"/>
              </a:rPr>
              <a:t>tablespaces</a:t>
            </a:r>
            <a:r>
              <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 por defecto del usuario serán CTACTE_DATOS y TEMP.  El usuario tendrá cuota ilimitada para los </a:t>
            </a:r>
            <a:r>
              <a:rPr kumimoji="0" lang="es-MX" sz="1200" b="0" i="0" u="none" strike="noStrike" kern="1200" cap="none" spc="0" normalizeH="0" baseline="0" noProof="0" dirty="0" err="1">
                <a:ln>
                  <a:noFill/>
                </a:ln>
                <a:solidFill>
                  <a:prstClr val="black"/>
                </a:solidFill>
                <a:effectLst/>
                <a:uLnTx/>
                <a:uFillTx/>
                <a:latin typeface="Calibri" panose="020F0502020204030204" pitchFamily="34" charset="0"/>
                <a:ea typeface="Arial"/>
                <a:cs typeface="Calibri" panose="020F0502020204030204" pitchFamily="34" charset="0"/>
                <a:sym typeface="Arial"/>
              </a:rPr>
              <a:t>tablespace</a:t>
            </a:r>
            <a:r>
              <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 </a:t>
            </a:r>
            <a:r>
              <a:rPr kumimoji="0" lang="es-MX" sz="1200" b="0" i="0" u="none" strike="noStrike" kern="1200" cap="none" spc="0" normalizeH="0" baseline="0" noProof="0" dirty="0" err="1">
                <a:ln>
                  <a:noFill/>
                </a:ln>
                <a:solidFill>
                  <a:prstClr val="black"/>
                </a:solidFill>
                <a:effectLst/>
                <a:uLnTx/>
                <a:uFillTx/>
                <a:latin typeface="Calibri" panose="020F0502020204030204" pitchFamily="34" charset="0"/>
                <a:ea typeface="Arial"/>
                <a:cs typeface="Calibri" panose="020F0502020204030204" pitchFamily="34" charset="0"/>
                <a:sym typeface="Arial"/>
              </a:rPr>
              <a:t>ctacte_datos</a:t>
            </a:r>
            <a:r>
              <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 y </a:t>
            </a:r>
            <a:r>
              <a:rPr kumimoji="0" lang="es-MX" sz="1200" b="0" i="0" u="none" strike="noStrike" kern="1200" cap="none" spc="0" normalizeH="0" baseline="0" noProof="0" dirty="0" err="1">
                <a:ln>
                  <a:noFill/>
                </a:ln>
                <a:solidFill>
                  <a:prstClr val="black"/>
                </a:solidFill>
                <a:effectLst/>
                <a:uLnTx/>
                <a:uFillTx/>
                <a:latin typeface="Calibri" panose="020F0502020204030204" pitchFamily="34" charset="0"/>
                <a:ea typeface="Arial"/>
                <a:cs typeface="Calibri" panose="020F0502020204030204" pitchFamily="34" charset="0"/>
                <a:sym typeface="Arial"/>
              </a:rPr>
              <a:t>ctacte_índices</a:t>
            </a:r>
            <a:r>
              <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 Una vez creado el usuario, se le otorga el privilegio para que se pueda conectar a la base de datos y se le otorga el rol RESOURCE para que pueda crear algunos objetos en la base de datos.</a:t>
            </a:r>
          </a:p>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628370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Perfil de Usuario</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Un perfil es un conjunto de límites de recursos de la base de datos. Diferentes perfiles pueden ser asignados a diferentes usuarios. Los perfiles también gestionan el estado de las cuentas  establecen limitaciones en cuanto a las contraseñas de usuarios (longitud, fecha de vencimiento, etc.). A cada uno de los usuarios se le asigna a un perfil y puede pertenecer sólo a un perfil en un momento determinado. Si los usuarios ya se han conectado cuando cambia su perfil, el cambio no se aplica hasta la siguiente conexión. Si no se define un perfil cuando se crea el usuario, la base de datos le asigna el perfil DEFAULT. Casi todos los parámetros en este perfil tienen el valor UNLIMITED por lo que es necesario modificarlo o asignar otro perfil a los usuarios creados.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Los parámetros que se configuran en un perfil para limitar los recursos y la gestión de contraseñas son variados. Si no se define alguno, ese parámetro tomará el valor por defecto definido por la base de datos.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En esta asignatura, sólo veremos algunos de los parámetros básicos que se pueden definir en un perfil.</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p:txBody>
      </p:sp>
    </p:spTree>
    <p:extLst>
      <p:ext uri="{BB962C8B-B14F-4D97-AF65-F5344CB8AC3E}">
        <p14:creationId xmlns:p14="http://schemas.microsoft.com/office/powerpoint/2010/main" val="2636142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Creando un Perfil de Usuario</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la sintaxis:</a:t>
            </a:r>
          </a:p>
          <a:p>
            <a:pPr marL="171450" indent="-171450">
              <a:buFont typeface="Arial" panose="020B0604020202020204" pitchFamily="34" charset="0"/>
              <a:buChar char="•"/>
            </a:pPr>
            <a:r>
              <a:rPr lang="es-MX" sz="1200" b="1" i="1"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nombre_profile</a:t>
            </a:r>
            <a:r>
              <a:rPr lang="es-MX"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es el nombre del </a:t>
            </a:r>
            <a:r>
              <a:rPr lang="es-MX"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profile</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que se desea crear.</a:t>
            </a:r>
          </a:p>
          <a:p>
            <a:pPr marL="0" indent="0">
              <a:buFont typeface="Arial" panose="020B0604020202020204"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Parámetros de recursos: </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SESSIONS_PER_USER: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número de sesiones concurrentes de un usuario. </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CONNECT_TIME: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indica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cuántos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minutos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puede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estar</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conectado</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un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usuario</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antes de que se le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desconecte</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automáticamente</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la base de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datos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IDLE_TIME: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indica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cuántos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minutos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puede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permanecer</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inactiva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la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sesión</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un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usuario</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antes de que se le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desconecte</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automáticamente</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la base de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datos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a:t>
            </a:r>
          </a:p>
          <a:p>
            <a:pPr marL="0" lvl="0" indent="0">
              <a:buFont typeface="Arial" panose="020B0604020202020204" pitchFamily="34" charset="0"/>
              <a:buNone/>
            </a:pP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Gestión</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Contraseñas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a:t>
            </a:r>
          </a:p>
          <a:p>
            <a:pPr marL="171450" lvl="0" indent="-171450">
              <a:buFont typeface="Arial" panose="020B0604020202020204" pitchFamily="34" charset="0"/>
              <a:buChar char="•"/>
            </a:pPr>
            <a:r>
              <a:rPr lang="en-US" altLang="es-CL" sz="1200" b="1"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FAILED_LOGIN_ATTEMPTS: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especifica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el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número</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intentos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fallidos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conexión</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antes del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bloqueo</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la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cuenta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a:t>
            </a:r>
          </a:p>
          <a:p>
            <a:pPr marL="171450" lvl="0" indent="-171450">
              <a:buFont typeface="Arial" panose="020B0604020202020204" pitchFamily="34" charset="0"/>
              <a:buChar char="•"/>
            </a:pPr>
            <a:r>
              <a:rPr lang="en-US" altLang="es-CL" sz="1200" b="1"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PASSWORD_LOCK_TIME:</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especifica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el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número</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días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que se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bloqueará</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la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cuenta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tras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un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número</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intentos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fallidos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conexión</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altLang="es-CL" sz="1200" b="1"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PASSWORD_LIFE_TIME:</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determina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la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duración</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la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contraseña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en</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días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Después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ese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perríodo</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la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contraseña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caducará</a:t>
            </a:r>
            <a:r>
              <a:rPr lang="en-US" altLang="es-CL" sz="1200" b="0" i="0" u="none" strike="noStrike" cap="none">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a:t>
            </a:r>
            <a:endPar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altLang="es-CL" sz="1200" b="1"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PASSWORD_GRACE_TIME:</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especifica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un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período</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gracia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en</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días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para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cambiar</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la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contraseña</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después</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 de que ha </a:t>
            </a:r>
            <a:r>
              <a:rPr lang="en-US" altLang="es-CL" sz="1200" b="0" i="0" u="none" strike="noStrike" cap="none" dirty="0" err="1">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caducado</a:t>
            </a:r>
            <a:r>
              <a:rPr lang="en-US" altLang="es-CL" sz="1200" b="0" i="0" u="none" strike="noStrike" cap="none" dirty="0">
                <a:solidFill>
                  <a:srgbClr val="000000"/>
                </a:solidFill>
                <a:latin typeface="Calibri" panose="020F0502020204030204" pitchFamily="34" charset="0"/>
                <a:ea typeface="Arial"/>
                <a:cs typeface="Calibri" panose="020F0502020204030204" pitchFamily="34" charset="0"/>
                <a:sym typeface="Times New Roman" panose="02020603050405020304" pitchFamily="18" charset="0"/>
              </a:rPr>
              <a:t>.</a:t>
            </a:r>
          </a:p>
        </p:txBody>
      </p:sp>
    </p:spTree>
    <p:extLst>
      <p:ext uri="{BB962C8B-B14F-4D97-AF65-F5344CB8AC3E}">
        <p14:creationId xmlns:p14="http://schemas.microsoft.com/office/powerpoint/2010/main" val="378055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Creando un Perfil de Usuario</a:t>
            </a:r>
          </a:p>
          <a:p>
            <a:pPr marL="0" lvl="0" indent="0" algn="just">
              <a:buFont typeface="Arial" panose="020B0604020202020204" pitchFamily="34" charset="0"/>
              <a:buNone/>
            </a:pPr>
            <a:r>
              <a:rPr lang="en-US" altLang="es-CL" sz="1200" dirty="0" err="1">
                <a:latin typeface="Calibri" panose="020F0502020204030204" pitchFamily="34" charset="0"/>
                <a:cs typeface="Calibri" panose="020F0502020204030204" pitchFamily="34" charset="0"/>
                <a:sym typeface="Times New Roman" panose="02020603050405020304" pitchFamily="18" charset="0"/>
              </a:rPr>
              <a:t>En</a:t>
            </a:r>
            <a:r>
              <a:rPr lang="en-US" altLang="es-CL" sz="1200" dirty="0">
                <a:latin typeface="Calibri" panose="020F0502020204030204" pitchFamily="34" charset="0"/>
                <a:cs typeface="Calibri" panose="020F0502020204030204" pitchFamily="34" charset="0"/>
                <a:sym typeface="Times New Roman" panose="02020603050405020304" pitchFamily="18" charset="0"/>
              </a:rPr>
              <a:t> el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ejemplo</a:t>
            </a:r>
            <a:r>
              <a:rPr lang="en-US" altLang="es-CL" sz="1200" dirty="0">
                <a:latin typeface="Calibri" panose="020F0502020204030204" pitchFamily="34" charset="0"/>
                <a:cs typeface="Calibri" panose="020F0502020204030204" pitchFamily="34" charset="0"/>
                <a:sym typeface="Times New Roman" panose="02020603050405020304" pitchFamily="18" charset="0"/>
              </a:rPr>
              <a:t>, primero se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crea</a:t>
            </a:r>
            <a:r>
              <a:rPr lang="en-US" altLang="es-CL" sz="1200" dirty="0">
                <a:latin typeface="Calibri" panose="020F0502020204030204" pitchFamily="34" charset="0"/>
                <a:cs typeface="Calibri" panose="020F0502020204030204" pitchFamily="34" charset="0"/>
                <a:sym typeface="Times New Roman" panose="02020603050405020304" pitchFamily="18" charset="0"/>
              </a:rPr>
              <a:t> el profile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profile_ctacte</a:t>
            </a:r>
            <a:r>
              <a:rPr lang="en-US" altLang="es-CL" sz="1200" dirty="0">
                <a:latin typeface="Calibri" panose="020F0502020204030204" pitchFamily="34" charset="0"/>
                <a:cs typeface="Calibri" panose="020F0502020204030204" pitchFamily="34" charset="0"/>
                <a:sym typeface="Times New Roman" panose="02020603050405020304" pitchFamily="18" charset="0"/>
              </a:rPr>
              <a:t> que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especifica</a:t>
            </a:r>
            <a:r>
              <a:rPr lang="en-US" altLang="es-CL" sz="1200" dirty="0">
                <a:latin typeface="Calibri" panose="020F0502020204030204" pitchFamily="34" charset="0"/>
                <a:cs typeface="Calibri" panose="020F0502020204030204" pitchFamily="34" charset="0"/>
                <a:sym typeface="Times New Roman" panose="02020603050405020304" pitchFamily="18" charset="0"/>
              </a:rPr>
              <a:t> que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tiempo</a:t>
            </a:r>
            <a:r>
              <a:rPr lang="en-US" altLang="es-CL" sz="1200" dirty="0">
                <a:latin typeface="Calibri" panose="020F0502020204030204" pitchFamily="34" charset="0"/>
                <a:cs typeface="Calibri" panose="020F0502020204030204" pitchFamily="34" charset="0"/>
                <a:sym typeface="Times New Roman" panose="02020603050405020304" pitchFamily="18" charset="0"/>
              </a:rPr>
              <a:t> de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conexión</a:t>
            </a:r>
            <a:r>
              <a:rPr lang="en-US" altLang="es-CL" sz="1200" dirty="0">
                <a:latin typeface="Calibri" panose="020F0502020204030204" pitchFamily="34" charset="0"/>
                <a:cs typeface="Calibri" panose="020F0502020204030204" pitchFamily="34" charset="0"/>
                <a:sym typeface="Times New Roman" panose="02020603050405020304" pitchFamily="18" charset="0"/>
              </a:rPr>
              <a:t> del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usuario</a:t>
            </a:r>
            <a:r>
              <a:rPr lang="en-US" altLang="es-CL" sz="1200" dirty="0">
                <a:latin typeface="Calibri" panose="020F0502020204030204" pitchFamily="34" charset="0"/>
                <a:cs typeface="Calibri" panose="020F0502020204030204" pitchFamily="34" charset="0"/>
                <a:sym typeface="Times New Roman" panose="02020603050405020304" pitchFamily="18" charset="0"/>
              </a:rPr>
              <a:t> a la base de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datos</a:t>
            </a:r>
            <a:r>
              <a:rPr lang="en-US" altLang="es-CL" sz="1200" dirty="0">
                <a:latin typeface="Calibri" panose="020F0502020204030204" pitchFamily="34" charset="0"/>
                <a:cs typeface="Calibri" panose="020F0502020204030204" pitchFamily="34" charset="0"/>
                <a:sym typeface="Times New Roman" panose="02020603050405020304" pitchFamily="18" charset="0"/>
              </a:rPr>
              <a:t>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será</a:t>
            </a:r>
            <a:r>
              <a:rPr lang="en-US" altLang="es-CL" sz="1200" dirty="0">
                <a:latin typeface="Calibri" panose="020F0502020204030204" pitchFamily="34" charset="0"/>
                <a:cs typeface="Calibri" panose="020F0502020204030204" pitchFamily="34" charset="0"/>
                <a:sym typeface="Times New Roman" panose="02020603050405020304" pitchFamily="18" charset="0"/>
              </a:rPr>
              <a:t>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ilimitado</a:t>
            </a:r>
            <a:r>
              <a:rPr lang="en-US" altLang="es-CL" sz="1200" dirty="0">
                <a:latin typeface="Calibri" panose="020F0502020204030204" pitchFamily="34" charset="0"/>
                <a:cs typeface="Calibri" panose="020F0502020204030204" pitchFamily="34" charset="0"/>
                <a:sym typeface="Times New Roman" panose="02020603050405020304" pitchFamily="18" charset="0"/>
              </a:rPr>
              <a:t>, que a los 30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minutos</a:t>
            </a:r>
            <a:r>
              <a:rPr lang="en-US" altLang="es-CL" sz="1200" dirty="0">
                <a:latin typeface="Calibri" panose="020F0502020204030204" pitchFamily="34" charset="0"/>
                <a:cs typeface="Calibri" panose="020F0502020204030204" pitchFamily="34" charset="0"/>
                <a:sym typeface="Times New Roman" panose="02020603050405020304" pitchFamily="18" charset="0"/>
              </a:rPr>
              <a:t> de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inactividad</a:t>
            </a:r>
            <a:r>
              <a:rPr lang="en-US" altLang="es-CL" sz="1200" dirty="0">
                <a:latin typeface="Calibri" panose="020F0502020204030204" pitchFamily="34" charset="0"/>
                <a:cs typeface="Calibri" panose="020F0502020204030204" pitchFamily="34" charset="0"/>
                <a:sym typeface="Times New Roman" panose="02020603050405020304" pitchFamily="18" charset="0"/>
              </a:rPr>
              <a:t> el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usuario</a:t>
            </a:r>
            <a:r>
              <a:rPr lang="en-US" altLang="es-CL" sz="1200" dirty="0">
                <a:latin typeface="Calibri" panose="020F0502020204030204" pitchFamily="34" charset="0"/>
                <a:cs typeface="Calibri" panose="020F0502020204030204" pitchFamily="34" charset="0"/>
                <a:sym typeface="Times New Roman" panose="02020603050405020304" pitchFamily="18" charset="0"/>
              </a:rPr>
              <a:t>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será</a:t>
            </a:r>
            <a:r>
              <a:rPr lang="en-US" altLang="es-CL" sz="1200" dirty="0">
                <a:latin typeface="Calibri" panose="020F0502020204030204" pitchFamily="34" charset="0"/>
                <a:cs typeface="Calibri" panose="020F0502020204030204" pitchFamily="34" charset="0"/>
                <a:sym typeface="Times New Roman" panose="02020603050405020304" pitchFamily="18" charset="0"/>
              </a:rPr>
              <a:t>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desconectado</a:t>
            </a:r>
            <a:r>
              <a:rPr lang="en-US" altLang="es-CL" sz="1200" dirty="0">
                <a:latin typeface="Calibri" panose="020F0502020204030204" pitchFamily="34" charset="0"/>
                <a:cs typeface="Calibri" panose="020F0502020204030204" pitchFamily="34" charset="0"/>
                <a:sym typeface="Times New Roman" panose="02020603050405020304" pitchFamily="18" charset="0"/>
              </a:rPr>
              <a:t> de la base de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datos</a:t>
            </a:r>
            <a:r>
              <a:rPr lang="en-US" altLang="es-CL" sz="1200" dirty="0">
                <a:latin typeface="Calibri" panose="020F0502020204030204" pitchFamily="34" charset="0"/>
                <a:cs typeface="Calibri" panose="020F0502020204030204" pitchFamily="34" charset="0"/>
                <a:sym typeface="Times New Roman" panose="02020603050405020304" pitchFamily="18" charset="0"/>
              </a:rPr>
              <a:t>,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después</a:t>
            </a:r>
            <a:r>
              <a:rPr lang="en-US" altLang="es-CL" sz="1200" dirty="0">
                <a:latin typeface="Calibri" panose="020F0502020204030204" pitchFamily="34" charset="0"/>
                <a:cs typeface="Calibri" panose="020F0502020204030204" pitchFamily="34" charset="0"/>
                <a:sym typeface="Times New Roman" panose="02020603050405020304" pitchFamily="18" charset="0"/>
              </a:rPr>
              <a:t> de 3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intentos</a:t>
            </a:r>
            <a:r>
              <a:rPr lang="en-US" altLang="es-CL" sz="1200" dirty="0">
                <a:latin typeface="Calibri" panose="020F0502020204030204" pitchFamily="34" charset="0"/>
                <a:cs typeface="Calibri" panose="020F0502020204030204" pitchFamily="34" charset="0"/>
                <a:sym typeface="Times New Roman" panose="02020603050405020304" pitchFamily="18" charset="0"/>
              </a:rPr>
              <a:t>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fallidos</a:t>
            </a:r>
            <a:r>
              <a:rPr lang="en-US" altLang="es-CL" sz="1200" dirty="0">
                <a:latin typeface="Calibri" panose="020F0502020204030204" pitchFamily="34" charset="0"/>
                <a:cs typeface="Calibri" panose="020F0502020204030204" pitchFamily="34" charset="0"/>
                <a:sym typeface="Times New Roman" panose="02020603050405020304" pitchFamily="18" charset="0"/>
              </a:rPr>
              <a:t> de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conexión</a:t>
            </a:r>
            <a:r>
              <a:rPr lang="en-US" altLang="es-CL" sz="1200" dirty="0">
                <a:latin typeface="Calibri" panose="020F0502020204030204" pitchFamily="34" charset="0"/>
                <a:cs typeface="Calibri" panose="020F0502020204030204" pitchFamily="34" charset="0"/>
                <a:sym typeface="Times New Roman" panose="02020603050405020304" pitchFamily="18" charset="0"/>
              </a:rPr>
              <a:t> a la base de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datos</a:t>
            </a:r>
            <a:r>
              <a:rPr lang="en-US" altLang="es-CL" sz="1200" dirty="0">
                <a:latin typeface="Calibri" panose="020F0502020204030204" pitchFamily="34" charset="0"/>
                <a:cs typeface="Calibri" panose="020F0502020204030204" pitchFamily="34" charset="0"/>
                <a:sym typeface="Times New Roman" panose="02020603050405020304" pitchFamily="18" charset="0"/>
              </a:rPr>
              <a:t> la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cuenta</a:t>
            </a:r>
            <a:r>
              <a:rPr lang="en-US" altLang="es-CL" sz="1200" dirty="0">
                <a:latin typeface="Calibri" panose="020F0502020204030204" pitchFamily="34" charset="0"/>
                <a:cs typeface="Calibri" panose="020F0502020204030204" pitchFamily="34" charset="0"/>
                <a:sym typeface="Times New Roman" panose="02020603050405020304" pitchFamily="18" charset="0"/>
              </a:rPr>
              <a:t>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será</a:t>
            </a:r>
            <a:r>
              <a:rPr lang="en-US" altLang="es-CL" sz="1200" dirty="0">
                <a:latin typeface="Calibri" panose="020F0502020204030204" pitchFamily="34" charset="0"/>
                <a:cs typeface="Calibri" panose="020F0502020204030204" pitchFamily="34" charset="0"/>
                <a:sym typeface="Times New Roman" panose="02020603050405020304" pitchFamily="18" charset="0"/>
              </a:rPr>
              <a:t>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bloqueada</a:t>
            </a:r>
            <a:r>
              <a:rPr lang="en-US" altLang="es-CL" sz="1200" dirty="0">
                <a:latin typeface="Calibri" panose="020F0502020204030204" pitchFamily="34" charset="0"/>
                <a:cs typeface="Calibri" panose="020F0502020204030204" pitchFamily="34" charset="0"/>
                <a:sym typeface="Times New Roman" panose="02020603050405020304" pitchFamily="18" charset="0"/>
              </a:rPr>
              <a:t> por 1 </a:t>
            </a:r>
            <a:r>
              <a:rPr lang="en-US" altLang="es-CL" sz="1200" dirty="0" err="1">
                <a:latin typeface="Calibri" panose="020F0502020204030204" pitchFamily="34" charset="0"/>
                <a:cs typeface="Calibri" panose="020F0502020204030204" pitchFamily="34" charset="0"/>
                <a:sym typeface="Times New Roman" panose="02020603050405020304" pitchFamily="18" charset="0"/>
              </a:rPr>
              <a:t>día</a:t>
            </a:r>
            <a:r>
              <a:rPr lang="en-US" altLang="es-CL" sz="1200" dirty="0">
                <a:latin typeface="Calibri" panose="020F0502020204030204" pitchFamily="34" charset="0"/>
                <a:cs typeface="Calibri" panose="020F0502020204030204" pitchFamily="34" charset="0"/>
                <a:sym typeface="Times New Roman" panose="02020603050405020304" pitchFamily="18" charset="0"/>
              </a:rPr>
              <a:t>.</a:t>
            </a:r>
          </a:p>
          <a:p>
            <a:pPr marL="0" lvl="0" indent="0" algn="just">
              <a:buFont typeface="Arial" panose="020B0604020202020204" pitchFamily="34" charset="0"/>
              <a:buNone/>
            </a:pPr>
            <a:r>
              <a:rPr lang="es-MX" altLang="es-CL" sz="1200" dirty="0">
                <a:latin typeface="Calibri" panose="020F0502020204030204" pitchFamily="34" charset="0"/>
                <a:cs typeface="Calibri" panose="020F0502020204030204" pitchFamily="34" charset="0"/>
                <a:sym typeface="Times New Roman" panose="02020603050405020304" pitchFamily="18" charset="0"/>
              </a:rPr>
              <a:t>Posteriormente, se crea el usuario </a:t>
            </a:r>
            <a:r>
              <a:rPr lang="es-MX" altLang="es-CL" sz="1200" dirty="0" err="1">
                <a:latin typeface="Calibri" panose="020F0502020204030204" pitchFamily="34" charset="0"/>
                <a:cs typeface="Calibri" panose="020F0502020204030204" pitchFamily="34" charset="0"/>
                <a:sym typeface="Times New Roman" panose="02020603050405020304" pitchFamily="18" charset="0"/>
              </a:rPr>
              <a:t>cons_sist_ctacte</a:t>
            </a:r>
            <a:r>
              <a:rPr lang="es-MX" altLang="es-CL" sz="1200" dirty="0">
                <a:latin typeface="Calibri" panose="020F0502020204030204" pitchFamily="34" charset="0"/>
                <a:cs typeface="Calibri" panose="020F0502020204030204" pitchFamily="34" charset="0"/>
                <a:sym typeface="Times New Roman" panose="02020603050405020304" pitchFamily="18" charset="0"/>
              </a:rPr>
              <a:t> y su contraseña será Cons_ctate_20. Los </a:t>
            </a:r>
            <a:r>
              <a:rPr lang="es-MX" altLang="es-CL" sz="1200" dirty="0" err="1">
                <a:latin typeface="Calibri" panose="020F0502020204030204" pitchFamily="34" charset="0"/>
                <a:cs typeface="Calibri" panose="020F0502020204030204" pitchFamily="34" charset="0"/>
                <a:sym typeface="Times New Roman" panose="02020603050405020304" pitchFamily="18" charset="0"/>
              </a:rPr>
              <a:t>tablespaces</a:t>
            </a:r>
            <a:r>
              <a:rPr lang="es-MX" altLang="es-CL" sz="1200" dirty="0">
                <a:latin typeface="Calibri" panose="020F0502020204030204" pitchFamily="34" charset="0"/>
                <a:cs typeface="Calibri" panose="020F0502020204030204" pitchFamily="34" charset="0"/>
                <a:sym typeface="Times New Roman" panose="02020603050405020304" pitchFamily="18" charset="0"/>
              </a:rPr>
              <a:t> por defecto del usuario serán USERS y TEMP, su perfil será PROFILE_CTACTE. Una vez creado el usuario, se le otorga el privilegio para que se pueda conectar a la base de datos</a:t>
            </a:r>
          </a:p>
          <a:p>
            <a:pPr marL="0" lvl="0" indent="0">
              <a:buFont typeface="Arial" panose="020B0604020202020204" pitchFamily="34" charset="0"/>
              <a:buNone/>
            </a:pPr>
            <a:endParaRPr lang="es-CL" sz="1200" b="0" baseline="0" dirty="0"/>
          </a:p>
          <a:p>
            <a:pPr marL="0" lvl="0" indent="0">
              <a:buFont typeface="Arial" panose="020B0604020202020204" pitchFamily="34" charset="0"/>
              <a:buNone/>
            </a:pPr>
            <a:endParaRPr lang="es-CL" sz="1200" b="0" baseline="0" dirty="0"/>
          </a:p>
        </p:txBody>
      </p:sp>
    </p:spTree>
    <p:extLst>
      <p:ext uri="{BB962C8B-B14F-4D97-AF65-F5344CB8AC3E}">
        <p14:creationId xmlns:p14="http://schemas.microsoft.com/office/powerpoint/2010/main" val="19235054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158750" indent="0">
              <a:buNone/>
            </a:pPr>
            <a:endParaRPr lang="es-CL" dirty="0"/>
          </a:p>
        </p:txBody>
      </p:sp>
    </p:spTree>
    <p:extLst>
      <p:ext uri="{BB962C8B-B14F-4D97-AF65-F5344CB8AC3E}">
        <p14:creationId xmlns:p14="http://schemas.microsoft.com/office/powerpoint/2010/main" val="116229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Modificando Cuentas de Usuarios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Una vez que se ha creado una cuenta de usuario, es posible que se requieran efectuarles modificaciones. Para este caso, se debe utilizar la sentencia ALTER USER. Las modificaciones más comunes son:</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Modificar la contraseña.</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Modificar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por defecto.</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Modificar la cuota asignada a un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Modificar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temporal.</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Modificar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profile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asignado.</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Desbloquear la cuenta del usuario.</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s-CL" sz="1200" b="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endParaRPr>
          </a:p>
        </p:txBody>
      </p:sp>
    </p:spTree>
    <p:extLst>
      <p:ext uri="{BB962C8B-B14F-4D97-AF65-F5344CB8AC3E}">
        <p14:creationId xmlns:p14="http://schemas.microsoft.com/office/powerpoint/2010/main" val="1013139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Modificando Cuentas de Usuarios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la sintaxis, la opción:</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IDENTIFIED BY:</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modifica la contraseña</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DEFAULT 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permite modificar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por defecto</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TEMPORARY 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modifica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temporal</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QUOTA </a:t>
            </a:r>
            <a:r>
              <a:rPr lang="es-CL" sz="1200" b="1" i="1"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valor</a:t>
            </a: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{K | M} ON:</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modifica la cuota asignada al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tablespace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que se especifica</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PROFILE: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cambia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profile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del usuario con el que se especifica</a:t>
            </a:r>
          </a:p>
          <a:p>
            <a:pPr marL="171450" lvl="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DEFAULT ROLE: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asigna los roles por defecto que se especifican</a:t>
            </a:r>
          </a:p>
          <a:p>
            <a:pPr marL="171450" indent="-171450">
              <a:buFont typeface="Arial" panose="020B0604020202020204" pitchFamily="34" charset="0"/>
              <a:buChar cha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ACCOUNT {LOCK|UNLOCK:</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bloquea o desbloquea la cuenta del usuario. </a:t>
            </a:r>
          </a:p>
          <a:p>
            <a:pPr marL="0" indent="0">
              <a:buFont typeface="Arial" panose="020B0604020202020204" pitchFamily="34" charset="0"/>
              <a:buNone/>
            </a:pP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En</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el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ejemplo</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se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modifica</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la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constraseña</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de la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cuenta</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cons_sist_ctacte</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 Cons_ctacte.0108,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su</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tablespace por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defecto</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será</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ctacte_datos</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podrá</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usar</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hasta 1 megabytes de </a:t>
            </a:r>
            <a:r>
              <a:rPr lang="en-US"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esa</a:t>
            </a:r>
            <a:r>
              <a:rPr lang="en-US"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tablespace.</a:t>
            </a:r>
            <a:endPar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p:txBody>
      </p:sp>
    </p:spTree>
    <p:extLst>
      <p:ext uri="{BB962C8B-B14F-4D97-AF65-F5344CB8AC3E}">
        <p14:creationId xmlns:p14="http://schemas.microsoft.com/office/powerpoint/2010/main" val="20685949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Creando un Perfil de Usuario</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Una vez que se ha creado un perfil, es posible que se requieran efectuarles modificaciones. Para este caso, se debe utilizar la sentencia ALTER PROFILE. Se pueden modificar todos los parámetros de recursos y de contraseñas.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ES" sz="1200" dirty="0"/>
              <a:t>Los cambios que se realizan en un perfil solo afectarán a los usuarios, a quienes se les asignó previamente el perfil, en sus sesiones posteriores, no si están conectados al momento de modificar el perfil.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primer ejemplo, se modifica el perfil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profile_ctacte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para que la cantidad de intentos fallidos de conexión sea 10 veces y para que la cuenta de usuario esté bloqueada por 2 días después de los intentos fallidos de conexión definidos.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segundo ejemplo, el perfil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profile_ctacte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se modifica para que la clave de las cuentas de usuarios no caduquen.</a:t>
            </a:r>
          </a:p>
        </p:txBody>
      </p:sp>
    </p:spTree>
    <p:extLst>
      <p:ext uri="{BB962C8B-B14F-4D97-AF65-F5344CB8AC3E}">
        <p14:creationId xmlns:p14="http://schemas.microsoft.com/office/powerpoint/2010/main" val="17044654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Eliminando Cuentas de Usuarios</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Si se desean eliminar una cuenta de usuario se debe usar la sentencia DROP USER. Si se intenta eliminar un usuario que posee objetos creados en su esquema o en otros esquemas, se producirá un error si no se incluye la opción CASCADE. La otra opción es primero eliminar en forma explícita todos los objetos que son de propiedad del usuario.</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La base de datos Oracle invalida, pero no elimina, los siguientes objetos en otros esquemas:</a:t>
            </a:r>
          </a:p>
          <a:p>
            <a:pPr marL="171450" lvl="0" indent="-171450">
              <a:buFont typeface="Arial" panose="020B0604020202020204" pitchFamily="34" charset="0"/>
              <a:buChar cha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Vistas o sinónimos de objetos del usuario eliminado.</a:t>
            </a:r>
          </a:p>
          <a:p>
            <a:pPr marL="171450" lvl="0" indent="-171450">
              <a:buFont typeface="Arial" panose="020B0604020202020204" pitchFamily="34" charset="0"/>
              <a:buChar cha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Procedimientos, funciones y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package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que consultan objetos del usuario eliminado.</a:t>
            </a:r>
          </a:p>
          <a:p>
            <a:pPr marL="0" lvl="0" indent="0">
              <a:buFont typeface="Arial" panose="020B0604020202020204"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La base de datos Oracle no elimina las vistas materializadas en otros esquemas que se basan en tablas del usuario eliminado. Sin embargo, debido a que las tablas base ya no existen, las vistas materializadas en los otros esquemas ya no se pueden actualizar.</a:t>
            </a:r>
          </a:p>
          <a:p>
            <a:pPr marL="0" lvl="0" indent="0">
              <a:buFont typeface="Arial" panose="020B0604020202020204"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La base de datos Oracle no elimina los roles creados por el usuario que se elimina.</a:t>
            </a:r>
            <a:endParaRPr lang="es-CL" sz="1200" dirty="0">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14739163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Eliminando Cuentas de Usuarios</a:t>
            </a: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sym typeface="Arial"/>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la sintaxis:</a:t>
            </a:r>
          </a:p>
          <a:p>
            <a:pPr marL="171450" indent="-171450">
              <a:buFont typeface="Arial" panose="020B0604020202020204" pitchFamily="34" charset="0"/>
              <a:buChar char="•"/>
            </a:pPr>
            <a:r>
              <a:rPr lang="es-MX" sz="1200" b="1" i="1"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nombre_usuario</a:t>
            </a:r>
            <a:r>
              <a:rPr lang="es-MX"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es el usuario que se desea eliminar.</a:t>
            </a:r>
          </a:p>
          <a:p>
            <a:pPr marL="171450" indent="-171450">
              <a:buFont typeface="Arial" panose="020B0604020202020204" pitchFamily="34" charset="0"/>
              <a:buChar char="•"/>
            </a:pPr>
            <a:r>
              <a:rPr lang="es-MX"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CASCADE:</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permite eliminar todos los objetos en el esquema del usuario antes de que sea eliminado. </a:t>
            </a:r>
          </a:p>
          <a:p>
            <a:pPr marL="0" indent="0">
              <a:buFont typeface="Arial" panose="020B0604020202020204" pitchFamily="34" charset="0"/>
              <a:buNone/>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En el primer ejemplo, se elimina usuario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cons_sist_ctacte</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En el segundo ejemplo, la base de datos primero elimina todos los objetos (en el caso que existan objetos creados) y después se elimina el usuario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desa_sist_ctacte</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endParaRPr lang="es-MX" sz="1200" b="1" i="1"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p:txBody>
      </p:sp>
    </p:spTree>
    <p:extLst>
      <p:ext uri="{BB962C8B-B14F-4D97-AF65-F5344CB8AC3E}">
        <p14:creationId xmlns:p14="http://schemas.microsoft.com/office/powerpoint/2010/main" val="25183074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userDrawn="1">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p:nvPr/>
        </p:nvSpPr>
        <p:spPr>
          <a:xfrm flipH="1">
            <a:off x="-1" y="0"/>
            <a:ext cx="4629587"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 name="Google Shape;11;p2"/>
          <p:cNvPicPr preferRelativeResize="0"/>
          <p:nvPr/>
        </p:nvPicPr>
        <p:blipFill rotWithShape="1">
          <a:blip r:embed="rId2">
            <a:alphaModFix/>
          </a:blip>
          <a:srcRect/>
          <a:stretch/>
        </p:blipFill>
        <p:spPr>
          <a:xfrm>
            <a:off x="20" y="11958"/>
            <a:ext cx="4518116" cy="6840855"/>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2" name="Google Shape;12;p2"/>
          <p:cNvPicPr preferRelativeResize="0"/>
          <p:nvPr/>
        </p:nvPicPr>
        <p:blipFill rotWithShape="1">
          <a:blip r:embed="rId3">
            <a:alphaModFix/>
          </a:blip>
          <a:srcRect/>
          <a:stretch/>
        </p:blipFill>
        <p:spPr>
          <a:xfrm>
            <a:off x="5190123" y="212270"/>
            <a:ext cx="3748263" cy="586221"/>
          </a:xfrm>
          <a:prstGeom prst="rect">
            <a:avLst/>
          </a:prstGeom>
          <a:noFill/>
          <a:ln>
            <a:noFill/>
          </a:ln>
        </p:spPr>
      </p:pic>
      <p:sp>
        <p:nvSpPr>
          <p:cNvPr id="14" name="Google Shape;14;p2"/>
          <p:cNvSpPr txBox="1">
            <a:spLocks noGrp="1"/>
          </p:cNvSpPr>
          <p:nvPr>
            <p:ph type="subTitle" idx="1"/>
          </p:nvPr>
        </p:nvSpPr>
        <p:spPr>
          <a:xfrm>
            <a:off x="5284700" y="5620875"/>
            <a:ext cx="3603900" cy="873900"/>
          </a:xfrm>
          <a:prstGeom prst="rect">
            <a:avLst/>
          </a:prstGeom>
          <a:solidFill>
            <a:srgbClr val="DE3075"/>
          </a:solidFill>
          <a:ln>
            <a:noFill/>
          </a:ln>
        </p:spPr>
        <p:txBody>
          <a:bodyPr spcFirstLastPara="1" wrap="square" lIns="91425" tIns="0" rIns="182875" bIns="0" anchor="t" anchorCtr="0">
            <a:noAutofit/>
          </a:bodyPr>
          <a:lstStyle>
            <a:lvl1pPr lvl="0" algn="r" rtl="0">
              <a:spcBef>
                <a:spcPts val="1000"/>
              </a:spcBef>
              <a:spcAft>
                <a:spcPts val="0"/>
              </a:spcAft>
              <a:buNone/>
              <a:defRPr sz="4800" b="1">
                <a:solidFill>
                  <a:srgbClr val="FFFFFF"/>
                </a:solidFill>
                <a:latin typeface="Calibri" panose="020F0502020204030204" pitchFamily="34" charset="0"/>
                <a:cs typeface="Calibri" panose="020F0502020204030204" pitchFamily="34" charset="0"/>
              </a:defRPr>
            </a:lvl1pPr>
            <a:lvl2pPr lvl="1" algn="r" rtl="0">
              <a:spcBef>
                <a:spcPts val="1000"/>
              </a:spcBef>
              <a:spcAft>
                <a:spcPts val="0"/>
              </a:spcAft>
              <a:buNone/>
              <a:defRPr sz="4800" b="1">
                <a:solidFill>
                  <a:srgbClr val="FFFFFF"/>
                </a:solidFill>
              </a:defRPr>
            </a:lvl2pPr>
            <a:lvl3pPr lvl="2" algn="r" rtl="0">
              <a:spcBef>
                <a:spcPts val="1000"/>
              </a:spcBef>
              <a:spcAft>
                <a:spcPts val="0"/>
              </a:spcAft>
              <a:buNone/>
              <a:defRPr sz="4800" b="1">
                <a:solidFill>
                  <a:srgbClr val="FFFFFF"/>
                </a:solidFill>
              </a:defRPr>
            </a:lvl3pPr>
            <a:lvl4pPr lvl="3" algn="r" rtl="0">
              <a:spcBef>
                <a:spcPts val="1000"/>
              </a:spcBef>
              <a:spcAft>
                <a:spcPts val="0"/>
              </a:spcAft>
              <a:buNone/>
              <a:defRPr sz="4800" b="1">
                <a:solidFill>
                  <a:srgbClr val="FFFFFF"/>
                </a:solidFill>
              </a:defRPr>
            </a:lvl4pPr>
            <a:lvl5pPr lvl="4" algn="r" rtl="0">
              <a:spcBef>
                <a:spcPts val="1000"/>
              </a:spcBef>
              <a:spcAft>
                <a:spcPts val="0"/>
              </a:spcAft>
              <a:buNone/>
              <a:defRPr sz="4800" b="1">
                <a:solidFill>
                  <a:srgbClr val="FFFFFF"/>
                </a:solidFill>
              </a:defRPr>
            </a:lvl5pPr>
            <a:lvl6pPr lvl="5" algn="r" rtl="0">
              <a:spcBef>
                <a:spcPts val="1000"/>
              </a:spcBef>
              <a:spcAft>
                <a:spcPts val="0"/>
              </a:spcAft>
              <a:buNone/>
              <a:defRPr sz="4800" b="1">
                <a:solidFill>
                  <a:srgbClr val="FFFFFF"/>
                </a:solidFill>
              </a:defRPr>
            </a:lvl6pPr>
            <a:lvl7pPr lvl="6" algn="r" rtl="0">
              <a:spcBef>
                <a:spcPts val="1000"/>
              </a:spcBef>
              <a:spcAft>
                <a:spcPts val="0"/>
              </a:spcAft>
              <a:buNone/>
              <a:defRPr sz="4800" b="1">
                <a:solidFill>
                  <a:srgbClr val="FFFFFF"/>
                </a:solidFill>
              </a:defRPr>
            </a:lvl7pPr>
            <a:lvl8pPr lvl="7" algn="r" rtl="0">
              <a:spcBef>
                <a:spcPts val="1000"/>
              </a:spcBef>
              <a:spcAft>
                <a:spcPts val="0"/>
              </a:spcAft>
              <a:buNone/>
              <a:defRPr sz="4800" b="1">
                <a:solidFill>
                  <a:srgbClr val="FFFFFF"/>
                </a:solidFill>
              </a:defRPr>
            </a:lvl8pPr>
            <a:lvl9pPr lvl="8" algn="r" rtl="0">
              <a:spcBef>
                <a:spcPts val="1000"/>
              </a:spcBef>
              <a:spcAft>
                <a:spcPts val="0"/>
              </a:spcAft>
              <a:buNone/>
              <a:defRPr sz="4800" b="1">
                <a:solidFill>
                  <a:srgbClr val="FFFFFF"/>
                </a:solidFill>
              </a:defRPr>
            </a:lvl9pPr>
          </a:lstStyle>
          <a:p>
            <a:endParaRPr/>
          </a:p>
        </p:txBody>
      </p:sp>
      <p:sp>
        <p:nvSpPr>
          <p:cNvPr id="7" name="Google Shape;13;p2">
            <a:extLst>
              <a:ext uri="{FF2B5EF4-FFF2-40B4-BE49-F238E27FC236}">
                <a16:creationId xmlns:a16="http://schemas.microsoft.com/office/drawing/2014/main" xmlns="" id="{64854533-8DCC-1C49-8946-547AD8D471A7}"/>
              </a:ext>
            </a:extLst>
          </p:cNvPr>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lvl1pPr lvl="0" algn="r" rtl="0">
              <a:spcBef>
                <a:spcPts val="0"/>
              </a:spcBef>
              <a:spcAft>
                <a:spcPts val="0"/>
              </a:spcAft>
              <a:buNone/>
              <a:defRPr sz="6600">
                <a:latin typeface="Calibri" panose="020F0502020204030204" pitchFamily="34" charset="0"/>
                <a:cs typeface="Calibri" panose="020F0502020204030204" pitchFamily="34" charset="0"/>
              </a:defRPr>
            </a:lvl1pPr>
            <a:lvl2pPr lvl="1" algn="r" rtl="0">
              <a:spcBef>
                <a:spcPts val="0"/>
              </a:spcBef>
              <a:spcAft>
                <a:spcPts val="0"/>
              </a:spcAft>
              <a:buNone/>
              <a:defRPr sz="5600"/>
            </a:lvl2pPr>
            <a:lvl3pPr lvl="2" algn="r" rtl="0">
              <a:spcBef>
                <a:spcPts val="0"/>
              </a:spcBef>
              <a:spcAft>
                <a:spcPts val="0"/>
              </a:spcAft>
              <a:buNone/>
              <a:defRPr sz="5600"/>
            </a:lvl3pPr>
            <a:lvl4pPr lvl="3" algn="r" rtl="0">
              <a:spcBef>
                <a:spcPts val="0"/>
              </a:spcBef>
              <a:spcAft>
                <a:spcPts val="0"/>
              </a:spcAft>
              <a:buNone/>
              <a:defRPr sz="5600"/>
            </a:lvl4pPr>
            <a:lvl5pPr lvl="4" algn="r" rtl="0">
              <a:spcBef>
                <a:spcPts val="0"/>
              </a:spcBef>
              <a:spcAft>
                <a:spcPts val="0"/>
              </a:spcAft>
              <a:buNone/>
              <a:defRPr sz="5600"/>
            </a:lvl5pPr>
            <a:lvl6pPr lvl="5" algn="r" rtl="0">
              <a:spcBef>
                <a:spcPts val="0"/>
              </a:spcBef>
              <a:spcAft>
                <a:spcPts val="0"/>
              </a:spcAft>
              <a:buNone/>
              <a:defRPr sz="5600"/>
            </a:lvl6pPr>
            <a:lvl7pPr lvl="6" algn="r" rtl="0">
              <a:spcBef>
                <a:spcPts val="0"/>
              </a:spcBef>
              <a:spcAft>
                <a:spcPts val="0"/>
              </a:spcAft>
              <a:buNone/>
              <a:defRPr sz="5600"/>
            </a:lvl7pPr>
            <a:lvl8pPr lvl="7" algn="r" rtl="0">
              <a:spcBef>
                <a:spcPts val="0"/>
              </a:spcBef>
              <a:spcAft>
                <a:spcPts val="0"/>
              </a:spcAft>
              <a:buNone/>
              <a:defRPr sz="5600"/>
            </a:lvl8pPr>
            <a:lvl9pPr lvl="8" algn="r" rtl="0">
              <a:spcBef>
                <a:spcPts val="0"/>
              </a:spcBef>
              <a:spcAft>
                <a:spcPts val="0"/>
              </a:spcAft>
              <a:buNone/>
              <a:defRPr sz="5600"/>
            </a:lvl9pPr>
          </a:lstStyle>
          <a:p>
            <a:endParaRPr lang="es-ES_tradnl"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5177307" y="186298"/>
            <a:ext cx="3812148" cy="601304"/>
          </a:xfrm>
          <a:prstGeom prst="rect">
            <a:avLst/>
          </a:prstGeom>
          <a:noFill/>
          <a:ln>
            <a:noFill/>
          </a:ln>
        </p:spPr>
      </p:pic>
      <p:grpSp>
        <p:nvGrpSpPr>
          <p:cNvPr id="18" name="Google Shape;18;p3"/>
          <p:cNvGrpSpPr/>
          <p:nvPr/>
        </p:nvGrpSpPr>
        <p:grpSpPr>
          <a:xfrm>
            <a:off x="0" y="-124"/>
            <a:ext cx="4853665" cy="5740374"/>
            <a:chOff x="0" y="-126"/>
            <a:chExt cx="4554438" cy="5386482"/>
          </a:xfrm>
        </p:grpSpPr>
        <p:sp>
          <p:nvSpPr>
            <p:cNvPr id="19" name="Google Shape;19;p3"/>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0" name="Google Shape;20;p3"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1" name="Google Shape;21;p3"/>
          <p:cNvSpPr txBox="1">
            <a:spLocks noGrp="1"/>
          </p:cNvSpPr>
          <p:nvPr>
            <p:ph type="title"/>
          </p:nvPr>
        </p:nvSpPr>
        <p:spPr>
          <a:xfrm>
            <a:off x="3004575" y="3476150"/>
            <a:ext cx="5995800" cy="1603200"/>
          </a:xfrm>
          <a:prstGeom prst="rect">
            <a:avLst/>
          </a:prstGeom>
          <a:solidFill>
            <a:srgbClr val="DE3075">
              <a:alpha val="6429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3">
  <p:cSld name="TITLE_1_1">
    <p:bg>
      <p:bgPr>
        <a:solidFill>
          <a:schemeClr val="accent2"/>
        </a:solidFill>
        <a:effectLst/>
      </p:bgPr>
    </p:bg>
    <p:spTree>
      <p:nvGrpSpPr>
        <p:cNvPr id="1" name="Shape 29"/>
        <p:cNvGrpSpPr/>
        <p:nvPr/>
      </p:nvGrpSpPr>
      <p:grpSpPr>
        <a:xfrm>
          <a:off x="0" y="0"/>
          <a:ext cx="0" cy="0"/>
          <a:chOff x="0" y="0"/>
          <a:chExt cx="0" cy="0"/>
        </a:xfrm>
      </p:grpSpPr>
      <p:sp>
        <p:nvSpPr>
          <p:cNvPr id="30" name="Google Shape;30;p5"/>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1" name="Google Shape;31;p5"/>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2" name="Google Shape;32;p5" descr="Una caricatura de una ciudad&#10;&#10;Descripción generada automáticamente"/>
          <p:cNvPicPr preferRelativeResize="0"/>
          <p:nvPr/>
        </p:nvPicPr>
        <p:blipFill rotWithShape="1">
          <a:blip r:embed="rId3">
            <a:alphaModFix/>
          </a:blip>
          <a:srcRect l="9870" r="648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34" name="Google Shape;34;p5"/>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1" preserve="1">
  <p:cSld name="Título y objetos 1">
    <p:spTree>
      <p:nvGrpSpPr>
        <p:cNvPr id="1" name="Shape 83"/>
        <p:cNvGrpSpPr/>
        <p:nvPr/>
      </p:nvGrpSpPr>
      <p:grpSpPr>
        <a:xfrm>
          <a:off x="0" y="0"/>
          <a:ext cx="0" cy="0"/>
          <a:chOff x="0" y="0"/>
          <a:chExt cx="0" cy="0"/>
        </a:xfrm>
      </p:grpSpPr>
      <p:sp>
        <p:nvSpPr>
          <p:cNvPr id="84" name="Google Shape;84;p14"/>
          <p:cNvSpPr/>
          <p:nvPr/>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85" name="Google Shape;85;p14"/>
          <p:cNvSpPr/>
          <p:nvPr/>
        </p:nvSpPr>
        <p:spPr>
          <a:xfrm>
            <a:off x="770850" y="212725"/>
            <a:ext cx="903600" cy="813000"/>
          </a:xfrm>
          <a:prstGeom prst="parallelogram">
            <a:avLst>
              <a:gd name="adj" fmla="val 45310"/>
            </a:avLst>
          </a:prstGeom>
          <a:solidFill>
            <a:srgbClr val="8189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46422" y="212725"/>
            <a:ext cx="903600" cy="8130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pic>
        <p:nvPicPr>
          <p:cNvPr id="89" name="Google Shape;89;p14"/>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0" name="Google Shape;90;p14"/>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7;p1">
            <a:extLst>
              <a:ext uri="{FF2B5EF4-FFF2-40B4-BE49-F238E27FC236}">
                <a16:creationId xmlns:a16="http://schemas.microsoft.com/office/drawing/2014/main" xmlns="" id="{0B5789D4-A1BB-0442-8135-68C7C82B7CE3}"/>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423579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2" userDrawn="1">
  <p:cSld name="OBJECT">
    <p:spTree>
      <p:nvGrpSpPr>
        <p:cNvPr id="1" name="Shape 91"/>
        <p:cNvGrpSpPr/>
        <p:nvPr/>
      </p:nvGrpSpPr>
      <p:grpSpPr>
        <a:xfrm>
          <a:off x="0" y="0"/>
          <a:ext cx="0" cy="0"/>
          <a:chOff x="0" y="0"/>
          <a:chExt cx="0" cy="0"/>
        </a:xfrm>
      </p:grpSpPr>
      <p:sp>
        <p:nvSpPr>
          <p:cNvPr id="93" name="Google Shape;93;p15"/>
          <p:cNvSpPr/>
          <p:nvPr/>
        </p:nvSpPr>
        <p:spPr>
          <a:xfrm>
            <a:off x="770850" y="212725"/>
            <a:ext cx="903600" cy="813000"/>
          </a:xfrm>
          <a:prstGeom prst="parallelogram">
            <a:avLst>
              <a:gd name="adj" fmla="val 453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146422" y="212725"/>
            <a:ext cx="903600" cy="813000"/>
          </a:xfrm>
          <a:prstGeom prst="parallelogram">
            <a:avLst>
              <a:gd name="adj" fmla="val 45310"/>
            </a:avLst>
          </a:prstGeom>
          <a:gradFill>
            <a:gsLst>
              <a:gs pos="0">
                <a:srgbClr val="FFFFFF"/>
              </a:gs>
              <a:gs pos="65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15"/>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8" name="Google Shape;98;p15"/>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10" name="Google Shape;84;p14">
            <a:extLst>
              <a:ext uri="{FF2B5EF4-FFF2-40B4-BE49-F238E27FC236}">
                <a16:creationId xmlns:a16="http://schemas.microsoft.com/office/drawing/2014/main" xmlns="" id="{4F836A24-6D51-4D40-AB79-0230302D1457}"/>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1" name="Google Shape;87;p14">
            <a:extLst>
              <a:ext uri="{FF2B5EF4-FFF2-40B4-BE49-F238E27FC236}">
                <a16:creationId xmlns:a16="http://schemas.microsoft.com/office/drawing/2014/main" xmlns="" id="{3BFC4BEF-06F5-F149-88A2-FDD96288DC2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2" name="Google Shape;7;p1">
            <a:extLst>
              <a:ext uri="{FF2B5EF4-FFF2-40B4-BE49-F238E27FC236}">
                <a16:creationId xmlns:a16="http://schemas.microsoft.com/office/drawing/2014/main" xmlns="" id="{0D7DAA7F-11AA-0147-9DA0-85C0C21C9491}"/>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3" userDrawn="1">
  <p:cSld name="OBJECT_1">
    <p:spTree>
      <p:nvGrpSpPr>
        <p:cNvPr id="1" name="Shape 99"/>
        <p:cNvGrpSpPr/>
        <p:nvPr/>
      </p:nvGrpSpPr>
      <p:grpSpPr>
        <a:xfrm>
          <a:off x="0" y="0"/>
          <a:ext cx="0" cy="0"/>
          <a:chOff x="0" y="0"/>
          <a:chExt cx="0" cy="0"/>
        </a:xfrm>
      </p:grpSpPr>
      <p:sp>
        <p:nvSpPr>
          <p:cNvPr id="101" name="Google Shape;101;p16"/>
          <p:cNvSpPr/>
          <p:nvPr/>
        </p:nvSpPr>
        <p:spPr>
          <a:xfrm>
            <a:off x="770850" y="212725"/>
            <a:ext cx="903600" cy="813000"/>
          </a:xfrm>
          <a:prstGeom prst="parallelogram">
            <a:avLst>
              <a:gd name="adj" fmla="val 45310"/>
            </a:avLst>
          </a:prstGeom>
          <a:solidFill>
            <a:srgbClr val="702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46422" y="212725"/>
            <a:ext cx="903600" cy="813000"/>
          </a:xfrm>
          <a:prstGeom prst="parallelogram">
            <a:avLst>
              <a:gd name="adj" fmla="val 45310"/>
            </a:avLst>
          </a:prstGeom>
          <a:gradFill>
            <a:gsLst>
              <a:gs pos="0">
                <a:srgbClr val="FFFFFF"/>
              </a:gs>
              <a:gs pos="65000">
                <a:schemeClr val="accent2"/>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16"/>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06" name="Google Shape;106;p16"/>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84;p14">
            <a:extLst>
              <a:ext uri="{FF2B5EF4-FFF2-40B4-BE49-F238E27FC236}">
                <a16:creationId xmlns:a16="http://schemas.microsoft.com/office/drawing/2014/main" xmlns="" id="{BB89A5F1-01F7-AA47-B434-101A27DE7BC0}"/>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a16="http://schemas.microsoft.com/office/drawing/2014/main" xmlns="" id="{8DC17925-3C94-8F46-871B-B63E680B4A39}"/>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1" name="Google Shape;7;p1">
            <a:extLst>
              <a:ext uri="{FF2B5EF4-FFF2-40B4-BE49-F238E27FC236}">
                <a16:creationId xmlns:a16="http://schemas.microsoft.com/office/drawing/2014/main" xmlns="" id="{3C188FE6-8EF7-F044-9027-21CDC308C75A}"/>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solidFill>
          <a:schemeClr val="bg2"/>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xmlns="" id="{EC7D9485-9D22-5647-86A2-61337F2EBDAC}"/>
              </a:ext>
            </a:extLst>
          </p:cNvPr>
          <p:cNvSpPr>
            <a:spLocks noGrp="1"/>
          </p:cNvSpPr>
          <p:nvPr>
            <p:ph type="body" sz="quarter" idx="11"/>
          </p:nvPr>
        </p:nvSpPr>
        <p:spPr>
          <a:xfrm>
            <a:off x="560387" y="2634922"/>
            <a:ext cx="8023225" cy="2275770"/>
          </a:xfrm>
          <a:prstGeom prst="rect">
            <a:avLst/>
          </a:prstGeom>
        </p:spPr>
        <p:txBody>
          <a:bodyPr anchor="ctr"/>
          <a:lstStyle>
            <a:lvl1pPr marL="50800" indent="0" algn="ctr">
              <a:buNone/>
              <a:defRPr sz="4000">
                <a:solidFill>
                  <a:schemeClr val="bg1"/>
                </a:solidFill>
                <a:latin typeface="Calibri" panose="020F0502020204030204" pitchFamily="34" charset="0"/>
                <a:cs typeface="Calibri" panose="020F0502020204030204" pitchFamily="34" charset="0"/>
              </a:defRPr>
            </a:lvl1pPr>
          </a:lstStyle>
          <a:p>
            <a:pPr lvl="0"/>
            <a:endParaRPr lang="es-ES_tradnl" dirty="0"/>
          </a:p>
        </p:txBody>
      </p:sp>
      <p:pic>
        <p:nvPicPr>
          <p:cNvPr id="6" name="Google Shape;12;p2">
            <a:extLst>
              <a:ext uri="{FF2B5EF4-FFF2-40B4-BE49-F238E27FC236}">
                <a16:creationId xmlns:a16="http://schemas.microsoft.com/office/drawing/2014/main" xmlns="" id="{0D343A73-BC54-BF4C-A259-A0C913A07BC0}"/>
              </a:ext>
            </a:extLst>
          </p:cNvPr>
          <p:cNvPicPr preferRelativeResize="0"/>
          <p:nvPr userDrawn="1"/>
        </p:nvPicPr>
        <p:blipFill rotWithShape="1">
          <a:blip r:embed="rId2">
            <a:alphaModFix/>
          </a:blip>
          <a:srcRect/>
          <a:stretch/>
        </p:blipFill>
        <p:spPr>
          <a:xfrm>
            <a:off x="6179349" y="392750"/>
            <a:ext cx="2759037" cy="459625"/>
          </a:xfrm>
          <a:prstGeom prst="rect">
            <a:avLst/>
          </a:prstGeom>
          <a:noFill/>
          <a:ln>
            <a:noFill/>
          </a:ln>
        </p:spPr>
      </p:pic>
      <p:sp>
        <p:nvSpPr>
          <p:cNvPr id="10" name="Marcador de texto 4">
            <a:extLst>
              <a:ext uri="{FF2B5EF4-FFF2-40B4-BE49-F238E27FC236}">
                <a16:creationId xmlns:a16="http://schemas.microsoft.com/office/drawing/2014/main" xmlns="" id="{A2F63D34-FBAE-5442-A997-D0933D828667}"/>
              </a:ext>
            </a:extLst>
          </p:cNvPr>
          <p:cNvSpPr>
            <a:spLocks noGrp="1"/>
          </p:cNvSpPr>
          <p:nvPr>
            <p:ph type="body" sz="quarter" idx="12"/>
          </p:nvPr>
        </p:nvSpPr>
        <p:spPr>
          <a:xfrm>
            <a:off x="560387" y="1632286"/>
            <a:ext cx="8023225" cy="665749"/>
          </a:xfrm>
          <a:prstGeom prst="rect">
            <a:avLst/>
          </a:prstGeom>
          <a:solidFill>
            <a:schemeClr val="accent1"/>
          </a:solidFill>
        </p:spPr>
        <p:txBody>
          <a:bodyPr/>
          <a:lstStyle>
            <a:lvl1pPr marL="50800" indent="0" algn="ctr">
              <a:buNone/>
              <a:defRPr sz="2800">
                <a:solidFill>
                  <a:schemeClr val="bg1"/>
                </a:solidFill>
                <a:latin typeface="Calibri" panose="020F0502020204030204" pitchFamily="34" charset="0"/>
                <a:cs typeface="Calibri" panose="020F0502020204030204" pitchFamily="34" charset="0"/>
              </a:defRPr>
            </a:lvl1pPr>
          </a:lstStyle>
          <a:p>
            <a:pPr lvl="0"/>
            <a:endParaRPr lang="es-ES_tradnl" dirty="0"/>
          </a:p>
        </p:txBody>
      </p:sp>
      <p:sp>
        <p:nvSpPr>
          <p:cNvPr id="11" name="Google Shape;165;p24">
            <a:extLst>
              <a:ext uri="{FF2B5EF4-FFF2-40B4-BE49-F238E27FC236}">
                <a16:creationId xmlns:a16="http://schemas.microsoft.com/office/drawing/2014/main" xmlns="" id="{ED241A5B-D2F8-1D45-8F9D-D1D4B48E7814}"/>
              </a:ext>
            </a:extLst>
          </p:cNvPr>
          <p:cNvSpPr/>
          <p:nvPr userDrawn="1"/>
        </p:nvSpPr>
        <p:spPr>
          <a:xfrm>
            <a:off x="770850" y="212725"/>
            <a:ext cx="903600"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p24">
            <a:extLst>
              <a:ext uri="{FF2B5EF4-FFF2-40B4-BE49-F238E27FC236}">
                <a16:creationId xmlns:a16="http://schemas.microsoft.com/office/drawing/2014/main" xmlns="" id="{990F690A-789C-6740-B34D-11153A9BBDDB}"/>
              </a:ext>
            </a:extLst>
          </p:cNvPr>
          <p:cNvSpPr/>
          <p:nvPr userDrawn="1"/>
        </p:nvSpPr>
        <p:spPr>
          <a:xfrm>
            <a:off x="146422" y="212725"/>
            <a:ext cx="903600" cy="813000"/>
          </a:xfrm>
          <a:prstGeom prst="parallelogram">
            <a:avLst>
              <a:gd name="adj" fmla="val 45310"/>
            </a:avLst>
          </a:prstGeom>
          <a:gradFill>
            <a:gsLst>
              <a:gs pos="0">
                <a:schemeClr val="bg2"/>
              </a:gs>
              <a:gs pos="65000">
                <a:schemeClr val="bg1"/>
              </a:gs>
              <a:gs pos="100000">
                <a:schemeClr val="bg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p14">
            <a:extLst>
              <a:ext uri="{FF2B5EF4-FFF2-40B4-BE49-F238E27FC236}">
                <a16:creationId xmlns:a16="http://schemas.microsoft.com/office/drawing/2014/main" xmlns="" id="{7FF938C0-C0B1-8543-A7DC-F3B0AA5BE94F}"/>
              </a:ext>
            </a:extLst>
          </p:cNvPr>
          <p:cNvSpPr/>
          <p:nvPr userDrawn="1"/>
        </p:nvSpPr>
        <p:spPr>
          <a:xfrm>
            <a:off x="1372975" y="212725"/>
            <a:ext cx="4806374"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dirty="0">
              <a:latin typeface="Bebas Neue" panose="020B0606020202050201" pitchFamily="34" charset="77"/>
            </a:endParaRPr>
          </a:p>
        </p:txBody>
      </p:sp>
      <p:sp>
        <p:nvSpPr>
          <p:cNvPr id="15" name="Google Shape;87;p14">
            <a:extLst>
              <a:ext uri="{FF2B5EF4-FFF2-40B4-BE49-F238E27FC236}">
                <a16:creationId xmlns:a16="http://schemas.microsoft.com/office/drawing/2014/main" xmlns="" id="{D9228F07-B61E-0645-862B-247F10F5B15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solidFill>
                  <a:schemeClr val="accent1"/>
                </a:solidFill>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Tree>
    <p:extLst>
      <p:ext uri="{BB962C8B-B14F-4D97-AF65-F5344CB8AC3E}">
        <p14:creationId xmlns:p14="http://schemas.microsoft.com/office/powerpoint/2010/main" val="35945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spTree>
      <p:nvGrpSpPr>
        <p:cNvPr id="1" name="Shape 205"/>
        <p:cNvGrpSpPr/>
        <p:nvPr/>
      </p:nvGrpSpPr>
      <p:grpSpPr>
        <a:xfrm>
          <a:off x="0" y="0"/>
          <a:ext cx="0" cy="0"/>
          <a:chOff x="0" y="0"/>
          <a:chExt cx="0" cy="0"/>
        </a:xfrm>
      </p:grpSpPr>
      <p:sp>
        <p:nvSpPr>
          <p:cNvPr id="4" name="Google Shape;7;p1">
            <a:extLst>
              <a:ext uri="{FF2B5EF4-FFF2-40B4-BE49-F238E27FC236}">
                <a16:creationId xmlns:a16="http://schemas.microsoft.com/office/drawing/2014/main" xmlns="" id="{FCAE1A83-104E-8B4E-949F-BE3A9ADE6BA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977814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cabezado de sección 2">
  <p:cSld name="Encabezado de sección 2">
    <p:bg>
      <p:bgPr>
        <a:solidFill>
          <a:schemeClr val="accent1"/>
        </a:solidFill>
        <a:effectLst/>
      </p:bgPr>
    </p:bg>
    <p:spTree>
      <p:nvGrpSpPr>
        <p:cNvPr id="1" name="Shape 22"/>
        <p:cNvGrpSpPr/>
        <p:nvPr/>
      </p:nvGrpSpPr>
      <p:grpSpPr>
        <a:xfrm>
          <a:off x="0" y="0"/>
          <a:ext cx="0" cy="0"/>
          <a:chOff x="0" y="0"/>
          <a:chExt cx="0" cy="0"/>
        </a:xfrm>
      </p:grpSpPr>
      <p:grpSp>
        <p:nvGrpSpPr>
          <p:cNvPr id="23" name="Google Shape;23;p4"/>
          <p:cNvGrpSpPr/>
          <p:nvPr/>
        </p:nvGrpSpPr>
        <p:grpSpPr>
          <a:xfrm>
            <a:off x="0" y="-124"/>
            <a:ext cx="4853665" cy="5740374"/>
            <a:chOff x="0" y="-126"/>
            <a:chExt cx="4554438" cy="5386482"/>
          </a:xfrm>
        </p:grpSpPr>
        <p:sp>
          <p:nvSpPr>
            <p:cNvPr id="24" name="Google Shape;24;p4"/>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5" name="Google Shape;25;p4" descr="Imagen que contiene persona, foto, hombre, mujer&#10;&#10;Descripción generada automáticamente"/>
            <p:cNvPicPr preferRelativeResize="0"/>
            <p:nvPr/>
          </p:nvPicPr>
          <p:blipFill rotWithShape="1">
            <a:blip r:embed="rId2">
              <a:alphaModFix/>
            </a:blip>
            <a:srcRect r="1635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6" name="Google Shape;26;p4"/>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pic>
        <p:nvPicPr>
          <p:cNvPr id="27" name="Google Shape;27;p4"/>
          <p:cNvPicPr preferRelativeResize="0"/>
          <p:nvPr/>
        </p:nvPicPr>
        <p:blipFill rotWithShape="1">
          <a:blip r:embed="rId3">
            <a:alphaModFix/>
          </a:blip>
          <a:srcRect/>
          <a:stretch/>
        </p:blipFill>
        <p:spPr>
          <a:xfrm>
            <a:off x="5177307" y="186298"/>
            <a:ext cx="3812148" cy="601304"/>
          </a:xfrm>
          <a:prstGeom prst="rect">
            <a:avLst/>
          </a:prstGeom>
          <a:noFill/>
          <a:ln>
            <a:noFill/>
          </a:ln>
        </p:spPr>
      </p:pic>
    </p:spTree>
    <p:extLst>
      <p:ext uri="{BB962C8B-B14F-4D97-AF65-F5344CB8AC3E}">
        <p14:creationId xmlns:p14="http://schemas.microsoft.com/office/powerpoint/2010/main" val="2202896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94150" y="1218600"/>
            <a:ext cx="8555700" cy="5137800"/>
          </a:xfrm>
          <a:prstGeom prst="rect">
            <a:avLst/>
          </a:prstGeom>
          <a:noFill/>
          <a:ln>
            <a:noFill/>
          </a:ln>
        </p:spPr>
        <p:txBody>
          <a:bodyPr spcFirstLastPara="1" wrap="square" lIns="90000"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Franklin Gothic"/>
                <a:ea typeface="Franklin Gothic"/>
                <a:cs typeface="Franklin Gothic"/>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dirty="0"/>
          </a:p>
        </p:txBody>
      </p:sp>
      <p:sp>
        <p:nvSpPr>
          <p:cNvPr id="7" name="Google Shape;7;p1"/>
          <p:cNvSpPr txBox="1">
            <a:spLocks noGrp="1"/>
          </p:cNvSpPr>
          <p:nvPr>
            <p:ph type="sldNum" idx="12"/>
          </p:nvPr>
        </p:nvSpPr>
        <p:spPr>
          <a:xfrm>
            <a:off x="69151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6C7A8A"/>
                </a:solidFill>
                <a:latin typeface="Calibri" panose="020F0502020204030204" pitchFamily="34" charset="0"/>
                <a:ea typeface="Roboto Mono"/>
                <a:cs typeface="Calibri" panose="020F0502020204030204" pitchFamily="34" charset="0"/>
                <a:sym typeface="Roboto Mono"/>
              </a:defRPr>
            </a:lvl1pPr>
            <a:lvl2pPr marL="0" marR="0" lvl="1" indent="0" algn="r" rtl="0">
              <a:spcBef>
                <a:spcPts val="0"/>
              </a:spcBef>
              <a:buNone/>
              <a:defRPr sz="1200" i="0" u="none" strike="noStrike" cap="none">
                <a:solidFill>
                  <a:srgbClr val="6C7A8A"/>
                </a:solidFill>
                <a:latin typeface="Roboto Mono"/>
                <a:ea typeface="Roboto Mono"/>
                <a:cs typeface="Roboto Mono"/>
                <a:sym typeface="Roboto Mono"/>
              </a:defRPr>
            </a:lvl2pPr>
            <a:lvl3pPr marL="0" marR="0" lvl="2" indent="0" algn="r" rtl="0">
              <a:spcBef>
                <a:spcPts val="0"/>
              </a:spcBef>
              <a:buNone/>
              <a:defRPr sz="1200" i="0" u="none" strike="noStrike" cap="none">
                <a:solidFill>
                  <a:srgbClr val="6C7A8A"/>
                </a:solidFill>
                <a:latin typeface="Roboto Mono"/>
                <a:ea typeface="Roboto Mono"/>
                <a:cs typeface="Roboto Mono"/>
                <a:sym typeface="Roboto Mono"/>
              </a:defRPr>
            </a:lvl3pPr>
            <a:lvl4pPr marL="0" marR="0" lvl="3" indent="0" algn="r" rtl="0">
              <a:spcBef>
                <a:spcPts val="0"/>
              </a:spcBef>
              <a:buNone/>
              <a:defRPr sz="1200" i="0" u="none" strike="noStrike" cap="none">
                <a:solidFill>
                  <a:srgbClr val="6C7A8A"/>
                </a:solidFill>
                <a:latin typeface="Roboto Mono"/>
                <a:ea typeface="Roboto Mono"/>
                <a:cs typeface="Roboto Mono"/>
                <a:sym typeface="Roboto Mono"/>
              </a:defRPr>
            </a:lvl4pPr>
            <a:lvl5pPr marL="0" marR="0" lvl="4" indent="0" algn="r" rtl="0">
              <a:spcBef>
                <a:spcPts val="0"/>
              </a:spcBef>
              <a:buNone/>
              <a:defRPr sz="1200" i="0" u="none" strike="noStrike" cap="none">
                <a:solidFill>
                  <a:srgbClr val="6C7A8A"/>
                </a:solidFill>
                <a:latin typeface="Roboto Mono"/>
                <a:ea typeface="Roboto Mono"/>
                <a:cs typeface="Roboto Mono"/>
                <a:sym typeface="Roboto Mono"/>
              </a:defRPr>
            </a:lvl5pPr>
            <a:lvl6pPr marL="0" marR="0" lvl="5" indent="0" algn="r" rtl="0">
              <a:spcBef>
                <a:spcPts val="0"/>
              </a:spcBef>
              <a:buNone/>
              <a:defRPr sz="1200" i="0" u="none" strike="noStrike" cap="none">
                <a:solidFill>
                  <a:srgbClr val="6C7A8A"/>
                </a:solidFill>
                <a:latin typeface="Roboto Mono"/>
                <a:ea typeface="Roboto Mono"/>
                <a:cs typeface="Roboto Mono"/>
                <a:sym typeface="Roboto Mono"/>
              </a:defRPr>
            </a:lvl6pPr>
            <a:lvl7pPr marL="0" marR="0" lvl="6" indent="0" algn="r" rtl="0">
              <a:spcBef>
                <a:spcPts val="0"/>
              </a:spcBef>
              <a:buNone/>
              <a:defRPr sz="1200" i="0" u="none" strike="noStrike" cap="none">
                <a:solidFill>
                  <a:srgbClr val="6C7A8A"/>
                </a:solidFill>
                <a:latin typeface="Roboto Mono"/>
                <a:ea typeface="Roboto Mono"/>
                <a:cs typeface="Roboto Mono"/>
                <a:sym typeface="Roboto Mono"/>
              </a:defRPr>
            </a:lvl7pPr>
            <a:lvl8pPr marL="0" marR="0" lvl="7" indent="0" algn="r" rtl="0">
              <a:spcBef>
                <a:spcPts val="0"/>
              </a:spcBef>
              <a:buNone/>
              <a:defRPr sz="1200" i="0" u="none" strike="noStrike" cap="none">
                <a:solidFill>
                  <a:srgbClr val="6C7A8A"/>
                </a:solidFill>
                <a:latin typeface="Roboto Mono"/>
                <a:ea typeface="Roboto Mono"/>
                <a:cs typeface="Roboto Mono"/>
                <a:sym typeface="Roboto Mono"/>
              </a:defRPr>
            </a:lvl8pPr>
            <a:lvl9pPr marL="0" marR="0" lvl="8" indent="0" algn="r" rtl="0">
              <a:spcBef>
                <a:spcPts val="0"/>
              </a:spcBef>
              <a:buNone/>
              <a:defRPr sz="120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dirty="0"/>
          </a:p>
        </p:txBody>
      </p:sp>
      <p:sp>
        <p:nvSpPr>
          <p:cNvPr id="8" name="Google Shape;8;p1"/>
          <p:cNvSpPr txBox="1">
            <a:spLocks noGrp="1"/>
          </p:cNvSpPr>
          <p:nvPr>
            <p:ph type="title"/>
          </p:nvPr>
        </p:nvSpPr>
        <p:spPr>
          <a:xfrm>
            <a:off x="1763700" y="212725"/>
            <a:ext cx="6751800" cy="81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FFFFFF"/>
              </a:buClr>
              <a:buSzPts val="3000"/>
              <a:buFont typeface="Roboto Condensed"/>
              <a:buNone/>
              <a:defRPr sz="3000" i="0" u="none" strike="noStrike" cap="none">
                <a:solidFill>
                  <a:srgbClr val="FFFFFF"/>
                </a:solidFill>
                <a:latin typeface="Roboto Condensed"/>
                <a:ea typeface="Roboto Condensed"/>
                <a:cs typeface="Roboto Condensed"/>
                <a:sym typeface="Roboto Condensed"/>
              </a:defRPr>
            </a:lvl1pPr>
            <a:lvl2pPr lvl="1"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2pPr>
            <a:lvl3pPr lvl="2"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3pPr>
            <a:lvl4pPr lvl="3"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4pPr>
            <a:lvl5pPr lvl="4"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5pPr>
            <a:lvl6pPr lvl="5"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6pPr>
            <a:lvl7pPr lvl="6"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7pPr>
            <a:lvl8pPr lvl="7"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8pPr>
            <a:lvl9pPr lvl="8"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9pPr>
          </a:lstStyle>
          <a:p>
            <a:endParaRPr lang="es-CL"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79" r:id="rId4"/>
    <p:sldLayoutId id="2147483661" r:id="rId5"/>
    <p:sldLayoutId id="2147483662" r:id="rId6"/>
    <p:sldLayoutId id="2147483678" r:id="rId7"/>
    <p:sldLayoutId id="2147483677" r:id="rId8"/>
    <p:sldLayoutId id="2147483680"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Roboto" panose="02000000000000000000" pitchFamily="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3303037" y="2452947"/>
            <a:ext cx="5758963" cy="2891100"/>
          </a:xfrm>
          <a:prstGeom prst="rect">
            <a:avLst/>
          </a:prstGeom>
        </p:spPr>
        <p:txBody>
          <a:bodyPr spcFirstLastPara="1" wrap="square" lIns="91425" tIns="45700" rIns="91425" bIns="45700" anchor="b" anchorCtr="0">
            <a:noAutofit/>
          </a:bodyPr>
          <a:lstStyle/>
          <a:p>
            <a:pPr lvl="0"/>
            <a:r>
              <a:rPr lang="es-CL" sz="5800" b="1" dirty="0"/>
              <a:t>Creación y Gestión de Cuentas de Usuarios </a:t>
            </a:r>
            <a:br>
              <a:rPr lang="es-CL" sz="5800" b="1" dirty="0"/>
            </a:br>
            <a:r>
              <a:rPr lang="es-CL" sz="5800" b="1" dirty="0"/>
              <a:t>de Base de Datos</a:t>
            </a:r>
          </a:p>
        </p:txBody>
      </p:sp>
      <p:sp>
        <p:nvSpPr>
          <p:cNvPr id="213" name="Google Shape;213;p30"/>
          <p:cNvSpPr txBox="1">
            <a:spLocks noGrp="1"/>
          </p:cNvSpPr>
          <p:nvPr>
            <p:ph type="subTitle" idx="1"/>
          </p:nvPr>
        </p:nvSpPr>
        <p:spPr>
          <a:xfrm>
            <a:off x="6386512" y="5620875"/>
            <a:ext cx="2502087" cy="873900"/>
          </a:xfrm>
          <a:prstGeom prst="roundRect">
            <a:avLst/>
          </a:prstGeom>
        </p:spPr>
        <p:txBody>
          <a:bodyPr spcFirstLastPara="1" wrap="square" lIns="91425" tIns="0" rIns="182875" bIns="0" anchor="t" anchorCtr="0">
            <a:noAutofit/>
          </a:bodyPr>
          <a:lstStyle/>
          <a:p>
            <a:pPr marL="0" lvl="0" indent="0" algn="ctr"/>
            <a:r>
              <a:rPr lang="en-US" sz="3600"/>
              <a:t>MDY2131</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6">
            <a:extLst>
              <a:ext uri="{FF2B5EF4-FFF2-40B4-BE49-F238E27FC236}">
                <a16:creationId xmlns:a16="http://schemas.microsoft.com/office/drawing/2014/main" xmlns="" id="{FB9E9EC4-1442-454F-96A7-8DBD75B3E084}"/>
              </a:ext>
            </a:extLst>
          </p:cNvPr>
          <p:cNvGraphicFramePr>
            <a:graphicFrameLocks noGrp="1"/>
          </p:cNvGraphicFramePr>
          <p:nvPr>
            <p:extLst>
              <p:ext uri="{D42A27DB-BD31-4B8C-83A1-F6EECF244321}">
                <p14:modId xmlns:p14="http://schemas.microsoft.com/office/powerpoint/2010/main" val="3075892365"/>
              </p:ext>
            </p:extLst>
          </p:nvPr>
        </p:nvGraphicFramePr>
        <p:xfrm>
          <a:off x="428622" y="1668467"/>
          <a:ext cx="8315325" cy="3664770"/>
        </p:xfrm>
        <a:graphic>
          <a:graphicData uri="http://schemas.openxmlformats.org/drawingml/2006/table">
            <a:tbl>
              <a:tblPr firstRow="1" bandRow="1">
                <a:tableStyleId>{073A0DAA-6AF3-43AB-8588-CEC1D06C72B9}</a:tableStyleId>
              </a:tblPr>
              <a:tblGrid>
                <a:gridCol w="1457328">
                  <a:extLst>
                    <a:ext uri="{9D8B030D-6E8A-4147-A177-3AD203B41FA5}">
                      <a16:colId xmlns:a16="http://schemas.microsoft.com/office/drawing/2014/main" xmlns="" val="447460705"/>
                    </a:ext>
                  </a:extLst>
                </a:gridCol>
                <a:gridCol w="2928935">
                  <a:extLst>
                    <a:ext uri="{9D8B030D-6E8A-4147-A177-3AD203B41FA5}">
                      <a16:colId xmlns:a16="http://schemas.microsoft.com/office/drawing/2014/main" xmlns="" val="745656918"/>
                    </a:ext>
                  </a:extLst>
                </a:gridCol>
                <a:gridCol w="3929062">
                  <a:extLst>
                    <a:ext uri="{9D8B030D-6E8A-4147-A177-3AD203B41FA5}">
                      <a16:colId xmlns:a16="http://schemas.microsoft.com/office/drawing/2014/main" xmlns="" val="4006272735"/>
                    </a:ext>
                  </a:extLst>
                </a:gridCol>
              </a:tblGrid>
              <a:tr h="1205362">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Experiencia</a:t>
                      </a:r>
                      <a:endParaRPr lang="es-CL" dirty="0"/>
                    </a:p>
                  </a:txBody>
                  <a:tcPr anchor="ctr"/>
                </a:tc>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Nombre</a:t>
                      </a:r>
                      <a:endParaRPr lang="es-CL"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Unidad de Competencia Especialidad – Nivel de la Competencia de Empleabilidad</a:t>
                      </a:r>
                      <a:endParaRPr lang="es-CL" dirty="0"/>
                    </a:p>
                  </a:txBody>
                  <a:tcPr anchor="ctr"/>
                </a:tc>
                <a:extLst>
                  <a:ext uri="{0D108BD9-81ED-4DB2-BD59-A6C34878D82A}">
                    <a16:rowId xmlns:a16="http://schemas.microsoft.com/office/drawing/2014/main" xmlns="" val="1379131601"/>
                  </a:ext>
                </a:extLst>
              </a:tr>
              <a:tr h="722048">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Nº </a:t>
                      </a:r>
                      <a:r>
                        <a:rPr kumimoji="0" lang="es-ES_tradnl" sz="1800" b="0" i="0" u="none" strike="noStrike" kern="0" cap="none" spc="0" normalizeH="0" baseline="0" noProof="0" dirty="0" smtClean="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3</a:t>
                      </a:r>
                      <a:endPar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endParaRPr>
                    </a:p>
                    <a:p>
                      <a:endParaRPr lang="es-CL" dirty="0"/>
                    </a:p>
                  </a:txBody>
                  <a:tcPr anchor="ctr"/>
                </a:tc>
                <a:tc rowSpan="2">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MX"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Gestión de usuarios y objetos de la base de datos </a:t>
                      </a:r>
                      <a:endParaRPr lang="es-CL" sz="1800"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MX" sz="1800" b="0" i="0" u="none" strike="noStrike" kern="0" cap="none" spc="0" normalizeH="0" baseline="0" noProof="0" dirty="0">
                          <a:ln>
                            <a:noFill/>
                          </a:ln>
                          <a:solidFill>
                            <a:srgbClr val="172740"/>
                          </a:solidFill>
                          <a:effectLst/>
                          <a:uLnTx/>
                          <a:uFillTx/>
                          <a:latin typeface="Calibri" panose="020F0502020204030204" pitchFamily="34" charset="0"/>
                          <a:ea typeface="+mn-ea"/>
                          <a:cs typeface="Calibri" panose="020F0502020204030204" pitchFamily="34" charset="0"/>
                          <a:sym typeface="Arial"/>
                        </a:rPr>
                        <a:t>Desarrolla operaciones en la base de datos que permitan controlar y mejorar la manipulación y recuperación de datos utilizando el lenguaje asociado y de acuerdo a los requerimientos de la organización.</a:t>
                      </a:r>
                      <a:endParaRPr lang="es-CL" sz="1800" dirty="0"/>
                    </a:p>
                  </a:txBody>
                  <a:tcPr anchor="ctr"/>
                </a:tc>
                <a:extLst>
                  <a:ext uri="{0D108BD9-81ED-4DB2-BD59-A6C34878D82A}">
                    <a16:rowId xmlns:a16="http://schemas.microsoft.com/office/drawing/2014/main" xmlns="" val="3941631869"/>
                  </a:ext>
                </a:extLst>
              </a:tr>
              <a:tr h="722048">
                <a:tc vMerge="1">
                  <a:txBody>
                    <a:bodyPr/>
                    <a:lstStyle/>
                    <a:p>
                      <a:endParaRPr lang="es-CL" dirty="0"/>
                    </a:p>
                  </a:txBody>
                  <a:tcPr anchor="ctr"/>
                </a:tc>
                <a:tc vMerge="1">
                  <a:txBody>
                    <a:bodyPr/>
                    <a:lstStyle/>
                    <a:p>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s-MX" sz="1800" dirty="0">
                          <a:effectLst/>
                          <a:latin typeface="Calibri" panose="020F0502020204030204" pitchFamily="34" charset="0"/>
                          <a:ea typeface="Calibri" panose="020F0502020204030204" pitchFamily="34" charset="0"/>
                        </a:rPr>
                        <a:t>Resolución de Problemas (N1)</a:t>
                      </a:r>
                      <a:endParaRPr lang="es-CL" sz="1800" dirty="0"/>
                    </a:p>
                  </a:txBody>
                  <a:tcPr anchor="ctr"/>
                </a:tc>
                <a:extLst>
                  <a:ext uri="{0D108BD9-81ED-4DB2-BD59-A6C34878D82A}">
                    <a16:rowId xmlns:a16="http://schemas.microsoft.com/office/drawing/2014/main" xmlns="" val="2871679439"/>
                  </a:ext>
                </a:extLst>
              </a:tr>
            </a:tbl>
          </a:graphicData>
        </a:graphic>
      </p:graphicFrame>
      <p:sp>
        <p:nvSpPr>
          <p:cNvPr id="11" name="Título 1">
            <a:extLst>
              <a:ext uri="{FF2B5EF4-FFF2-40B4-BE49-F238E27FC236}">
                <a16:creationId xmlns:a16="http://schemas.microsoft.com/office/drawing/2014/main" xmlns="" id="{7573328E-BCD9-4056-AEDD-0C97FCE1A1DC}"/>
              </a:ext>
            </a:extLst>
          </p:cNvPr>
          <p:cNvSpPr>
            <a:spLocks noGrp="1"/>
          </p:cNvSpPr>
          <p:nvPr>
            <p:ph type="title"/>
          </p:nvPr>
        </p:nvSpPr>
        <p:spPr>
          <a:xfrm>
            <a:off x="1606532" y="229658"/>
            <a:ext cx="4594244" cy="813000"/>
          </a:xfrm>
        </p:spPr>
        <p:txBody>
          <a:bodyPr/>
          <a:lstStyle/>
          <a:p>
            <a:r>
              <a:rPr lang="es-ES_tradnl" b="1" dirty="0"/>
              <a:t>Experiencia de Aprendizaje</a:t>
            </a:r>
            <a:br>
              <a:rPr lang="es-ES_tradnl" b="1" dirty="0"/>
            </a:br>
            <a:r>
              <a:rPr lang="es-ES_tradnl" b="1" dirty="0"/>
              <a:t>y Competencia Asociada</a:t>
            </a:r>
          </a:p>
        </p:txBody>
      </p:sp>
    </p:spTree>
    <p:extLst>
      <p:ext uri="{BB962C8B-B14F-4D97-AF65-F5344CB8AC3E}">
        <p14:creationId xmlns:p14="http://schemas.microsoft.com/office/powerpoint/2010/main" val="4212306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Objetivos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a:xfrm>
            <a:off x="560387" y="1683202"/>
            <a:ext cx="8023225" cy="4467877"/>
          </a:xfrm>
        </p:spPr>
        <p:txBody>
          <a:bodyPr/>
          <a:lstStyle/>
          <a:p>
            <a:pPr marL="393700" indent="-342900" algn="just">
              <a:buFont typeface="Arial" panose="020B0604020202020204" pitchFamily="34" charset="0"/>
              <a:buChar char="•"/>
            </a:pPr>
            <a:r>
              <a:rPr lang="es-MX" sz="2200" dirty="0"/>
              <a:t>Cómo acceder a la Base de Datos a nivel de sistema.</a:t>
            </a:r>
          </a:p>
          <a:p>
            <a:pPr marL="393700" indent="-342900" algn="just">
              <a:buFont typeface="Arial" panose="020B0604020202020204" pitchFamily="34" charset="0"/>
              <a:buChar char="•"/>
            </a:pPr>
            <a:r>
              <a:rPr lang="es-MX" sz="2200" dirty="0"/>
              <a:t>Describir los tipos de Usuarios que acceden a la Base de Datos</a:t>
            </a:r>
          </a:p>
          <a:p>
            <a:pPr marL="393700" indent="-342900" algn="just">
              <a:buFont typeface="Arial" panose="020B0604020202020204" pitchFamily="34" charset="0"/>
              <a:buChar char="•"/>
            </a:pPr>
            <a:r>
              <a:rPr lang="es-MX" sz="2200" dirty="0"/>
              <a:t>Cuáles son las características de una cuenta de usuario de Base de Datos.</a:t>
            </a:r>
          </a:p>
          <a:p>
            <a:pPr marL="393700" indent="-342900" algn="just">
              <a:buFont typeface="Arial" panose="020B0604020202020204" pitchFamily="34" charset="0"/>
              <a:buChar char="•"/>
            </a:pPr>
            <a:r>
              <a:rPr lang="es-MX" sz="2200" dirty="0"/>
              <a:t>Cuáles son las características del esquema de una cuenta usuario.</a:t>
            </a:r>
          </a:p>
          <a:p>
            <a:pPr marL="393700" indent="-342900" algn="just">
              <a:buFont typeface="Arial" panose="020B0604020202020204" pitchFamily="34" charset="0"/>
              <a:buChar char="•"/>
            </a:pPr>
            <a:r>
              <a:rPr lang="es-MX" sz="2200" dirty="0"/>
              <a:t>Cómo crear una cuenta de usuario de Base de Datos.</a:t>
            </a:r>
          </a:p>
          <a:p>
            <a:pPr marL="393700" indent="-342900" algn="just">
              <a:buFont typeface="Arial" panose="020B0604020202020204" pitchFamily="34" charset="0"/>
              <a:buChar char="•"/>
            </a:pPr>
            <a:r>
              <a:rPr lang="es-MX" sz="2200" dirty="0"/>
              <a:t>Cómo crear y asignar un área de almacenamiento para el usuario.</a:t>
            </a:r>
          </a:p>
          <a:p>
            <a:pPr marL="393700" indent="-342900" algn="just">
              <a:buFont typeface="Arial" panose="020B0604020202020204" pitchFamily="34" charset="0"/>
              <a:buChar char="•"/>
            </a:pPr>
            <a:r>
              <a:rPr lang="es-MX" sz="2200" dirty="0"/>
              <a:t>Cómo crear un perfil para controlar el uso de recursos y gestionar la cuenta del usuario.</a:t>
            </a:r>
          </a:p>
          <a:p>
            <a:pPr marL="393700" indent="-342900" algn="just">
              <a:buFont typeface="Arial" panose="020B0604020202020204" pitchFamily="34" charset="0"/>
              <a:buChar char="•"/>
            </a:pPr>
            <a:r>
              <a:rPr lang="es-MX" sz="2200" dirty="0"/>
              <a:t>Cómo mantener las cuentas de usuarios</a:t>
            </a:r>
          </a:p>
          <a:p>
            <a:pPr algn="l"/>
            <a:endParaRPr lang="es-CL" sz="2200" dirty="0"/>
          </a:p>
        </p:txBody>
      </p:sp>
    </p:spTree>
    <p:extLst>
      <p:ext uri="{BB962C8B-B14F-4D97-AF65-F5344CB8AC3E}">
        <p14:creationId xmlns:p14="http://schemas.microsoft.com/office/powerpoint/2010/main" val="13291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021508" y="3289884"/>
            <a:ext cx="5995800" cy="2271161"/>
          </a:xfrm>
          <a:prstGeom prst="rect">
            <a:avLst/>
          </a:prstGeom>
        </p:spPr>
        <p:txBody>
          <a:bodyPr spcFirstLastPara="1" wrap="square" lIns="91425" tIns="45700" rIns="91425" bIns="45700" anchor="ctr" anchorCtr="0">
            <a:noAutofit/>
          </a:bodyPr>
          <a:lstStyle/>
          <a:p>
            <a:pPr lvl="0" defTabSz="457200">
              <a:defRPr/>
            </a:pPr>
            <a:r>
              <a:rPr lang="es-CL" sz="4800" b="1" dirty="0">
                <a:solidFill>
                  <a:prstClr val="white"/>
                </a:solidFill>
                <a:latin typeface="Calibri"/>
              </a:rPr>
              <a:t>Acceso de los Usuarios a la Base de Datos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Acceso a la Base de Datos a nivel de Sistema</a:t>
            </a:r>
          </a:p>
        </p:txBody>
      </p:sp>
      <p:pic>
        <p:nvPicPr>
          <p:cNvPr id="5" name="Imagen 4">
            <a:extLst>
              <a:ext uri="{FF2B5EF4-FFF2-40B4-BE49-F238E27FC236}">
                <a16:creationId xmlns:a16="http://schemas.microsoft.com/office/drawing/2014/main" xmlns="" id="{88B4A52F-12F4-49DC-ACF3-31CAA4ECFBE2}"/>
              </a:ext>
            </a:extLst>
          </p:cNvPr>
          <p:cNvPicPr>
            <a:picLocks noChangeAspect="1"/>
          </p:cNvPicPr>
          <p:nvPr/>
        </p:nvPicPr>
        <p:blipFill>
          <a:blip r:embed="rId3"/>
          <a:stretch>
            <a:fillRect/>
          </a:stretch>
        </p:blipFill>
        <p:spPr>
          <a:xfrm>
            <a:off x="224989" y="1201430"/>
            <a:ext cx="8755524" cy="5091865"/>
          </a:xfrm>
          <a:prstGeom prst="rect">
            <a:avLst/>
          </a:prstGeom>
        </p:spPr>
      </p:pic>
    </p:spTree>
    <p:extLst>
      <p:ext uri="{BB962C8B-B14F-4D97-AF65-F5344CB8AC3E}">
        <p14:creationId xmlns:p14="http://schemas.microsoft.com/office/powerpoint/2010/main" val="1634600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defTabSz="457200"/>
            <a:r>
              <a:rPr lang="es-CL" sz="2800" b="1" dirty="0">
                <a:solidFill>
                  <a:prstClr val="white"/>
                </a:solidFill>
                <a:latin typeface="Calibri"/>
              </a:rPr>
              <a:t>Tipos de Usuarios de una Base de Datos</a:t>
            </a:r>
          </a:p>
        </p:txBody>
      </p:sp>
      <p:pic>
        <p:nvPicPr>
          <p:cNvPr id="5" name="Imagen 4">
            <a:extLst>
              <a:ext uri="{FF2B5EF4-FFF2-40B4-BE49-F238E27FC236}">
                <a16:creationId xmlns:a16="http://schemas.microsoft.com/office/drawing/2014/main" xmlns="" id="{E0756808-9501-434A-9A53-7DF3605F54D3}"/>
              </a:ext>
            </a:extLst>
          </p:cNvPr>
          <p:cNvPicPr>
            <a:picLocks noChangeAspect="1"/>
          </p:cNvPicPr>
          <p:nvPr/>
        </p:nvPicPr>
        <p:blipFill>
          <a:blip r:embed="rId3"/>
          <a:stretch>
            <a:fillRect/>
          </a:stretch>
        </p:blipFill>
        <p:spPr>
          <a:xfrm>
            <a:off x="0" y="1595767"/>
            <a:ext cx="9144000" cy="4618422"/>
          </a:xfrm>
          <a:prstGeom prst="rect">
            <a:avLst/>
          </a:prstGeom>
        </p:spPr>
      </p:pic>
    </p:spTree>
    <p:extLst>
      <p:ext uri="{BB962C8B-B14F-4D97-AF65-F5344CB8AC3E}">
        <p14:creationId xmlns:p14="http://schemas.microsoft.com/office/powerpoint/2010/main" val="3983518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defTabSz="457200"/>
            <a:r>
              <a:rPr lang="es-CL" sz="2800" b="1" dirty="0">
                <a:solidFill>
                  <a:prstClr val="white"/>
                </a:solidFill>
                <a:latin typeface="Calibri"/>
              </a:rPr>
              <a:t>Cuentas de Usuarios de Base de Datos</a:t>
            </a:r>
          </a:p>
        </p:txBody>
      </p:sp>
      <p:pic>
        <p:nvPicPr>
          <p:cNvPr id="7" name="Imagen 6" descr="Imagen que contiene alimentos, firmar&#10;&#10;Descripción generada automáticamente">
            <a:extLst>
              <a:ext uri="{FF2B5EF4-FFF2-40B4-BE49-F238E27FC236}">
                <a16:creationId xmlns:a16="http://schemas.microsoft.com/office/drawing/2014/main" xmlns="" id="{F3C9CED0-959A-4861-B1E2-6B4FE49039D3}"/>
              </a:ext>
            </a:extLst>
          </p:cNvPr>
          <p:cNvPicPr>
            <a:picLocks noChangeAspect="1"/>
          </p:cNvPicPr>
          <p:nvPr/>
        </p:nvPicPr>
        <p:blipFill>
          <a:blip r:embed="rId3"/>
          <a:stretch>
            <a:fillRect/>
          </a:stretch>
        </p:blipFill>
        <p:spPr>
          <a:xfrm>
            <a:off x="318472" y="1191041"/>
            <a:ext cx="8441541" cy="5442380"/>
          </a:xfrm>
          <a:prstGeom prst="rect">
            <a:avLst/>
          </a:prstGeom>
        </p:spPr>
      </p:pic>
    </p:spTree>
    <p:extLst>
      <p:ext uri="{BB962C8B-B14F-4D97-AF65-F5344CB8AC3E}">
        <p14:creationId xmlns:p14="http://schemas.microsoft.com/office/powerpoint/2010/main" val="3394374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defTabSz="457200"/>
            <a:r>
              <a:rPr lang="es-CL" sz="2800" b="1" dirty="0">
                <a:solidFill>
                  <a:prstClr val="white"/>
                </a:solidFill>
                <a:latin typeface="Calibri"/>
              </a:rPr>
              <a:t>Cuentas de Usuarios de Base de Datos</a:t>
            </a:r>
          </a:p>
        </p:txBody>
      </p:sp>
      <p:pic>
        <p:nvPicPr>
          <p:cNvPr id="6" name="Imagen 5">
            <a:extLst>
              <a:ext uri="{FF2B5EF4-FFF2-40B4-BE49-F238E27FC236}">
                <a16:creationId xmlns:a16="http://schemas.microsoft.com/office/drawing/2014/main" xmlns="" id="{CE33A029-9B35-465F-85F3-00C9756018CC}"/>
              </a:ext>
            </a:extLst>
          </p:cNvPr>
          <p:cNvPicPr>
            <a:picLocks noChangeAspect="1"/>
          </p:cNvPicPr>
          <p:nvPr/>
        </p:nvPicPr>
        <p:blipFill>
          <a:blip r:embed="rId3"/>
          <a:stretch>
            <a:fillRect/>
          </a:stretch>
        </p:blipFill>
        <p:spPr>
          <a:xfrm>
            <a:off x="48376" y="1167991"/>
            <a:ext cx="9047248" cy="5645385"/>
          </a:xfrm>
          <a:prstGeom prst="rect">
            <a:avLst/>
          </a:prstGeom>
        </p:spPr>
      </p:pic>
    </p:spTree>
    <p:extLst>
      <p:ext uri="{BB962C8B-B14F-4D97-AF65-F5344CB8AC3E}">
        <p14:creationId xmlns:p14="http://schemas.microsoft.com/office/powerpoint/2010/main" val="3533136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Esquema del Usuario</a:t>
            </a:r>
          </a:p>
        </p:txBody>
      </p:sp>
      <p:pic>
        <p:nvPicPr>
          <p:cNvPr id="6" name="Imagen 5">
            <a:extLst>
              <a:ext uri="{FF2B5EF4-FFF2-40B4-BE49-F238E27FC236}">
                <a16:creationId xmlns:a16="http://schemas.microsoft.com/office/drawing/2014/main" xmlns="" id="{2B0C672D-23F5-4B1C-9DF0-75EFBCC74DF9}"/>
              </a:ext>
            </a:extLst>
          </p:cNvPr>
          <p:cNvPicPr>
            <a:picLocks noChangeAspect="1"/>
          </p:cNvPicPr>
          <p:nvPr/>
        </p:nvPicPr>
        <p:blipFill>
          <a:blip r:embed="rId3"/>
          <a:stretch>
            <a:fillRect/>
          </a:stretch>
        </p:blipFill>
        <p:spPr>
          <a:xfrm>
            <a:off x="148908" y="1366186"/>
            <a:ext cx="8815580" cy="4871126"/>
          </a:xfrm>
          <a:prstGeom prst="rect">
            <a:avLst/>
          </a:prstGeom>
        </p:spPr>
      </p:pic>
    </p:spTree>
    <p:extLst>
      <p:ext uri="{BB962C8B-B14F-4D97-AF65-F5344CB8AC3E}">
        <p14:creationId xmlns:p14="http://schemas.microsoft.com/office/powerpoint/2010/main" val="3623589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3017101" y="3381965"/>
            <a:ext cx="5995800" cy="2395603"/>
          </a:xfrm>
        </p:spPr>
        <p:txBody>
          <a:bodyPr anchor="ctr" anchorCtr="0"/>
          <a:lstStyle/>
          <a:p>
            <a:r>
              <a:rPr lang="es-ES_tradnl" sz="4800" b="1" dirty="0"/>
              <a:t>Creación de Cuentas de Usuarios de Base de Datos</a:t>
            </a:r>
          </a:p>
        </p:txBody>
      </p:sp>
      <p:sp>
        <p:nvSpPr>
          <p:cNvPr id="5" name="CuadroTexto 1">
            <a:extLst>
              <a:ext uri="{FF2B5EF4-FFF2-40B4-BE49-F238E27FC236}">
                <a16:creationId xmlns:a16="http://schemas.microsoft.com/office/drawing/2014/main" xmlns="" id="{C96E7C33-E847-466C-97FF-CA49727DCDF0}"/>
              </a:ext>
            </a:extLst>
          </p:cNvPr>
          <p:cNvSpPr txBox="1"/>
          <p:nvPr/>
        </p:nvSpPr>
        <p:spPr>
          <a:xfrm>
            <a:off x="103919" y="6032243"/>
            <a:ext cx="8909451" cy="914400"/>
          </a:xfrm>
          <a:prstGeom prst="rect">
            <a:avLst/>
          </a:prstGeom>
          <a:noFill/>
          <a:ln>
            <a:noFill/>
          </a:ln>
        </p:spPr>
        <p:txBody>
          <a:bodyPr spcFirstLastPara="1" wrap="none" lIns="91425" tIns="45700" rIns="91425" bIns="45700" rtl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sz="1600" b="1" dirty="0">
                <a:solidFill>
                  <a:schemeClr val="bg1"/>
                </a:solidFill>
              </a:rPr>
              <a:t>*</a:t>
            </a:r>
            <a:r>
              <a:rPr lang="es-MX" sz="1200" b="1" dirty="0">
                <a:solidFill>
                  <a:schemeClr val="bg1"/>
                </a:solidFill>
              </a:rPr>
              <a:t>Los ejemplos se realizan simulando ser el Administrador de Base de Datos</a:t>
            </a:r>
          </a:p>
          <a:p>
            <a:r>
              <a:rPr lang="es-MX" sz="1600" b="1" dirty="0">
                <a:solidFill>
                  <a:schemeClr val="bg1"/>
                </a:solidFill>
              </a:rPr>
              <a:t>*</a:t>
            </a:r>
            <a:r>
              <a:rPr lang="es-MX" sz="1200" b="1" dirty="0">
                <a:solidFill>
                  <a:schemeClr val="bg1"/>
                </a:solidFill>
              </a:rPr>
              <a:t>Si usa la Base de Datos Oracle Cloud, en los ejemplos se debe reemplazar el </a:t>
            </a:r>
            <a:r>
              <a:rPr lang="es-MX" sz="1200" b="1" dirty="0" err="1">
                <a:solidFill>
                  <a:schemeClr val="bg1"/>
                </a:solidFill>
              </a:rPr>
              <a:t>Tablespace</a:t>
            </a:r>
            <a:r>
              <a:rPr lang="es-MX" sz="1200" b="1" dirty="0">
                <a:solidFill>
                  <a:schemeClr val="bg1"/>
                </a:solidFill>
              </a:rPr>
              <a:t> USERS por </a:t>
            </a:r>
            <a:r>
              <a:rPr lang="es-MX" sz="1200" b="1" dirty="0" err="1">
                <a:solidFill>
                  <a:schemeClr val="bg1"/>
                </a:solidFill>
              </a:rPr>
              <a:t>Tablespace</a:t>
            </a:r>
            <a:r>
              <a:rPr lang="es-MX" sz="1200" b="1" dirty="0">
                <a:solidFill>
                  <a:schemeClr val="bg1"/>
                </a:solidFill>
              </a:rPr>
              <a:t> DATA </a:t>
            </a:r>
          </a:p>
          <a:p>
            <a:r>
              <a:rPr lang="es-MX" sz="1200" b="1" dirty="0">
                <a:solidFill>
                  <a:schemeClr val="bg1"/>
                </a:solidFill>
              </a:rPr>
              <a:t/>
            </a:r>
            <a:br>
              <a:rPr lang="es-MX" sz="1200" b="1" dirty="0">
                <a:solidFill>
                  <a:schemeClr val="bg1"/>
                </a:solidFill>
              </a:rPr>
            </a:br>
            <a:endParaRPr lang="es-CL" sz="1200" b="1" dirty="0">
              <a:solidFill>
                <a:schemeClr val="bg1"/>
              </a:solidFill>
            </a:endParaRPr>
          </a:p>
        </p:txBody>
      </p:sp>
    </p:spTree>
    <p:extLst>
      <p:ext uri="{BB962C8B-B14F-4D97-AF65-F5344CB8AC3E}">
        <p14:creationId xmlns:p14="http://schemas.microsoft.com/office/powerpoint/2010/main" val="2599940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rPr>
              <a:t>Creando una Cuenta de Usuario</a:t>
            </a:r>
          </a:p>
        </p:txBody>
      </p:sp>
      <p:sp>
        <p:nvSpPr>
          <p:cNvPr id="5" name="Marcador de contenido 1">
            <a:extLst>
              <a:ext uri="{FF2B5EF4-FFF2-40B4-BE49-F238E27FC236}">
                <a16:creationId xmlns:a16="http://schemas.microsoft.com/office/drawing/2014/main" xmlns="" id="{C82F0E48-E012-4421-BCA6-570CAA9A08E8}"/>
              </a:ext>
            </a:extLst>
          </p:cNvPr>
          <p:cNvSpPr txBox="1">
            <a:spLocks/>
          </p:cNvSpPr>
          <p:nvPr/>
        </p:nvSpPr>
        <p:spPr>
          <a:xfrm>
            <a:off x="590872" y="1052736"/>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Sintaxis General:</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16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p:txBody>
      </p:sp>
      <p:sp>
        <p:nvSpPr>
          <p:cNvPr id="6" name="Text Box 5">
            <a:extLst>
              <a:ext uri="{FF2B5EF4-FFF2-40B4-BE49-F238E27FC236}">
                <a16:creationId xmlns:a16="http://schemas.microsoft.com/office/drawing/2014/main" xmlns="" id="{6B57CE28-C5C1-428D-817B-1216970EE363}"/>
              </a:ext>
            </a:extLst>
          </p:cNvPr>
          <p:cNvSpPr txBox="1">
            <a:spLocks noChangeArrowheads="1"/>
          </p:cNvSpPr>
          <p:nvPr/>
        </p:nvSpPr>
        <p:spPr bwMode="auto">
          <a:xfrm>
            <a:off x="755576" y="1652864"/>
            <a:ext cx="8064896" cy="255454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b="1" dirty="0">
              <a:latin typeface="Calibri" panose="020F0502020204030204" pitchFamily="34" charset="0"/>
              <a:cs typeface="Calibri" panose="020F0502020204030204" pitchFamily="34" charset="0"/>
            </a:endParaRPr>
          </a:p>
          <a:p>
            <a:pPr algn="l" eaLnBrk="1" hangingPunct="1"/>
            <a:r>
              <a:rPr lang="es-MX" sz="1600" b="1" dirty="0">
                <a:latin typeface="Calibri" panose="020F0502020204030204" pitchFamily="34" charset="0"/>
                <a:cs typeface="Calibri" panose="020F0502020204030204" pitchFamily="34" charset="0"/>
              </a:rPr>
              <a:t>CREATE USER </a:t>
            </a:r>
            <a:r>
              <a:rPr lang="es-MX" sz="1600" b="1" i="1" dirty="0">
                <a:latin typeface="Calibri" panose="020F0502020204030204" pitchFamily="34" charset="0"/>
                <a:cs typeface="Calibri" panose="020F0502020204030204" pitchFamily="34" charset="0"/>
              </a:rPr>
              <a:t>usuario</a:t>
            </a:r>
          </a:p>
          <a:p>
            <a:pPr algn="l" eaLnBrk="1" hangingPunct="1"/>
            <a:r>
              <a:rPr lang="es-MX" sz="1600" b="1" dirty="0">
                <a:latin typeface="Calibri" panose="020F0502020204030204" pitchFamily="34" charset="0"/>
                <a:cs typeface="Calibri" panose="020F0502020204030204" pitchFamily="34" charset="0"/>
              </a:rPr>
              <a:t>IDENTIFIED BY </a:t>
            </a:r>
            <a:r>
              <a:rPr lang="es-MX" sz="1600" b="1" i="1" dirty="0">
                <a:latin typeface="Calibri" panose="020F0502020204030204" pitchFamily="34" charset="0"/>
                <a:cs typeface="Calibri" panose="020F0502020204030204" pitchFamily="34" charset="0"/>
              </a:rPr>
              <a:t>contraseña</a:t>
            </a:r>
            <a:r>
              <a:rPr lang="es-MX" sz="1600" b="1" dirty="0">
                <a:latin typeface="Calibri" panose="020F0502020204030204" pitchFamily="34" charset="0"/>
                <a:cs typeface="Calibri" panose="020F0502020204030204" pitchFamily="34" charset="0"/>
              </a:rPr>
              <a:t> </a:t>
            </a:r>
          </a:p>
          <a:p>
            <a:pPr algn="l" eaLnBrk="1" hangingPunct="1"/>
            <a:r>
              <a:rPr lang="es-MX" sz="1600" b="1" dirty="0">
                <a:latin typeface="Calibri" panose="020F0502020204030204" pitchFamily="34" charset="0"/>
                <a:cs typeface="Calibri" panose="020F0502020204030204" pitchFamily="34" charset="0"/>
              </a:rPr>
              <a:t>[DEFAULT TABLESPACE </a:t>
            </a:r>
            <a:r>
              <a:rPr lang="es-MX" sz="1600" b="1" i="1" dirty="0" err="1">
                <a:latin typeface="Calibri" panose="020F0502020204030204" pitchFamily="34" charset="0"/>
                <a:cs typeface="Calibri" panose="020F0502020204030204" pitchFamily="34" charset="0"/>
              </a:rPr>
              <a:t>nombre_tablespace</a:t>
            </a:r>
            <a:r>
              <a:rPr lang="es-MX" sz="1600" b="1" dirty="0">
                <a:latin typeface="Calibri" panose="020F0502020204030204" pitchFamily="34" charset="0"/>
                <a:cs typeface="Calibri" panose="020F0502020204030204" pitchFamily="34" charset="0"/>
              </a:rPr>
              <a:t>]</a:t>
            </a:r>
            <a:endParaRPr lang="es-MX" sz="1600" b="1" i="1" dirty="0">
              <a:latin typeface="Calibri" panose="020F0502020204030204" pitchFamily="34" charset="0"/>
              <a:cs typeface="Calibri" panose="020F0502020204030204" pitchFamily="34" charset="0"/>
            </a:endParaRPr>
          </a:p>
          <a:p>
            <a:pPr algn="l" eaLnBrk="1" hangingPunct="1"/>
            <a:r>
              <a:rPr lang="es-MX" sz="1600" b="1" dirty="0">
                <a:latin typeface="Calibri" panose="020F0502020204030204" pitchFamily="34" charset="0"/>
                <a:cs typeface="Calibri" panose="020F0502020204030204" pitchFamily="34" charset="0"/>
              </a:rPr>
              <a:t>[TEMPORARY TABLESPACE </a:t>
            </a:r>
            <a:r>
              <a:rPr lang="es-MX" sz="1600" b="1" i="1" dirty="0" err="1">
                <a:latin typeface="Calibri" panose="020F0502020204030204" pitchFamily="34" charset="0"/>
                <a:cs typeface="Calibri" panose="020F0502020204030204" pitchFamily="34" charset="0"/>
              </a:rPr>
              <a:t>nombre_tablespace</a:t>
            </a:r>
            <a:r>
              <a:rPr lang="es-MX" sz="1600" b="1" dirty="0">
                <a:latin typeface="Calibri" panose="020F0502020204030204" pitchFamily="34" charset="0"/>
                <a:cs typeface="Calibri" panose="020F0502020204030204" pitchFamily="34" charset="0"/>
              </a:rPr>
              <a:t>]</a:t>
            </a:r>
            <a:endParaRPr lang="es-MX" sz="1600" b="1" i="1" dirty="0">
              <a:latin typeface="Calibri" panose="020F0502020204030204" pitchFamily="34" charset="0"/>
              <a:cs typeface="Calibri" panose="020F0502020204030204" pitchFamily="34" charset="0"/>
            </a:endParaRPr>
          </a:p>
          <a:p>
            <a:pPr algn="l" eaLnBrk="1" hangingPunct="1"/>
            <a:r>
              <a:rPr lang="es-MX" sz="1600" b="1" dirty="0">
                <a:latin typeface="Calibri" panose="020F0502020204030204" pitchFamily="34" charset="0"/>
                <a:cs typeface="Calibri" panose="020F0502020204030204" pitchFamily="34" charset="0"/>
              </a:rPr>
              <a:t>QUOTA </a:t>
            </a:r>
            <a:r>
              <a:rPr lang="es-MX" sz="1600" b="1" i="1" dirty="0">
                <a:latin typeface="Calibri" panose="020F0502020204030204" pitchFamily="34" charset="0"/>
                <a:cs typeface="Calibri" panose="020F0502020204030204" pitchFamily="34" charset="0"/>
              </a:rPr>
              <a:t>tamaño</a:t>
            </a:r>
            <a:r>
              <a:rPr lang="es-MX" sz="1600" b="1" dirty="0">
                <a:latin typeface="Calibri" panose="020F0502020204030204" pitchFamily="34" charset="0"/>
                <a:cs typeface="Calibri" panose="020F0502020204030204" pitchFamily="34" charset="0"/>
              </a:rPr>
              <a:t> {K | M} ON </a:t>
            </a:r>
            <a:r>
              <a:rPr lang="es-MX" sz="1600" b="1" i="1" dirty="0" err="1">
                <a:latin typeface="Calibri" panose="020F0502020204030204" pitchFamily="34" charset="0"/>
                <a:cs typeface="Calibri" panose="020F0502020204030204" pitchFamily="34" charset="0"/>
              </a:rPr>
              <a:t>nombre_tablespace</a:t>
            </a:r>
            <a:r>
              <a:rPr lang="es-MX" sz="1600" b="1" i="1" dirty="0">
                <a:latin typeface="Calibri" panose="020F0502020204030204" pitchFamily="34" charset="0"/>
                <a:cs typeface="Calibri" panose="020F0502020204030204" pitchFamily="34" charset="0"/>
              </a:rPr>
              <a:t> </a:t>
            </a:r>
            <a:r>
              <a:rPr lang="es-MX" sz="1600" b="1" dirty="0">
                <a:latin typeface="Calibri" panose="020F0502020204030204" pitchFamily="34" charset="0"/>
                <a:cs typeface="Calibri" panose="020F0502020204030204" pitchFamily="34" charset="0"/>
              </a:rPr>
              <a:t>| QUOTA UNLIMITED ON </a:t>
            </a:r>
            <a:r>
              <a:rPr lang="es-MX" sz="1600" b="1" i="1" dirty="0" err="1">
                <a:latin typeface="Calibri" panose="020F0502020204030204" pitchFamily="34" charset="0"/>
                <a:cs typeface="Calibri" panose="020F0502020204030204" pitchFamily="34" charset="0"/>
              </a:rPr>
              <a:t>nombre_tablespace</a:t>
            </a:r>
            <a:endParaRPr lang="es-MX" sz="1600" b="1" i="1" dirty="0">
              <a:latin typeface="Calibri" panose="020F0502020204030204" pitchFamily="34" charset="0"/>
              <a:cs typeface="Calibri" panose="020F0502020204030204" pitchFamily="34" charset="0"/>
            </a:endParaRPr>
          </a:p>
          <a:p>
            <a:pPr algn="l" eaLnBrk="1" hangingPunct="1"/>
            <a:r>
              <a:rPr lang="es-MX" sz="1600" b="1" dirty="0">
                <a:latin typeface="Calibri" panose="020F0502020204030204" pitchFamily="34" charset="0"/>
                <a:cs typeface="Calibri" panose="020F0502020204030204" pitchFamily="34" charset="0"/>
              </a:rPr>
              <a:t>[PROFILE </a:t>
            </a:r>
            <a:r>
              <a:rPr lang="es-MX" sz="1600" b="1" i="1" dirty="0" err="1">
                <a:latin typeface="Calibri" panose="020F0502020204030204" pitchFamily="34" charset="0"/>
                <a:cs typeface="Calibri" panose="020F0502020204030204" pitchFamily="34" charset="0"/>
              </a:rPr>
              <a:t>nombre_profile</a:t>
            </a:r>
            <a:r>
              <a:rPr lang="es-MX" sz="1600" b="1" dirty="0">
                <a:latin typeface="Calibri" panose="020F0502020204030204" pitchFamily="34" charset="0"/>
                <a:cs typeface="Calibri" panose="020F0502020204030204" pitchFamily="34" charset="0"/>
              </a:rPr>
              <a:t>]</a:t>
            </a:r>
          </a:p>
          <a:p>
            <a:pPr algn="l" eaLnBrk="1" hangingPunct="1"/>
            <a:r>
              <a:rPr lang="es-MX" sz="1600" b="1" dirty="0">
                <a:latin typeface="Calibri" panose="020F0502020204030204" pitchFamily="34" charset="0"/>
                <a:cs typeface="Calibri" panose="020F0502020204030204" pitchFamily="34" charset="0"/>
              </a:rPr>
              <a:t>[PASSWORD EXPIRE]</a:t>
            </a:r>
          </a:p>
          <a:p>
            <a:pPr algn="l" eaLnBrk="1" hangingPunct="1"/>
            <a:r>
              <a:rPr lang="es-MX" sz="1600" b="1" dirty="0">
                <a:latin typeface="Calibri" panose="020F0502020204030204" pitchFamily="34" charset="0"/>
                <a:cs typeface="Calibri" panose="020F0502020204030204" pitchFamily="34" charset="0"/>
              </a:rPr>
              <a:t>[ACCOUNT {LOCK|UNLOCK} ]</a:t>
            </a:r>
          </a:p>
          <a:p>
            <a:pPr algn="l" eaLnBrk="1" hangingPunct="1"/>
            <a:endParaRPr lang="es-MX" sz="800" b="1" dirty="0">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0AA38E8D-531A-4167-A3CA-83B223C35F40}"/>
              </a:ext>
            </a:extLst>
          </p:cNvPr>
          <p:cNvSpPr txBox="1">
            <a:spLocks noChangeArrowheads="1"/>
          </p:cNvSpPr>
          <p:nvPr/>
        </p:nvSpPr>
        <p:spPr bwMode="auto">
          <a:xfrm>
            <a:off x="827584" y="4653136"/>
            <a:ext cx="6048672" cy="1692771"/>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r>
              <a:rPr lang="en-US" sz="1600" b="1" dirty="0">
                <a:latin typeface="Calibri" panose="020F0502020204030204" pitchFamily="34" charset="0"/>
                <a:cs typeface="Calibri" panose="020F0502020204030204" pitchFamily="34" charset="0"/>
              </a:rPr>
              <a:t>CREATE USER </a:t>
            </a:r>
            <a:r>
              <a:rPr lang="en-US" sz="1600" b="1" dirty="0" err="1">
                <a:latin typeface="Calibri" panose="020F0502020204030204" pitchFamily="34" charset="0"/>
                <a:cs typeface="Calibri" panose="020F0502020204030204" pitchFamily="34" charset="0"/>
              </a:rPr>
              <a:t>desa_inf</a:t>
            </a:r>
            <a:r>
              <a:rPr lang="en-US" sz="1600" b="1" dirty="0">
                <a:latin typeface="Calibri" panose="020F0502020204030204" pitchFamily="34" charset="0"/>
                <a:cs typeface="Calibri" panose="020F0502020204030204" pitchFamily="34" charset="0"/>
              </a:rPr>
              <a:t> </a:t>
            </a:r>
          </a:p>
          <a:p>
            <a:pPr eaLnBrk="1" hangingPunct="1"/>
            <a:r>
              <a:rPr lang="en-US" sz="1600" b="1" dirty="0">
                <a:latin typeface="Calibri" panose="020F0502020204030204" pitchFamily="34" charset="0"/>
                <a:cs typeface="Calibri" panose="020F0502020204030204" pitchFamily="34" charset="0"/>
              </a:rPr>
              <a:t>IDENTIFIED BY "Des_inf_12*245"</a:t>
            </a:r>
          </a:p>
          <a:p>
            <a:pPr eaLnBrk="1" hangingPunct="1"/>
            <a:r>
              <a:rPr lang="en-US" sz="1600" b="1" dirty="0">
                <a:latin typeface="Calibri" panose="020F0502020204030204" pitchFamily="34" charset="0"/>
                <a:cs typeface="Calibri" panose="020F0502020204030204" pitchFamily="34" charset="0"/>
              </a:rPr>
              <a:t>DEFAULT TABLESPACE users </a:t>
            </a:r>
          </a:p>
          <a:p>
            <a:pPr algn="l" eaLnBrk="1" hangingPunct="1"/>
            <a:r>
              <a:rPr lang="en-US" sz="1600" b="1" dirty="0">
                <a:latin typeface="Calibri" panose="020F0502020204030204" pitchFamily="34" charset="0"/>
                <a:cs typeface="Calibri" panose="020F0502020204030204" pitchFamily="34" charset="0"/>
              </a:rPr>
              <a:t>TEMPORARY TABLESPACE temp </a:t>
            </a:r>
          </a:p>
          <a:p>
            <a:pPr algn="l" eaLnBrk="1" hangingPunct="1"/>
            <a:r>
              <a:rPr lang="en-US" sz="1600" b="1" dirty="0">
                <a:latin typeface="Calibri" panose="020F0502020204030204" pitchFamily="34" charset="0"/>
                <a:cs typeface="Calibri" panose="020F0502020204030204" pitchFamily="34" charset="0"/>
              </a:rPr>
              <a:t>QUOTA UNLIMITED ON users;</a:t>
            </a:r>
          </a:p>
          <a:p>
            <a:pPr algn="l" eaLnBrk="1" hangingPunct="1"/>
            <a:r>
              <a:rPr lang="en-US" sz="1600" b="1" dirty="0">
                <a:latin typeface="Calibri" panose="020F0502020204030204" pitchFamily="34" charset="0"/>
                <a:cs typeface="Calibri" panose="020F0502020204030204" pitchFamily="34" charset="0"/>
              </a:rPr>
              <a:t>GRANT CREATE SESSION TO </a:t>
            </a:r>
            <a:r>
              <a:rPr lang="en-US" sz="1600" b="1" dirty="0" err="1">
                <a:latin typeface="Calibri" panose="020F0502020204030204" pitchFamily="34" charset="0"/>
                <a:cs typeface="Calibri" panose="020F0502020204030204" pitchFamily="34" charset="0"/>
              </a:rPr>
              <a:t>desa_inf</a:t>
            </a:r>
            <a:r>
              <a:rPr lang="en-US" sz="1600" b="1" dirty="0">
                <a:latin typeface="Calibri" panose="020F0502020204030204" pitchFamily="34" charset="0"/>
                <a:cs typeface="Calibri" panose="020F0502020204030204" pitchFamily="34" charset="0"/>
              </a:rPr>
              <a:t>;</a:t>
            </a:r>
          </a:p>
          <a:p>
            <a:pPr algn="l" eaLnBrk="1" hangingPunct="1"/>
            <a:endParaRPr lang="es-MX"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5431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rPr>
              <a:t>Creando una Cuenta de Usuario</a:t>
            </a:r>
          </a:p>
        </p:txBody>
      </p:sp>
      <p:sp>
        <p:nvSpPr>
          <p:cNvPr id="8" name="Marcador de contenido 1">
            <a:extLst>
              <a:ext uri="{FF2B5EF4-FFF2-40B4-BE49-F238E27FC236}">
                <a16:creationId xmlns:a16="http://schemas.microsoft.com/office/drawing/2014/main" xmlns="" id="{89CC2A5D-DE37-43BF-9485-7587DE11F363}"/>
              </a:ext>
            </a:extLst>
          </p:cNvPr>
          <p:cNvSpPr txBox="1">
            <a:spLocks/>
          </p:cNvSpPr>
          <p:nvPr/>
        </p:nvSpPr>
        <p:spPr>
          <a:xfrm>
            <a:off x="590872" y="918291"/>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1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p:txBody>
      </p:sp>
      <p:sp>
        <p:nvSpPr>
          <p:cNvPr id="9" name="Text Box 5">
            <a:extLst>
              <a:ext uri="{FF2B5EF4-FFF2-40B4-BE49-F238E27FC236}">
                <a16:creationId xmlns:a16="http://schemas.microsoft.com/office/drawing/2014/main" xmlns="" id="{D36F9AC6-856D-4A00-B6CA-B7BAFDAC5BA3}"/>
              </a:ext>
            </a:extLst>
          </p:cNvPr>
          <p:cNvSpPr txBox="1">
            <a:spLocks noChangeArrowheads="1"/>
          </p:cNvSpPr>
          <p:nvPr/>
        </p:nvSpPr>
        <p:spPr bwMode="auto">
          <a:xfrm>
            <a:off x="827584" y="1521901"/>
            <a:ext cx="7200800" cy="2308324"/>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n-US" sz="8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CREATE USER </a:t>
            </a:r>
            <a:r>
              <a:rPr lang="en-US" sz="1600" b="1" dirty="0" err="1">
                <a:latin typeface="Calibri" panose="020F0502020204030204" pitchFamily="34" charset="0"/>
                <a:cs typeface="Calibri" panose="020F0502020204030204" pitchFamily="34" charset="0"/>
              </a:rPr>
              <a:t>desa_procesos</a:t>
            </a:r>
            <a:r>
              <a:rPr lang="en-US" sz="1600" b="1" dirty="0">
                <a:latin typeface="Calibri" panose="020F0502020204030204" pitchFamily="34" charset="0"/>
                <a:cs typeface="Calibri" panose="020F0502020204030204" pitchFamily="34" charset="0"/>
              </a:rPr>
              <a:t> </a:t>
            </a:r>
          </a:p>
          <a:p>
            <a:pPr eaLnBrk="1" hangingPunct="1"/>
            <a:r>
              <a:rPr lang="en-US" sz="1600" b="1" dirty="0">
                <a:latin typeface="Calibri" panose="020F0502020204030204" pitchFamily="34" charset="0"/>
                <a:cs typeface="Calibri" panose="020F0502020204030204" pitchFamily="34" charset="0"/>
              </a:rPr>
              <a:t>IDENTIFIED BY "Desa_proc.234"</a:t>
            </a:r>
          </a:p>
          <a:p>
            <a:pPr algn="l" eaLnBrk="1" hangingPunct="1"/>
            <a:r>
              <a:rPr lang="en-US" sz="1600" b="1" dirty="0">
                <a:latin typeface="Calibri" panose="020F0502020204030204" pitchFamily="34" charset="0"/>
                <a:cs typeface="Calibri" panose="020F0502020204030204" pitchFamily="34" charset="0"/>
              </a:rPr>
              <a:t>DEFAULT TABLESPACE users </a:t>
            </a:r>
          </a:p>
          <a:p>
            <a:pPr algn="l" eaLnBrk="1" hangingPunct="1"/>
            <a:r>
              <a:rPr lang="en-US" sz="1600" b="1" dirty="0">
                <a:latin typeface="Calibri" panose="020F0502020204030204" pitchFamily="34" charset="0"/>
                <a:cs typeface="Calibri" panose="020F0502020204030204" pitchFamily="34" charset="0"/>
              </a:rPr>
              <a:t>TEMPORARY TABLESPACE temp </a:t>
            </a:r>
          </a:p>
          <a:p>
            <a:pPr algn="l" eaLnBrk="1" hangingPunct="1"/>
            <a:r>
              <a:rPr lang="en-US" sz="1600" b="1" dirty="0">
                <a:latin typeface="Calibri" panose="020F0502020204030204" pitchFamily="34" charset="0"/>
                <a:cs typeface="Calibri" panose="020F0502020204030204" pitchFamily="34" charset="0"/>
              </a:rPr>
              <a:t>QUOTA UNLIMITED ON users;</a:t>
            </a:r>
          </a:p>
          <a:p>
            <a:pPr algn="l" eaLnBrk="1" hangingPunct="1"/>
            <a:r>
              <a:rPr lang="en-US" sz="1600" b="1" dirty="0">
                <a:latin typeface="Calibri" panose="020F0502020204030204" pitchFamily="34" charset="0"/>
                <a:cs typeface="Calibri" panose="020F0502020204030204" pitchFamily="34" charset="0"/>
              </a:rPr>
              <a:t>GRANT CREATE SESSION TO </a:t>
            </a:r>
            <a:r>
              <a:rPr lang="en-US" sz="1600" b="1" dirty="0" err="1">
                <a:latin typeface="Calibri" panose="020F0502020204030204" pitchFamily="34" charset="0"/>
                <a:cs typeface="Calibri" panose="020F0502020204030204" pitchFamily="34" charset="0"/>
              </a:rPr>
              <a:t>desa_procesos</a:t>
            </a:r>
            <a:r>
              <a:rPr lang="en-US" sz="1600" b="1" dirty="0">
                <a:latin typeface="Calibri" panose="020F0502020204030204" pitchFamily="34" charset="0"/>
                <a:cs typeface="Calibri" panose="020F0502020204030204" pitchFamily="34" charset="0"/>
              </a:rPr>
              <a:t>;</a:t>
            </a:r>
          </a:p>
          <a:p>
            <a:pPr algn="l" eaLnBrk="1" hangingPunct="1"/>
            <a:r>
              <a:rPr lang="en-US" sz="1600" b="1" dirty="0">
                <a:latin typeface="Calibri" panose="020F0502020204030204" pitchFamily="34" charset="0"/>
                <a:cs typeface="Calibri" panose="020F0502020204030204" pitchFamily="34" charset="0"/>
              </a:rPr>
              <a:t>GRANT RESOURCE TO </a:t>
            </a:r>
            <a:r>
              <a:rPr lang="en-US" sz="1600" b="1" dirty="0" err="1">
                <a:latin typeface="Calibri" panose="020F0502020204030204" pitchFamily="34" charset="0"/>
                <a:cs typeface="Calibri" panose="020F0502020204030204" pitchFamily="34" charset="0"/>
              </a:rPr>
              <a:t>desa_procesos</a:t>
            </a:r>
            <a:r>
              <a:rPr lang="en-US" sz="1600" b="1" dirty="0">
                <a:latin typeface="Calibri" panose="020F0502020204030204" pitchFamily="34" charset="0"/>
                <a:cs typeface="Calibri" panose="020F0502020204030204" pitchFamily="34" charset="0"/>
              </a:rPr>
              <a:t>;</a:t>
            </a:r>
          </a:p>
          <a:p>
            <a:pPr algn="l" eaLnBrk="1" hangingPunct="1"/>
            <a:r>
              <a:rPr lang="en-US" sz="1600" b="1" dirty="0">
                <a:latin typeface="Calibri" panose="020F0502020204030204" pitchFamily="34" charset="0"/>
                <a:cs typeface="Calibri" panose="020F0502020204030204" pitchFamily="34" charset="0"/>
              </a:rPr>
              <a:t>ALTER USER </a:t>
            </a:r>
            <a:r>
              <a:rPr lang="en-US" sz="1600" b="1" dirty="0" err="1">
                <a:latin typeface="Calibri" panose="020F0502020204030204" pitchFamily="34" charset="0"/>
                <a:cs typeface="Calibri" panose="020F0502020204030204" pitchFamily="34" charset="0"/>
              </a:rPr>
              <a:t>desa_procesos</a:t>
            </a:r>
            <a:r>
              <a:rPr lang="en-US" sz="1600" b="1" dirty="0">
                <a:latin typeface="Calibri" panose="020F0502020204030204" pitchFamily="34" charset="0"/>
                <a:cs typeface="Calibri" panose="020F0502020204030204" pitchFamily="34" charset="0"/>
              </a:rPr>
              <a:t> DEFAULT ROLE "RESOURCE";</a:t>
            </a:r>
          </a:p>
          <a:p>
            <a:pPr algn="l" eaLnBrk="1" hangingPunct="1"/>
            <a:endParaRPr lang="es-MX" sz="800" b="1" dirty="0">
              <a:latin typeface="Calibri" panose="020F0502020204030204" pitchFamily="34" charset="0"/>
              <a:cs typeface="Calibri" panose="020F0502020204030204" pitchFamily="34" charset="0"/>
            </a:endParaRPr>
          </a:p>
        </p:txBody>
      </p:sp>
      <p:sp>
        <p:nvSpPr>
          <p:cNvPr id="10" name="Text Box 5">
            <a:extLst>
              <a:ext uri="{FF2B5EF4-FFF2-40B4-BE49-F238E27FC236}">
                <a16:creationId xmlns:a16="http://schemas.microsoft.com/office/drawing/2014/main" xmlns="" id="{E8B4F140-2777-4BCA-98A0-4FF0ECE10CC0}"/>
              </a:ext>
            </a:extLst>
          </p:cNvPr>
          <p:cNvSpPr txBox="1">
            <a:spLocks noChangeArrowheads="1"/>
          </p:cNvSpPr>
          <p:nvPr/>
        </p:nvSpPr>
        <p:spPr bwMode="auto">
          <a:xfrm>
            <a:off x="827584" y="4390373"/>
            <a:ext cx="7200800" cy="1569660"/>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n-US" sz="800" b="1" dirty="0">
              <a:latin typeface="Calibri" panose="020F0502020204030204" pitchFamily="34" charset="0"/>
              <a:cs typeface="Calibri" panose="020F0502020204030204" pitchFamily="34" charset="0"/>
            </a:endParaRPr>
          </a:p>
          <a:p>
            <a:pPr eaLnBrk="1" hangingPunct="1"/>
            <a:r>
              <a:rPr lang="en-US" sz="1600" b="1" dirty="0">
                <a:latin typeface="Calibri" panose="020F0502020204030204" pitchFamily="34" charset="0"/>
                <a:cs typeface="Calibri" panose="020F0502020204030204" pitchFamily="34" charset="0"/>
              </a:rPr>
              <a:t>CREATE USER </a:t>
            </a:r>
            <a:r>
              <a:rPr lang="en-US" sz="1600" b="1" dirty="0" err="1">
                <a:latin typeface="Calibri" panose="020F0502020204030204" pitchFamily="34" charset="0"/>
                <a:cs typeface="Calibri" panose="020F0502020204030204" pitchFamily="34" charset="0"/>
              </a:rPr>
              <a:t>cons_inf</a:t>
            </a:r>
            <a:r>
              <a:rPr lang="en-US" sz="1600" b="1" dirty="0">
                <a:latin typeface="Calibri" panose="020F0502020204030204" pitchFamily="34" charset="0"/>
                <a:cs typeface="Calibri" panose="020F0502020204030204" pitchFamily="34" charset="0"/>
              </a:rPr>
              <a:t> </a:t>
            </a:r>
          </a:p>
          <a:p>
            <a:pPr eaLnBrk="1" hangingPunct="1"/>
            <a:r>
              <a:rPr lang="en-US" sz="1600" b="1" dirty="0">
                <a:latin typeface="Calibri" panose="020F0502020204030204" pitchFamily="34" charset="0"/>
                <a:cs typeface="Calibri" panose="020F0502020204030204" pitchFamily="34" charset="0"/>
              </a:rPr>
              <a:t>IDENTIFIED BY "USR_cons.234"</a:t>
            </a:r>
          </a:p>
          <a:p>
            <a:pPr algn="l" eaLnBrk="1" hangingPunct="1"/>
            <a:r>
              <a:rPr lang="en-US" sz="1600" b="1" dirty="0">
                <a:latin typeface="Calibri" panose="020F0502020204030204" pitchFamily="34" charset="0"/>
                <a:cs typeface="Calibri" panose="020F0502020204030204" pitchFamily="34" charset="0"/>
              </a:rPr>
              <a:t>DEFAULT TABLESPACE users </a:t>
            </a:r>
          </a:p>
          <a:p>
            <a:pPr algn="l" eaLnBrk="1" hangingPunct="1"/>
            <a:r>
              <a:rPr lang="en-US" sz="1600" b="1" dirty="0">
                <a:latin typeface="Calibri" panose="020F0502020204030204" pitchFamily="34" charset="0"/>
                <a:cs typeface="Calibri" panose="020F0502020204030204" pitchFamily="34" charset="0"/>
              </a:rPr>
              <a:t>TEMPORARY TABLESPACE temp </a:t>
            </a:r>
          </a:p>
          <a:p>
            <a:pPr algn="l" eaLnBrk="1" hangingPunct="1"/>
            <a:r>
              <a:rPr lang="en-US" sz="1600" b="1" dirty="0">
                <a:latin typeface="Calibri" panose="020F0502020204030204" pitchFamily="34" charset="0"/>
                <a:cs typeface="Calibri" panose="020F0502020204030204" pitchFamily="34" charset="0"/>
              </a:rPr>
              <a:t>QUOTA 2M ON users;</a:t>
            </a:r>
          </a:p>
          <a:p>
            <a:pPr algn="l" eaLnBrk="1" hangingPunct="1"/>
            <a:endParaRPr lang="es-MX" sz="800" b="1" dirty="0">
              <a:latin typeface="Calibri" panose="020F0502020204030204" pitchFamily="34" charset="0"/>
              <a:cs typeface="Calibri" panose="020F0502020204030204" pitchFamily="34" charset="0"/>
            </a:endParaRPr>
          </a:p>
        </p:txBody>
      </p:sp>
      <p:pic>
        <p:nvPicPr>
          <p:cNvPr id="11" name="Imagen 10">
            <a:extLst>
              <a:ext uri="{FF2B5EF4-FFF2-40B4-BE49-F238E27FC236}">
                <a16:creationId xmlns:a16="http://schemas.microsoft.com/office/drawing/2014/main" xmlns="" id="{ACA0236E-2EAE-40FB-8AFB-CA588C0A65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144" y="6063308"/>
            <a:ext cx="7200800" cy="583595"/>
          </a:xfrm>
          <a:prstGeom prst="rect">
            <a:avLst/>
          </a:prstGeom>
        </p:spPr>
      </p:pic>
    </p:spTree>
    <p:extLst>
      <p:ext uri="{BB962C8B-B14F-4D97-AF65-F5344CB8AC3E}">
        <p14:creationId xmlns:p14="http://schemas.microsoft.com/office/powerpoint/2010/main" val="1041557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defTabSz="457200"/>
            <a:r>
              <a:rPr lang="es-CL" sz="2800" b="1" dirty="0">
                <a:solidFill>
                  <a:prstClr val="white"/>
                </a:solidFill>
                <a:latin typeface="Calibri"/>
              </a:rPr>
              <a:t>Área de Almacenamiento para el Usuario </a:t>
            </a:r>
          </a:p>
        </p:txBody>
      </p:sp>
      <p:pic>
        <p:nvPicPr>
          <p:cNvPr id="4" name="Imagen 3">
            <a:extLst>
              <a:ext uri="{FF2B5EF4-FFF2-40B4-BE49-F238E27FC236}">
                <a16:creationId xmlns:a16="http://schemas.microsoft.com/office/drawing/2014/main" xmlns="" id="{ADC929E2-9B08-4CD8-A46F-C9545E6A4968}"/>
              </a:ext>
            </a:extLst>
          </p:cNvPr>
          <p:cNvPicPr>
            <a:picLocks noChangeAspect="1"/>
          </p:cNvPicPr>
          <p:nvPr/>
        </p:nvPicPr>
        <p:blipFill>
          <a:blip r:embed="rId3"/>
          <a:stretch>
            <a:fillRect/>
          </a:stretch>
        </p:blipFill>
        <p:spPr>
          <a:xfrm>
            <a:off x="2447816" y="1169504"/>
            <a:ext cx="4344869" cy="5611280"/>
          </a:xfrm>
          <a:prstGeom prst="rect">
            <a:avLst/>
          </a:prstGeom>
        </p:spPr>
      </p:pic>
    </p:spTree>
    <p:extLst>
      <p:ext uri="{BB962C8B-B14F-4D97-AF65-F5344CB8AC3E}">
        <p14:creationId xmlns:p14="http://schemas.microsoft.com/office/powerpoint/2010/main" val="291371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defTabSz="457200"/>
            <a:r>
              <a:rPr lang="es-CL" sz="2800" b="1" dirty="0">
                <a:solidFill>
                  <a:prstClr val="white"/>
                </a:solidFill>
                <a:latin typeface="Calibri"/>
              </a:rPr>
              <a:t>Creando un Área de Almacenamiento</a:t>
            </a:r>
          </a:p>
        </p:txBody>
      </p:sp>
      <p:sp>
        <p:nvSpPr>
          <p:cNvPr id="5" name="Marcador de contenido 1">
            <a:extLst>
              <a:ext uri="{FF2B5EF4-FFF2-40B4-BE49-F238E27FC236}">
                <a16:creationId xmlns:a16="http://schemas.microsoft.com/office/drawing/2014/main" xmlns="" id="{E309FDEF-F1C5-4250-88AE-E60ECB998376}"/>
              </a:ext>
            </a:extLst>
          </p:cNvPr>
          <p:cNvSpPr txBox="1">
            <a:spLocks/>
          </p:cNvSpPr>
          <p:nvPr/>
        </p:nvSpPr>
        <p:spPr>
          <a:xfrm>
            <a:off x="590872" y="126876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Sintaxis simple:</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2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6" name="Text Box 5">
            <a:extLst>
              <a:ext uri="{FF2B5EF4-FFF2-40B4-BE49-F238E27FC236}">
                <a16:creationId xmlns:a16="http://schemas.microsoft.com/office/drawing/2014/main" xmlns="" id="{FA8386EB-0781-4F2F-A34A-15AD35E92CC2}"/>
              </a:ext>
            </a:extLst>
          </p:cNvPr>
          <p:cNvSpPr txBox="1">
            <a:spLocks noChangeArrowheads="1"/>
          </p:cNvSpPr>
          <p:nvPr/>
        </p:nvSpPr>
        <p:spPr bwMode="auto">
          <a:xfrm>
            <a:off x="1308194" y="1868270"/>
            <a:ext cx="7080230" cy="1323439"/>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CREATE TABLESPACE </a:t>
            </a:r>
            <a:r>
              <a:rPr lang="en-US" sz="1600" b="1" i="1" dirty="0" err="1">
                <a:latin typeface="Calibri" panose="020F0502020204030204" pitchFamily="34" charset="0"/>
                <a:cs typeface="Calibri" panose="020F0502020204030204" pitchFamily="34" charset="0"/>
              </a:rPr>
              <a:t>nombre_tablespace</a:t>
            </a:r>
            <a:r>
              <a:rPr lang="en-US" sz="1600" b="1" dirty="0">
                <a:latin typeface="Calibri" panose="020F0502020204030204" pitchFamily="34" charset="0"/>
                <a:cs typeface="Calibri" panose="020F0502020204030204" pitchFamily="34" charset="0"/>
              </a:rPr>
              <a:t> </a:t>
            </a:r>
          </a:p>
          <a:p>
            <a:pPr algn="l" eaLnBrk="1" hangingPunct="1"/>
            <a:r>
              <a:rPr lang="en-US" sz="1600" b="1" dirty="0">
                <a:latin typeface="Calibri" panose="020F0502020204030204" pitchFamily="34" charset="0"/>
                <a:cs typeface="Calibri" panose="020F0502020204030204" pitchFamily="34" charset="0"/>
              </a:rPr>
              <a:t>DATAFILE '</a:t>
            </a:r>
            <a:r>
              <a:rPr lang="en-US" sz="1600" b="1" i="1" dirty="0" err="1">
                <a:latin typeface="Calibri" panose="020F0502020204030204" pitchFamily="34" charset="0"/>
                <a:cs typeface="Calibri" panose="020F0502020204030204" pitchFamily="34" charset="0"/>
              </a:rPr>
              <a:t>nombre_datafile</a:t>
            </a:r>
            <a:r>
              <a:rPr lang="en-US" sz="1600" b="1" dirty="0">
                <a:latin typeface="Calibri" panose="020F0502020204030204" pitchFamily="34" charset="0"/>
                <a:cs typeface="Calibri" panose="020F0502020204030204" pitchFamily="34" charset="0"/>
              </a:rPr>
              <a:t>' SIZE </a:t>
            </a:r>
            <a:r>
              <a:rPr lang="en-US" sz="1600" b="1" i="1" dirty="0" err="1">
                <a:latin typeface="Calibri" panose="020F0502020204030204" pitchFamily="34" charset="0"/>
                <a:cs typeface="Calibri" panose="020F0502020204030204" pitchFamily="34" charset="0"/>
              </a:rPr>
              <a:t>tamaño</a:t>
            </a:r>
            <a:r>
              <a:rPr lang="en-US" sz="1600" b="1" i="1" dirty="0">
                <a:latin typeface="Calibri" panose="020F0502020204030204" pitchFamily="34" charset="0"/>
                <a:cs typeface="Calibri" panose="020F0502020204030204" pitchFamily="34" charset="0"/>
              </a:rPr>
              <a:t> </a:t>
            </a:r>
            <a:r>
              <a:rPr lang="en-US" sz="1600" b="1" dirty="0">
                <a:latin typeface="Calibri" panose="020F0502020204030204" pitchFamily="34" charset="0"/>
                <a:cs typeface="Calibri" panose="020F0502020204030204" pitchFamily="34" charset="0"/>
              </a:rPr>
              <a:t>K|M</a:t>
            </a:r>
          </a:p>
          <a:p>
            <a:pPr algn="l" eaLnBrk="1" hangingPunct="1"/>
            <a:r>
              <a:rPr lang="en-US" sz="1600" b="1" dirty="0">
                <a:latin typeface="Calibri" panose="020F0502020204030204" pitchFamily="34" charset="0"/>
                <a:cs typeface="Calibri" panose="020F0502020204030204" pitchFamily="34" charset="0"/>
              </a:rPr>
              <a:t>EXTENT MANAGEMENT LOCAL </a:t>
            </a:r>
          </a:p>
          <a:p>
            <a:pPr algn="l" eaLnBrk="1" hangingPunct="1"/>
            <a:r>
              <a:rPr lang="en-US" sz="1600" b="1" dirty="0">
                <a:latin typeface="Calibri" panose="020F0502020204030204" pitchFamily="34" charset="0"/>
                <a:cs typeface="Calibri" panose="020F0502020204030204" pitchFamily="34" charset="0"/>
              </a:rPr>
              <a:t>SEGMENT SPACE MANAGEMENT AUTO;</a:t>
            </a:r>
          </a:p>
          <a:p>
            <a:pPr algn="l" eaLnBrk="1" hangingPunct="1"/>
            <a:endParaRPr lang="es-MX" sz="800" b="1" dirty="0">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67A522C3-69DB-4BE5-81F2-33101EBF4291}"/>
              </a:ext>
            </a:extLst>
          </p:cNvPr>
          <p:cNvSpPr txBox="1">
            <a:spLocks noChangeArrowheads="1"/>
          </p:cNvSpPr>
          <p:nvPr/>
        </p:nvSpPr>
        <p:spPr bwMode="auto">
          <a:xfrm>
            <a:off x="1331640" y="4007966"/>
            <a:ext cx="7080230" cy="1323439"/>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CREATE TABLESPACE </a:t>
            </a:r>
            <a:r>
              <a:rPr lang="en-US" sz="1600" b="1" dirty="0" err="1">
                <a:latin typeface="Calibri" panose="020F0502020204030204" pitchFamily="34" charset="0"/>
                <a:cs typeface="Calibri" panose="020F0502020204030204" pitchFamily="34" charset="0"/>
              </a:rPr>
              <a:t>ctacte_datos</a:t>
            </a:r>
            <a:r>
              <a:rPr lang="en-US" sz="1600" b="1" dirty="0">
                <a:latin typeface="Calibri" panose="020F0502020204030204" pitchFamily="34" charset="0"/>
                <a:cs typeface="Calibri" panose="020F0502020204030204" pitchFamily="34" charset="0"/>
              </a:rPr>
              <a:t> </a:t>
            </a:r>
          </a:p>
          <a:p>
            <a:pPr algn="l" eaLnBrk="1" hangingPunct="1"/>
            <a:r>
              <a:rPr lang="en-US" sz="1600" b="1" dirty="0">
                <a:latin typeface="Calibri" panose="020F0502020204030204" pitchFamily="34" charset="0"/>
                <a:cs typeface="Calibri" panose="020F0502020204030204" pitchFamily="34" charset="0"/>
              </a:rPr>
              <a:t>DATAFILE '</a:t>
            </a:r>
            <a:r>
              <a:rPr lang="es-CL" sz="1600" b="1" dirty="0">
                <a:latin typeface="Calibri" panose="020F0502020204030204" pitchFamily="34" charset="0"/>
                <a:cs typeface="Calibri" panose="020F0502020204030204" pitchFamily="34" charset="0"/>
              </a:rPr>
              <a:t>C:\oraclexe\datos_sistema_ctacte\</a:t>
            </a:r>
            <a:r>
              <a:rPr lang="en-US" sz="1600" b="1" dirty="0">
                <a:latin typeface="Calibri" panose="020F0502020204030204" pitchFamily="34" charset="0"/>
                <a:cs typeface="Calibri" panose="020F0502020204030204" pitchFamily="34" charset="0"/>
              </a:rPr>
              <a:t>datos_ctacte01.dbf' SIZE 50M</a:t>
            </a:r>
          </a:p>
          <a:p>
            <a:pPr algn="l" eaLnBrk="1" hangingPunct="1"/>
            <a:r>
              <a:rPr lang="en-US" sz="1600" b="1" dirty="0">
                <a:latin typeface="Calibri" panose="020F0502020204030204" pitchFamily="34" charset="0"/>
                <a:cs typeface="Calibri" panose="020F0502020204030204" pitchFamily="34" charset="0"/>
              </a:rPr>
              <a:t>EXTENT MANAGEMENT LOCAL </a:t>
            </a:r>
          </a:p>
          <a:p>
            <a:pPr algn="l" eaLnBrk="1" hangingPunct="1"/>
            <a:r>
              <a:rPr lang="en-US" sz="1600" b="1" dirty="0">
                <a:latin typeface="Calibri" panose="020F0502020204030204" pitchFamily="34" charset="0"/>
                <a:cs typeface="Calibri" panose="020F0502020204030204" pitchFamily="34" charset="0"/>
              </a:rPr>
              <a:t>SEGMENT SPACE MANAGEMENT AUTO;</a:t>
            </a:r>
          </a:p>
          <a:p>
            <a:pPr algn="l" eaLnBrk="1" hangingPunct="1"/>
            <a:endParaRPr lang="es-MX" sz="800" b="1" dirty="0">
              <a:latin typeface="Calibri" panose="020F0502020204030204" pitchFamily="34" charset="0"/>
              <a:cs typeface="Calibri" panose="020F0502020204030204" pitchFamily="34" charset="0"/>
            </a:endParaRPr>
          </a:p>
        </p:txBody>
      </p:sp>
      <p:sp>
        <p:nvSpPr>
          <p:cNvPr id="8" name="Text Box 8">
            <a:extLst>
              <a:ext uri="{FF2B5EF4-FFF2-40B4-BE49-F238E27FC236}">
                <a16:creationId xmlns:a16="http://schemas.microsoft.com/office/drawing/2014/main" xmlns="" id="{221C7DF4-424C-4BBC-B135-3E474799AE29}"/>
              </a:ext>
            </a:extLst>
          </p:cNvPr>
          <p:cNvSpPr txBox="1">
            <a:spLocks noChangeArrowheads="1"/>
          </p:cNvSpPr>
          <p:nvPr/>
        </p:nvSpPr>
        <p:spPr bwMode="auto">
          <a:xfrm>
            <a:off x="971600" y="4263479"/>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1</a:t>
            </a:r>
            <a:endParaRPr lang="es-ES" sz="2400" b="1" dirty="0">
              <a:solidFill>
                <a:srgbClr val="C00000"/>
              </a:solidFill>
              <a:latin typeface="Calibri" panose="020F0502020204030204" pitchFamily="34" charset="0"/>
              <a:cs typeface="Calibri" panose="020F0502020204030204" pitchFamily="34" charset="0"/>
            </a:endParaRPr>
          </a:p>
        </p:txBody>
      </p:sp>
      <p:pic>
        <p:nvPicPr>
          <p:cNvPr id="9" name="Imagen 8">
            <a:extLst>
              <a:ext uri="{FF2B5EF4-FFF2-40B4-BE49-F238E27FC236}">
                <a16:creationId xmlns:a16="http://schemas.microsoft.com/office/drawing/2014/main" xmlns="" id="{F3ADA413-A1D5-4884-AFEE-4F1CD14A3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08" y="5492512"/>
            <a:ext cx="2961905" cy="838095"/>
          </a:xfrm>
          <a:prstGeom prst="rect">
            <a:avLst/>
          </a:prstGeom>
        </p:spPr>
      </p:pic>
      <p:sp>
        <p:nvSpPr>
          <p:cNvPr id="10" name="Text Box 8">
            <a:extLst>
              <a:ext uri="{FF2B5EF4-FFF2-40B4-BE49-F238E27FC236}">
                <a16:creationId xmlns:a16="http://schemas.microsoft.com/office/drawing/2014/main" xmlns="" id="{95CE12C9-0B30-4B77-A921-CC4D395C37A2}"/>
              </a:ext>
            </a:extLst>
          </p:cNvPr>
          <p:cNvSpPr txBox="1">
            <a:spLocks noChangeArrowheads="1"/>
          </p:cNvSpPr>
          <p:nvPr/>
        </p:nvSpPr>
        <p:spPr bwMode="auto">
          <a:xfrm>
            <a:off x="712520" y="6313259"/>
            <a:ext cx="7970792" cy="523220"/>
          </a:xfrm>
          <a:prstGeom prst="rect">
            <a:avLst/>
          </a:prstGeom>
          <a:noFill/>
          <a:ln w="9525">
            <a:noFill/>
            <a:miter lim="800000"/>
            <a:headEnd/>
            <a:tailEnd/>
          </a:ln>
        </p:spPr>
        <p:txBody>
          <a:bodyPr wrap="square">
            <a:spAutoFit/>
          </a:bodyPr>
          <a:lstStyle/>
          <a:p>
            <a:r>
              <a:rPr lang="es-CL" sz="1600" b="1" dirty="0">
                <a:solidFill>
                  <a:srgbClr val="C00000"/>
                </a:solidFill>
                <a:latin typeface="Calibri" panose="020F0502020204030204" pitchFamily="34" charset="0"/>
                <a:cs typeface="Calibri" panose="020F0502020204030204" pitchFamily="34" charset="0"/>
              </a:rPr>
              <a:t>* </a:t>
            </a:r>
            <a:r>
              <a:rPr lang="es-CL" sz="1200" b="1" dirty="0">
                <a:solidFill>
                  <a:srgbClr val="C00000"/>
                </a:solidFill>
                <a:latin typeface="Calibri" panose="020F0502020204030204" pitchFamily="34" charset="0"/>
                <a:cs typeface="Calibri" panose="020F0502020204030204" pitchFamily="34" charset="0"/>
              </a:rPr>
              <a:t>En la versión gratuita de Oracle Cloud, proporcionada por Oracle </a:t>
            </a:r>
            <a:r>
              <a:rPr lang="es-CL" sz="1200" b="1" dirty="0" err="1">
                <a:solidFill>
                  <a:srgbClr val="C00000"/>
                </a:solidFill>
                <a:latin typeface="Calibri" panose="020F0502020204030204" pitchFamily="34" charset="0"/>
                <a:cs typeface="Calibri" panose="020F0502020204030204" pitchFamily="34" charset="0"/>
              </a:rPr>
              <a:t>Academy</a:t>
            </a:r>
            <a:r>
              <a:rPr lang="es-CL" sz="1200" b="1" dirty="0">
                <a:solidFill>
                  <a:srgbClr val="C00000"/>
                </a:solidFill>
                <a:latin typeface="Calibri" panose="020F0502020204030204" pitchFamily="34" charset="0"/>
                <a:cs typeface="Calibri" panose="020F0502020204030204" pitchFamily="34" charset="0"/>
              </a:rPr>
              <a:t>, no se pueden crear nuevos </a:t>
            </a:r>
            <a:r>
              <a:rPr lang="es-CL" sz="1200" b="1" dirty="0" err="1">
                <a:solidFill>
                  <a:srgbClr val="C00000"/>
                </a:solidFill>
                <a:latin typeface="Calibri" panose="020F0502020204030204" pitchFamily="34" charset="0"/>
                <a:cs typeface="Calibri" panose="020F0502020204030204" pitchFamily="34" charset="0"/>
              </a:rPr>
              <a:t>tablespaces</a:t>
            </a:r>
            <a:r>
              <a:rPr lang="es-CL" sz="1200" b="1" dirty="0">
                <a:solidFill>
                  <a:srgbClr val="C00000"/>
                </a:solidFill>
                <a:latin typeface="Calibri" panose="020F0502020204030204" pitchFamily="34" charset="0"/>
                <a:cs typeface="Calibri" panose="020F0502020204030204" pitchFamily="34" charset="0"/>
              </a:rPr>
              <a:t> ya que el usuario ADMIN no posee este privilegio</a:t>
            </a:r>
            <a:endParaRPr lang="es-ES" sz="1200" b="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9093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contenido 1">
            <a:extLst>
              <a:ext uri="{FF2B5EF4-FFF2-40B4-BE49-F238E27FC236}">
                <a16:creationId xmlns:a16="http://schemas.microsoft.com/office/drawing/2014/main" xmlns="" id="{0D2370B2-9A64-4D5A-B421-8B6382BA0F5D}"/>
              </a:ext>
            </a:extLst>
          </p:cNvPr>
          <p:cNvSpPr txBox="1">
            <a:spLocks/>
          </p:cNvSpPr>
          <p:nvPr/>
        </p:nvSpPr>
        <p:spPr>
          <a:xfrm>
            <a:off x="590872" y="126876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2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11" name="Text Box 5">
            <a:extLst>
              <a:ext uri="{FF2B5EF4-FFF2-40B4-BE49-F238E27FC236}">
                <a16:creationId xmlns:a16="http://schemas.microsoft.com/office/drawing/2014/main" xmlns="" id="{2CB148E1-43CF-4033-9E94-3B04497E77F3}"/>
              </a:ext>
            </a:extLst>
          </p:cNvPr>
          <p:cNvSpPr txBox="1">
            <a:spLocks noChangeArrowheads="1"/>
          </p:cNvSpPr>
          <p:nvPr/>
        </p:nvSpPr>
        <p:spPr bwMode="auto">
          <a:xfrm>
            <a:off x="1331640" y="3682767"/>
            <a:ext cx="7080230" cy="255454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CREATE USER </a:t>
            </a:r>
            <a:r>
              <a:rPr lang="en-US" sz="1600" b="1" dirty="0" err="1">
                <a:latin typeface="Calibri" panose="020F0502020204030204" pitchFamily="34" charset="0"/>
                <a:cs typeface="Calibri" panose="020F0502020204030204" pitchFamily="34" charset="0"/>
              </a:rPr>
              <a:t>desa_sist_ctacte</a:t>
            </a:r>
            <a:r>
              <a:rPr lang="en-US" sz="1600" b="1" dirty="0">
                <a:latin typeface="Calibri" panose="020F0502020204030204" pitchFamily="34" charset="0"/>
                <a:cs typeface="Calibri" panose="020F0502020204030204" pitchFamily="34" charset="0"/>
              </a:rPr>
              <a:t> </a:t>
            </a:r>
          </a:p>
          <a:p>
            <a:pPr eaLnBrk="1" hangingPunct="1"/>
            <a:r>
              <a:rPr lang="en-US" sz="1600" b="1" dirty="0">
                <a:latin typeface="Calibri" panose="020F0502020204030204" pitchFamily="34" charset="0"/>
                <a:cs typeface="Calibri" panose="020F0502020204030204" pitchFamily="34" charset="0"/>
              </a:rPr>
              <a:t>IDENTIFIED BY "DESA_ctate.1039"</a:t>
            </a:r>
          </a:p>
          <a:p>
            <a:pPr algn="l" eaLnBrk="1" hangingPunct="1"/>
            <a:r>
              <a:rPr lang="en-US" sz="1600" b="1" dirty="0">
                <a:latin typeface="Calibri" panose="020F0502020204030204" pitchFamily="34" charset="0"/>
                <a:cs typeface="Calibri" panose="020F0502020204030204" pitchFamily="34" charset="0"/>
              </a:rPr>
              <a:t>DEFAULT TABLESPACE </a:t>
            </a:r>
            <a:r>
              <a:rPr lang="en-US" sz="1600" b="1" dirty="0" err="1">
                <a:latin typeface="Calibri" panose="020F0502020204030204" pitchFamily="34" charset="0"/>
                <a:cs typeface="Calibri" panose="020F0502020204030204" pitchFamily="34" charset="0"/>
              </a:rPr>
              <a:t>ctacte_datos</a:t>
            </a:r>
            <a:r>
              <a:rPr lang="en-US" sz="1600" b="1" dirty="0">
                <a:latin typeface="Calibri" panose="020F0502020204030204" pitchFamily="34" charset="0"/>
                <a:cs typeface="Calibri" panose="020F0502020204030204" pitchFamily="34" charset="0"/>
              </a:rPr>
              <a:t>  </a:t>
            </a:r>
          </a:p>
          <a:p>
            <a:pPr algn="l" eaLnBrk="1" hangingPunct="1"/>
            <a:r>
              <a:rPr lang="en-US" sz="1600" b="1" dirty="0">
                <a:latin typeface="Calibri" panose="020F0502020204030204" pitchFamily="34" charset="0"/>
                <a:cs typeface="Calibri" panose="020F0502020204030204" pitchFamily="34" charset="0"/>
              </a:rPr>
              <a:t>TEMPORARY TABLESPACE temp </a:t>
            </a:r>
          </a:p>
          <a:p>
            <a:pPr algn="l" eaLnBrk="1" hangingPunct="1"/>
            <a:r>
              <a:rPr lang="en-US" sz="1600" b="1" dirty="0">
                <a:latin typeface="Calibri" panose="020F0502020204030204" pitchFamily="34" charset="0"/>
                <a:cs typeface="Calibri" panose="020F0502020204030204" pitchFamily="34" charset="0"/>
              </a:rPr>
              <a:t>QUOTA UNLIMITED ON </a:t>
            </a:r>
            <a:r>
              <a:rPr lang="en-US" sz="1600" b="1" dirty="0" err="1">
                <a:latin typeface="Calibri" panose="020F0502020204030204" pitchFamily="34" charset="0"/>
                <a:cs typeface="Calibri" panose="020F0502020204030204" pitchFamily="34" charset="0"/>
              </a:rPr>
              <a:t>ctacte_datos</a:t>
            </a:r>
            <a:endParaRPr lang="en-US" sz="16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QUOTA UNLIMITED ON </a:t>
            </a:r>
            <a:r>
              <a:rPr lang="en-US" sz="1600" b="1" dirty="0" err="1">
                <a:latin typeface="Calibri" panose="020F0502020204030204" pitchFamily="34" charset="0"/>
                <a:cs typeface="Calibri" panose="020F0502020204030204" pitchFamily="34" charset="0"/>
              </a:rPr>
              <a:t>ctacte_indices</a:t>
            </a:r>
            <a:r>
              <a:rPr lang="en-US" sz="1600" b="1" dirty="0">
                <a:latin typeface="Calibri" panose="020F0502020204030204" pitchFamily="34" charset="0"/>
                <a:cs typeface="Calibri" panose="020F0502020204030204" pitchFamily="34" charset="0"/>
              </a:rPr>
              <a:t>;</a:t>
            </a:r>
          </a:p>
          <a:p>
            <a:pPr algn="l" eaLnBrk="1" hangingPunct="1"/>
            <a:r>
              <a:rPr lang="en-US" sz="1600" b="1" dirty="0">
                <a:latin typeface="Calibri" panose="020F0502020204030204" pitchFamily="34" charset="0"/>
                <a:cs typeface="Calibri" panose="020F0502020204030204" pitchFamily="34" charset="0"/>
              </a:rPr>
              <a:t>GRANT CREATE SESSION TO </a:t>
            </a:r>
            <a:r>
              <a:rPr lang="en-US" sz="1600" b="1" dirty="0" err="1">
                <a:latin typeface="Calibri" panose="020F0502020204030204" pitchFamily="34" charset="0"/>
                <a:cs typeface="Calibri" panose="020F0502020204030204" pitchFamily="34" charset="0"/>
              </a:rPr>
              <a:t>desa_sist_ctacte</a:t>
            </a:r>
            <a:r>
              <a:rPr lang="en-US" sz="1600" b="1" dirty="0">
                <a:latin typeface="Calibri" panose="020F0502020204030204" pitchFamily="34" charset="0"/>
                <a:cs typeface="Calibri" panose="020F0502020204030204" pitchFamily="34" charset="0"/>
              </a:rPr>
              <a:t>;</a:t>
            </a:r>
          </a:p>
          <a:p>
            <a:pPr algn="l" eaLnBrk="1" hangingPunct="1"/>
            <a:r>
              <a:rPr lang="en-US" sz="1600" b="1" dirty="0">
                <a:latin typeface="Calibri" panose="020F0502020204030204" pitchFamily="34" charset="0"/>
                <a:cs typeface="Calibri" panose="020F0502020204030204" pitchFamily="34" charset="0"/>
              </a:rPr>
              <a:t>GRANT RESOURCE TO </a:t>
            </a:r>
            <a:r>
              <a:rPr lang="en-US" sz="1600" b="1" dirty="0" err="1">
                <a:latin typeface="Calibri" panose="020F0502020204030204" pitchFamily="34" charset="0"/>
                <a:cs typeface="Calibri" panose="020F0502020204030204" pitchFamily="34" charset="0"/>
              </a:rPr>
              <a:t>desa_sist_ctacte</a:t>
            </a:r>
            <a:r>
              <a:rPr lang="en-US" sz="1600" b="1" dirty="0">
                <a:latin typeface="Calibri" panose="020F0502020204030204" pitchFamily="34" charset="0"/>
                <a:cs typeface="Calibri" panose="020F0502020204030204" pitchFamily="34" charset="0"/>
              </a:rPr>
              <a:t>;</a:t>
            </a:r>
          </a:p>
          <a:p>
            <a:pPr algn="l" eaLnBrk="1" hangingPunct="1"/>
            <a:r>
              <a:rPr lang="en-US" sz="1600" b="1" dirty="0">
                <a:latin typeface="Calibri" panose="020F0502020204030204" pitchFamily="34" charset="0"/>
                <a:cs typeface="Calibri" panose="020F0502020204030204" pitchFamily="34" charset="0"/>
              </a:rPr>
              <a:t>ALTER USER </a:t>
            </a:r>
            <a:r>
              <a:rPr lang="en-US" sz="1600" b="1" dirty="0" err="1">
                <a:latin typeface="Calibri" panose="020F0502020204030204" pitchFamily="34" charset="0"/>
                <a:cs typeface="Calibri" panose="020F0502020204030204" pitchFamily="34" charset="0"/>
              </a:rPr>
              <a:t>desa_sist_ctacte</a:t>
            </a:r>
            <a:r>
              <a:rPr lang="en-US" sz="1600" b="1" dirty="0">
                <a:latin typeface="Calibri" panose="020F0502020204030204" pitchFamily="34" charset="0"/>
                <a:cs typeface="Calibri" panose="020F0502020204030204" pitchFamily="34" charset="0"/>
              </a:rPr>
              <a:t> DEFAULT ROLE "RESOURCE";</a:t>
            </a:r>
          </a:p>
          <a:p>
            <a:pPr algn="l" eaLnBrk="1" hangingPunct="1"/>
            <a:endParaRPr lang="es-MX" sz="800" b="1" dirty="0">
              <a:latin typeface="Calibri" panose="020F0502020204030204" pitchFamily="34" charset="0"/>
              <a:cs typeface="Calibri" panose="020F0502020204030204" pitchFamily="34" charset="0"/>
            </a:endParaRPr>
          </a:p>
        </p:txBody>
      </p:sp>
      <p:sp>
        <p:nvSpPr>
          <p:cNvPr id="12" name="Text Box 8">
            <a:extLst>
              <a:ext uri="{FF2B5EF4-FFF2-40B4-BE49-F238E27FC236}">
                <a16:creationId xmlns:a16="http://schemas.microsoft.com/office/drawing/2014/main" xmlns="" id="{F202F443-D138-4C76-B58E-73D172D0AFA7}"/>
              </a:ext>
            </a:extLst>
          </p:cNvPr>
          <p:cNvSpPr txBox="1">
            <a:spLocks noChangeArrowheads="1"/>
          </p:cNvSpPr>
          <p:nvPr/>
        </p:nvSpPr>
        <p:spPr bwMode="auto">
          <a:xfrm>
            <a:off x="971600" y="4767535"/>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3</a:t>
            </a:r>
            <a:endParaRPr lang="es-ES" sz="2400" b="1" dirty="0">
              <a:solidFill>
                <a:srgbClr val="C00000"/>
              </a:solidFill>
              <a:latin typeface="Calibri" panose="020F0502020204030204" pitchFamily="34" charset="0"/>
              <a:cs typeface="Calibri" panose="020F0502020204030204" pitchFamily="34" charset="0"/>
            </a:endParaRPr>
          </a:p>
        </p:txBody>
      </p:sp>
      <p:sp>
        <p:nvSpPr>
          <p:cNvPr id="13" name="Text Box 5">
            <a:extLst>
              <a:ext uri="{FF2B5EF4-FFF2-40B4-BE49-F238E27FC236}">
                <a16:creationId xmlns:a16="http://schemas.microsoft.com/office/drawing/2014/main" xmlns="" id="{66EC4C4F-74C2-47AF-B72C-558D5B65033F}"/>
              </a:ext>
            </a:extLst>
          </p:cNvPr>
          <p:cNvSpPr txBox="1">
            <a:spLocks noChangeArrowheads="1"/>
          </p:cNvSpPr>
          <p:nvPr/>
        </p:nvSpPr>
        <p:spPr bwMode="auto">
          <a:xfrm>
            <a:off x="1331640" y="1292272"/>
            <a:ext cx="7080230" cy="1323439"/>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CREATE TABLESPACE </a:t>
            </a:r>
            <a:r>
              <a:rPr lang="en-US" sz="1600" b="1" dirty="0" err="1">
                <a:latin typeface="Calibri" panose="020F0502020204030204" pitchFamily="34" charset="0"/>
                <a:cs typeface="Calibri" panose="020F0502020204030204" pitchFamily="34" charset="0"/>
              </a:rPr>
              <a:t>ctacte_indices</a:t>
            </a:r>
            <a:r>
              <a:rPr lang="en-US" sz="1600" b="1" dirty="0">
                <a:latin typeface="Calibri" panose="020F0502020204030204" pitchFamily="34" charset="0"/>
                <a:cs typeface="Calibri" panose="020F0502020204030204" pitchFamily="34" charset="0"/>
              </a:rPr>
              <a:t> </a:t>
            </a:r>
          </a:p>
          <a:p>
            <a:pPr algn="l" eaLnBrk="1" hangingPunct="1"/>
            <a:r>
              <a:rPr lang="en-US" sz="1600" b="1" dirty="0">
                <a:latin typeface="Calibri" panose="020F0502020204030204" pitchFamily="34" charset="0"/>
                <a:cs typeface="Calibri" panose="020F0502020204030204" pitchFamily="34" charset="0"/>
              </a:rPr>
              <a:t>DATAFILE '</a:t>
            </a:r>
            <a:r>
              <a:rPr lang="es-CL" sz="1600" b="1" dirty="0">
                <a:latin typeface="Calibri" panose="020F0502020204030204" pitchFamily="34" charset="0"/>
                <a:cs typeface="Calibri" panose="020F0502020204030204" pitchFamily="34" charset="0"/>
              </a:rPr>
              <a:t>C:\oraclexe\indices_sistema_ctacte\</a:t>
            </a:r>
            <a:r>
              <a:rPr lang="en-US" sz="1600" b="1" dirty="0">
                <a:latin typeface="Calibri" panose="020F0502020204030204" pitchFamily="34" charset="0"/>
                <a:cs typeface="Calibri" panose="020F0502020204030204" pitchFamily="34" charset="0"/>
              </a:rPr>
              <a:t>idx_ctacte01.dbf' SIZE 10M</a:t>
            </a:r>
          </a:p>
          <a:p>
            <a:pPr algn="l" eaLnBrk="1" hangingPunct="1"/>
            <a:r>
              <a:rPr lang="en-US" sz="1600" b="1" dirty="0">
                <a:latin typeface="Calibri" panose="020F0502020204030204" pitchFamily="34" charset="0"/>
                <a:cs typeface="Calibri" panose="020F0502020204030204" pitchFamily="34" charset="0"/>
              </a:rPr>
              <a:t>EXTENT MANAGEMENT LOCAL </a:t>
            </a:r>
          </a:p>
          <a:p>
            <a:pPr algn="l" eaLnBrk="1" hangingPunct="1"/>
            <a:r>
              <a:rPr lang="en-US" sz="1600" b="1" dirty="0">
                <a:latin typeface="Calibri" panose="020F0502020204030204" pitchFamily="34" charset="0"/>
                <a:cs typeface="Calibri" panose="020F0502020204030204" pitchFamily="34" charset="0"/>
              </a:rPr>
              <a:t>SEGMENT SPACE MANAGEMENT AUTO;</a:t>
            </a:r>
          </a:p>
          <a:p>
            <a:pPr algn="l" eaLnBrk="1" hangingPunct="1"/>
            <a:endParaRPr lang="es-MX" sz="800" b="1" dirty="0">
              <a:latin typeface="Calibri" panose="020F0502020204030204" pitchFamily="34" charset="0"/>
              <a:cs typeface="Calibri" panose="020F0502020204030204" pitchFamily="34" charset="0"/>
            </a:endParaRPr>
          </a:p>
        </p:txBody>
      </p:sp>
      <p:sp>
        <p:nvSpPr>
          <p:cNvPr id="14" name="Text Box 8">
            <a:extLst>
              <a:ext uri="{FF2B5EF4-FFF2-40B4-BE49-F238E27FC236}">
                <a16:creationId xmlns:a16="http://schemas.microsoft.com/office/drawing/2014/main" xmlns="" id="{82BB5A89-9E2C-4CCC-A34E-8F1AF4A72843}"/>
              </a:ext>
            </a:extLst>
          </p:cNvPr>
          <p:cNvSpPr txBox="1">
            <a:spLocks noChangeArrowheads="1"/>
          </p:cNvSpPr>
          <p:nvPr/>
        </p:nvSpPr>
        <p:spPr bwMode="auto">
          <a:xfrm>
            <a:off x="954776" y="1652312"/>
            <a:ext cx="340158"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2</a:t>
            </a:r>
            <a:endParaRPr lang="es-ES" sz="2400" b="1" dirty="0">
              <a:solidFill>
                <a:srgbClr val="C00000"/>
              </a:solidFill>
              <a:latin typeface="Calibri" panose="020F0502020204030204" pitchFamily="34" charset="0"/>
              <a:cs typeface="Calibri" panose="020F0502020204030204" pitchFamily="34" charset="0"/>
            </a:endParaRPr>
          </a:p>
        </p:txBody>
      </p:sp>
      <p:pic>
        <p:nvPicPr>
          <p:cNvPr id="15" name="Imagen 14">
            <a:extLst>
              <a:ext uri="{FF2B5EF4-FFF2-40B4-BE49-F238E27FC236}">
                <a16:creationId xmlns:a16="http://schemas.microsoft.com/office/drawing/2014/main" xmlns="" id="{8F311449-2A64-4B68-BCD4-51C593EFA4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5816" y="2672824"/>
            <a:ext cx="3009524" cy="838095"/>
          </a:xfrm>
          <a:prstGeom prst="rect">
            <a:avLst/>
          </a:prstGeom>
        </p:spPr>
      </p:pic>
      <p:sp>
        <p:nvSpPr>
          <p:cNvPr id="16" name="Título 2">
            <a:extLst>
              <a:ext uri="{FF2B5EF4-FFF2-40B4-BE49-F238E27FC236}">
                <a16:creationId xmlns:a16="http://schemas.microsoft.com/office/drawing/2014/main" xmlns="" id="{35206CF0-16E5-44D8-B186-1E035B8E5213}"/>
              </a:ext>
            </a:extLst>
          </p:cNvPr>
          <p:cNvSpPr>
            <a:spLocks noGrp="1"/>
          </p:cNvSpPr>
          <p:nvPr>
            <p:ph type="title"/>
          </p:nvPr>
        </p:nvSpPr>
        <p:spPr>
          <a:xfrm>
            <a:off x="1663993" y="212725"/>
            <a:ext cx="4685691" cy="813000"/>
          </a:xfrm>
        </p:spPr>
        <p:txBody>
          <a:bodyPr/>
          <a:lstStyle/>
          <a:p>
            <a:pPr defTabSz="457200"/>
            <a:r>
              <a:rPr lang="es-CL" sz="2800" b="1" dirty="0">
                <a:solidFill>
                  <a:prstClr val="white"/>
                </a:solidFill>
                <a:latin typeface="Calibri"/>
              </a:rPr>
              <a:t>Creando un Área de Almacenamiento</a:t>
            </a:r>
          </a:p>
        </p:txBody>
      </p:sp>
    </p:spTree>
    <p:extLst>
      <p:ext uri="{BB962C8B-B14F-4D97-AF65-F5344CB8AC3E}">
        <p14:creationId xmlns:p14="http://schemas.microsoft.com/office/powerpoint/2010/main" val="2997525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defTabSz="457200"/>
            <a:r>
              <a:rPr lang="es-CL" sz="2800" b="1" dirty="0">
                <a:solidFill>
                  <a:prstClr val="white"/>
                </a:solidFill>
                <a:latin typeface="Calibri"/>
              </a:rPr>
              <a:t>Perfil de Usuario</a:t>
            </a:r>
          </a:p>
        </p:txBody>
      </p:sp>
      <p:pic>
        <p:nvPicPr>
          <p:cNvPr id="6" name="Imagen 5">
            <a:extLst>
              <a:ext uri="{FF2B5EF4-FFF2-40B4-BE49-F238E27FC236}">
                <a16:creationId xmlns:a16="http://schemas.microsoft.com/office/drawing/2014/main" xmlns="" id="{3AE3C3A2-6027-472A-8F27-4B9D05BD777F}"/>
              </a:ext>
            </a:extLst>
          </p:cNvPr>
          <p:cNvPicPr>
            <a:picLocks noChangeAspect="1"/>
          </p:cNvPicPr>
          <p:nvPr/>
        </p:nvPicPr>
        <p:blipFill>
          <a:blip r:embed="rId3"/>
          <a:stretch>
            <a:fillRect/>
          </a:stretch>
        </p:blipFill>
        <p:spPr>
          <a:xfrm>
            <a:off x="827584" y="1364691"/>
            <a:ext cx="7600324" cy="4974276"/>
          </a:xfrm>
          <a:prstGeom prst="rect">
            <a:avLst/>
          </a:prstGeom>
        </p:spPr>
      </p:pic>
    </p:spTree>
    <p:extLst>
      <p:ext uri="{BB962C8B-B14F-4D97-AF65-F5344CB8AC3E}">
        <p14:creationId xmlns:p14="http://schemas.microsoft.com/office/powerpoint/2010/main" val="1816244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un Perfil de </a:t>
            </a:r>
            <a:br>
              <a:rPr lang="es-CL" sz="2800" b="1" dirty="0">
                <a:solidFill>
                  <a:prstClr val="white"/>
                </a:solidFill>
                <a:latin typeface="Calibri"/>
              </a:rPr>
            </a:br>
            <a:r>
              <a:rPr lang="es-CL" sz="2800" b="1" dirty="0">
                <a:solidFill>
                  <a:prstClr val="white"/>
                </a:solidFill>
                <a:latin typeface="Calibri"/>
              </a:rPr>
              <a:t>Usuario</a:t>
            </a:r>
          </a:p>
        </p:txBody>
      </p:sp>
      <p:sp>
        <p:nvSpPr>
          <p:cNvPr id="6" name="Marcador de contenido 1">
            <a:extLst>
              <a:ext uri="{FF2B5EF4-FFF2-40B4-BE49-F238E27FC236}">
                <a16:creationId xmlns:a16="http://schemas.microsoft.com/office/drawing/2014/main" xmlns="" id="{D2E9E70B-C05C-4249-BB87-6C56F194A3E8}"/>
              </a:ext>
            </a:extLst>
          </p:cNvPr>
          <p:cNvSpPr txBox="1">
            <a:spLocks/>
          </p:cNvSpPr>
          <p:nvPr/>
        </p:nvSpPr>
        <p:spPr>
          <a:xfrm>
            <a:off x="590872" y="126876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Sintaxis simple:</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2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7D230FC2-7FAC-4E4A-8FF9-760E66A2DC61}"/>
              </a:ext>
            </a:extLst>
          </p:cNvPr>
          <p:cNvSpPr txBox="1">
            <a:spLocks noChangeArrowheads="1"/>
          </p:cNvSpPr>
          <p:nvPr/>
        </p:nvSpPr>
        <p:spPr bwMode="auto">
          <a:xfrm>
            <a:off x="1308194" y="1868270"/>
            <a:ext cx="6720190" cy="2308324"/>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CREATE PROFILE </a:t>
            </a:r>
            <a:r>
              <a:rPr lang="en-US" sz="1600" b="1" i="1" dirty="0" err="1">
                <a:latin typeface="Calibri" panose="020F0502020204030204" pitchFamily="34" charset="0"/>
                <a:cs typeface="Calibri" panose="020F0502020204030204" pitchFamily="34" charset="0"/>
              </a:rPr>
              <a:t>nombre_profile</a:t>
            </a:r>
            <a:r>
              <a:rPr lang="en-US" sz="1600" b="1" i="1" dirty="0">
                <a:latin typeface="Calibri" panose="020F0502020204030204" pitchFamily="34" charset="0"/>
                <a:cs typeface="Calibri" panose="020F0502020204030204" pitchFamily="34" charset="0"/>
              </a:rPr>
              <a:t> </a:t>
            </a:r>
            <a:r>
              <a:rPr lang="en-US" sz="1600" b="1" dirty="0">
                <a:latin typeface="Calibri" panose="020F0502020204030204" pitchFamily="34" charset="0"/>
                <a:cs typeface="Calibri" panose="020F0502020204030204" pitchFamily="34" charset="0"/>
              </a:rPr>
              <a:t>LIMIT </a:t>
            </a:r>
          </a:p>
          <a:p>
            <a:pPr algn="l" eaLnBrk="1" hangingPunct="1"/>
            <a:r>
              <a:rPr lang="en-US" sz="1600" b="1" dirty="0">
                <a:latin typeface="Calibri" panose="020F0502020204030204" pitchFamily="34" charset="0"/>
                <a:cs typeface="Calibri" panose="020F0502020204030204" pitchFamily="34" charset="0"/>
              </a:rPr>
              <a:t>SESSIONS_PER_USER  </a:t>
            </a:r>
            <a:r>
              <a:rPr lang="en-US" sz="1600" b="1" i="1" dirty="0" err="1">
                <a:latin typeface="Calibri" panose="020F0502020204030204" pitchFamily="34" charset="0"/>
                <a:cs typeface="Calibri" panose="020F0502020204030204" pitchFamily="34" charset="0"/>
              </a:rPr>
              <a:t>número</a:t>
            </a:r>
            <a:r>
              <a:rPr lang="en-US" sz="1600" b="1" dirty="0">
                <a:latin typeface="Calibri" panose="020F0502020204030204" pitchFamily="34" charset="0"/>
                <a:cs typeface="Calibri" panose="020F0502020204030204" pitchFamily="34" charset="0"/>
              </a:rPr>
              <a:t> </a:t>
            </a:r>
          </a:p>
          <a:p>
            <a:pPr algn="l" eaLnBrk="1" hangingPunct="1"/>
            <a:r>
              <a:rPr lang="en-US" sz="1600" b="1" dirty="0">
                <a:latin typeface="Calibri" panose="020F0502020204030204" pitchFamily="34" charset="0"/>
                <a:cs typeface="Calibri" panose="020F0502020204030204" pitchFamily="34" charset="0"/>
              </a:rPr>
              <a:t>CONNECT_TIME </a:t>
            </a:r>
            <a:r>
              <a:rPr lang="en-US" sz="1600" b="1" i="1" dirty="0" err="1">
                <a:latin typeface="Calibri" panose="020F0502020204030204" pitchFamily="34" charset="0"/>
                <a:cs typeface="Calibri" panose="020F0502020204030204" pitchFamily="34" charset="0"/>
              </a:rPr>
              <a:t>minutos</a:t>
            </a:r>
            <a:endParaRPr lang="en-US" sz="1600" b="1" i="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IDLE_TIME </a:t>
            </a:r>
            <a:r>
              <a:rPr lang="en-US" sz="1600" b="1" i="1" dirty="0" err="1">
                <a:latin typeface="Calibri" panose="020F0502020204030204" pitchFamily="34" charset="0"/>
                <a:cs typeface="Calibri" panose="020F0502020204030204" pitchFamily="34" charset="0"/>
              </a:rPr>
              <a:t>minutos</a:t>
            </a:r>
            <a:endParaRPr lang="en-US" sz="1600" b="1" i="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FAILED_LOGIN_ATTEMPTS  </a:t>
            </a:r>
            <a:r>
              <a:rPr lang="en-US" sz="1600" b="1" i="1" dirty="0" err="1">
                <a:latin typeface="Calibri" panose="020F0502020204030204" pitchFamily="34" charset="0"/>
                <a:cs typeface="Calibri" panose="020F0502020204030204" pitchFamily="34" charset="0"/>
              </a:rPr>
              <a:t>número</a:t>
            </a:r>
            <a:endParaRPr lang="en-US" sz="16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PASSWORD_LIFE_TIME </a:t>
            </a:r>
            <a:r>
              <a:rPr lang="en-US" sz="1600" b="1" i="1" dirty="0" err="1">
                <a:latin typeface="Calibri" panose="020F0502020204030204" pitchFamily="34" charset="0"/>
                <a:cs typeface="Calibri" panose="020F0502020204030204" pitchFamily="34" charset="0"/>
              </a:rPr>
              <a:t>días</a:t>
            </a:r>
            <a:endParaRPr lang="en-US" sz="1600" b="1" i="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PASSWORD_LOCK_TIME </a:t>
            </a:r>
            <a:r>
              <a:rPr lang="en-US" sz="1600" b="1" i="1" dirty="0" err="1">
                <a:latin typeface="Calibri" panose="020F0502020204030204" pitchFamily="34" charset="0"/>
                <a:cs typeface="Calibri" panose="020F0502020204030204" pitchFamily="34" charset="0"/>
              </a:rPr>
              <a:t>días</a:t>
            </a:r>
            <a:endParaRPr lang="en-US" sz="1600" b="1" i="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PASSWORD_GRACE_TIME </a:t>
            </a:r>
            <a:r>
              <a:rPr lang="en-US" sz="1600" b="1" i="1" dirty="0" err="1">
                <a:latin typeface="Calibri" panose="020F0502020204030204" pitchFamily="34" charset="0"/>
                <a:cs typeface="Calibri" panose="020F0502020204030204" pitchFamily="34" charset="0"/>
              </a:rPr>
              <a:t>días</a:t>
            </a:r>
            <a:r>
              <a:rPr lang="en-US" sz="1600" b="1" dirty="0">
                <a:latin typeface="Calibri" panose="020F0502020204030204" pitchFamily="34" charset="0"/>
                <a:cs typeface="Calibri" panose="020F0502020204030204" pitchFamily="34" charset="0"/>
              </a:rPr>
              <a:t>;</a:t>
            </a:r>
            <a:endParaRPr lang="en-US" sz="1600" b="1" i="1" dirty="0">
              <a:latin typeface="Calibri" panose="020F0502020204030204" pitchFamily="34" charset="0"/>
              <a:cs typeface="Calibri" panose="020F0502020204030204" pitchFamily="34" charset="0"/>
            </a:endParaRPr>
          </a:p>
          <a:p>
            <a:pPr algn="l" eaLnBrk="1" hangingPunct="1"/>
            <a:endParaRPr lang="en-US"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2426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un Perfil de </a:t>
            </a:r>
            <a:br>
              <a:rPr lang="es-CL" sz="2800" b="1" dirty="0">
                <a:solidFill>
                  <a:prstClr val="white"/>
                </a:solidFill>
                <a:latin typeface="Calibri"/>
              </a:rPr>
            </a:br>
            <a:r>
              <a:rPr lang="es-CL" sz="2800" b="1" dirty="0">
                <a:solidFill>
                  <a:prstClr val="white"/>
                </a:solidFill>
                <a:latin typeface="Calibri"/>
              </a:rPr>
              <a:t>Usuario</a:t>
            </a:r>
          </a:p>
        </p:txBody>
      </p:sp>
      <p:sp>
        <p:nvSpPr>
          <p:cNvPr id="6" name="Marcador de contenido 1">
            <a:extLst>
              <a:ext uri="{FF2B5EF4-FFF2-40B4-BE49-F238E27FC236}">
                <a16:creationId xmlns:a16="http://schemas.microsoft.com/office/drawing/2014/main" xmlns="" id="{D2E9E70B-C05C-4249-BB87-6C56F194A3E8}"/>
              </a:ext>
            </a:extLst>
          </p:cNvPr>
          <p:cNvSpPr txBox="1">
            <a:spLocks/>
          </p:cNvSpPr>
          <p:nvPr/>
        </p:nvSpPr>
        <p:spPr>
          <a:xfrm>
            <a:off x="590872" y="126876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2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11" name="Text Box 8">
            <a:extLst>
              <a:ext uri="{FF2B5EF4-FFF2-40B4-BE49-F238E27FC236}">
                <a16:creationId xmlns:a16="http://schemas.microsoft.com/office/drawing/2014/main" xmlns="" id="{452B2FE8-C3E9-4F15-A0F9-CE5ADDC39F4E}"/>
              </a:ext>
            </a:extLst>
          </p:cNvPr>
          <p:cNvSpPr txBox="1">
            <a:spLocks noChangeArrowheads="1"/>
          </p:cNvSpPr>
          <p:nvPr/>
        </p:nvSpPr>
        <p:spPr bwMode="auto">
          <a:xfrm>
            <a:off x="971600" y="2293709"/>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1</a:t>
            </a:r>
            <a:endParaRPr lang="es-ES" sz="2400" b="1" dirty="0">
              <a:solidFill>
                <a:srgbClr val="C00000"/>
              </a:solidFill>
              <a:latin typeface="Calibri" panose="020F0502020204030204" pitchFamily="34" charset="0"/>
              <a:cs typeface="Calibri" panose="020F0502020204030204" pitchFamily="34" charset="0"/>
            </a:endParaRPr>
          </a:p>
        </p:txBody>
      </p:sp>
      <p:sp>
        <p:nvSpPr>
          <p:cNvPr id="12" name="Text Box 5">
            <a:extLst>
              <a:ext uri="{FF2B5EF4-FFF2-40B4-BE49-F238E27FC236}">
                <a16:creationId xmlns:a16="http://schemas.microsoft.com/office/drawing/2014/main" xmlns="" id="{91CA820B-AADE-450F-9DA9-4B0C42F7FF67}"/>
              </a:ext>
            </a:extLst>
          </p:cNvPr>
          <p:cNvSpPr txBox="1">
            <a:spLocks noChangeArrowheads="1"/>
          </p:cNvSpPr>
          <p:nvPr/>
        </p:nvSpPr>
        <p:spPr bwMode="auto">
          <a:xfrm>
            <a:off x="1308194" y="1887210"/>
            <a:ext cx="6720190" cy="1569660"/>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CREATE PROFILE </a:t>
            </a:r>
            <a:r>
              <a:rPr lang="en-US" sz="1600" b="1" dirty="0" err="1">
                <a:latin typeface="Calibri" panose="020F0502020204030204" pitchFamily="34" charset="0"/>
                <a:cs typeface="Calibri" panose="020F0502020204030204" pitchFamily="34" charset="0"/>
              </a:rPr>
              <a:t>profile_ctacte</a:t>
            </a:r>
            <a:r>
              <a:rPr lang="en-US" sz="1600" b="1" i="1" dirty="0">
                <a:latin typeface="Calibri" panose="020F0502020204030204" pitchFamily="34" charset="0"/>
                <a:cs typeface="Calibri" panose="020F0502020204030204" pitchFamily="34" charset="0"/>
              </a:rPr>
              <a:t> </a:t>
            </a:r>
            <a:r>
              <a:rPr lang="en-US" sz="1600" b="1" dirty="0">
                <a:latin typeface="Calibri" panose="020F0502020204030204" pitchFamily="34" charset="0"/>
                <a:cs typeface="Calibri" panose="020F0502020204030204" pitchFamily="34" charset="0"/>
              </a:rPr>
              <a:t>LIMIT </a:t>
            </a:r>
          </a:p>
          <a:p>
            <a:pPr algn="l" eaLnBrk="1" hangingPunct="1"/>
            <a:r>
              <a:rPr lang="en-US" sz="1600" b="1" dirty="0">
                <a:latin typeface="Calibri" panose="020F0502020204030204" pitchFamily="34" charset="0"/>
                <a:cs typeface="Calibri" panose="020F0502020204030204" pitchFamily="34" charset="0"/>
              </a:rPr>
              <a:t>CONNECT_TIME UNLIMITED</a:t>
            </a:r>
            <a:endParaRPr lang="en-US" sz="1600" b="1" i="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IDLE_TIME 30</a:t>
            </a:r>
          </a:p>
          <a:p>
            <a:pPr algn="l" eaLnBrk="1" hangingPunct="1"/>
            <a:r>
              <a:rPr lang="en-US" sz="1600" b="1" dirty="0">
                <a:latin typeface="Calibri" panose="020F0502020204030204" pitchFamily="34" charset="0"/>
                <a:cs typeface="Calibri" panose="020F0502020204030204" pitchFamily="34" charset="0"/>
              </a:rPr>
              <a:t>FAILED_LOGIN_ATTEMPTS  3</a:t>
            </a:r>
          </a:p>
          <a:p>
            <a:pPr algn="l" eaLnBrk="1" hangingPunct="1"/>
            <a:r>
              <a:rPr lang="en-US" sz="1600" b="1" dirty="0">
                <a:latin typeface="Calibri" panose="020F0502020204030204" pitchFamily="34" charset="0"/>
                <a:cs typeface="Calibri" panose="020F0502020204030204" pitchFamily="34" charset="0"/>
              </a:rPr>
              <a:t>PASSWORD_LOCK_TIME 1;</a:t>
            </a:r>
          </a:p>
          <a:p>
            <a:pPr algn="l" eaLnBrk="1" hangingPunct="1"/>
            <a:endParaRPr lang="en-US" sz="800" b="1" dirty="0">
              <a:latin typeface="Calibri" panose="020F0502020204030204" pitchFamily="34" charset="0"/>
              <a:cs typeface="Calibri" panose="020F0502020204030204" pitchFamily="34" charset="0"/>
            </a:endParaRPr>
          </a:p>
        </p:txBody>
      </p:sp>
      <p:sp>
        <p:nvSpPr>
          <p:cNvPr id="9" name="Text Box 5">
            <a:extLst>
              <a:ext uri="{FF2B5EF4-FFF2-40B4-BE49-F238E27FC236}">
                <a16:creationId xmlns:a16="http://schemas.microsoft.com/office/drawing/2014/main" xmlns="" id="{5611FC2A-C99E-484D-85CE-4454F2F1D2AB}"/>
              </a:ext>
            </a:extLst>
          </p:cNvPr>
          <p:cNvSpPr txBox="1">
            <a:spLocks noChangeArrowheads="1"/>
          </p:cNvSpPr>
          <p:nvPr/>
        </p:nvSpPr>
        <p:spPr bwMode="auto">
          <a:xfrm>
            <a:off x="1331640" y="3869352"/>
            <a:ext cx="6720190" cy="1815882"/>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CREATE USER </a:t>
            </a:r>
            <a:r>
              <a:rPr lang="en-US" sz="1600" b="1" dirty="0" err="1">
                <a:latin typeface="Calibri" panose="020F0502020204030204" pitchFamily="34" charset="0"/>
                <a:cs typeface="Calibri" panose="020F0502020204030204" pitchFamily="34" charset="0"/>
              </a:rPr>
              <a:t>cons_sist_ctacte</a:t>
            </a:r>
            <a:r>
              <a:rPr lang="en-US" sz="1600" b="1" dirty="0">
                <a:latin typeface="Calibri" panose="020F0502020204030204" pitchFamily="34" charset="0"/>
                <a:cs typeface="Calibri" panose="020F0502020204030204" pitchFamily="34" charset="0"/>
              </a:rPr>
              <a:t> </a:t>
            </a:r>
          </a:p>
          <a:p>
            <a:pPr eaLnBrk="1" hangingPunct="1"/>
            <a:r>
              <a:rPr lang="en-US" sz="1600" b="1" dirty="0">
                <a:latin typeface="Calibri" panose="020F0502020204030204" pitchFamily="34" charset="0"/>
                <a:cs typeface="Calibri" panose="020F0502020204030204" pitchFamily="34" charset="0"/>
              </a:rPr>
              <a:t>IDENTIFIED BY "Cons_ctate_20" </a:t>
            </a:r>
          </a:p>
          <a:p>
            <a:pPr algn="l" eaLnBrk="1" hangingPunct="1"/>
            <a:r>
              <a:rPr lang="en-US" sz="1600" b="1" dirty="0">
                <a:latin typeface="Calibri" panose="020F0502020204030204" pitchFamily="34" charset="0"/>
                <a:cs typeface="Calibri" panose="020F0502020204030204" pitchFamily="34" charset="0"/>
              </a:rPr>
              <a:t>DEFAULT TABLESPACE users  </a:t>
            </a:r>
          </a:p>
          <a:p>
            <a:pPr algn="l" eaLnBrk="1" hangingPunct="1"/>
            <a:r>
              <a:rPr lang="en-US" sz="1600" b="1" dirty="0">
                <a:latin typeface="Calibri" panose="020F0502020204030204" pitchFamily="34" charset="0"/>
                <a:cs typeface="Calibri" panose="020F0502020204030204" pitchFamily="34" charset="0"/>
              </a:rPr>
              <a:t>TEMPORARY TABLESPACE temp </a:t>
            </a:r>
          </a:p>
          <a:p>
            <a:pPr algn="l" eaLnBrk="1" hangingPunct="1"/>
            <a:r>
              <a:rPr lang="en-US" sz="1600" b="1" dirty="0">
                <a:latin typeface="Calibri" panose="020F0502020204030204" pitchFamily="34" charset="0"/>
                <a:cs typeface="Calibri" panose="020F0502020204030204" pitchFamily="34" charset="0"/>
              </a:rPr>
              <a:t>PROFILE </a:t>
            </a:r>
            <a:r>
              <a:rPr lang="en-US" sz="1600" b="1" dirty="0" err="1">
                <a:latin typeface="Calibri" panose="020F0502020204030204" pitchFamily="34" charset="0"/>
                <a:cs typeface="Calibri" panose="020F0502020204030204" pitchFamily="34" charset="0"/>
              </a:rPr>
              <a:t>profile_ctacte</a:t>
            </a:r>
            <a:r>
              <a:rPr lang="en-US" sz="1600" b="1" dirty="0">
                <a:latin typeface="Calibri" panose="020F0502020204030204" pitchFamily="34" charset="0"/>
                <a:cs typeface="Calibri" panose="020F0502020204030204" pitchFamily="34" charset="0"/>
              </a:rPr>
              <a:t>;</a:t>
            </a:r>
          </a:p>
          <a:p>
            <a:pPr algn="l" eaLnBrk="1" hangingPunct="1"/>
            <a:r>
              <a:rPr lang="en-US" sz="1600" b="1" dirty="0">
                <a:latin typeface="Calibri" panose="020F0502020204030204" pitchFamily="34" charset="0"/>
                <a:cs typeface="Calibri" panose="020F0502020204030204" pitchFamily="34" charset="0"/>
              </a:rPr>
              <a:t>GRANT CREATE SESSION TO </a:t>
            </a:r>
            <a:r>
              <a:rPr lang="en-US" sz="1600" b="1" dirty="0" err="1">
                <a:latin typeface="Calibri" panose="020F0502020204030204" pitchFamily="34" charset="0"/>
                <a:cs typeface="Calibri" panose="020F0502020204030204" pitchFamily="34" charset="0"/>
              </a:rPr>
              <a:t>cons_sist_ctacte</a:t>
            </a:r>
            <a:r>
              <a:rPr lang="en-US" sz="1600" b="1" dirty="0">
                <a:latin typeface="Calibri" panose="020F0502020204030204" pitchFamily="34" charset="0"/>
                <a:cs typeface="Calibri" panose="020F0502020204030204" pitchFamily="34" charset="0"/>
              </a:rPr>
              <a:t>;</a:t>
            </a:r>
          </a:p>
          <a:p>
            <a:pPr algn="l" eaLnBrk="1" hangingPunct="1"/>
            <a:endParaRPr lang="es-MX" sz="800" b="1" dirty="0">
              <a:latin typeface="Calibri" panose="020F0502020204030204" pitchFamily="34" charset="0"/>
              <a:cs typeface="Calibri" panose="020F0502020204030204" pitchFamily="34" charset="0"/>
            </a:endParaRPr>
          </a:p>
        </p:txBody>
      </p:sp>
      <p:sp>
        <p:nvSpPr>
          <p:cNvPr id="10" name="Text Box 8">
            <a:extLst>
              <a:ext uri="{FF2B5EF4-FFF2-40B4-BE49-F238E27FC236}">
                <a16:creationId xmlns:a16="http://schemas.microsoft.com/office/drawing/2014/main" xmlns="" id="{E2C3E4B4-B246-451F-B3A5-EC55CB318183}"/>
              </a:ext>
            </a:extLst>
          </p:cNvPr>
          <p:cNvSpPr txBox="1">
            <a:spLocks noChangeArrowheads="1"/>
          </p:cNvSpPr>
          <p:nvPr/>
        </p:nvSpPr>
        <p:spPr bwMode="auto">
          <a:xfrm>
            <a:off x="954776" y="4559815"/>
            <a:ext cx="340158"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2</a:t>
            </a:r>
            <a:endParaRPr lang="es-ES" sz="2400" b="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0270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2556587" y="3257808"/>
            <a:ext cx="6499771" cy="2433865"/>
          </a:xfrm>
        </p:spPr>
        <p:txBody>
          <a:bodyPr/>
          <a:lstStyle/>
          <a:p>
            <a:r>
              <a:rPr lang="es-ES_tradnl" sz="4800" b="1" dirty="0"/>
              <a:t>Mantención de las Cuentas de Usuario de Base de Datos</a:t>
            </a:r>
          </a:p>
        </p:txBody>
      </p:sp>
    </p:spTree>
    <p:extLst>
      <p:ext uri="{BB962C8B-B14F-4D97-AF65-F5344CB8AC3E}">
        <p14:creationId xmlns:p14="http://schemas.microsoft.com/office/powerpoint/2010/main" val="3726567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2">
            <a:extLst>
              <a:ext uri="{FF2B5EF4-FFF2-40B4-BE49-F238E27FC236}">
                <a16:creationId xmlns:a16="http://schemas.microsoft.com/office/drawing/2014/main" xmlns="" id="{D09F2E85-D672-4253-88F4-34ADFA944341}"/>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Modificando Cuentas de Usuarios</a:t>
            </a:r>
          </a:p>
        </p:txBody>
      </p:sp>
      <p:pic>
        <p:nvPicPr>
          <p:cNvPr id="7" name="Imagen 6">
            <a:extLst>
              <a:ext uri="{FF2B5EF4-FFF2-40B4-BE49-F238E27FC236}">
                <a16:creationId xmlns:a16="http://schemas.microsoft.com/office/drawing/2014/main" xmlns="" id="{9D341C3A-5024-4CC8-940E-B182E12EB71E}"/>
              </a:ext>
            </a:extLst>
          </p:cNvPr>
          <p:cNvPicPr>
            <a:picLocks noChangeAspect="1"/>
          </p:cNvPicPr>
          <p:nvPr/>
        </p:nvPicPr>
        <p:blipFill>
          <a:blip r:embed="rId3"/>
          <a:stretch>
            <a:fillRect/>
          </a:stretch>
        </p:blipFill>
        <p:spPr>
          <a:xfrm>
            <a:off x="72318" y="1196752"/>
            <a:ext cx="8982839" cy="5202225"/>
          </a:xfrm>
          <a:prstGeom prst="rect">
            <a:avLst/>
          </a:prstGeom>
        </p:spPr>
      </p:pic>
    </p:spTree>
    <p:extLst>
      <p:ext uri="{BB962C8B-B14F-4D97-AF65-F5344CB8AC3E}">
        <p14:creationId xmlns:p14="http://schemas.microsoft.com/office/powerpoint/2010/main" val="3955520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2">
            <a:extLst>
              <a:ext uri="{FF2B5EF4-FFF2-40B4-BE49-F238E27FC236}">
                <a16:creationId xmlns:a16="http://schemas.microsoft.com/office/drawing/2014/main" xmlns="" id="{D09F2E85-D672-4253-88F4-34ADFA944341}"/>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Modificando Cuentas de Usuarios</a:t>
            </a:r>
          </a:p>
        </p:txBody>
      </p:sp>
      <p:sp>
        <p:nvSpPr>
          <p:cNvPr id="6" name="Marcador de contenido 1">
            <a:extLst>
              <a:ext uri="{FF2B5EF4-FFF2-40B4-BE49-F238E27FC236}">
                <a16:creationId xmlns:a16="http://schemas.microsoft.com/office/drawing/2014/main" xmlns="" id="{3915177E-89D2-41A3-9080-C79818DA29C1}"/>
              </a:ext>
            </a:extLst>
          </p:cNvPr>
          <p:cNvSpPr txBox="1">
            <a:spLocks/>
          </p:cNvSpPr>
          <p:nvPr/>
        </p:nvSpPr>
        <p:spPr>
          <a:xfrm>
            <a:off x="590872" y="126876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Sintaxis simple:</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16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2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91AD13AC-0532-4308-B6C0-A56DF7538035}"/>
              </a:ext>
            </a:extLst>
          </p:cNvPr>
          <p:cNvSpPr txBox="1">
            <a:spLocks noChangeArrowheads="1"/>
          </p:cNvSpPr>
          <p:nvPr/>
        </p:nvSpPr>
        <p:spPr bwMode="auto">
          <a:xfrm>
            <a:off x="1308194" y="1868270"/>
            <a:ext cx="6360150" cy="2677656"/>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ALTER USER </a:t>
            </a:r>
            <a:r>
              <a:rPr lang="en-US" sz="1600" b="1" i="1" dirty="0" err="1">
                <a:latin typeface="Calibri" panose="020F0502020204030204" pitchFamily="34" charset="0"/>
                <a:cs typeface="Calibri" panose="020F0502020204030204" pitchFamily="34" charset="0"/>
              </a:rPr>
              <a:t>nombre_usuario</a:t>
            </a:r>
            <a:r>
              <a:rPr lang="en-US" sz="1600" b="1" i="1" dirty="0">
                <a:latin typeface="Calibri" panose="020F0502020204030204" pitchFamily="34" charset="0"/>
                <a:cs typeface="Calibri" panose="020F0502020204030204" pitchFamily="34" charset="0"/>
              </a:rPr>
              <a:t> </a:t>
            </a:r>
            <a:r>
              <a:rPr lang="en-US" sz="1600" b="1" i="1" dirty="0" err="1">
                <a:latin typeface="Calibri" panose="020F0502020204030204" pitchFamily="34" charset="0"/>
                <a:cs typeface="Calibri" panose="020F0502020204030204" pitchFamily="34" charset="0"/>
              </a:rPr>
              <a:t>opciones</a:t>
            </a:r>
            <a:endParaRPr lang="en-US" sz="1600" b="1" i="1" dirty="0">
              <a:latin typeface="Calibri" panose="020F0502020204030204" pitchFamily="34" charset="0"/>
              <a:cs typeface="Calibri" panose="020F0502020204030204" pitchFamily="34" charset="0"/>
            </a:endParaRPr>
          </a:p>
          <a:p>
            <a:pPr algn="l" eaLnBrk="1" hangingPunct="1"/>
            <a:r>
              <a:rPr lang="en-US" sz="1600" b="1" i="1" dirty="0" err="1">
                <a:latin typeface="Calibri" panose="020F0502020204030204" pitchFamily="34" charset="0"/>
                <a:cs typeface="Calibri" panose="020F0502020204030204" pitchFamily="34" charset="0"/>
              </a:rPr>
              <a:t>opciones</a:t>
            </a:r>
            <a:r>
              <a:rPr lang="en-US" sz="1600" b="1" dirty="0">
                <a:latin typeface="Calibri" panose="020F0502020204030204" pitchFamily="34" charset="0"/>
                <a:cs typeface="Calibri" panose="020F0502020204030204" pitchFamily="34" charset="0"/>
              </a:rPr>
              <a:t>:</a:t>
            </a:r>
          </a:p>
          <a:p>
            <a:pPr algn="l" eaLnBrk="1" hangingPunct="1"/>
            <a:r>
              <a:rPr lang="en-US" sz="1600" b="1" dirty="0">
                <a:latin typeface="Calibri" panose="020F0502020204030204" pitchFamily="34" charset="0"/>
                <a:cs typeface="Calibri" panose="020F0502020204030204" pitchFamily="34" charset="0"/>
              </a:rPr>
              <a:t>IDENTIFIED BY </a:t>
            </a:r>
            <a:r>
              <a:rPr lang="en-US" sz="1600" b="1" i="1" dirty="0" err="1">
                <a:latin typeface="Calibri" panose="020F0502020204030204" pitchFamily="34" charset="0"/>
                <a:cs typeface="Calibri" panose="020F0502020204030204" pitchFamily="34" charset="0"/>
              </a:rPr>
              <a:t>contraseña</a:t>
            </a:r>
            <a:endParaRPr lang="en-US" sz="1600" b="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DEFAULT TABLESPACE </a:t>
            </a:r>
            <a:r>
              <a:rPr lang="en-US" sz="1600" b="1" i="1" dirty="0" err="1">
                <a:latin typeface="Calibri" panose="020F0502020204030204" pitchFamily="34" charset="0"/>
                <a:cs typeface="Calibri" panose="020F0502020204030204" pitchFamily="34" charset="0"/>
              </a:rPr>
              <a:t>nombre_tablespace</a:t>
            </a:r>
            <a:endParaRPr lang="en-US" sz="1600" b="1" i="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TEMPORARY TABLESPACE </a:t>
            </a:r>
            <a:r>
              <a:rPr lang="en-US" sz="1600" b="1" i="1" dirty="0" err="1">
                <a:latin typeface="Calibri" panose="020F0502020204030204" pitchFamily="34" charset="0"/>
                <a:cs typeface="Calibri" panose="020F0502020204030204" pitchFamily="34" charset="0"/>
              </a:rPr>
              <a:t>nombre_tablespace</a:t>
            </a:r>
            <a:endParaRPr lang="en-US" sz="1600" b="1" i="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QUOTA </a:t>
            </a:r>
            <a:r>
              <a:rPr lang="en-US" sz="1600" b="1" i="1" dirty="0">
                <a:latin typeface="Calibri" panose="020F0502020204030204" pitchFamily="34" charset="0"/>
                <a:cs typeface="Calibri" panose="020F0502020204030204" pitchFamily="34" charset="0"/>
              </a:rPr>
              <a:t>valor</a:t>
            </a:r>
            <a:r>
              <a:rPr lang="en-US" sz="1600" b="1" dirty="0">
                <a:latin typeface="Calibri" panose="020F0502020204030204" pitchFamily="34" charset="0"/>
                <a:cs typeface="Calibri" panose="020F0502020204030204" pitchFamily="34" charset="0"/>
              </a:rPr>
              <a:t> {K | M} ON </a:t>
            </a:r>
            <a:r>
              <a:rPr lang="en-US" sz="1600" b="1" i="1" dirty="0" err="1">
                <a:latin typeface="Calibri" panose="020F0502020204030204" pitchFamily="34" charset="0"/>
                <a:cs typeface="Calibri" panose="020F0502020204030204" pitchFamily="34" charset="0"/>
              </a:rPr>
              <a:t>nombre_tablespace</a:t>
            </a:r>
            <a:endParaRPr lang="en-US" sz="1600" b="1" i="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QUOTA UNLIMITED ON </a:t>
            </a:r>
            <a:r>
              <a:rPr lang="en-US" sz="1600" b="1" i="1" dirty="0" err="1">
                <a:latin typeface="Calibri" panose="020F0502020204030204" pitchFamily="34" charset="0"/>
                <a:cs typeface="Calibri" panose="020F0502020204030204" pitchFamily="34" charset="0"/>
              </a:rPr>
              <a:t>nombre_tablespace</a:t>
            </a:r>
            <a:endParaRPr lang="en-US" sz="1600" b="1" i="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PROFILE </a:t>
            </a:r>
            <a:r>
              <a:rPr lang="en-US" sz="1600" b="1" i="1" dirty="0" err="1">
                <a:latin typeface="Calibri" panose="020F0502020204030204" pitchFamily="34" charset="0"/>
                <a:cs typeface="Calibri" panose="020F0502020204030204" pitchFamily="34" charset="0"/>
              </a:rPr>
              <a:t>nombre_profile</a:t>
            </a:r>
            <a:endParaRPr lang="en-US" sz="1600" b="1" i="1"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DEFAULT ROLE </a:t>
            </a:r>
            <a:r>
              <a:rPr lang="en-US" sz="1600" b="1" i="1" dirty="0" err="1">
                <a:latin typeface="Calibri" panose="020F0502020204030204" pitchFamily="34" charset="0"/>
                <a:cs typeface="Calibri" panose="020F0502020204030204" pitchFamily="34" charset="0"/>
              </a:rPr>
              <a:t>rol</a:t>
            </a:r>
            <a:r>
              <a:rPr lang="en-US" sz="1600" b="1" dirty="0">
                <a:latin typeface="Calibri" panose="020F0502020204030204" pitchFamily="34" charset="0"/>
                <a:cs typeface="Calibri" panose="020F0502020204030204" pitchFamily="34" charset="0"/>
              </a:rPr>
              <a:t> [,</a:t>
            </a:r>
            <a:r>
              <a:rPr lang="en-US" sz="1600" b="1" i="1" dirty="0" err="1">
                <a:latin typeface="Calibri" panose="020F0502020204030204" pitchFamily="34" charset="0"/>
                <a:cs typeface="Calibri" panose="020F0502020204030204" pitchFamily="34" charset="0"/>
              </a:rPr>
              <a:t>rol</a:t>
            </a:r>
            <a:r>
              <a:rPr lang="en-US" sz="1600" b="1" dirty="0">
                <a:latin typeface="Calibri" panose="020F0502020204030204" pitchFamily="34" charset="0"/>
                <a:cs typeface="Calibri" panose="020F0502020204030204" pitchFamily="34" charset="0"/>
              </a:rPr>
              <a:t>,…]</a:t>
            </a:r>
          </a:p>
          <a:p>
            <a:pPr algn="l" eaLnBrk="1" hangingPunct="1"/>
            <a:r>
              <a:rPr lang="en-US" sz="1600" b="1" dirty="0">
                <a:latin typeface="Calibri" panose="020F0502020204030204" pitchFamily="34" charset="0"/>
                <a:cs typeface="Calibri" panose="020F0502020204030204" pitchFamily="34" charset="0"/>
              </a:rPr>
              <a:t>ACCOUNT {LOCK|UNLOCK}</a:t>
            </a:r>
            <a:endParaRPr lang="en-US" sz="800" b="1" dirty="0">
              <a:latin typeface="Calibri" panose="020F0502020204030204" pitchFamily="34" charset="0"/>
              <a:cs typeface="Calibri" panose="020F0502020204030204" pitchFamily="34" charset="0"/>
            </a:endParaRPr>
          </a:p>
        </p:txBody>
      </p:sp>
      <p:sp>
        <p:nvSpPr>
          <p:cNvPr id="8" name="Text Box 5">
            <a:extLst>
              <a:ext uri="{FF2B5EF4-FFF2-40B4-BE49-F238E27FC236}">
                <a16:creationId xmlns:a16="http://schemas.microsoft.com/office/drawing/2014/main" xmlns="" id="{882F3024-B47B-40F3-ABEA-F39D3FF77E03}"/>
              </a:ext>
            </a:extLst>
          </p:cNvPr>
          <p:cNvSpPr txBox="1">
            <a:spLocks noChangeArrowheads="1"/>
          </p:cNvSpPr>
          <p:nvPr/>
        </p:nvSpPr>
        <p:spPr bwMode="auto">
          <a:xfrm>
            <a:off x="1331640" y="5157192"/>
            <a:ext cx="6360150"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eaLnBrk="1" hangingPunct="1"/>
            <a:r>
              <a:rPr lang="en-US" sz="1600" b="1" dirty="0">
                <a:latin typeface="Calibri" panose="020F0502020204030204" pitchFamily="34" charset="0"/>
                <a:cs typeface="Calibri" panose="020F0502020204030204" pitchFamily="34" charset="0"/>
              </a:rPr>
              <a:t>ALTER USER </a:t>
            </a:r>
            <a:r>
              <a:rPr lang="en-US" sz="1600" b="1" dirty="0" err="1">
                <a:latin typeface="Calibri" panose="020F0502020204030204" pitchFamily="34" charset="0"/>
                <a:cs typeface="Calibri" panose="020F0502020204030204" pitchFamily="34" charset="0"/>
              </a:rPr>
              <a:t>cons_sist_ctacte</a:t>
            </a:r>
            <a:r>
              <a:rPr lang="en-US" sz="1600" b="1" dirty="0">
                <a:latin typeface="Calibri" panose="020F0502020204030204" pitchFamily="34" charset="0"/>
                <a:cs typeface="Calibri" panose="020F0502020204030204" pitchFamily="34" charset="0"/>
              </a:rPr>
              <a:t> IDENTIFIED BY "Cons_ctacte.0108";</a:t>
            </a:r>
          </a:p>
          <a:p>
            <a:pPr algn="l" eaLnBrk="1" hangingPunct="1"/>
            <a:r>
              <a:rPr lang="en-US" sz="1600" b="1" dirty="0">
                <a:latin typeface="Calibri" panose="020F0502020204030204" pitchFamily="34" charset="0"/>
                <a:cs typeface="Calibri" panose="020F0502020204030204" pitchFamily="34" charset="0"/>
              </a:rPr>
              <a:t>ALTER USER </a:t>
            </a:r>
            <a:r>
              <a:rPr lang="en-US" sz="1600" b="1" dirty="0" err="1">
                <a:latin typeface="Calibri" panose="020F0502020204030204" pitchFamily="34" charset="0"/>
                <a:cs typeface="Calibri" panose="020F0502020204030204" pitchFamily="34" charset="0"/>
              </a:rPr>
              <a:t>cons_sist_ctacte</a:t>
            </a:r>
            <a:r>
              <a:rPr lang="en-US" sz="1600" b="1" dirty="0">
                <a:latin typeface="Calibri" panose="020F0502020204030204" pitchFamily="34" charset="0"/>
                <a:cs typeface="Calibri" panose="020F0502020204030204" pitchFamily="34" charset="0"/>
              </a:rPr>
              <a:t> DEFAULT TABLESPACE </a:t>
            </a:r>
            <a:r>
              <a:rPr lang="en-US" sz="1600" b="1" dirty="0" err="1">
                <a:latin typeface="Calibri" panose="020F0502020204030204" pitchFamily="34" charset="0"/>
                <a:cs typeface="Calibri" panose="020F0502020204030204" pitchFamily="34" charset="0"/>
              </a:rPr>
              <a:t>ctacte_datos</a:t>
            </a:r>
            <a:r>
              <a:rPr lang="en-US" sz="1600" b="1" dirty="0">
                <a:latin typeface="Calibri" panose="020F0502020204030204" pitchFamily="34" charset="0"/>
                <a:cs typeface="Calibri" panose="020F0502020204030204" pitchFamily="34" charset="0"/>
              </a:rPr>
              <a:t>;</a:t>
            </a:r>
          </a:p>
          <a:p>
            <a:pPr algn="l" eaLnBrk="1" hangingPunct="1"/>
            <a:r>
              <a:rPr lang="fr-FR" sz="1600" b="1" dirty="0">
                <a:latin typeface="Calibri" panose="020F0502020204030204" pitchFamily="34" charset="0"/>
                <a:cs typeface="Calibri" panose="020F0502020204030204" pitchFamily="34" charset="0"/>
              </a:rPr>
              <a:t>ALTER USER </a:t>
            </a:r>
            <a:r>
              <a:rPr lang="fr-FR" sz="1600" b="1" dirty="0" err="1">
                <a:latin typeface="Calibri" panose="020F0502020204030204" pitchFamily="34" charset="0"/>
                <a:cs typeface="Calibri" panose="020F0502020204030204" pitchFamily="34" charset="0"/>
              </a:rPr>
              <a:t>cons_sist_ctacte</a:t>
            </a:r>
            <a:r>
              <a:rPr lang="fr-FR" sz="1600" b="1" dirty="0">
                <a:latin typeface="Calibri" panose="020F0502020204030204" pitchFamily="34" charset="0"/>
                <a:cs typeface="Calibri" panose="020F0502020204030204" pitchFamily="34" charset="0"/>
              </a:rPr>
              <a:t> </a:t>
            </a:r>
            <a:r>
              <a:rPr lang="en-US" sz="1600" b="1" dirty="0">
                <a:latin typeface="Calibri" panose="020F0502020204030204" pitchFamily="34" charset="0"/>
                <a:cs typeface="Calibri" panose="020F0502020204030204" pitchFamily="34" charset="0"/>
              </a:rPr>
              <a:t>QUOTA 1M ON </a:t>
            </a:r>
            <a:r>
              <a:rPr lang="en-US" sz="1600" b="1" dirty="0" err="1">
                <a:latin typeface="Calibri" panose="020F0502020204030204" pitchFamily="34" charset="0"/>
                <a:cs typeface="Calibri" panose="020F0502020204030204" pitchFamily="34" charset="0"/>
              </a:rPr>
              <a:t>ctacte_datos</a:t>
            </a:r>
            <a:r>
              <a:rPr lang="en-US" sz="1600" b="1" dirty="0">
                <a:latin typeface="Calibri" panose="020F0502020204030204" pitchFamily="34" charset="0"/>
                <a:cs typeface="Calibri" panose="020F0502020204030204" pitchFamily="34" charset="0"/>
              </a:rPr>
              <a:t>;</a:t>
            </a:r>
          </a:p>
          <a:p>
            <a:pPr algn="l" eaLnBrk="1" hangingPunct="1"/>
            <a:endParaRPr lang="en-US"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9179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Modificando Perfiles de</a:t>
            </a:r>
            <a:br>
              <a:rPr lang="es-CL" sz="2800" b="1" dirty="0">
                <a:solidFill>
                  <a:prstClr val="white"/>
                </a:solidFill>
                <a:latin typeface="Calibri"/>
              </a:rPr>
            </a:br>
            <a:r>
              <a:rPr lang="es-CL" sz="2800" b="1" dirty="0">
                <a:solidFill>
                  <a:prstClr val="white"/>
                </a:solidFill>
                <a:latin typeface="Calibri"/>
              </a:rPr>
              <a:t>Usuarios</a:t>
            </a:r>
          </a:p>
        </p:txBody>
      </p:sp>
      <p:sp>
        <p:nvSpPr>
          <p:cNvPr id="6" name="Marcador de contenido 1">
            <a:extLst>
              <a:ext uri="{FF2B5EF4-FFF2-40B4-BE49-F238E27FC236}">
                <a16:creationId xmlns:a16="http://schemas.microsoft.com/office/drawing/2014/main" xmlns="" id="{D2E9E70B-C05C-4249-BB87-6C56F194A3E8}"/>
              </a:ext>
            </a:extLst>
          </p:cNvPr>
          <p:cNvSpPr txBox="1">
            <a:spLocks/>
          </p:cNvSpPr>
          <p:nvPr/>
        </p:nvSpPr>
        <p:spPr>
          <a:xfrm>
            <a:off x="590872" y="126876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Sintaxis: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a:t>
            </a: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2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7D230FC2-7FAC-4E4A-8FF9-760E66A2DC61}"/>
              </a:ext>
            </a:extLst>
          </p:cNvPr>
          <p:cNvSpPr txBox="1">
            <a:spLocks noChangeArrowheads="1"/>
          </p:cNvSpPr>
          <p:nvPr/>
        </p:nvSpPr>
        <p:spPr bwMode="auto">
          <a:xfrm>
            <a:off x="1308194" y="1868270"/>
            <a:ext cx="5969684" cy="830997"/>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ALTER PROFILE </a:t>
            </a:r>
            <a:r>
              <a:rPr lang="en-US" sz="1600" b="1" i="1" dirty="0" err="1">
                <a:latin typeface="Calibri" panose="020F0502020204030204" pitchFamily="34" charset="0"/>
                <a:cs typeface="Calibri" panose="020F0502020204030204" pitchFamily="34" charset="0"/>
              </a:rPr>
              <a:t>nombre_profile</a:t>
            </a:r>
            <a:r>
              <a:rPr lang="en-US" sz="1600" b="1" i="1" dirty="0">
                <a:latin typeface="Calibri" panose="020F0502020204030204" pitchFamily="34" charset="0"/>
                <a:cs typeface="Calibri" panose="020F0502020204030204" pitchFamily="34" charset="0"/>
              </a:rPr>
              <a:t> </a:t>
            </a:r>
            <a:r>
              <a:rPr lang="en-US" sz="1600" b="1" dirty="0">
                <a:latin typeface="Calibri" panose="020F0502020204030204" pitchFamily="34" charset="0"/>
                <a:cs typeface="Calibri" panose="020F0502020204030204" pitchFamily="34" charset="0"/>
              </a:rPr>
              <a:t>LIMIT </a:t>
            </a:r>
          </a:p>
          <a:p>
            <a:pPr eaLnBrk="1" hangingPunct="1"/>
            <a:r>
              <a:rPr lang="es-CL" sz="1600" b="1" dirty="0">
                <a:latin typeface="Calibri" panose="020F0502020204030204" pitchFamily="34" charset="0"/>
                <a:cs typeface="Calibri" panose="020F0502020204030204" pitchFamily="34" charset="0"/>
              </a:rPr>
              <a:t>LIMIT</a:t>
            </a:r>
            <a:r>
              <a:rPr lang="es-CL" sz="1600" dirty="0">
                <a:latin typeface="Calibri" panose="020F0502020204030204" pitchFamily="34" charset="0"/>
                <a:cs typeface="Calibri" panose="020F0502020204030204" pitchFamily="34" charset="0"/>
              </a:rPr>
              <a:t> {</a:t>
            </a:r>
            <a:r>
              <a:rPr lang="es-CL" sz="1600" b="1" i="1" dirty="0">
                <a:latin typeface="Calibri" panose="020F0502020204030204" pitchFamily="34" charset="0"/>
                <a:cs typeface="Calibri" panose="020F0502020204030204" pitchFamily="34" charset="0"/>
              </a:rPr>
              <a:t> </a:t>
            </a:r>
            <a:r>
              <a:rPr lang="es-CL" sz="1600" b="1" i="1" dirty="0" err="1">
                <a:latin typeface="Calibri" panose="020F0502020204030204" pitchFamily="34" charset="0"/>
                <a:cs typeface="Calibri" panose="020F0502020204030204" pitchFamily="34" charset="0"/>
              </a:rPr>
              <a:t>parámetros_recursos</a:t>
            </a:r>
            <a:r>
              <a:rPr lang="es-CL" sz="1600" dirty="0">
                <a:latin typeface="Calibri" panose="020F0502020204030204" pitchFamily="34" charset="0"/>
                <a:cs typeface="Calibri" panose="020F0502020204030204" pitchFamily="34" charset="0"/>
              </a:rPr>
              <a:t> | </a:t>
            </a:r>
            <a:r>
              <a:rPr lang="es-CL" sz="1600" b="1" i="1" dirty="0" err="1">
                <a:latin typeface="Calibri" panose="020F0502020204030204" pitchFamily="34" charset="0"/>
                <a:cs typeface="Calibri" panose="020F0502020204030204" pitchFamily="34" charset="0"/>
              </a:rPr>
              <a:t>parámetros_contraseña</a:t>
            </a:r>
            <a:r>
              <a:rPr lang="es-CL" sz="1600" dirty="0">
                <a:latin typeface="Calibri" panose="020F0502020204030204" pitchFamily="34" charset="0"/>
                <a:cs typeface="Calibri" panose="020F0502020204030204" pitchFamily="34" charset="0"/>
              </a:rPr>
              <a:t>};</a:t>
            </a:r>
          </a:p>
          <a:p>
            <a:pPr eaLnBrk="1" hangingPunct="1"/>
            <a:endParaRPr lang="en-US" sz="800" b="1" dirty="0">
              <a:latin typeface="Calibri" panose="020F0502020204030204" pitchFamily="34" charset="0"/>
              <a:cs typeface="Calibri" panose="020F0502020204030204" pitchFamily="34" charset="0"/>
            </a:endParaRPr>
          </a:p>
        </p:txBody>
      </p:sp>
      <p:sp>
        <p:nvSpPr>
          <p:cNvPr id="5" name="Text Box 5">
            <a:extLst>
              <a:ext uri="{FF2B5EF4-FFF2-40B4-BE49-F238E27FC236}">
                <a16:creationId xmlns:a16="http://schemas.microsoft.com/office/drawing/2014/main" xmlns="" id="{2D6D3E14-05B5-456F-9648-276E46F65B89}"/>
              </a:ext>
            </a:extLst>
          </p:cNvPr>
          <p:cNvSpPr txBox="1">
            <a:spLocks noChangeArrowheads="1"/>
          </p:cNvSpPr>
          <p:nvPr/>
        </p:nvSpPr>
        <p:spPr bwMode="auto">
          <a:xfrm>
            <a:off x="1308194" y="3473415"/>
            <a:ext cx="5969684"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ALTER PROFILE </a:t>
            </a:r>
            <a:r>
              <a:rPr lang="en-US" sz="1600" b="1" dirty="0" err="1">
                <a:latin typeface="Calibri" panose="020F0502020204030204" pitchFamily="34" charset="0"/>
                <a:cs typeface="Calibri" panose="020F0502020204030204" pitchFamily="34" charset="0"/>
              </a:rPr>
              <a:t>profile_ctacte</a:t>
            </a:r>
            <a:r>
              <a:rPr lang="en-US" sz="1600" b="1" i="1" dirty="0">
                <a:latin typeface="Calibri" panose="020F0502020204030204" pitchFamily="34" charset="0"/>
                <a:cs typeface="Calibri" panose="020F0502020204030204" pitchFamily="34" charset="0"/>
              </a:rPr>
              <a:t> </a:t>
            </a:r>
            <a:r>
              <a:rPr lang="en-US" sz="1600" b="1" dirty="0">
                <a:latin typeface="Calibri" panose="020F0502020204030204" pitchFamily="34" charset="0"/>
                <a:cs typeface="Calibri" panose="020F0502020204030204" pitchFamily="34" charset="0"/>
              </a:rPr>
              <a:t>LIMIT </a:t>
            </a:r>
          </a:p>
          <a:p>
            <a:pPr algn="l" eaLnBrk="1" hangingPunct="1"/>
            <a:r>
              <a:rPr lang="en-US" sz="1600" b="1" dirty="0">
                <a:latin typeface="Calibri" panose="020F0502020204030204" pitchFamily="34" charset="0"/>
                <a:cs typeface="Calibri" panose="020F0502020204030204" pitchFamily="34" charset="0"/>
              </a:rPr>
              <a:t>FAILED_LOGIN_ATTEMPTS  10</a:t>
            </a:r>
          </a:p>
          <a:p>
            <a:pPr algn="l" eaLnBrk="1" hangingPunct="1"/>
            <a:r>
              <a:rPr lang="en-US" sz="1600" b="1" dirty="0">
                <a:latin typeface="Calibri" panose="020F0502020204030204" pitchFamily="34" charset="0"/>
                <a:cs typeface="Calibri" panose="020F0502020204030204" pitchFamily="34" charset="0"/>
              </a:rPr>
              <a:t>PASSWORD_LOCK_TIME 2;</a:t>
            </a:r>
          </a:p>
          <a:p>
            <a:pPr algn="l" eaLnBrk="1" hangingPunct="1"/>
            <a:endParaRPr lang="en-US" sz="800" b="1" dirty="0">
              <a:latin typeface="Calibri" panose="020F0502020204030204" pitchFamily="34" charset="0"/>
              <a:cs typeface="Calibri" panose="020F0502020204030204" pitchFamily="34" charset="0"/>
            </a:endParaRPr>
          </a:p>
        </p:txBody>
      </p:sp>
      <p:sp>
        <p:nvSpPr>
          <p:cNvPr id="9" name="Text Box 5">
            <a:extLst>
              <a:ext uri="{FF2B5EF4-FFF2-40B4-BE49-F238E27FC236}">
                <a16:creationId xmlns:a16="http://schemas.microsoft.com/office/drawing/2014/main" xmlns="" id="{D39A3525-1A34-4C1C-8F78-EE033C72CFDD}"/>
              </a:ext>
            </a:extLst>
          </p:cNvPr>
          <p:cNvSpPr txBox="1">
            <a:spLocks noChangeArrowheads="1"/>
          </p:cNvSpPr>
          <p:nvPr/>
        </p:nvSpPr>
        <p:spPr bwMode="auto">
          <a:xfrm>
            <a:off x="1308194" y="5245952"/>
            <a:ext cx="5969684" cy="830997"/>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eaLnBrk="1" hangingPunct="1"/>
            <a:r>
              <a:rPr lang="en-US" sz="1600" b="1" dirty="0">
                <a:latin typeface="Calibri" panose="020F0502020204030204" pitchFamily="34" charset="0"/>
                <a:cs typeface="Calibri" panose="020F0502020204030204" pitchFamily="34" charset="0"/>
              </a:rPr>
              <a:t>ALTER PROFILE </a:t>
            </a:r>
            <a:r>
              <a:rPr lang="en-US" sz="1600" b="1" dirty="0" err="1">
                <a:latin typeface="Calibri" panose="020F0502020204030204" pitchFamily="34" charset="0"/>
                <a:cs typeface="Calibri" panose="020F0502020204030204" pitchFamily="34" charset="0"/>
              </a:rPr>
              <a:t>profile_ctacte</a:t>
            </a:r>
            <a:r>
              <a:rPr lang="en-US" sz="1600" b="1" i="1" dirty="0">
                <a:latin typeface="Calibri" panose="020F0502020204030204" pitchFamily="34" charset="0"/>
                <a:cs typeface="Calibri" panose="020F0502020204030204" pitchFamily="34" charset="0"/>
              </a:rPr>
              <a:t> </a:t>
            </a:r>
            <a:r>
              <a:rPr lang="en-US" sz="1600" b="1" dirty="0">
                <a:latin typeface="Calibri" panose="020F0502020204030204" pitchFamily="34" charset="0"/>
                <a:cs typeface="Calibri" panose="020F0502020204030204" pitchFamily="34" charset="0"/>
              </a:rPr>
              <a:t>LIMIT </a:t>
            </a:r>
          </a:p>
          <a:p>
            <a:pPr algn="l" eaLnBrk="1" hangingPunct="1"/>
            <a:r>
              <a:rPr lang="en-US" sz="1600" b="1" dirty="0">
                <a:latin typeface="Calibri" panose="020F0502020204030204" pitchFamily="34" charset="0"/>
                <a:cs typeface="Calibri" panose="020F0502020204030204" pitchFamily="34" charset="0"/>
              </a:rPr>
              <a:t>PASSWORD_LIFE_TIME UNLIMITED;</a:t>
            </a:r>
            <a:endParaRPr lang="en-US" sz="1600" b="1" i="1" dirty="0">
              <a:latin typeface="Calibri" panose="020F0502020204030204" pitchFamily="34" charset="0"/>
              <a:cs typeface="Calibri" panose="020F0502020204030204" pitchFamily="34" charset="0"/>
            </a:endParaRPr>
          </a:p>
          <a:p>
            <a:pPr algn="l" eaLnBrk="1" hangingPunct="1"/>
            <a:endParaRPr lang="en-US"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95269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defTabSz="457200"/>
            <a:r>
              <a:rPr lang="es-CL" sz="2800" b="1" dirty="0">
                <a:solidFill>
                  <a:prstClr val="white"/>
                </a:solidFill>
                <a:latin typeface="Calibri"/>
              </a:rPr>
              <a:t>Eliminando Cuentas de Usuarios</a:t>
            </a:r>
          </a:p>
        </p:txBody>
      </p:sp>
      <p:pic>
        <p:nvPicPr>
          <p:cNvPr id="5" name="Imagen 4">
            <a:extLst>
              <a:ext uri="{FF2B5EF4-FFF2-40B4-BE49-F238E27FC236}">
                <a16:creationId xmlns:a16="http://schemas.microsoft.com/office/drawing/2014/main" xmlns="" id="{6E388459-16D7-44D7-BD52-27FACCC729D3}"/>
              </a:ext>
            </a:extLst>
          </p:cNvPr>
          <p:cNvPicPr>
            <a:picLocks noChangeAspect="1"/>
          </p:cNvPicPr>
          <p:nvPr/>
        </p:nvPicPr>
        <p:blipFill>
          <a:blip r:embed="rId3"/>
          <a:stretch>
            <a:fillRect/>
          </a:stretch>
        </p:blipFill>
        <p:spPr>
          <a:xfrm>
            <a:off x="329187" y="1100266"/>
            <a:ext cx="8522947" cy="5590517"/>
          </a:xfrm>
          <a:prstGeom prst="rect">
            <a:avLst/>
          </a:prstGeom>
        </p:spPr>
      </p:pic>
    </p:spTree>
    <p:extLst>
      <p:ext uri="{BB962C8B-B14F-4D97-AF65-F5344CB8AC3E}">
        <p14:creationId xmlns:p14="http://schemas.microsoft.com/office/powerpoint/2010/main" val="1352085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Eliminando Cuentas de Usuarios</a:t>
            </a:r>
          </a:p>
        </p:txBody>
      </p:sp>
      <p:sp>
        <p:nvSpPr>
          <p:cNvPr id="6" name="Marcador de contenido 1">
            <a:extLst>
              <a:ext uri="{FF2B5EF4-FFF2-40B4-BE49-F238E27FC236}">
                <a16:creationId xmlns:a16="http://schemas.microsoft.com/office/drawing/2014/main" xmlns="" id="{41E6F5F7-D396-40AF-BFDE-CF0C2D9E8BE6}"/>
              </a:ext>
            </a:extLst>
          </p:cNvPr>
          <p:cNvSpPr txBox="1">
            <a:spLocks/>
          </p:cNvSpPr>
          <p:nvPr/>
        </p:nvSpPr>
        <p:spPr>
          <a:xfrm>
            <a:off x="590872" y="126876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200" b="0" i="0" u="none" strike="noStrike" kern="1200" cap="none" spc="0" normalizeH="0" baseline="0" noProof="0" dirty="0">
                <a:ln>
                  <a:noFill/>
                </a:ln>
                <a:solidFill>
                  <a:sysClr val="windowText" lastClr="000000">
                    <a:lumMod val="75000"/>
                    <a:lumOff val="25000"/>
                  </a:sysClr>
                </a:solidFill>
                <a:effectLst/>
                <a:uLnTx/>
                <a:uFillTx/>
                <a:ea typeface="Arial Unicode MS" pitchFamily="34" charset="-128"/>
                <a:cs typeface="Times New Roman" pitchFamily="18" charset="0"/>
              </a:rPr>
              <a:t>Sintaxis simple:</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2200" dirty="0">
              <a:solidFill>
                <a:sysClr val="windowText" lastClr="000000">
                  <a:lumMod val="75000"/>
                  <a:lumOff val="25000"/>
                </a:sysClr>
              </a:solidFill>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200" b="0" i="0" u="none" strike="noStrike" kern="1200" cap="none" spc="0" normalizeH="0" baseline="0" noProof="0" dirty="0">
              <a:ln>
                <a:noFill/>
              </a:ln>
              <a:solidFill>
                <a:sysClr val="windowText" lastClr="000000">
                  <a:lumMod val="75000"/>
                  <a:lumOff val="25000"/>
                </a:sysClr>
              </a:solidFill>
              <a:effectLst/>
              <a:uLnTx/>
              <a:uFillTx/>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2200" dirty="0">
              <a:solidFill>
                <a:sysClr val="windowText" lastClr="000000">
                  <a:lumMod val="75000"/>
                  <a:lumOff val="25000"/>
                </a:sysClr>
              </a:solidFill>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200" b="0" i="0" u="none" strike="noStrike" kern="1200" cap="none" spc="0" normalizeH="0" baseline="0" noProof="0" dirty="0">
                <a:ln>
                  <a:noFill/>
                </a:ln>
                <a:solidFill>
                  <a:sysClr val="windowText" lastClr="000000">
                    <a:lumMod val="75000"/>
                    <a:lumOff val="25000"/>
                  </a:sysClr>
                </a:solidFill>
                <a:effectLst/>
                <a:uLnTx/>
                <a:uFillTx/>
                <a:ea typeface="Arial Unicode MS" pitchFamily="34" charset="-128"/>
                <a:cs typeface="Times New Roman" pitchFamily="18"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2200" dirty="0">
              <a:solidFill>
                <a:sysClr val="windowText" lastClr="000000">
                  <a:lumMod val="75000"/>
                  <a:lumOff val="25000"/>
                </a:sysClr>
              </a:solidFill>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200" b="0" i="0" u="none" strike="noStrike" kern="1200" cap="none" spc="0" normalizeH="0" baseline="0" noProof="0" dirty="0">
              <a:ln>
                <a:noFill/>
              </a:ln>
              <a:solidFill>
                <a:sysClr val="windowText" lastClr="000000">
                  <a:lumMod val="75000"/>
                  <a:lumOff val="25000"/>
                </a:sysClr>
              </a:solidFill>
              <a:effectLst/>
              <a:uLnTx/>
              <a:uFillTx/>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2200" dirty="0">
              <a:solidFill>
                <a:sysClr val="windowText" lastClr="000000">
                  <a:lumMod val="75000"/>
                  <a:lumOff val="25000"/>
                </a:sysClr>
              </a:solidFill>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200" b="0" i="0" u="none" strike="noStrike" kern="1200" cap="none" spc="0" normalizeH="0" baseline="0" noProof="0" dirty="0">
                <a:ln>
                  <a:noFill/>
                </a:ln>
                <a:solidFill>
                  <a:sysClr val="windowText" lastClr="000000">
                    <a:lumMod val="75000"/>
                    <a:lumOff val="25000"/>
                  </a:sysClr>
                </a:solidFill>
                <a:effectLst/>
                <a:uLnTx/>
                <a:uFillTx/>
                <a:ea typeface="Arial Unicode MS" pitchFamily="34" charset="-128"/>
                <a:cs typeface="Times New Roman" pitchFamily="18"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2200" dirty="0">
              <a:solidFill>
                <a:sysClr val="windowText" lastClr="000000">
                  <a:lumMod val="75000"/>
                  <a:lumOff val="25000"/>
                </a:sysClr>
              </a:solidFill>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200" b="0" i="0" u="none" strike="noStrike" kern="1200" cap="none" spc="0" normalizeH="0" baseline="0" noProof="0" dirty="0">
              <a:ln>
                <a:noFill/>
              </a:ln>
              <a:solidFill>
                <a:sysClr val="windowText" lastClr="000000">
                  <a:lumMod val="75000"/>
                  <a:lumOff val="25000"/>
                </a:sysClr>
              </a:solidFill>
              <a:effectLst/>
              <a:uLnTx/>
              <a:uFillTx/>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200" b="0" i="0" u="none" strike="noStrike" kern="1200" cap="none" spc="0" normalizeH="0" baseline="0" noProof="0" dirty="0">
              <a:ln>
                <a:noFill/>
              </a:ln>
              <a:solidFill>
                <a:sysClr val="windowText" lastClr="000000">
                  <a:lumMod val="75000"/>
                  <a:lumOff val="25000"/>
                </a:sysClr>
              </a:solidFill>
              <a:effectLst/>
              <a:uLnTx/>
              <a:uFillTx/>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2200" dirty="0">
              <a:solidFill>
                <a:sysClr val="windowText" lastClr="000000">
                  <a:lumMod val="75000"/>
                  <a:lumOff val="25000"/>
                </a:sysClr>
              </a:solidFill>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2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mn-ea"/>
              <a:cs typeface="+mn-cs"/>
            </a:endParaRPr>
          </a:p>
        </p:txBody>
      </p:sp>
      <p:sp>
        <p:nvSpPr>
          <p:cNvPr id="10" name="Text Box 5">
            <a:extLst>
              <a:ext uri="{FF2B5EF4-FFF2-40B4-BE49-F238E27FC236}">
                <a16:creationId xmlns:a16="http://schemas.microsoft.com/office/drawing/2014/main" xmlns="" id="{5D012653-9FE6-4960-BAA4-2F1798F7813B}"/>
              </a:ext>
            </a:extLst>
          </p:cNvPr>
          <p:cNvSpPr txBox="1">
            <a:spLocks noChangeArrowheads="1"/>
          </p:cNvSpPr>
          <p:nvPr/>
        </p:nvSpPr>
        <p:spPr bwMode="auto">
          <a:xfrm>
            <a:off x="1308194" y="1868270"/>
            <a:ext cx="6648182"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n-US" sz="1600" b="1" dirty="0">
                <a:latin typeface="Calibri" panose="020F0502020204030204" pitchFamily="34" charset="0"/>
                <a:cs typeface="Calibri" panose="020F0502020204030204" pitchFamily="34" charset="0"/>
              </a:rPr>
              <a:t>DROP USER </a:t>
            </a:r>
            <a:r>
              <a:rPr lang="en-US" sz="1600" b="1" i="1" dirty="0" err="1">
                <a:latin typeface="Calibri" panose="020F0502020204030204" pitchFamily="34" charset="0"/>
                <a:cs typeface="Calibri" panose="020F0502020204030204" pitchFamily="34" charset="0"/>
              </a:rPr>
              <a:t>nombre_usuario</a:t>
            </a:r>
            <a:r>
              <a:rPr lang="en-US" sz="1600" b="1" dirty="0">
                <a:latin typeface="Calibri" panose="020F0502020204030204" pitchFamily="34" charset="0"/>
                <a:cs typeface="Calibri" panose="020F0502020204030204" pitchFamily="34" charset="0"/>
              </a:rPr>
              <a:t> [CASCADE]:</a:t>
            </a:r>
          </a:p>
          <a:p>
            <a:pPr algn="l" eaLnBrk="1" hangingPunct="1"/>
            <a:endParaRPr lang="en-US" sz="800" b="1" dirty="0">
              <a:latin typeface="Calibri" panose="020F0502020204030204" pitchFamily="34" charset="0"/>
              <a:cs typeface="Calibri" panose="020F0502020204030204" pitchFamily="34" charset="0"/>
            </a:endParaRPr>
          </a:p>
        </p:txBody>
      </p:sp>
      <p:sp>
        <p:nvSpPr>
          <p:cNvPr id="11" name="Text Box 5">
            <a:extLst>
              <a:ext uri="{FF2B5EF4-FFF2-40B4-BE49-F238E27FC236}">
                <a16:creationId xmlns:a16="http://schemas.microsoft.com/office/drawing/2014/main" xmlns="" id="{C84EDBF6-B4EA-4927-88F1-594D0CFF91FC}"/>
              </a:ext>
            </a:extLst>
          </p:cNvPr>
          <p:cNvSpPr txBox="1">
            <a:spLocks noChangeArrowheads="1"/>
          </p:cNvSpPr>
          <p:nvPr/>
        </p:nvSpPr>
        <p:spPr bwMode="auto">
          <a:xfrm>
            <a:off x="1331640" y="3276273"/>
            <a:ext cx="6648182"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s-CL" sz="1600" b="1" dirty="0">
                <a:latin typeface="Calibri" panose="020F0502020204030204" pitchFamily="34" charset="0"/>
                <a:cs typeface="Calibri" panose="020F0502020204030204" pitchFamily="34" charset="0"/>
              </a:rPr>
              <a:t>DROP USER </a:t>
            </a:r>
            <a:r>
              <a:rPr lang="es-CL" sz="1600" b="1" dirty="0" err="1">
                <a:latin typeface="Calibri" panose="020F0502020204030204" pitchFamily="34" charset="0"/>
                <a:cs typeface="Calibri" panose="020F0502020204030204" pitchFamily="34" charset="0"/>
              </a:rPr>
              <a:t>cons_sist_ctacte</a:t>
            </a:r>
            <a:r>
              <a:rPr lang="es-CL" sz="1600" b="1" dirty="0">
                <a:latin typeface="Calibri" panose="020F0502020204030204" pitchFamily="34" charset="0"/>
                <a:cs typeface="Calibri" panose="020F0502020204030204" pitchFamily="34" charset="0"/>
              </a:rPr>
              <a:t>;</a:t>
            </a:r>
            <a:endParaRPr lang="en-US" sz="1600" b="1" dirty="0">
              <a:latin typeface="Calibri" panose="020F0502020204030204" pitchFamily="34" charset="0"/>
              <a:cs typeface="Calibri" panose="020F0502020204030204" pitchFamily="34" charset="0"/>
            </a:endParaRPr>
          </a:p>
          <a:p>
            <a:pPr algn="l" eaLnBrk="1" hangingPunct="1"/>
            <a:endParaRPr lang="en-US" sz="800" b="1" dirty="0">
              <a:latin typeface="Calibri" panose="020F0502020204030204" pitchFamily="34" charset="0"/>
              <a:cs typeface="Calibri" panose="020F0502020204030204" pitchFamily="34" charset="0"/>
            </a:endParaRPr>
          </a:p>
        </p:txBody>
      </p:sp>
      <p:sp>
        <p:nvSpPr>
          <p:cNvPr id="12" name="Text Box 5">
            <a:extLst>
              <a:ext uri="{FF2B5EF4-FFF2-40B4-BE49-F238E27FC236}">
                <a16:creationId xmlns:a16="http://schemas.microsoft.com/office/drawing/2014/main" xmlns="" id="{CDBEB9BB-E5E4-4722-A231-3C0415483DE8}"/>
              </a:ext>
            </a:extLst>
          </p:cNvPr>
          <p:cNvSpPr txBox="1">
            <a:spLocks noChangeArrowheads="1"/>
          </p:cNvSpPr>
          <p:nvPr/>
        </p:nvSpPr>
        <p:spPr bwMode="auto">
          <a:xfrm>
            <a:off x="1331640" y="4572417"/>
            <a:ext cx="6648182"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eaLnBrk="1" hangingPunct="1"/>
            <a:r>
              <a:rPr lang="es-CL" sz="1600" b="1" dirty="0">
                <a:latin typeface="Calibri" panose="020F0502020204030204" pitchFamily="34" charset="0"/>
                <a:cs typeface="Calibri" panose="020F0502020204030204" pitchFamily="34" charset="0"/>
              </a:rPr>
              <a:t>DROP USER </a:t>
            </a:r>
            <a:r>
              <a:rPr lang="es-CL" sz="1600" b="1" dirty="0" err="1">
                <a:latin typeface="Calibri" panose="020F0502020204030204" pitchFamily="34" charset="0"/>
                <a:cs typeface="Calibri" panose="020F0502020204030204" pitchFamily="34" charset="0"/>
              </a:rPr>
              <a:t>desa_sist_ctacte</a:t>
            </a:r>
            <a:r>
              <a:rPr lang="es-CL" sz="1600" b="1" dirty="0">
                <a:latin typeface="Calibri" panose="020F0502020204030204" pitchFamily="34" charset="0"/>
                <a:cs typeface="Calibri" panose="020F0502020204030204" pitchFamily="34" charset="0"/>
              </a:rPr>
              <a:t> CASCADE;</a:t>
            </a:r>
            <a:endParaRPr lang="en-US" sz="1600" b="1" dirty="0">
              <a:latin typeface="Calibri" panose="020F0502020204030204" pitchFamily="34" charset="0"/>
              <a:cs typeface="Calibri" panose="020F0502020204030204" pitchFamily="34" charset="0"/>
            </a:endParaRPr>
          </a:p>
          <a:p>
            <a:pPr algn="l" eaLnBrk="1" hangingPunct="1"/>
            <a:endParaRPr lang="en-US"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52494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25</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Resumen de la Clase</a:t>
            </a:r>
          </a:p>
        </p:txBody>
      </p:sp>
      <p:sp>
        <p:nvSpPr>
          <p:cNvPr id="8" name="Marcador de texto 8">
            <a:extLst>
              <a:ext uri="{FF2B5EF4-FFF2-40B4-BE49-F238E27FC236}">
                <a16:creationId xmlns:a16="http://schemas.microsoft.com/office/drawing/2014/main" xmlns="" id="{24B356E8-25AE-4033-98F6-78218AEC08BA}"/>
              </a:ext>
            </a:extLst>
          </p:cNvPr>
          <p:cNvSpPr>
            <a:spLocks noGrp="1"/>
          </p:cNvSpPr>
          <p:nvPr>
            <p:ph type="body" sz="quarter" idx="11"/>
          </p:nvPr>
        </p:nvSpPr>
        <p:spPr>
          <a:xfrm>
            <a:off x="560387" y="1328643"/>
            <a:ext cx="8023225" cy="4962073"/>
          </a:xfrm>
        </p:spPr>
        <p:txBody>
          <a:bodyPr/>
          <a:lstStyle/>
          <a:p>
            <a:pPr marL="393700" indent="-342900" algn="just">
              <a:buFont typeface="Arial" panose="020B0604020202020204" pitchFamily="34" charset="0"/>
              <a:buChar char="•"/>
            </a:pPr>
            <a:r>
              <a:rPr lang="es-MX" sz="2200" dirty="0"/>
              <a:t>Se explicó cómo acceder a la Base de Datos a nivel de sistema.</a:t>
            </a:r>
          </a:p>
          <a:p>
            <a:pPr marL="393700" indent="-342900" algn="just">
              <a:buFont typeface="Arial" panose="020B0604020202020204" pitchFamily="34" charset="0"/>
              <a:buChar char="•"/>
            </a:pPr>
            <a:r>
              <a:rPr lang="es-MX" sz="2200" dirty="0"/>
              <a:t>Se describieron los tipos de Usuarios que acceden a la Base de Datos</a:t>
            </a:r>
          </a:p>
          <a:p>
            <a:pPr marL="393700" indent="-342900" algn="just">
              <a:buFont typeface="Arial" panose="020B0604020202020204" pitchFamily="34" charset="0"/>
              <a:buChar char="•"/>
            </a:pPr>
            <a:r>
              <a:rPr lang="es-MX" sz="2200" dirty="0"/>
              <a:t>Se describieron las características de una cuenta de usuario de Base de Datos.</a:t>
            </a:r>
          </a:p>
          <a:p>
            <a:pPr marL="393700" indent="-342900" algn="just">
              <a:buFont typeface="Arial" panose="020B0604020202020204" pitchFamily="34" charset="0"/>
              <a:buChar char="•"/>
            </a:pPr>
            <a:r>
              <a:rPr lang="es-MX" sz="2200" dirty="0"/>
              <a:t>Se describieron las características del esquema de una cuenta usuario.</a:t>
            </a:r>
          </a:p>
          <a:p>
            <a:pPr marL="393700" indent="-342900" algn="just">
              <a:buFont typeface="Arial" panose="020B0604020202020204" pitchFamily="34" charset="0"/>
              <a:buChar char="•"/>
            </a:pPr>
            <a:r>
              <a:rPr lang="es-MX" sz="2200" dirty="0"/>
              <a:t>Se explicó cómo crear una cuenta de usuario de Base de Datos.</a:t>
            </a:r>
          </a:p>
          <a:p>
            <a:pPr marL="393700" indent="-342900" algn="just">
              <a:buFont typeface="Arial" panose="020B0604020202020204" pitchFamily="34" charset="0"/>
              <a:buChar char="•"/>
            </a:pPr>
            <a:r>
              <a:rPr lang="es-MX" sz="2200" dirty="0"/>
              <a:t>Se explicó cómo crear y asignar un área de almacenamiento para el usuario.</a:t>
            </a:r>
          </a:p>
          <a:p>
            <a:pPr marL="393700" indent="-342900" algn="just">
              <a:buFont typeface="Arial" panose="020B0604020202020204" pitchFamily="34" charset="0"/>
              <a:buChar char="•"/>
            </a:pPr>
            <a:r>
              <a:rPr lang="es-MX" sz="2200" dirty="0"/>
              <a:t>Se explicó cómo crear un perfil para controlar el uso de recursos y gestionar la cuenta del usuario.</a:t>
            </a:r>
          </a:p>
          <a:p>
            <a:pPr marL="393700" indent="-342900" algn="just">
              <a:buFont typeface="Arial" panose="020B0604020202020204" pitchFamily="34" charset="0"/>
              <a:buChar char="•"/>
            </a:pPr>
            <a:r>
              <a:rPr lang="es-MX" sz="2200" dirty="0"/>
              <a:t>Se explicó cómo mantener las cuentas de usuarios.</a:t>
            </a:r>
            <a:endParaRPr lang="es-CL" sz="2200" dirty="0"/>
          </a:p>
        </p:txBody>
      </p:sp>
    </p:spTree>
    <p:extLst>
      <p:ext uri="{BB962C8B-B14F-4D97-AF65-F5344CB8AC3E}">
        <p14:creationId xmlns:p14="http://schemas.microsoft.com/office/powerpoint/2010/main" val="540675517"/>
      </p:ext>
    </p:extLst>
  </p:cSld>
  <p:clrMapOvr>
    <a:masterClrMapping/>
  </p:clrMapOvr>
</p:sld>
</file>

<file path=ppt/theme/theme1.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Autofit/>
      </a:bodyPr>
      <a:lstStyle>
        <a:defPPr algn="l">
          <a:defRPr sz="24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5344</TotalTime>
  <Words>4511</Words>
  <Application>Microsoft Office PowerPoint</Application>
  <PresentationFormat>Presentación en pantalla (4:3)</PresentationFormat>
  <Paragraphs>451</Paragraphs>
  <Slides>25</Slides>
  <Notes>23</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25</vt:i4>
      </vt:variant>
    </vt:vector>
  </HeadingPairs>
  <TitlesOfParts>
    <vt:vector size="37" baseType="lpstr">
      <vt:lpstr>Franklin Gothic</vt:lpstr>
      <vt:lpstr>Calibri</vt:lpstr>
      <vt:lpstr>Courier New</vt:lpstr>
      <vt:lpstr>Roboto Condensed</vt:lpstr>
      <vt:lpstr>Times New Roman</vt:lpstr>
      <vt:lpstr>Roboto</vt:lpstr>
      <vt:lpstr>Arial Unicode MS</vt:lpstr>
      <vt:lpstr>Roboto Mono</vt:lpstr>
      <vt:lpstr>Arial</vt:lpstr>
      <vt:lpstr>Bebas Neue</vt:lpstr>
      <vt:lpstr>ＭＳ Ｐゴシック</vt:lpstr>
      <vt:lpstr>Tema de Office</vt:lpstr>
      <vt:lpstr>Creación y Gestión de Cuentas de Usuarios  de Base de Datos</vt:lpstr>
      <vt:lpstr>Experiencia de Aprendizaje y Competencia Asociada</vt:lpstr>
      <vt:lpstr>Objetivos de la Clase</vt:lpstr>
      <vt:lpstr>Acceso de los Usuarios a la Base de Datos</vt:lpstr>
      <vt:lpstr>Acceso a la Base de Datos a nivel de Sistema</vt:lpstr>
      <vt:lpstr>Tipos de Usuarios de una Base de Datos</vt:lpstr>
      <vt:lpstr>Cuentas de Usuarios de Base de Datos</vt:lpstr>
      <vt:lpstr>Cuentas de Usuarios de Base de Datos</vt:lpstr>
      <vt:lpstr>Esquema del Usuario</vt:lpstr>
      <vt:lpstr>Creación de Cuentas de Usuarios de Base de Datos</vt:lpstr>
      <vt:lpstr>Creando una Cuenta de Usuario</vt:lpstr>
      <vt:lpstr>Creando una Cuenta de Usuario</vt:lpstr>
      <vt:lpstr>Área de Almacenamiento para el Usuario </vt:lpstr>
      <vt:lpstr>Creando un Área de Almacenamiento</vt:lpstr>
      <vt:lpstr>Creando un Área de Almacenamiento</vt:lpstr>
      <vt:lpstr>Perfil de Usuario</vt:lpstr>
      <vt:lpstr>Creando un Perfil de  Usuario</vt:lpstr>
      <vt:lpstr>Creando un Perfil de  Usuario</vt:lpstr>
      <vt:lpstr>Mantención de las Cuentas de Usuario de Base de Datos</vt:lpstr>
      <vt:lpstr>Modificando Cuentas de Usuarios</vt:lpstr>
      <vt:lpstr>Modificando Cuentas de Usuarios</vt:lpstr>
      <vt:lpstr>Modificando Perfiles de Usuarios</vt:lpstr>
      <vt:lpstr>Eliminando Cuentas de Usuarios</vt:lpstr>
      <vt:lpstr>Eliminando Cuentas de Usuarios</vt:lpstr>
      <vt:lpstr>Resumen de la Clase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GESTIÓN DE REQUISITOS</dc:title>
  <dc:creator>Alejandra Gajardo</dc:creator>
  <cp:lastModifiedBy>Usuario de Windows</cp:lastModifiedBy>
  <cp:revision>646</cp:revision>
  <dcterms:modified xsi:type="dcterms:W3CDTF">2020-06-24T16:26:58Z</dcterms:modified>
</cp:coreProperties>
</file>