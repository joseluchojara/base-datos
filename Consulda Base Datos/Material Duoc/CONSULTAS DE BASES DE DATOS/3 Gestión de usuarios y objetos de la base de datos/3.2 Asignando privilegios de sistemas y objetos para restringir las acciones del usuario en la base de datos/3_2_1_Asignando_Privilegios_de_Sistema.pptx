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8"/>
  </p:notesMasterIdLst>
  <p:sldIdLst>
    <p:sldId id="367" r:id="rId2"/>
    <p:sldId id="339" r:id="rId3"/>
    <p:sldId id="369" r:id="rId4"/>
    <p:sldId id="258" r:id="rId5"/>
    <p:sldId id="386" r:id="rId6"/>
    <p:sldId id="405" r:id="rId7"/>
    <p:sldId id="413" r:id="rId8"/>
    <p:sldId id="315" r:id="rId9"/>
    <p:sldId id="268" r:id="rId10"/>
    <p:sldId id="407" r:id="rId11"/>
    <p:sldId id="279" r:id="rId12"/>
    <p:sldId id="392" r:id="rId13"/>
    <p:sldId id="408" r:id="rId14"/>
    <p:sldId id="393" r:id="rId15"/>
    <p:sldId id="394" r:id="rId16"/>
    <p:sldId id="409" r:id="rId17"/>
    <p:sldId id="395" r:id="rId18"/>
    <p:sldId id="269" r:id="rId19"/>
    <p:sldId id="304" r:id="rId20"/>
    <p:sldId id="400" r:id="rId21"/>
    <p:sldId id="410" r:id="rId22"/>
    <p:sldId id="411" r:id="rId23"/>
    <p:sldId id="412" r:id="rId24"/>
    <p:sldId id="401" r:id="rId25"/>
    <p:sldId id="402" r:id="rId26"/>
    <p:sldId id="314" r:id="rId27"/>
  </p:sldIdLst>
  <p:sldSz cx="9144000" cy="6858000" type="screen4x3"/>
  <p:notesSz cx="6858000" cy="9144000"/>
  <p:embeddedFontLst>
    <p:embeddedFont>
      <p:font typeface="Franklin Gothic" panose="020B0604020202020204" charset="0"/>
      <p:regular r:id="rId29"/>
      <p:bold r:id="rId30"/>
      <p:italic r:id="rId31"/>
      <p:boldItalic r:id="rId32"/>
    </p:embeddedFont>
    <p:embeddedFont>
      <p:font typeface="Calibri" panose="020F0502020204030204" pitchFamily="34" charset="0"/>
      <p:regular r:id="rId33"/>
      <p:bold r:id="rId34"/>
      <p:italic r:id="rId35"/>
      <p:boldItalic r:id="rId36"/>
    </p:embeddedFont>
    <p:embeddedFont>
      <p:font typeface="Roboto Condensed" panose="020B0604020202020204" charset="0"/>
      <p:regular r:id="rId37"/>
      <p:bold r:id="rId38"/>
      <p:italic r:id="rId39"/>
      <p:boldItalic r:id="rId40"/>
    </p:embeddedFont>
    <p:embeddedFont>
      <p:font typeface="Arial Unicode MS" panose="020B0604020202020204" pitchFamily="34" charset="-128"/>
      <p:regular r:id="rId41"/>
    </p:embeddedFont>
    <p:embeddedFont>
      <p:font typeface="Roboto Mono" panose="020B0604020202020204" charset="0"/>
      <p:regular r:id="rId42"/>
      <p:bold r:id="rId43"/>
      <p:italic r:id="rId44"/>
      <p:boldItalic r:id="rId45"/>
    </p:embeddedFont>
    <p:embeddedFont>
      <p:font typeface="Bebas Neue" panose="020B0604020202020204" charset="0"/>
      <p:regular r:id="rId46"/>
    </p:embeddedFont>
    <p:embeddedFont>
      <p:font typeface="ＭＳ Ｐゴシック" panose="020B0600070205080204" pitchFamily="34" charset="-128"/>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3302" autoAdjust="0"/>
  </p:normalViewPr>
  <p:slideViewPr>
    <p:cSldViewPr snapToGrid="0" snapToObjects="1">
      <p:cViewPr varScale="1">
        <p:scale>
          <a:sx n="39" d="100"/>
          <a:sy n="39" d="100"/>
        </p:scale>
        <p:origin x="141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t>Seguridad del acceso y uso de la Base de Datos</a:t>
            </a:r>
            <a:endParaRPr lang="es-CL" sz="1200" b="1" i="0" u="none" strike="noStrike" cap="none" baseline="0" dirty="0">
              <a:solidFill>
                <a:srgbClr val="000000"/>
              </a:solidFill>
              <a:latin typeface="Arial"/>
              <a:cs typeface="Arial"/>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0" i="0" u="none" strike="noStrike" cap="none" dirty="0">
                <a:solidFill>
                  <a:srgbClr val="10253F"/>
                </a:solidFill>
                <a:latin typeface="Arial"/>
                <a:ea typeface="ＭＳ Ｐゴシック" pitchFamily="34" charset="-128"/>
                <a:cs typeface="Arial" pitchFamily="34" charset="0"/>
                <a:sym typeface="Arial"/>
              </a:rPr>
              <a:t>La Seguridad es una de las tareas importantes que tiene un DBA y esta se realiza siguiendo una serie de estándares que incluyen estándares legales y de negocio.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0" i="0" u="none" strike="noStrike" cap="none" dirty="0">
                <a:solidFill>
                  <a:srgbClr val="10253F"/>
                </a:solidFill>
                <a:latin typeface="Arial"/>
                <a:ea typeface="ＭＳ Ｐゴシック" pitchFamily="34" charset="-128"/>
                <a:cs typeface="Arial" pitchFamily="34" charset="0"/>
                <a:sym typeface="Arial"/>
              </a:rPr>
              <a:t>La seguridad de los datos es uno de los aspectos que todo negocio debe de reconocer como algo importante; además, se deben desarrollar políticas acordes que les permitan proteger los datos de forma adecuada. Una de las formas de proteger los datos es por medio de privilegios que se conceden a los usuarios y que en el momento que el usuario realiza una conexión con la base de datos, estos privilegios concedidos se van a habilitar para permitirle realizar aquellas acciones que el usuario requiera. Además, constantemente el DBA debe verificar </a:t>
            </a:r>
            <a:r>
              <a:rPr lang="es-CL" sz="1100" b="0" i="0" u="none" strike="noStrike" cap="none" dirty="0">
                <a:solidFill>
                  <a:srgbClr val="10253F"/>
                </a:solidFill>
                <a:latin typeface="Arial"/>
                <a:ea typeface="ＭＳ Ｐゴシック" pitchFamily="34" charset="-128"/>
                <a:cs typeface="Arial" pitchFamily="34" charset="0"/>
                <a:sym typeface="Arial"/>
              </a:rPr>
              <a:t>los privilegios otorgados y recibidos consultando</a:t>
            </a:r>
            <a:r>
              <a:rPr lang="es-CL" sz="1100" b="0" i="0" u="none" strike="noStrike" cap="none" baseline="0" dirty="0">
                <a:solidFill>
                  <a:srgbClr val="10253F"/>
                </a:solidFill>
                <a:latin typeface="Arial"/>
                <a:ea typeface="ＭＳ Ｐゴシック" pitchFamily="34" charset="-128"/>
                <a:cs typeface="Arial" pitchFamily="34" charset="0"/>
                <a:sym typeface="Arial"/>
              </a:rPr>
              <a:t> el </a:t>
            </a:r>
            <a:r>
              <a:rPr lang="es-CL" sz="1100" b="0" i="0" u="none" strike="noStrike" cap="none" dirty="0">
                <a:solidFill>
                  <a:srgbClr val="10253F"/>
                </a:solidFill>
                <a:latin typeface="Arial"/>
                <a:ea typeface="ＭＳ Ｐゴシック" pitchFamily="34" charset="-128"/>
                <a:cs typeface="Arial" pitchFamily="34" charset="0"/>
                <a:sym typeface="Arial"/>
              </a:rPr>
              <a:t>diccionario de datos de la base de datos. Por lo general, el DBA utiliza las cuentas SYS, SYSTEM  ADMIN (Oracle Cloud) para llevar a cabo las tareas de seguridad del acceso y uso de la base de datos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MX" sz="1100" b="0" i="0" u="none" strike="noStrike" cap="none" dirty="0">
              <a:solidFill>
                <a:srgbClr val="10253F"/>
              </a:solidFill>
              <a:latin typeface="Arial"/>
              <a:ea typeface="ＭＳ Ｐゴシック" pitchFamily="34" charset="-128"/>
              <a:cs typeface="Arial" pitchFamily="34" charset="0"/>
              <a:sym typeface="Arial"/>
            </a:endParaRPr>
          </a:p>
        </p:txBody>
      </p:sp>
    </p:spTree>
    <p:extLst>
      <p:ext uri="{BB962C8B-B14F-4D97-AF65-F5344CB8AC3E}">
        <p14:creationId xmlns:p14="http://schemas.microsoft.com/office/powerpoint/2010/main" val="2955871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t>Seguridad de la Base de Datos</a:t>
            </a:r>
            <a:endParaRPr lang="es-CL" sz="1200" b="1" i="0" u="none" strike="noStrike" cap="none" baseline="0" dirty="0">
              <a:solidFill>
                <a:srgbClr val="000000"/>
              </a:solidFill>
              <a:latin typeface="Arial"/>
              <a:cs typeface="Arial"/>
              <a:sym typeface="Arial"/>
            </a:endParaRPr>
          </a:p>
          <a:p>
            <a:pPr marL="0" indent="0" eaLnBrk="1" hangingPunct="1">
              <a:lnSpc>
                <a:spcPct val="90000"/>
              </a:lnSpc>
              <a:spcBef>
                <a:spcPct val="0"/>
              </a:spcBef>
              <a:buFont typeface="Arial" panose="020B0604020202020204" pitchFamily="34" charset="0"/>
              <a:buNone/>
            </a:pPr>
            <a:r>
              <a:rPr lang="es-CL" sz="1100" b="0" i="0" u="none" strike="noStrike" cap="none" dirty="0">
                <a:solidFill>
                  <a:srgbClr val="10253F"/>
                </a:solidFill>
                <a:latin typeface="Arial"/>
                <a:ea typeface="ＭＳ Ｐゴシック" pitchFamily="34" charset="-128"/>
                <a:cs typeface="Arial" pitchFamily="34" charset="0"/>
                <a:sym typeface="Arial"/>
              </a:rPr>
              <a:t>La seguridad de la base de datos se puede clasificar en dos categorías: </a:t>
            </a:r>
          </a:p>
          <a:p>
            <a:pPr marL="171450" indent="-171450" eaLnBrk="1" hangingPunct="1">
              <a:lnSpc>
                <a:spcPct val="90000"/>
              </a:lnSpc>
              <a:spcBef>
                <a:spcPct val="0"/>
              </a:spcBef>
              <a:buFont typeface="Arial" panose="020B0604020202020204" pitchFamily="34" charset="0"/>
              <a:buChar char="•"/>
            </a:pPr>
            <a:r>
              <a:rPr lang="es-CL" sz="1100" b="0" i="0" u="none" strike="noStrike" cap="none" dirty="0">
                <a:solidFill>
                  <a:srgbClr val="10253F"/>
                </a:solidFill>
                <a:latin typeface="Arial"/>
                <a:ea typeface="ＭＳ Ｐゴシック" pitchFamily="34" charset="-128"/>
                <a:cs typeface="Arial" pitchFamily="34" charset="0"/>
                <a:sym typeface="Arial"/>
              </a:rPr>
              <a:t>Seguridad del sistema.</a:t>
            </a:r>
          </a:p>
          <a:p>
            <a:pPr marL="171450" indent="-171450" eaLnBrk="1" hangingPunct="1">
              <a:lnSpc>
                <a:spcPct val="90000"/>
              </a:lnSpc>
              <a:spcBef>
                <a:spcPct val="0"/>
              </a:spcBef>
              <a:buFont typeface="Arial" panose="020B0604020202020204" pitchFamily="34" charset="0"/>
              <a:buChar char="•"/>
            </a:pPr>
            <a:r>
              <a:rPr lang="es-CL" sz="1100" b="0" i="0" u="none" strike="noStrike" cap="none" dirty="0">
                <a:solidFill>
                  <a:srgbClr val="10253F"/>
                </a:solidFill>
                <a:latin typeface="Arial"/>
                <a:ea typeface="ＭＳ Ｐゴシック" pitchFamily="34" charset="-128"/>
                <a:cs typeface="Arial" pitchFamily="34" charset="0"/>
                <a:sym typeface="Arial"/>
              </a:rPr>
              <a:t>Seguridad de datos. </a:t>
            </a:r>
          </a:p>
          <a:p>
            <a:pPr marL="0" indent="0" eaLnBrk="1" hangingPunct="1">
              <a:lnSpc>
                <a:spcPct val="90000"/>
              </a:lnSpc>
              <a:spcBef>
                <a:spcPct val="0"/>
              </a:spcBef>
              <a:buFont typeface="Arial" panose="020B0604020202020204" pitchFamily="34" charset="0"/>
              <a:buNone/>
            </a:pPr>
            <a:r>
              <a:rPr lang="es-CL" sz="1100" b="0" i="0" u="none" strike="noStrike" cap="none" dirty="0">
                <a:solidFill>
                  <a:srgbClr val="10253F"/>
                </a:solidFill>
                <a:latin typeface="Arial"/>
                <a:ea typeface="ＭＳ Ｐゴシック" pitchFamily="34" charset="-128"/>
                <a:cs typeface="Arial" pitchFamily="34" charset="0"/>
                <a:sym typeface="Arial"/>
              </a:rPr>
              <a:t>La seguridad del sistema cubre el acceso y el uso de la base de datos a nivel del sistema, como el nombre de usuario y la contraseña, el espacio en disco asignado a los usuarios y las operaciones del sistema que los usuarios pueden realizar. La seguridad de la base de datos cubre el acceso y el uso de los objetos de la base de datos y las acciones que esos usuarios pueden realizar en los objetos.</a:t>
            </a:r>
          </a:p>
          <a:p>
            <a:pPr marL="0" indent="0" eaLnBrk="1" hangingPunct="1">
              <a:lnSpc>
                <a:spcPct val="90000"/>
              </a:lnSpc>
              <a:spcBef>
                <a:spcPct val="0"/>
              </a:spcBef>
              <a:buFont typeface="Arial" panose="020B0604020202020204" pitchFamily="34" charset="0"/>
              <a:buNone/>
            </a:pPr>
            <a:endParaRPr lang="es-CL" sz="1100" b="0" i="0" u="none" strike="noStrike" cap="none" dirty="0">
              <a:solidFill>
                <a:srgbClr val="10253F"/>
              </a:solidFill>
              <a:latin typeface="Arial"/>
              <a:ea typeface="ＭＳ Ｐゴシック" pitchFamily="34" charset="-128"/>
              <a:cs typeface="Arial"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10253F"/>
              </a:solidFill>
              <a:latin typeface="Arial"/>
              <a:ea typeface="ＭＳ Ｐゴシック" pitchFamily="34" charset="-128"/>
              <a:cs typeface="Arial"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10253F"/>
              </a:solidFill>
              <a:latin typeface="Arial"/>
              <a:ea typeface="ＭＳ Ｐゴシック" pitchFamily="34" charset="-128"/>
              <a:cs typeface="Arial" pitchFamily="34" charset="0"/>
              <a:sym typeface="Arial"/>
            </a:endParaRPr>
          </a:p>
          <a:p>
            <a:pPr marL="0" indent="0" eaLnBrk="1" hangingPunct="1">
              <a:lnSpc>
                <a:spcPct val="90000"/>
              </a:lnSpc>
              <a:spcBef>
                <a:spcPct val="0"/>
              </a:spcBef>
              <a:buFont typeface="Arial" panose="020B0604020202020204" pitchFamily="34" charset="0"/>
              <a:buNone/>
            </a:pPr>
            <a:endParaRPr lang="es-CL"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115321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Privilegios</a:t>
            </a:r>
            <a:endParaRPr lang="es-CL" sz="1200" b="1" i="0" u="none" strike="noStrike" kern="0" cap="none" baseline="0" dirty="0">
              <a:solidFill>
                <a:srgbClr val="000000"/>
              </a:solidFill>
              <a:effectLst/>
              <a:latin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 privilegio es el derecho a ejecutar sentencia SQL particulares o a acceder a objetos existentes en la base de datos. El administrador de la base de datos (DBA) es un usuario de alto nivel que puede crear usuarios y otorgarles acceso a la base de datos y sus objetos. Los usuarios requieren privilegios del sistema para realizar acciones en la base de datos y privilegios de objetos para manipular el contenido de los objetos en la base de datos. A los usuarios también se les puede otorgar el privilegio de otorgar privilegios adicionales a otros usuarios o roles, que se denominan grupos de privilegios relacionados.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Cada vez que se deben otorgar privilegios a los usuarios, siempre se debe s</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seguir el principio del menor privilegio que indica que los usuarios deben recibir la menor cantidad de privilegios para realizar sus trabajos.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Los privilegios de usuarios deben ser revisados con regularidad para determinar la relevancia con las responsabilidades actuales de los puestos.</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Al hablar de privilegios surgen inmediatamente los conceptos de usuario y esquema de base de datos. Un usuario se puede definir como conjunto de permisos que se aplican a una conexión de base de datos. Un esquema es un conjunto de objetos como tablas, vistas, programas, secuencias, etc. El esquema es propiedad de un usuario de la base de datos y tiene el mismo nombre que ese usuario.</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0" i="0" u="none" strike="noStrike" cap="none" dirty="0">
                <a:solidFill>
                  <a:srgbClr val="000000"/>
                </a:solidFill>
                <a:effectLst/>
                <a:latin typeface="Arial"/>
                <a:ea typeface="Arial"/>
                <a:cs typeface="Arial"/>
                <a:sym typeface="Arial"/>
              </a:rPr>
              <a:t>Los privilegios de usuario deben ser revisados periódicamente para determinar la relevancia de las responsabilidades de trabajo actuales y determinar que privilegios están siendo realmente utilizados por un usuario. Los mecanismos de control de privilegios de los roles de trabajo han de ser bien definidos o mantenidos. Esta revisión periódica se da porque las organizaciones constantemente están cambiando, el recurso humano también, nuevas personas son contratadas, otras dejan la organización y otro grupo cambia de puesto y a su vez de responsabilidades.</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indent="0" eaLnBrk="1" hangingPunct="1">
              <a:lnSpc>
                <a:spcPct val="90000"/>
              </a:lnSpc>
              <a:spcBef>
                <a:spcPct val="0"/>
              </a:spcBef>
              <a:buFont typeface="Arial" panose="020B0604020202020204" pitchFamily="34" charset="0"/>
              <a:buNone/>
            </a:pPr>
            <a:endParaRPr lang="es-CL" sz="1100" b="0" i="0" u="none" strike="noStrike" cap="none" dirty="0">
              <a:solidFill>
                <a:srgbClr val="10253F"/>
              </a:solidFill>
              <a:latin typeface="Arial"/>
              <a:ea typeface="ＭＳ Ｐゴシック" pitchFamily="34" charset="-128"/>
              <a:cs typeface="Arial"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10253F"/>
              </a:solidFill>
              <a:latin typeface="Arial"/>
              <a:ea typeface="ＭＳ Ｐゴシック" pitchFamily="34" charset="-128"/>
              <a:cs typeface="Arial"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10253F"/>
              </a:solidFill>
              <a:latin typeface="Arial"/>
              <a:ea typeface="ＭＳ Ｐゴシック" pitchFamily="34" charset="-128"/>
              <a:cs typeface="Arial" pitchFamily="34" charset="0"/>
              <a:sym typeface="Arial"/>
            </a:endParaRPr>
          </a:p>
          <a:p>
            <a:pPr marL="0" indent="0" eaLnBrk="1" hangingPunct="1">
              <a:lnSpc>
                <a:spcPct val="90000"/>
              </a:lnSpc>
              <a:spcBef>
                <a:spcPct val="0"/>
              </a:spcBef>
              <a:buFont typeface="Arial" panose="020B0604020202020204" pitchFamily="34" charset="0"/>
              <a:buNone/>
            </a:pPr>
            <a:endParaRPr lang="es-CL"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415386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Privilegios de Base de Datos</a:t>
            </a:r>
          </a:p>
          <a:p>
            <a:pPr marL="0" marR="0" lvl="0" indent="0" algn="just" defTabSz="914400" rtl="0" eaLnBrk="1" fontAlgn="base" latinLnBrk="0" hangingPunct="1">
              <a:lnSpc>
                <a:spcPct val="90000"/>
              </a:lnSpc>
              <a:spcBef>
                <a:spcPct val="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Los privilegios de una base de datos tiene como objetivo poder controlar la  seguridad del sistema, de los objetos y los datos de la base de datos.</a:t>
            </a:r>
          </a:p>
          <a:p>
            <a:pPr marL="0" marR="0" lvl="0" indent="0" algn="just" defTabSz="914400" rtl="0" eaLnBrk="1" fontAlgn="base" latinLnBrk="0" hangingPunct="1">
              <a:lnSpc>
                <a:spcPct val="90000"/>
              </a:lnSpc>
              <a:spcBef>
                <a:spcPct val="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Un privilegio del sistema es el derecho de realizar una acción particular o de realizar una acción sobre cualquier objeto del propio esquema del usuario o de otro. Un privilegio de objeto proporciona al usuario la capacidad de realizar una acción particular en un objeto de esquema específico.</a:t>
            </a:r>
          </a:p>
          <a:p>
            <a:pPr marL="0" marR="0" lvl="0" indent="0" algn="just" defTabSz="914400" rtl="0" eaLnBrk="1" fontAlgn="base" latinLnBrk="0" hangingPunct="1">
              <a:lnSpc>
                <a:spcPct val="90000"/>
              </a:lnSpc>
              <a:spcBef>
                <a:spcPct val="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Por motivos de seguridad, es importante asignar sólo los privilegios que requiere el usuario. Además, se debe considerar que solo el DBA y los usuarios que tengan privilegios para otorgarlos, pueden asignar permisos a otros usuarios.  El DBA por lo general usa las cuentas SYS, SYSTEM o ADMIN (Oracle Cloud) para realizar estas tareas.</a:t>
            </a:r>
          </a:p>
          <a:p>
            <a:pPr marL="0" marR="0" lvl="0" indent="0" algn="just" defTabSz="914400" rtl="0" eaLnBrk="1" fontAlgn="base" latinLnBrk="0" hangingPunct="1">
              <a:lnSpc>
                <a:spcPct val="90000"/>
              </a:lnSpc>
              <a:spcBef>
                <a:spcPct val="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No se debe olvidar que las cuentas de usuario con demasiados privilegios constituyen un riesgo innecesario en cuanto a las acciones que pueda realizar en la base de datos.</a:t>
            </a:r>
            <a:endParaRPr lang="es-CL" sz="1100" b="0" i="0" u="none" strike="noStrike" cap="none" dirty="0">
              <a:solidFill>
                <a:srgbClr val="000000"/>
              </a:solidFill>
              <a:latin typeface="Arial"/>
              <a:ea typeface="Arial"/>
              <a:cs typeface="Arial"/>
              <a:sym typeface="Arial"/>
            </a:endParaRPr>
          </a:p>
          <a:p>
            <a:pPr marL="0" marR="0" lvl="0" indent="0" algn="just"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4133068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207011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Privilegios de Sistema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Los privilegios de sistema no se asignan sobre objetos concretos, sino que especifican que acciones se podrán realizar en la base de datos. Existen más de 100 privilegios de sistema distintos disponibles para usuarios y roles. Normalmente, los privilegios del sistema son proporcionados por el DBA (Administrador de Base de Datos).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 DBA puede usar el usuario SYS para efectuar sus labores o bien se crea un usuario en particular con todos los privilegios necesarios para poder efectuar las tareas de administración de la base de datos. El administrador de la base de datos tiene privilegios de sistema de alto nivel para tareas como: crear nuevos usuarios, eliminar usuarios, eliminar las tablas, realizar respaldos de la base de datos (tablas, esquemas, de toda la base de datos, etc.).</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La cláusula ANY en los privilegios significa que los usuarios a los que se les otorgue esos privilegios son para cualquier esquema</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kern="0" cap="none" baseline="0" dirty="0">
              <a:solidFill>
                <a:srgbClr val="000000"/>
              </a:solidFill>
              <a:effectLst/>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884678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Privilegios de Sistema</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Arial"/>
                <a:ea typeface="Arial"/>
                <a:cs typeface="Arial"/>
                <a:sym typeface="Arial"/>
              </a:rPr>
              <a:t>Después de crear un usuario, el DBA puede otorgar privilegios específicos del sistema a ese usuario. Algunos de los privilegios de sistema son:</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SESSION: para conectarse a la base de datos. Es el privilegio mínimo para cualquier usuario.</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TABLE : crear tablas en el esquema del usuario</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VIEW: crear vistas en el esquema del usuario</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SYNONYM: crear sinónimos</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SEQUENCE: crear secuencias en el esquema del usuario</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CREATE USER: crear usuarios</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DROP ANY TABLE: eliminar tablas en cualquier esquema</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SELECT ANY TABLE: leer datos de las tablas en cualquier esquema</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INSERT ANY TABLE: insertar datos en tablas en cualquier esquema</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UPDATE ANY TABLE: actualizar datos en tablas en cualquier esquema</a:t>
            </a:r>
          </a:p>
          <a:p>
            <a:pPr marL="171450" indent="-171450">
              <a:buFont typeface="Arial" panose="020B0604020202020204" pitchFamily="34" charset="0"/>
              <a:buChar char="•"/>
            </a:pPr>
            <a:r>
              <a:rPr lang="es-CL" sz="1200" b="0" i="0" u="none" strike="noStrike" kern="1200" cap="none" dirty="0">
                <a:solidFill>
                  <a:schemeClr val="tx1"/>
                </a:solidFill>
                <a:effectLst/>
                <a:latin typeface="Arial"/>
                <a:ea typeface="Arial"/>
                <a:cs typeface="Arial"/>
                <a:sym typeface="Arial"/>
              </a:rPr>
              <a:t>DELETE ANY TABLE: eliminar filas en tablas en cualquier esquema</a:t>
            </a:r>
          </a:p>
          <a:p>
            <a:pPr marL="0" marR="0" lvl="0" indent="0" algn="just"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947518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lang="es-CL" sz="1200" b="1" dirty="0">
                <a:solidFill>
                  <a:prstClr val="white"/>
                </a:solidFill>
                <a:latin typeface="Calibri"/>
              </a:rPr>
              <a:t>Otorgando Privilegios de Sistema</a:t>
            </a:r>
            <a:endParaRPr lang="es-CL" sz="1200" b="0" dirty="0">
              <a:solidFill>
                <a:prstClr val="white"/>
              </a:solidFill>
              <a:latin typeface="Calibri"/>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En la sintaxis:</a:t>
            </a:r>
          </a:p>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err="1">
                <a:ln>
                  <a:noFill/>
                </a:ln>
                <a:solidFill>
                  <a:prstClr val="black"/>
                </a:solidFill>
                <a:effectLst/>
                <a:uLnTx/>
                <a:uFillTx/>
                <a:latin typeface="Calibri"/>
                <a:ea typeface="+mn-ea"/>
                <a:cs typeface="Arial" charset="0"/>
              </a:rPr>
              <a:t>privilegio_sistema</a:t>
            </a:r>
            <a:r>
              <a:rPr kumimoji="0" lang="es-MX" sz="1200" b="1" i="1" u="none" strike="noStrike" kern="1200" cap="none" spc="0" normalizeH="0" baseline="0" noProof="0" dirty="0">
                <a:ln>
                  <a:noFill/>
                </a:ln>
                <a:solidFill>
                  <a:prstClr val="black"/>
                </a:solidFill>
                <a:effectLst/>
                <a:uLnTx/>
                <a:uFillTx/>
                <a:latin typeface="Calibri"/>
                <a:ea typeface="+mn-ea"/>
                <a:cs typeface="Arial" charset="0"/>
              </a:rPr>
              <a:t>:</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privilegio de sistema que se desea otorgar.</a:t>
            </a:r>
          </a:p>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a:ln>
                  <a:noFill/>
                </a:ln>
                <a:solidFill>
                  <a:prstClr val="black"/>
                </a:solidFill>
                <a:effectLst/>
                <a:uLnTx/>
                <a:uFillTx/>
                <a:latin typeface="Calibri"/>
                <a:ea typeface="+mn-ea"/>
                <a:cs typeface="Arial" charset="0"/>
              </a:rPr>
              <a:t>usuario</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es el usuario al que se le asigna el o los privilegios de sistema.</a:t>
            </a:r>
          </a:p>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a:ln>
                  <a:noFill/>
                </a:ln>
                <a:solidFill>
                  <a:prstClr val="black"/>
                </a:solidFill>
                <a:effectLst/>
                <a:uLnTx/>
                <a:uFillTx/>
                <a:latin typeface="Calibri"/>
                <a:ea typeface="+mn-ea"/>
                <a:cs typeface="Arial" charset="0"/>
              </a:rPr>
              <a:t>rol</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es el rol al que le asigna el o los privilegios de sistema.</a:t>
            </a:r>
          </a:p>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En el primer ejemplo, se asume que el usuario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desarrollo_personal</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ya fue creado por el DBA y ahora le está otorgando los privilegios de sistema para crear vistas, secuencias y vistas materializadas. La vista materializada es un objeto basado en una sentencias SELECT simple o compleja y que físicamente los datos resultantes quedan almacenados físicamente en la tabla que genera la vista materializada (ambos objetos tienen el mismo nombre). La vista materializada permite que los datos almacenados en su tabla sean actualizados de acuerdo a lo que se defina.</a:t>
            </a:r>
          </a:p>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En el segundo ejemplo, también se asume que el usuario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desarrollo_finanza</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ya fue creado por el DBA y ahora le está otorgando los privilegios de sistema para crear tablas, tipos de índices, procedimientos almacenados,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trigger</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y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database</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link. Los procedimientos almacenados y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triggers</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son programas PL/SQL que se almacenan en la base de datos. El </a:t>
            </a:r>
            <a:r>
              <a:rPr kumimoji="0" lang="es-MX" sz="1200" b="0" i="0" u="none" strike="noStrike" kern="1200" cap="none" spc="0" normalizeH="0" baseline="0" noProof="0" dirty="0" err="1">
                <a:ln>
                  <a:noFill/>
                </a:ln>
                <a:solidFill>
                  <a:prstClr val="black"/>
                </a:solidFill>
                <a:effectLst/>
                <a:uLnTx/>
                <a:uFillTx/>
                <a:latin typeface="Calibri"/>
                <a:ea typeface="+mn-ea"/>
                <a:cs typeface="Arial" charset="0"/>
              </a:rPr>
              <a:t>database</a:t>
            </a: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 link es un objeto que permite poder conectarse a una base de datos remota.</a:t>
            </a:r>
          </a:p>
          <a:p>
            <a:pPr marL="0" marR="0" lvl="0" indent="0" algn="just"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797023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Privilegios de Objetos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srgbClr val="000000"/>
                </a:solidFill>
                <a:effectLst/>
                <a:latin typeface="Calibri" panose="020F0502020204030204" pitchFamily="34" charset="0"/>
                <a:ea typeface="Arial"/>
                <a:cs typeface="Calibri" panose="020F0502020204030204" pitchFamily="34" charset="0"/>
                <a:sym typeface="Arial"/>
              </a:rPr>
              <a:t>Este tipo de permiso le permite al usuario realizar ciertas acciones en objetos de la base de datos, como una tabla, vista o un programa, etc. Si a un usuario no se le asignan estos permisos, sólo puede acceder a sus propios objetos (ver vista USER_OBJECTS). Este tipo de permisos los da el </a:t>
            </a:r>
            <a:r>
              <a:rPr lang="es-MX" sz="1200" b="0" i="0" u="none" strike="noStrike" cap="none" dirty="0" err="1">
                <a:solidFill>
                  <a:srgbClr val="000000"/>
                </a:solidFill>
                <a:effectLst/>
                <a:latin typeface="Calibri" panose="020F0502020204030204" pitchFamily="34" charset="0"/>
                <a:ea typeface="Arial"/>
                <a:cs typeface="Calibri" panose="020F0502020204030204" pitchFamily="34" charset="0"/>
                <a:sym typeface="Arial"/>
              </a:rPr>
              <a:t>owner</a:t>
            </a:r>
            <a:r>
              <a:rPr lang="es-MX" sz="1200" b="0" i="0" u="none" strike="noStrike" cap="none" dirty="0">
                <a:solidFill>
                  <a:srgbClr val="000000"/>
                </a:solidFill>
                <a:effectLst/>
                <a:latin typeface="Calibri" panose="020F0502020204030204" pitchFamily="34" charset="0"/>
                <a:ea typeface="Arial"/>
                <a:cs typeface="Calibri" panose="020F0502020204030204" pitchFamily="34" charset="0"/>
                <a:sym typeface="Arial"/>
              </a:rPr>
              <a:t> o dueño del objeto, el administrador de la base de datos o alguien que haya recibido este permiso explícitamente con la opción WITH GRANT OPTION.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Los permisos sobre objetos más importantes son: SELECT, UPDATE, INSERT, DELETE, ALTER, DEBUG, EXECUTE, INDEX y REFERENCES.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Cada objeto tiene un conjunto particular de privilegios que se pueden otorgar. Para los objetos más usados son los siguientes: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Table: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SELECT, READ (permite realizar SELECT a una tabla pero son la posibilidad de bloquear las filas, SELECT FOR UPDATE), INSERT UPDATE, DELETE, ALTER, DEBUG FLASHBACK, ON COMMIT REFRESH, QUERY REWRITE, REFERENCES, ALL</a:t>
            </a:r>
          </a:p>
          <a:p>
            <a:pPr marL="17145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View:</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SELECT, INSERT, UPDATE, DELETE, UNDER, REFERENCES, FLASHBACK, DEBUG</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Sequence</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ALTER, SELECT</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Packages</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Procedures</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Functions</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(Clases Javas, otros programas):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EXECUTE, DEBUG</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Materialized</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View:</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DELETE, FLASHBACK, INSERT, SELECT, UPDATE</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Directory</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READ, WRITE</a:t>
            </a:r>
          </a:p>
          <a:p>
            <a:pPr marL="17145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Library:</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EXECUTE</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Types</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EXECUTE, DEBUG, UNDER</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Operator</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EXECUTE</a:t>
            </a:r>
          </a:p>
          <a:p>
            <a:pPr marL="17145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Indextypes</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EXECUTE</a:t>
            </a:r>
            <a:endPar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Con el privilegio REFERENCES, un usuario puede crear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constraints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 Claves Foráneas (FOREIGN KEY) que hagan referencia a tablas de otro usuario.</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 privilegio otorgado a un sinónimo se convierte en un privilegio en la tabla base a la que hace referencia el sinónimo.</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5786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Otorgando Privilegios de Objetos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Existen diferentes privilegios de objeto disponibles para diferentes tipos de objetos de esquema. Un usuario tiene automáticamente todos los privilegios de objeto para los objetos contenidos en su esquema. Un usuario puede otorgar cualquier privilegio de objeto sobre cualquier objeto de su esquema a cualquier otro usuario o rol. Si la asignación del privilegio incluye la opción WITH GRANT OPTION, el usuario al que se le asignó el privilegio sobre el objeto también puede otorgar el privilegio de ese objeto a otros usuarios; de lo contrario, el usuario al que se le asignó el privilegio solo lo puede usar.</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la sintaxis:</a:t>
            </a:r>
          </a:p>
          <a:p>
            <a:pPr marL="171450" indent="-171450" algn="just" eaLnBrk="1" hangingPunct="1">
              <a:lnSpc>
                <a:spcPct val="90000"/>
              </a:lnSpc>
              <a:buFont typeface="Arial" panose="020B0604020202020204" pitchFamily="34" charset="0"/>
              <a:buChar char="•"/>
            </a:pPr>
            <a:r>
              <a:rPr lang="es-MX" sz="1200" b="1" i="1"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privilegio_objeto</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privilegio de objeto que se otorga.</a:t>
            </a:r>
          </a:p>
          <a:p>
            <a:pPr marL="171450" indent="-171450" algn="just" eaLnBrk="1" hangingPunct="1">
              <a:lnSpc>
                <a:spcPct val="90000"/>
              </a:lnSpc>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ALL:</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especifica todos los privilegios de objeto.</a:t>
            </a:r>
          </a:p>
          <a:p>
            <a:pPr marL="171450" indent="-171450" algn="just" eaLnBrk="1" hangingPunct="1">
              <a:lnSpc>
                <a:spcPct val="90000"/>
              </a:lnSpc>
              <a:buFont typeface="Arial" panose="020B0604020202020204" pitchFamily="34" charset="0"/>
              <a:buChar char="•"/>
            </a:pPr>
            <a:r>
              <a:rPr lang="es-CL"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columnas</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especifica la columna de una tabla o vista en la que se otorgan privilegios</a:t>
            </a:r>
          </a:p>
          <a:p>
            <a:pPr marL="171450" indent="-171450" algn="just" eaLnBrk="1" hangingPunct="1">
              <a:lnSpc>
                <a:spcPct val="90000"/>
              </a:lnSpc>
              <a:buFont typeface="Arial" panose="020B0604020202020204" pitchFamily="34" charset="0"/>
              <a:buChar char="•"/>
            </a:pPr>
            <a:r>
              <a:rPr lang="es-CL"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objeto</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es el objeto sobre el cual se otorgan los privilegios. </a:t>
            </a:r>
            <a:endParaRPr lang="es-CL" sz="1200" b="0"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171450" indent="-171450" algn="just" eaLnBrk="1" hangingPunct="1">
              <a:lnSpc>
                <a:spcPct val="90000"/>
              </a:lnSpc>
              <a:buFont typeface="Arial" panose="020B0604020202020204" pitchFamily="34" charset="0"/>
              <a:buChar char="•"/>
            </a:pPr>
            <a:r>
              <a:rPr lang="es-MX"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usuario</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usuario al que se le otorga el o los privilegios de objeto</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171450" indent="-171450" algn="just" eaLnBrk="1" hangingPunct="1">
              <a:lnSpc>
                <a:spcPct val="90000"/>
              </a:lnSpc>
              <a:buFont typeface="Arial" panose="020B0604020202020204" pitchFamily="34" charset="0"/>
              <a:buChar char="•"/>
            </a:pPr>
            <a:r>
              <a:rPr lang="es-MX"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rol</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 el rol al que le asigna el o los privilegios de objeto</a:t>
            </a:r>
          </a:p>
          <a:p>
            <a:pPr marL="171450" indent="-171450" algn="just" eaLnBrk="1" hangingPunct="1">
              <a:lnSpc>
                <a:spcPct val="90000"/>
              </a:lnSpc>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PUBLIC: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otorga privilegios de objeto a todos los usuarios</a:t>
            </a:r>
          </a:p>
          <a:p>
            <a:pPr marL="171450" indent="-171450" algn="just" eaLnBrk="1" hangingPunct="1">
              <a:lnSpc>
                <a:spcPct val="90000"/>
              </a:lnSpc>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WITH GRANT OPTION:</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permite que el usuario al que se le otorgó el privilegio de objeto lo pueda otorgar a otros usuarios y roles</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p:txBody>
      </p:sp>
    </p:spTree>
    <p:extLst>
      <p:ext uri="{BB962C8B-B14F-4D97-AF65-F5344CB8AC3E}">
        <p14:creationId xmlns:p14="http://schemas.microsoft.com/office/powerpoint/2010/main" val="3696577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Otorgando Privilegios de Objetos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Arial"/>
            </a:endParaRP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primer ejemplo, al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desarrollo_personal</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le está otorgando el privilegio para realizar consultas sobre la tabla EMPLOYEES del esquema HR.</a:t>
            </a: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segundo ejemplo, a los usuarios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desarrollo_finanzas</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desarrollo_personal</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les está otorgando el privilegio para actualizar las columnas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department_name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location_id</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de la tabla EMPLOYEES del esquema HR.</a:t>
            </a: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tercer ejemplo, al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desarrollo_personal</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le otorgan los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privilegios para consultar y agregar filas a la tabla DEPARTMENTS del esquema HR. Al usar la opción WITH GRANT OPTION, el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desarrollo_personal</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también puede otorgar estos privilegios a otros usuarios.</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737367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Otorgando Privilegios de Objetos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Arial"/>
            </a:endParaRP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primer ejemplo, se otorga el privilegio de lectura sobre la tabla JOBS del esquema HR al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desarrollo_personal</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Este privilegio permite que el usuario realice consultas (SELECT ) sobre la tabla JOBS pero sin la opción de bloquear la filas (FOR UPDATE) como sí lo permite el privilegio SELECT.</a:t>
            </a: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segundo ejemplo, se otorga el privilegio para consultar la tabla EMPLOYEES del esquema HR a todos los usuarios existente en la Base de Datos. </a:t>
            </a:r>
          </a:p>
          <a:p>
            <a:pPr marL="0" marR="0" lvl="0" indent="0" algn="just" defTabSz="914400" rtl="0" eaLnBrk="0" fontAlgn="base" latinLnBrk="0" hangingPunct="0">
              <a:lnSpc>
                <a:spcPct val="9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tercer ejemplo, se asume que el usuario administrador ya existe, y se le otorga todos los privilegios sobre la tabla EMPLOYEES del esquema HR.</a:t>
            </a: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691917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90000"/>
              </a:lnSpc>
              <a:spcBef>
                <a:spcPct val="30000"/>
              </a:spcBef>
              <a:spcAft>
                <a:spcPct val="0"/>
              </a:spcAft>
              <a:buClrTx/>
              <a:buSzTx/>
              <a:buFontTx/>
              <a:buNone/>
              <a:tabLst/>
              <a:defRPr/>
            </a:pPr>
            <a:r>
              <a:rPr lang="es-CL" sz="1200" b="1" dirty="0">
                <a:solidFill>
                  <a:prstClr val="white"/>
                </a:solidFill>
                <a:latin typeface="Calibri"/>
              </a:rPr>
              <a:t>Usando los objetos sobre los que se asignaron privilegios</a:t>
            </a:r>
            <a:endParaRPr kumimoji="0" lang="es-CL" sz="12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Después de que se le han otorgado privilegios de objetos a un usuario, éste los puede utilizar anteponiendo el dueño del objeto seguido del nombre. La otra opción es que se creen sinónimos públicos o privados para los objetos y usar esos sinónimos en las sentencias SQL.</a:t>
            </a:r>
          </a:p>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En los ejemplos de la izquierda:</a:t>
            </a:r>
          </a:p>
          <a:p>
            <a:pPr marL="171450" marR="0" lvl="0" indent="-171450" algn="just"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Supongamos que el usuario desarrollo_personal desea efectuar un SELECT sobre la tabla EMPLOYEES debería efectuar SELECT * FROM </a:t>
            </a:r>
            <a:r>
              <a:rPr kumimoji="0" lang="es-MX" sz="1200" b="0" i="0" u="none" strike="noStrike" kern="1200" cap="none" spc="0" normalizeH="0" baseline="0" noProof="0" dirty="0" err="1">
                <a:ln>
                  <a:noFill/>
                </a:ln>
                <a:solidFill>
                  <a:prstClr val="black"/>
                </a:solidFill>
                <a:effectLst/>
                <a:uLnTx/>
                <a:uFillTx/>
                <a:latin typeface="Calibri"/>
                <a:ea typeface="Arial"/>
                <a:cs typeface="Arial"/>
                <a:sym typeface="Arial"/>
              </a:rPr>
              <a:t>hr.employees</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 </a:t>
            </a:r>
          </a:p>
          <a:p>
            <a:pPr marL="171450" marR="0" lvl="0" indent="-171450" algn="just"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a:sym typeface="Arial"/>
              </a:rPr>
              <a:t>Si el usuario </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desarrollo_personal desea actualizar la localización a 1700 del departamento 20, entonces debería efectuar UPDATE </a:t>
            </a:r>
            <a:r>
              <a:rPr kumimoji="0" lang="es-MX" sz="1200" b="0" i="0" u="none" strike="noStrike" kern="1200" cap="none" spc="0" normalizeH="0" baseline="0" noProof="0" dirty="0" err="1">
                <a:ln>
                  <a:noFill/>
                </a:ln>
                <a:solidFill>
                  <a:prstClr val="black"/>
                </a:solidFill>
                <a:effectLst/>
                <a:uLnTx/>
                <a:uFillTx/>
                <a:latin typeface="Calibri"/>
                <a:ea typeface="Arial"/>
                <a:cs typeface="Arial"/>
                <a:sym typeface="Arial"/>
              </a:rPr>
              <a:t>hr.departments</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 SET </a:t>
            </a:r>
            <a:r>
              <a:rPr kumimoji="0" lang="es-MX" sz="1200" b="0" i="0" u="none" strike="noStrike" kern="1200" cap="none" spc="0" normalizeH="0" baseline="0" noProof="0" dirty="0" err="1">
                <a:ln>
                  <a:noFill/>
                </a:ln>
                <a:solidFill>
                  <a:prstClr val="black"/>
                </a:solidFill>
                <a:effectLst/>
                <a:uLnTx/>
                <a:uFillTx/>
                <a:latin typeface="Calibri"/>
                <a:ea typeface="Arial"/>
                <a:cs typeface="Arial"/>
                <a:sym typeface="Arial"/>
              </a:rPr>
              <a:t>location</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=1700 WHERE </a:t>
            </a:r>
            <a:r>
              <a:rPr kumimoji="0" lang="es-MX" sz="1200" b="0" i="0" u="none" strike="noStrike" kern="1200" cap="none" spc="0" normalizeH="0" baseline="0" noProof="0" dirty="0" err="1">
                <a:ln>
                  <a:noFill/>
                </a:ln>
                <a:solidFill>
                  <a:prstClr val="black"/>
                </a:solidFill>
                <a:effectLst/>
                <a:uLnTx/>
                <a:uFillTx/>
                <a:latin typeface="Calibri"/>
                <a:ea typeface="Arial"/>
                <a:cs typeface="Arial"/>
                <a:sym typeface="Arial"/>
              </a:rPr>
              <a:t>department_id</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=20.</a:t>
            </a:r>
          </a:p>
          <a:p>
            <a:pPr marL="0" marR="0" lvl="0" indent="0" algn="just" defTabSz="914400" rtl="0" eaLnBrk="0" fontAlgn="base" latinLnBrk="0" hangingPunct="0">
              <a:lnSpc>
                <a:spcPct val="90000"/>
              </a:lnSpc>
              <a:spcBef>
                <a:spcPct val="30000"/>
              </a:spcBef>
              <a:spcAft>
                <a:spcPct val="0"/>
              </a:spcAft>
              <a:buClrTx/>
              <a:buSzTx/>
              <a:buFont typeface="Arial" panose="020B0604020202020204" pitchFamily="34" charset="0"/>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a:sym typeface="Arial"/>
              </a:rPr>
              <a:t>Si se crearan los sinónimos públicos o privados SYN_EMPLEADOS que referencia a la tabla HR.EMPLOYEES y el sinónimo SYN_DEPARTAMENTOS que referencia a la tabla HR.DEPARTMENTS, entonces el usuario </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desarrollo_personal  puede ejecutar las mismas sentencias usando los </a:t>
            </a:r>
            <a:r>
              <a:rPr kumimoji="0" lang="es-MX" sz="1200" b="0" i="0" u="none" strike="noStrike" kern="1200" cap="none" spc="0" normalizeH="0" baseline="0" noProof="0" dirty="0" err="1">
                <a:ln>
                  <a:noFill/>
                </a:ln>
                <a:solidFill>
                  <a:prstClr val="black"/>
                </a:solidFill>
                <a:effectLst/>
                <a:uLnTx/>
                <a:uFillTx/>
                <a:latin typeface="Calibri"/>
                <a:ea typeface="Arial"/>
                <a:cs typeface="Arial"/>
                <a:sym typeface="Arial"/>
              </a:rPr>
              <a:t>sinonimos</a:t>
            </a:r>
            <a:r>
              <a:rPr kumimoji="0" lang="es-MX" sz="1200" b="0" i="0" u="none" strike="noStrike" kern="1200" cap="none" spc="0" normalizeH="0" baseline="0" noProof="0" dirty="0">
                <a:ln>
                  <a:noFill/>
                </a:ln>
                <a:solidFill>
                  <a:prstClr val="black"/>
                </a:solidFill>
                <a:effectLst/>
                <a:uLnTx/>
                <a:uFillTx/>
                <a:latin typeface="Calibri"/>
                <a:ea typeface="Arial"/>
                <a:cs typeface="Arial"/>
                <a:sym typeface="Arial"/>
              </a:rPr>
              <a:t> (sentencias de la derecha).</a:t>
            </a:r>
            <a:endParaRPr kumimoji="0" lang="es-MX" sz="1200" b="0" i="0" u="none" strike="noStrike" kern="1200" cap="none" spc="0" normalizeH="0" baseline="0" noProof="0" dirty="0">
              <a:ln>
                <a:noFill/>
              </a:ln>
              <a:solidFill>
                <a:prstClr val="black"/>
              </a:solidFill>
              <a:effectLst/>
              <a:uLnTx/>
              <a:uFillTx/>
              <a:latin typeface="Calibri"/>
              <a:ea typeface="+mn-ea"/>
              <a:cs typeface="Arial"/>
              <a:sym typeface="Arial"/>
            </a:endParaRPr>
          </a:p>
          <a:p>
            <a:pPr marL="0" marR="0" lvl="0" indent="0" algn="just" defTabSz="914400" rtl="0" eaLnBrk="0" fontAlgn="base" latinLnBrk="0" hangingPunct="0">
              <a:lnSpc>
                <a:spcPct val="90000"/>
              </a:lnSpc>
              <a:spcBef>
                <a:spcPct val="30000"/>
              </a:spcBef>
              <a:spcAft>
                <a:spcPct val="0"/>
              </a:spcAft>
              <a:buClrTx/>
              <a:buSzTx/>
              <a:buFont typeface="Arial" panose="020B0604020202020204"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971596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Usando Roles para Asignar Privilegios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Un rol es nombre con un conjunto de privilegios relacionados, de sistema o de objetos, que se pueden otorgar al usuario. Este método hace que sea más fácil revocar y mantener los privilegios.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Un usuario puede tener acceso a varios roles, y a varios usuarios se les puede asignar el mismo rol. Los roles se crean normalmente para una aplicación de base de datos.</a:t>
            </a:r>
          </a:p>
        </p:txBody>
      </p:sp>
    </p:spTree>
    <p:extLst>
      <p:ext uri="{BB962C8B-B14F-4D97-AF65-F5344CB8AC3E}">
        <p14:creationId xmlns:p14="http://schemas.microsoft.com/office/powerpoint/2010/main" val="101313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Usando Roles para Asignar Privilegios</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Las características de los roles son los siguientes: </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Se pueden otorgar a cualquier usuario o rol</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Su nombre debe ser distinto a cualquier otro nombre de usuario o rol en la BD. </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No están asociados a ningún esquema.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Varios son los beneficios de usar roles: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Simplifican el manejo de privilegios. Los permisos se pueden asignar a un rol y éste a los diferentes usuarios.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Manejo de privilegios dinámico. Si se modifican los privilegios asociados al rol, todos los usuarios que lo posean los adquieren de forma inmediata.</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Disponibilidad de privilegios selectiva. Roles asignados a un usuario pueden ser activados o desactivados temporalmente.</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Mejora de la productividad. El uso de roles disminuye el número de privilegios almacenados en el diccionario de datos de la base de datos</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endParaRPr>
          </a:p>
        </p:txBody>
      </p:sp>
    </p:spTree>
    <p:extLst>
      <p:ext uri="{BB962C8B-B14F-4D97-AF65-F5344CB8AC3E}">
        <p14:creationId xmlns:p14="http://schemas.microsoft.com/office/powerpoint/2010/main" val="1473916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Usando Roles para Asignar Privilegios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Para administrar los privilegios a través de Roles, el DBA debe:</a:t>
            </a:r>
          </a:p>
          <a:p>
            <a:pPr marL="171450" lvl="0" indent="-171450">
              <a:buFont typeface="Arial" panose="020B0604020202020204" pitchFamily="34" charset="0"/>
              <a:buChar char="•"/>
            </a:pPr>
            <a:r>
              <a:rPr lang="en-US"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Crear</a:t>
            </a:r>
            <a:r>
              <a:rPr lang="en-US"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a:t>
            </a:r>
            <a:r>
              <a:rPr lang="en-US"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rol</a:t>
            </a:r>
            <a:r>
              <a:rPr lang="en-US"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lvl="0" indent="-171450">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Otorgar privilegios de sistema y/o de objetos al rol.</a:t>
            </a:r>
          </a:p>
          <a:p>
            <a:pPr marL="171450" lvl="0" indent="-171450">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Otorgar el rol a los usuarios el que además debe quedar asignado como ROL POR DEFECTO, es decir debe quedar habilitado para el usuario.  Si el rol no se asigna por defecto, el usuario sólo tendrá asignado el rol pero no tendrá los privilegios definidos en el rol .</a:t>
            </a:r>
          </a:p>
          <a:p>
            <a:pPr marL="0" lv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Además de los roles creados por el usuario, existen a lo menos 50 roles predefinidos en una base de datos Oracle dependiendo de las opciones que se instalen. Algunos de ellos son:</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CONNECT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solo existe por compatibilidad con versiones anteriores en las que se incluían privilegios para crear objetos como tablas. </a:t>
            </a:r>
            <a:r>
              <a:rPr lang="en-US"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Ahora</a:t>
            </a:r>
            <a:r>
              <a:rPr lang="en-US"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solo </a:t>
            </a:r>
            <a:r>
              <a:rPr lang="en-US"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incluye</a:t>
            </a:r>
            <a:r>
              <a:rPr lang="en-US"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privilegio </a:t>
            </a:r>
            <a:r>
              <a:rPr lang="en-US"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CREATE SESSION.</a:t>
            </a:r>
            <a:r>
              <a:rPr lang="en-US"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RESOURCE: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posee los privilegios para crear los siguientes objetos: TRIGGER, SEQUENCE, TYPE, PROCEDURE, CLUSTER, OPERATOR, INDEXTYPE y TABLE. Este rol se le asigna por lo general a los usuarios desarrolladores o a quienes tengan que crear los objetos que el rol incluye.</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DBA: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posee la mayoría de los privilegios de sistema, privilegios sobre objetos y roles. Un usuario con el rol de DBA puede manejar todos los aspectos de la base de datos, excepto levantar y detener la base de datos.</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SELECT_CATALOG_ROLE: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Tiene sobre 2000 privilegios sobre objetos del diccionario de datos, pero no privilegios de sistema o privilegios sobre datos de usuario.</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SCHEDULER_ADMIN:</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posee privilegios de sistema necesarios para el manejo de trabajos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jobs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 la base de datos.</a:t>
            </a:r>
          </a:p>
          <a:p>
            <a:pPr marL="0" lv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Si el rol es eliminado, automáticamente los usuarios a quienes se les asignó ese rol pierden todos los privilegios que el rol tenía.</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endParaRPr>
          </a:p>
        </p:txBody>
      </p:sp>
    </p:spTree>
    <p:extLst>
      <p:ext uri="{BB962C8B-B14F-4D97-AF65-F5344CB8AC3E}">
        <p14:creationId xmlns:p14="http://schemas.microsoft.com/office/powerpoint/2010/main" val="2114867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Usando Roles para Asignar Privilegios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endParaRPr>
          </a:p>
          <a:p>
            <a:pPr marL="0" marR="0" indent="0" algn="l" defTabSz="914400" rtl="0" eaLnBrk="1" fontAlgn="base" latinLnBrk="0" hangingPunct="1">
              <a:lnSpc>
                <a:spcPct val="100000"/>
              </a:lnSpc>
              <a:spcBef>
                <a:spcPct val="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la sintaxis:</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rol</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especifica el nombre del rol a crear. El número máximo de roles definidos por el usuario que se pueden habilitar para un solo usuario a la vez es de 148.</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NOT IDENTIFIED:</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especifica para indicar que el rol está autorizado por la base de datos y que no requiere de una clave para habilitar el rol.</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IDENTIFIED:</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indica que un usuario debe estar autorizado por el método especificado antes de habilitar el rol con los comandos SET ROLE.</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BY </a:t>
            </a:r>
            <a:r>
              <a:rPr lang="es-CL" sz="1200" b="1"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password</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permite crear un rol local e indica que el usuario debe especificar la contraseña a la base de datos cuando habilite el rol. </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dirty="0">
                <a:solidFill>
                  <a:srgbClr val="10253F"/>
                </a:solidFill>
                <a:latin typeface="Calibri" panose="020F0502020204030204" pitchFamily="34" charset="0"/>
                <a:ea typeface="ＭＳ Ｐゴシック" pitchFamily="34" charset="-128"/>
                <a:cs typeface="Calibri" panose="020F0502020204030204" pitchFamily="34" charset="0"/>
              </a:rPr>
              <a:t>USING </a:t>
            </a:r>
            <a:r>
              <a:rPr lang="es-CL" sz="1200" b="1" dirty="0" err="1">
                <a:solidFill>
                  <a:srgbClr val="10253F"/>
                </a:solidFill>
                <a:latin typeface="Calibri" panose="020F0502020204030204" pitchFamily="34" charset="0"/>
                <a:ea typeface="ＭＳ Ｐゴシック" pitchFamily="34" charset="-128"/>
                <a:cs typeface="Calibri" panose="020F0502020204030204" pitchFamily="34" charset="0"/>
              </a:rPr>
              <a:t>package</a:t>
            </a:r>
            <a:r>
              <a:rPr lang="es-CL" sz="1200" b="1" dirty="0">
                <a:solidFill>
                  <a:srgbClr val="10253F"/>
                </a:solidFill>
                <a:latin typeface="Calibri" panose="020F0502020204030204" pitchFamily="34" charset="0"/>
                <a:ea typeface="ＭＳ Ｐゴシック" pitchFamily="34" charset="-128"/>
                <a:cs typeface="Calibri" panose="020F0502020204030204" pitchFamily="34" charset="0"/>
              </a:rPr>
              <a:t>:</a:t>
            </a: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 permite crear un rol de aplicación, que es un rol que solo pueden habilitar las aplicaciones que usan un </a:t>
            </a:r>
            <a:r>
              <a:rPr lang="es-CL" sz="1200" b="0" dirty="0" err="1">
                <a:solidFill>
                  <a:srgbClr val="10253F"/>
                </a:solidFill>
                <a:latin typeface="Calibri" panose="020F0502020204030204" pitchFamily="34" charset="0"/>
                <a:ea typeface="ＭＳ Ｐゴシック" pitchFamily="34" charset="-128"/>
                <a:cs typeface="Calibri" panose="020F0502020204030204" pitchFamily="34" charset="0"/>
              </a:rPr>
              <a:t>package</a:t>
            </a: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 autorizado. Si no se especifica un esquema, la base de datos asume que el </a:t>
            </a:r>
            <a:r>
              <a:rPr lang="es-CL" sz="1200" b="0" dirty="0" err="1">
                <a:solidFill>
                  <a:srgbClr val="10253F"/>
                </a:solidFill>
                <a:latin typeface="Calibri" panose="020F0502020204030204" pitchFamily="34" charset="0"/>
                <a:ea typeface="ＭＳ Ｐゴシック" pitchFamily="34" charset="-128"/>
                <a:cs typeface="Calibri" panose="020F0502020204030204" pitchFamily="34" charset="0"/>
              </a:rPr>
              <a:t>package</a:t>
            </a: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 está en su propio esquema.</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dirty="0">
                <a:solidFill>
                  <a:srgbClr val="10253F"/>
                </a:solidFill>
                <a:latin typeface="Calibri" panose="020F0502020204030204" pitchFamily="34" charset="0"/>
                <a:ea typeface="ＭＳ Ｐゴシック" pitchFamily="34" charset="-128"/>
                <a:cs typeface="Calibri" panose="020F0502020204030204" pitchFamily="34" charset="0"/>
              </a:rPr>
              <a:t>EXTERNALLY:</a:t>
            </a: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 permite crear un rol externo. Un usuario externo debe estar autorizado por un servicio externo, como un sistema operativo o un servicio de terceros, antes de habilitar la función.</a:t>
            </a:r>
          </a:p>
          <a:p>
            <a:pPr marL="171450" marR="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1" dirty="0">
                <a:solidFill>
                  <a:srgbClr val="10253F"/>
                </a:solidFill>
                <a:latin typeface="Calibri" panose="020F0502020204030204" pitchFamily="34" charset="0"/>
                <a:ea typeface="ＭＳ Ｐゴシック" pitchFamily="34" charset="-128"/>
                <a:cs typeface="Calibri" panose="020F0502020204030204" pitchFamily="34" charset="0"/>
              </a:rPr>
              <a:t>GLOBALLY:</a:t>
            </a: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 permite crear un rol global</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s-CL" sz="1200" b="0" dirty="0">
                <a:solidFill>
                  <a:srgbClr val="10253F"/>
                </a:solidFill>
                <a:latin typeface="Calibri" panose="020F0502020204030204" pitchFamily="34" charset="0"/>
                <a:ea typeface="ＭＳ Ｐゴシック" pitchFamily="34" charset="-128"/>
                <a:cs typeface="Calibri" panose="020F0502020204030204" pitchFamily="34" charset="0"/>
              </a:rPr>
              <a:t>Si se omiten las cláusulas NOT IDENTIFIED e IDENTIFIED, entonces el rol se crea por defecto en NOT IDENTIFIED.</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ejemplo, se asume que el usuario administrador ya existe. Primero el DBA crea el rol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rol_gerencia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Una vez creado, al rol se le otorgan los privilegios para crear tablas, crear vistas y para efectuar sentencias DML sobre la tabla EMPLOYEES del esquema HR. Finalmente, el rol es otorgado al usuario administrador y asignado como un rol por defecto. </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Al asignar el rol por defecto éste debe ir entre comillas dobles y en mayúscula ya que por defecto los nombres de objetos se almacenan en mayúscula en el diccionario de la base de datos</a:t>
            </a:r>
            <a:endParaRPr lang="es-CL" sz="1200" b="0" dirty="0">
              <a:solidFill>
                <a:srgbClr val="10253F"/>
              </a:solidFill>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endParaRPr>
          </a:p>
        </p:txBody>
      </p:sp>
    </p:spTree>
    <p:extLst>
      <p:ext uri="{BB962C8B-B14F-4D97-AF65-F5344CB8AC3E}">
        <p14:creationId xmlns:p14="http://schemas.microsoft.com/office/powerpoint/2010/main" val="237885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Usando Roles para Asignar Privilegios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ejemplo, se asume que los usuarios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consultor_personal</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consultor_finanzas</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ya fueron creados en la Base de Datos. Primero se crea el rol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rol_consulta</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Una vez que se ha creado el rol, se le otorga los privilegios para efectuar solo consultas a todas las tablas del esquema HR.  Finalmente el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rol_consulta</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ortorgado</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 los usuarios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consultor_personal</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consultor_finanzas</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asignado como rol por defecto para cada uno de ellos.</a:t>
            </a:r>
            <a:endParaRPr lang="es-CL" sz="1200" b="0" dirty="0">
              <a:solidFill>
                <a:srgbClr val="10253F"/>
              </a:solidFill>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endParaRPr>
          </a:p>
        </p:txBody>
      </p:sp>
    </p:spTree>
    <p:extLst>
      <p:ext uri="{BB962C8B-B14F-4D97-AF65-F5344CB8AC3E}">
        <p14:creationId xmlns:p14="http://schemas.microsoft.com/office/powerpoint/2010/main" val="3760864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Comprobando los Privilegios Asignados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rgbClr val="10253F"/>
                </a:solidFill>
                <a:effectLst/>
                <a:latin typeface="Calibri" panose="020F0502020204030204" pitchFamily="34" charset="0"/>
                <a:ea typeface="ＭＳ Ｐゴシック" pitchFamily="34" charset="-128"/>
                <a:cs typeface="Calibri" panose="020F0502020204030204" pitchFamily="34" charset="0"/>
                <a:sym typeface="Arial"/>
              </a:rPr>
              <a:t>Si desea saber todos los privilegios que el usuario posee, Oracle proporciona una serie vistas para poder consultar esta información. Entre ellas se encuentran:</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USER_ROLE_PRIVS:</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roles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asignados</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al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usuario</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USER_SYS_PRIVS:</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p</a:t>
            </a:r>
            <a:r>
              <a:rPr kumimoji="0" lang="es-CL"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rivilegios</a:t>
            </a:r>
            <a:r>
              <a:rPr kumimoji="0" lang="es-CL"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de sistema otorgados al usuario.</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USER_TAB_PRIVS_MADE:</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p</a:t>
            </a:r>
            <a:r>
              <a:rPr kumimoji="0" lang="es-CL"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rivilegios</a:t>
            </a:r>
            <a:r>
              <a:rPr kumimoji="0" lang="es-CL"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de objeto del usuario que se han otorgados.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USER_TAB_PRIVS_RECD:</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privilegios</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de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objeto</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otorgados</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al </a:t>
            </a:r>
            <a:r>
              <a:rPr kumimoji="0" lang="en-US"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usuario</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USER_COL_PRIVS_MADE:</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p</a:t>
            </a:r>
            <a:r>
              <a:rPr kumimoji="0" lang="es-CL"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rivilegios</a:t>
            </a:r>
            <a:r>
              <a:rPr kumimoji="0" lang="es-CL"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de objeto otorgados sobre las columnas de los objetos del usuario.</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s-CL" sz="1200" b="1"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USER_COL_PRIVS_RECD:</a:t>
            </a:r>
            <a:r>
              <a:rPr kumimoji="0" lang="en-US"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p</a:t>
            </a:r>
            <a:r>
              <a:rPr kumimoji="0" lang="es-CL" altLang="es-CL" sz="1200" b="0" i="0" u="none" strike="noStrike" cap="none" normalizeH="0" baseline="0" dirty="0" err="1">
                <a:ln>
                  <a:noFill/>
                </a:ln>
                <a:solidFill>
                  <a:srgbClr val="000000"/>
                </a:solidFill>
                <a:effectLst/>
                <a:latin typeface="Calibri" panose="020F0502020204030204" pitchFamily="34" charset="0"/>
                <a:ea typeface="Arial"/>
                <a:cs typeface="Calibri" panose="020F0502020204030204" pitchFamily="34" charset="0"/>
                <a:sym typeface="Arial"/>
              </a:rPr>
              <a:t>rivilegios</a:t>
            </a:r>
            <a:r>
              <a:rPr kumimoji="0" lang="es-CL" altLang="es-CL" sz="1200" b="0" i="0" u="none" strike="noStrike" cap="none" normalizeH="0" baseline="0" dirty="0">
                <a:ln>
                  <a:noFill/>
                </a:ln>
                <a:solidFill>
                  <a:srgbClr val="000000"/>
                </a:solidFill>
                <a:effectLst/>
                <a:latin typeface="Calibri" panose="020F0502020204030204" pitchFamily="34" charset="0"/>
                <a:ea typeface="Arial"/>
                <a:cs typeface="Calibri" panose="020F0502020204030204" pitchFamily="34" charset="0"/>
                <a:sym typeface="Arial"/>
              </a:rPr>
              <a:t> de objeto otorgados al usuario sobre columnas específicas.</a:t>
            </a: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4017425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Revocando Privilegios Asignados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 pueden eliminar los privilegios otorgados a los usuarios usando de la instrucción REVOKE. Cuando se utiliza la instrucción REVOKE, los privilegios que se especifiquen se revocarán (eliminarán) de los usuarios que se indiquen y de cualquier otro usuario al que el usuario al que se le está revocando los privilegios le haya otorgado dichos privilegios.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la sintaxis:</a:t>
            </a:r>
          </a:p>
          <a:p>
            <a:pPr marL="17145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privilegio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el privilegio de sistema o de objeto que se desea revocar. Si se especifica ALL se eliminarán todos los privilegios asignados a un usuario o a un rol.</a:t>
            </a:r>
          </a:p>
          <a:p>
            <a:pPr marL="17145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objeto</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el objeto del que se será eliminado el privilegio. Si se revoca un privilegio de sistema, la cláusula </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ON </a:t>
            </a: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objeto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no se debe especificar.</a:t>
            </a:r>
          </a:p>
          <a:p>
            <a:pPr marL="17145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el usuario al que se le revocará el privilegio.</a:t>
            </a:r>
          </a:p>
          <a:p>
            <a:pPr marL="17145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rol</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el rol al que se le revocará el privilegio.</a:t>
            </a:r>
          </a:p>
          <a:p>
            <a:pPr marL="17145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PUBLIC:</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debe especificar si se desea revocar el privilegio a todos los usuarios a quienes se les asignó.</a:t>
            </a:r>
          </a:p>
          <a:p>
            <a:pPr mar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primer ejemplo, se revocan todos los privilegios sobre la tabla EMPLOYEES del esquema HR asignados al rol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rol_consulta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p>
          <a:p>
            <a:pPr mar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segundo ejemplo, se revoca el privilegio para crear tablas al rol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rol_gerencia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p>
          <a:p>
            <a:pPr mar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último ejemplo, se revoca el privilegio para actualizar la tabla DEPARTMENTS del esquema HR asignado al usuario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desarrollo_finanzas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endPar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6168633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452947"/>
            <a:ext cx="5758963" cy="2891100"/>
          </a:xfrm>
          <a:prstGeom prst="rect">
            <a:avLst/>
          </a:prstGeom>
        </p:spPr>
        <p:txBody>
          <a:bodyPr spcFirstLastPara="1" wrap="square" lIns="91425" tIns="45700" rIns="91425" bIns="45700" anchor="b" anchorCtr="0">
            <a:noAutofit/>
          </a:bodyPr>
          <a:lstStyle/>
          <a:p>
            <a:pPr lvl="0"/>
            <a:r>
              <a:rPr lang="es-CL" sz="5800" b="1" dirty="0"/>
              <a:t>Asignando Privilegios de Sistemas y Objetos a los Usuarios</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extLst>
              <p:ext uri="{D42A27DB-BD31-4B8C-83A1-F6EECF244321}">
                <p14:modId xmlns:p14="http://schemas.microsoft.com/office/powerpoint/2010/main" val="2010111875"/>
              </p:ext>
            </p:extLst>
          </p:nvPr>
        </p:nvGraphicFramePr>
        <p:xfrm>
          <a:off x="428622" y="1668467"/>
          <a:ext cx="8315325" cy="366477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3</a:t>
                      </a: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Gestión de usuarios y objetos de la base de datos </a:t>
                      </a:r>
                      <a:endParaRPr lang="es-CL" sz="1800"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en la base de datos que permitan controlar y mejorar la manipulación y recuperación de datos utilizando el lenguaje asociado y de acuerdo a los requerimientos de la organización.</a:t>
                      </a:r>
                      <a:endParaRPr lang="es-CL" sz="1800"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784210"/>
            <a:ext cx="8023225" cy="2275770"/>
          </a:xfrm>
        </p:spPr>
        <p:txBody>
          <a:bodyPr/>
          <a:lstStyle/>
          <a:p>
            <a:pPr marL="393700" indent="-342900" algn="just">
              <a:buFont typeface="Arial" panose="020B0604020202020204" pitchFamily="34" charset="0"/>
              <a:buChar char="•"/>
            </a:pPr>
            <a:r>
              <a:rPr lang="es-MX" sz="2200" dirty="0"/>
              <a:t>Cómo controlar el acceso y uso de la base de datos.</a:t>
            </a:r>
          </a:p>
          <a:p>
            <a:pPr marL="393700" indent="-342900" algn="just">
              <a:buFont typeface="Arial" panose="020B0604020202020204" pitchFamily="34" charset="0"/>
              <a:buChar char="•"/>
            </a:pPr>
            <a:r>
              <a:rPr lang="es-MX" sz="2200" dirty="0"/>
              <a:t>Cuáles son las características de los privilegios</a:t>
            </a:r>
          </a:p>
          <a:p>
            <a:pPr marL="393700" indent="-342900" algn="just">
              <a:buFont typeface="Arial" panose="020B0604020202020204" pitchFamily="34" charset="0"/>
              <a:buChar char="•"/>
            </a:pPr>
            <a:r>
              <a:rPr lang="es-MX" sz="2200" dirty="0"/>
              <a:t>Cómo controlar el acceso a los objetos de la Base de Datos a través de los privilegios.</a:t>
            </a:r>
          </a:p>
          <a:p>
            <a:pPr marL="393700" indent="-342900" algn="just">
              <a:buFont typeface="Arial" panose="020B0604020202020204" pitchFamily="34" charset="0"/>
              <a:buChar char="•"/>
            </a:pPr>
            <a:r>
              <a:rPr lang="es-MX" sz="2200" dirty="0"/>
              <a:t>Qué son los privilegios de sistema y privilegios de objetos.</a:t>
            </a:r>
          </a:p>
          <a:p>
            <a:pPr marL="393700" indent="-342900" algn="just">
              <a:buFont typeface="Arial" panose="020B0604020202020204" pitchFamily="34" charset="0"/>
              <a:buChar char="•"/>
            </a:pPr>
            <a:r>
              <a:rPr lang="es-MX" sz="2200" dirty="0"/>
              <a:t>Cómo otorgar diferentes privilegios a los Usuarios</a:t>
            </a:r>
          </a:p>
          <a:p>
            <a:pPr marL="393700" indent="-342900" algn="just">
              <a:buFont typeface="Arial" panose="020B0604020202020204" pitchFamily="34" charset="0"/>
              <a:buChar char="•"/>
            </a:pPr>
            <a:r>
              <a:rPr lang="es-MX" sz="2200" dirty="0"/>
              <a:t>Cuáles son las características de los Roles.</a:t>
            </a:r>
          </a:p>
          <a:p>
            <a:pPr marL="393700" indent="-342900" algn="just">
              <a:buFont typeface="Arial" panose="020B0604020202020204" pitchFamily="34" charset="0"/>
              <a:buChar char="•"/>
            </a:pPr>
            <a:r>
              <a:rPr lang="es-MX" sz="2200" dirty="0"/>
              <a:t>Cómo otorgar privilegios usando Roles</a:t>
            </a:r>
          </a:p>
          <a:p>
            <a:pPr marL="393700" indent="-342900" algn="just">
              <a:buFont typeface="Arial" panose="020B0604020202020204" pitchFamily="34" charset="0"/>
              <a:buChar char="•"/>
            </a:pPr>
            <a:r>
              <a:rPr lang="es-MX" sz="2200" dirty="0"/>
              <a:t>Cómo comprobar los privilegios asignados</a:t>
            </a:r>
          </a:p>
          <a:p>
            <a:pPr marL="393700" indent="-342900" algn="just">
              <a:buFont typeface="Arial" panose="020B0604020202020204" pitchFamily="34" charset="0"/>
              <a:buChar char="•"/>
            </a:pPr>
            <a:r>
              <a:rPr lang="es-MX" sz="2200" dirty="0"/>
              <a:t>Cómo revocar privilegios otorgados a Usuarios y Roles.</a:t>
            </a:r>
          </a:p>
          <a:p>
            <a:pPr algn="l"/>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77491" y="3345867"/>
            <a:ext cx="5995800" cy="2246041"/>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s-CL" sz="4800" b="1" dirty="0"/>
              <a:t>Conceptos de Seguridad de la Base de Datos</a:t>
            </a:r>
            <a:endParaRPr sz="4800" b="1" dirty="0"/>
          </a:p>
        </p:txBody>
      </p:sp>
      <p:sp>
        <p:nvSpPr>
          <p:cNvPr id="3" name="CuadroTexto 1">
            <a:extLst>
              <a:ext uri="{FF2B5EF4-FFF2-40B4-BE49-F238E27FC236}">
                <a16:creationId xmlns:a16="http://schemas.microsoft.com/office/drawing/2014/main" xmlns="" id="{E702B3DA-8F87-4D47-A336-8CBF87DE69BF}"/>
              </a:ext>
            </a:extLst>
          </p:cNvPr>
          <p:cNvSpPr txBox="1"/>
          <p:nvPr/>
        </p:nvSpPr>
        <p:spPr>
          <a:xfrm>
            <a:off x="1208058" y="5958306"/>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de los ejemplos usan las tablas del esquema HR de la Base de Datos Oracle </a:t>
            </a:r>
          </a:p>
          <a:p>
            <a:r>
              <a:rPr lang="es-MX" sz="1600" b="1" dirty="0">
                <a:solidFill>
                  <a:schemeClr val="bg1"/>
                </a:solidFill>
              </a:rPr>
              <a:t>*</a:t>
            </a:r>
            <a:r>
              <a:rPr lang="es-MX" sz="1200" b="1" dirty="0">
                <a:solidFill>
                  <a:schemeClr val="bg1"/>
                </a:solidFill>
              </a:rPr>
              <a:t> Los usuarios de los ejemplos se crean con el script </a:t>
            </a:r>
            <a:r>
              <a:rPr lang="es-MX" sz="1200" b="1" dirty="0" err="1">
                <a:solidFill>
                  <a:schemeClr val="bg1"/>
                </a:solidFill>
              </a:rPr>
              <a:t>crea_usuarios_ejemplos</a:t>
            </a:r>
            <a:r>
              <a:rPr lang="es-MX" sz="1200" b="1" dirty="0">
                <a:solidFill>
                  <a:schemeClr val="bg1"/>
                </a:solidFill>
              </a:rPr>
              <a:t> </a:t>
            </a:r>
            <a:r>
              <a:rPr lang="es-MX" sz="1200" b="1" dirty="0" err="1">
                <a:solidFill>
                  <a:schemeClr val="bg1"/>
                </a:solidFill>
              </a:rPr>
              <a:t>presentacion.SQL</a:t>
            </a:r>
            <a:r>
              <a:rPr lang="es-MX" sz="1200" b="1" dirty="0">
                <a:solidFill>
                  <a:schemeClr val="bg1"/>
                </a:solidFill>
              </a:rPr>
              <a:t> </a:t>
            </a: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Seguridad del acceso y uso </a:t>
            </a:r>
            <a:br>
              <a:rPr lang="es-CL" sz="2800" b="1" dirty="0">
                <a:solidFill>
                  <a:prstClr val="white"/>
                </a:solidFill>
                <a:latin typeface="Calibri"/>
              </a:rPr>
            </a:br>
            <a:r>
              <a:rPr lang="es-CL" sz="2800" b="1" dirty="0">
                <a:solidFill>
                  <a:prstClr val="white"/>
                </a:solidFill>
                <a:latin typeface="Calibri"/>
              </a:rPr>
              <a:t>de la Base de Datos</a:t>
            </a:r>
          </a:p>
        </p:txBody>
      </p:sp>
      <p:pic>
        <p:nvPicPr>
          <p:cNvPr id="2" name="Imagen 1">
            <a:extLst>
              <a:ext uri="{FF2B5EF4-FFF2-40B4-BE49-F238E27FC236}">
                <a16:creationId xmlns:a16="http://schemas.microsoft.com/office/drawing/2014/main" xmlns="" id="{111E032F-35E6-4A35-98D1-7CB323599A6C}"/>
              </a:ext>
            </a:extLst>
          </p:cNvPr>
          <p:cNvPicPr>
            <a:picLocks noChangeAspect="1"/>
          </p:cNvPicPr>
          <p:nvPr/>
        </p:nvPicPr>
        <p:blipFill>
          <a:blip r:embed="rId3"/>
          <a:stretch>
            <a:fillRect/>
          </a:stretch>
        </p:blipFill>
        <p:spPr>
          <a:xfrm>
            <a:off x="167949" y="1271178"/>
            <a:ext cx="8744318" cy="5054978"/>
          </a:xfrm>
          <a:prstGeom prst="rect">
            <a:avLst/>
          </a:prstGeom>
        </p:spPr>
      </p:pic>
    </p:spTree>
    <p:extLst>
      <p:ext uri="{BB962C8B-B14F-4D97-AF65-F5344CB8AC3E}">
        <p14:creationId xmlns:p14="http://schemas.microsoft.com/office/powerpoint/2010/main" val="1854983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Seguridad de la  Base de Datos</a:t>
            </a:r>
          </a:p>
        </p:txBody>
      </p:sp>
      <p:pic>
        <p:nvPicPr>
          <p:cNvPr id="4" name="Imagen 3">
            <a:extLst>
              <a:ext uri="{FF2B5EF4-FFF2-40B4-BE49-F238E27FC236}">
                <a16:creationId xmlns:a16="http://schemas.microsoft.com/office/drawing/2014/main" xmlns="" id="{5EFDA8F7-C7B4-43CB-A88A-F67CD1C06F17}"/>
              </a:ext>
            </a:extLst>
          </p:cNvPr>
          <p:cNvPicPr>
            <a:picLocks noChangeAspect="1"/>
          </p:cNvPicPr>
          <p:nvPr/>
        </p:nvPicPr>
        <p:blipFill>
          <a:blip r:embed="rId3"/>
          <a:stretch>
            <a:fillRect/>
          </a:stretch>
        </p:blipFill>
        <p:spPr>
          <a:xfrm>
            <a:off x="233463" y="1204084"/>
            <a:ext cx="8696528" cy="5564305"/>
          </a:xfrm>
          <a:prstGeom prst="rect">
            <a:avLst/>
          </a:prstGeom>
        </p:spPr>
      </p:pic>
    </p:spTree>
    <p:extLst>
      <p:ext uri="{BB962C8B-B14F-4D97-AF65-F5344CB8AC3E}">
        <p14:creationId xmlns:p14="http://schemas.microsoft.com/office/powerpoint/2010/main" val="1565957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Privilegios</a:t>
            </a:r>
          </a:p>
        </p:txBody>
      </p:sp>
      <p:pic>
        <p:nvPicPr>
          <p:cNvPr id="10" name="Imagen 9">
            <a:extLst>
              <a:ext uri="{FF2B5EF4-FFF2-40B4-BE49-F238E27FC236}">
                <a16:creationId xmlns:a16="http://schemas.microsoft.com/office/drawing/2014/main" xmlns="" id="{65AACE3E-5ADA-4DD2-B222-CAEAA411C4B5}"/>
              </a:ext>
            </a:extLst>
          </p:cNvPr>
          <p:cNvPicPr>
            <a:picLocks noChangeAspect="1"/>
          </p:cNvPicPr>
          <p:nvPr/>
        </p:nvPicPr>
        <p:blipFill>
          <a:blip r:embed="rId3"/>
          <a:stretch>
            <a:fillRect/>
          </a:stretch>
        </p:blipFill>
        <p:spPr>
          <a:xfrm>
            <a:off x="880706" y="986174"/>
            <a:ext cx="7510923" cy="5816088"/>
          </a:xfrm>
          <a:prstGeom prst="rect">
            <a:avLst/>
          </a:prstGeom>
        </p:spPr>
      </p:pic>
    </p:spTree>
    <p:extLst>
      <p:ext uri="{BB962C8B-B14F-4D97-AF65-F5344CB8AC3E}">
        <p14:creationId xmlns:p14="http://schemas.microsoft.com/office/powerpoint/2010/main" val="90842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Privilegios de Base de Datos</a:t>
            </a:r>
          </a:p>
        </p:txBody>
      </p:sp>
      <p:pic>
        <p:nvPicPr>
          <p:cNvPr id="4" name="Imagen 3">
            <a:extLst>
              <a:ext uri="{FF2B5EF4-FFF2-40B4-BE49-F238E27FC236}">
                <a16:creationId xmlns:a16="http://schemas.microsoft.com/office/drawing/2014/main" xmlns="" id="{B5299969-62DA-4D17-B9C2-6FE1B5787A01}"/>
              </a:ext>
            </a:extLst>
          </p:cNvPr>
          <p:cNvPicPr>
            <a:picLocks noChangeAspect="1"/>
          </p:cNvPicPr>
          <p:nvPr/>
        </p:nvPicPr>
        <p:blipFill>
          <a:blip r:embed="rId3"/>
          <a:stretch>
            <a:fillRect/>
          </a:stretch>
        </p:blipFill>
        <p:spPr>
          <a:xfrm>
            <a:off x="176403" y="1295673"/>
            <a:ext cx="8791194" cy="5157663"/>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29000"/>
            <a:ext cx="5995800" cy="2407596"/>
          </a:xfrm>
        </p:spPr>
        <p:txBody>
          <a:bodyPr anchor="ctr" anchorCtr="0"/>
          <a:lstStyle/>
          <a:p>
            <a:r>
              <a:rPr lang="en-US" sz="4800" b="1" dirty="0" err="1"/>
              <a:t>Asignación</a:t>
            </a:r>
            <a:r>
              <a:rPr lang="en-US" sz="4800" b="1" dirty="0"/>
              <a:t> de </a:t>
            </a:r>
            <a:r>
              <a:rPr lang="en-US" sz="4800" b="1" dirty="0" err="1"/>
              <a:t>Privilegios</a:t>
            </a:r>
            <a:r>
              <a:rPr lang="en-US" sz="4800" b="1" dirty="0"/>
              <a:t> </a:t>
            </a:r>
            <a:r>
              <a:rPr lang="en-US" sz="4800" b="1" dirty="0" err="1"/>
              <a:t>Individuales</a:t>
            </a:r>
            <a:endParaRPr lang="es-ES_tradnl" sz="4800" b="1" dirty="0"/>
          </a:p>
        </p:txBody>
      </p:sp>
      <p:sp>
        <p:nvSpPr>
          <p:cNvPr id="3" name="CuadroTexto 1">
            <a:extLst>
              <a:ext uri="{FF2B5EF4-FFF2-40B4-BE49-F238E27FC236}">
                <a16:creationId xmlns:a16="http://schemas.microsoft.com/office/drawing/2014/main" xmlns="" id="{E1A65B0A-927A-43A7-AFFA-6CE9035D8613}"/>
              </a:ext>
            </a:extLst>
          </p:cNvPr>
          <p:cNvSpPr txBox="1"/>
          <p:nvPr/>
        </p:nvSpPr>
        <p:spPr>
          <a:xfrm>
            <a:off x="1208058" y="6012094"/>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Los privilegios se otorgan simulando ser el Administrador de Base de Datos</a:t>
            </a:r>
            <a:endParaRPr lang="es-CL" sz="1200" b="1" dirty="0">
              <a:solidFill>
                <a:schemeClr val="bg1"/>
              </a:solidFill>
            </a:endParaRPr>
          </a:p>
        </p:txBody>
      </p:sp>
    </p:spTree>
    <p:extLst>
      <p:ext uri="{BB962C8B-B14F-4D97-AF65-F5344CB8AC3E}">
        <p14:creationId xmlns:p14="http://schemas.microsoft.com/office/powerpoint/2010/main" val="167984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Privilegios de Sistema</a:t>
            </a:r>
          </a:p>
        </p:txBody>
      </p:sp>
      <p:pic>
        <p:nvPicPr>
          <p:cNvPr id="2" name="Imagen 1">
            <a:extLst>
              <a:ext uri="{FF2B5EF4-FFF2-40B4-BE49-F238E27FC236}">
                <a16:creationId xmlns:a16="http://schemas.microsoft.com/office/drawing/2014/main" xmlns="" id="{1879E74B-E667-4883-B73C-C75F5394B025}"/>
              </a:ext>
            </a:extLst>
          </p:cNvPr>
          <p:cNvPicPr>
            <a:picLocks noChangeAspect="1"/>
          </p:cNvPicPr>
          <p:nvPr/>
        </p:nvPicPr>
        <p:blipFill>
          <a:blip r:embed="rId3"/>
          <a:stretch>
            <a:fillRect/>
          </a:stretch>
        </p:blipFill>
        <p:spPr>
          <a:xfrm>
            <a:off x="779959" y="1245696"/>
            <a:ext cx="7584081" cy="5316173"/>
          </a:xfrm>
          <a:prstGeom prst="rect">
            <a:avLst/>
          </a:prstGeom>
        </p:spPr>
      </p:pic>
    </p:spTree>
    <p:extLst>
      <p:ext uri="{BB962C8B-B14F-4D97-AF65-F5344CB8AC3E}">
        <p14:creationId xmlns:p14="http://schemas.microsoft.com/office/powerpoint/2010/main" val="159065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Privilegios de Sistema</a:t>
            </a:r>
          </a:p>
        </p:txBody>
      </p:sp>
      <p:pic>
        <p:nvPicPr>
          <p:cNvPr id="6" name="Imagen 5">
            <a:extLst>
              <a:ext uri="{FF2B5EF4-FFF2-40B4-BE49-F238E27FC236}">
                <a16:creationId xmlns:a16="http://schemas.microsoft.com/office/drawing/2014/main" xmlns="" id="{94412165-B7FB-461D-A51F-83E4A77D3F5F}"/>
              </a:ext>
            </a:extLst>
          </p:cNvPr>
          <p:cNvPicPr>
            <a:picLocks noChangeAspect="1"/>
          </p:cNvPicPr>
          <p:nvPr/>
        </p:nvPicPr>
        <p:blipFill>
          <a:blip r:embed="rId3"/>
          <a:stretch>
            <a:fillRect/>
          </a:stretch>
        </p:blipFill>
        <p:spPr>
          <a:xfrm>
            <a:off x="166272" y="1301770"/>
            <a:ext cx="8783174" cy="4981061"/>
          </a:xfrm>
          <a:prstGeom prst="rect">
            <a:avLst/>
          </a:prstGeom>
        </p:spPr>
      </p:pic>
    </p:spTree>
    <p:extLst>
      <p:ext uri="{BB962C8B-B14F-4D97-AF65-F5344CB8AC3E}">
        <p14:creationId xmlns:p14="http://schemas.microsoft.com/office/powerpoint/2010/main" val="3828127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Otorgando Privilegios de Sistema</a:t>
            </a:r>
          </a:p>
        </p:txBody>
      </p:sp>
      <p:sp>
        <p:nvSpPr>
          <p:cNvPr id="7" name="Marcador de contenido 1">
            <a:extLst>
              <a:ext uri="{FF2B5EF4-FFF2-40B4-BE49-F238E27FC236}">
                <a16:creationId xmlns:a16="http://schemas.microsoft.com/office/drawing/2014/main" xmlns="" id="{E7649CE9-8263-4FBA-8204-5E6D9F5FC0B3}"/>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3A0F91E0-9DF8-461B-9629-314DCDA7F96B}"/>
              </a:ext>
            </a:extLst>
          </p:cNvPr>
          <p:cNvSpPr txBox="1">
            <a:spLocks noChangeArrowheads="1"/>
          </p:cNvSpPr>
          <p:nvPr/>
        </p:nvSpPr>
        <p:spPr bwMode="auto">
          <a:xfrm>
            <a:off x="1308194" y="1868270"/>
            <a:ext cx="6264696"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a:t>
            </a:r>
            <a:r>
              <a:rPr lang="en-US" sz="1600" b="1" i="1" dirty="0" err="1">
                <a:latin typeface="Calibri" panose="020F0502020204030204" pitchFamily="34" charset="0"/>
                <a:cs typeface="Calibri" panose="020F0502020204030204" pitchFamily="34" charset="0"/>
              </a:rPr>
              <a:t>privilegio_sistema</a:t>
            </a:r>
            <a:r>
              <a:rPr lang="en-US" sz="1600" b="1" dirty="0">
                <a:latin typeface="Calibri" panose="020F0502020204030204" pitchFamily="34" charset="0"/>
                <a:cs typeface="Calibri" panose="020F0502020204030204" pitchFamily="34" charset="0"/>
              </a:rPr>
              <a:t> [, </a:t>
            </a:r>
            <a:r>
              <a:rPr lang="en-US" sz="1600" b="1" i="1" dirty="0" err="1">
                <a:latin typeface="Calibri" panose="020F0502020204030204" pitchFamily="34" charset="0"/>
                <a:cs typeface="Calibri" panose="020F0502020204030204" pitchFamily="34" charset="0"/>
              </a:rPr>
              <a:t>privilegio_sistema</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TO </a:t>
            </a:r>
            <a:r>
              <a:rPr lang="en-US" sz="1600" b="1" i="1" dirty="0" err="1">
                <a:latin typeface="Calibri" panose="020F0502020204030204" pitchFamily="34" charset="0"/>
                <a:cs typeface="Calibri" panose="020F0502020204030204" pitchFamily="34" charset="0"/>
              </a:rPr>
              <a:t>usuario</a:t>
            </a:r>
            <a:r>
              <a:rPr lang="en-US" sz="1600" b="1" dirty="0">
                <a:latin typeface="Calibri" panose="020F0502020204030204" pitchFamily="34" charset="0"/>
                <a:cs typeface="Calibri" panose="020F0502020204030204" pitchFamily="34" charset="0"/>
              </a:rPr>
              <a:t> [, </a:t>
            </a:r>
            <a:r>
              <a:rPr lang="en-US" sz="1600" b="1" i="1" dirty="0" err="1">
                <a:latin typeface="Calibri" panose="020F0502020204030204" pitchFamily="34" charset="0"/>
                <a:cs typeface="Calibri" panose="020F0502020204030204" pitchFamily="34" charset="0"/>
              </a:rPr>
              <a:t>usuario</a:t>
            </a:r>
            <a:r>
              <a:rPr lang="en-US" sz="1600" b="1" dirty="0">
                <a:latin typeface="Calibri" panose="020F0502020204030204" pitchFamily="34" charset="0"/>
                <a:cs typeface="Calibri" panose="020F0502020204030204" pitchFamily="34" charset="0"/>
              </a:rPr>
              <a:t>| </a:t>
            </a:r>
            <a:r>
              <a:rPr lang="en-US" sz="1600" b="1" i="1" dirty="0" err="1">
                <a:latin typeface="Calibri" panose="020F0502020204030204" pitchFamily="34" charset="0"/>
                <a:cs typeface="Calibri" panose="020F0502020204030204" pitchFamily="34" charset="0"/>
              </a:rPr>
              <a:t>rol</a:t>
            </a:r>
            <a:r>
              <a:rPr lang="en-US" sz="1600" b="1" dirty="0">
                <a:latin typeface="Calibri" panose="020F0502020204030204" pitchFamily="34" charset="0"/>
                <a:cs typeface="Calibri" panose="020F0502020204030204" pitchFamily="34" charset="0"/>
              </a:rPr>
              <a:t>, PUBLIC...];</a:t>
            </a:r>
          </a:p>
          <a:p>
            <a:pPr algn="l" eaLnBrk="1" hangingPunct="1"/>
            <a:endParaRPr lang="es-MX" sz="800" b="1" dirty="0">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5AA3A6F6-5BB2-44F3-922B-1A95E1501AF8}"/>
              </a:ext>
            </a:extLst>
          </p:cNvPr>
          <p:cNvSpPr txBox="1">
            <a:spLocks noChangeArrowheads="1"/>
          </p:cNvSpPr>
          <p:nvPr/>
        </p:nvSpPr>
        <p:spPr bwMode="auto">
          <a:xfrm>
            <a:off x="1331640" y="3390091"/>
            <a:ext cx="6264696"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CREATE VIEW, CREATE SEQUENCE, CREATE MATERIALIZED VIEW</a:t>
            </a: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desarrollo_personal</a:t>
            </a:r>
            <a:r>
              <a:rPr lang="en-US" sz="1600" b="1" dirty="0">
                <a:latin typeface="Calibri" panose="020F0502020204030204" pitchFamily="34" charset="0"/>
                <a:cs typeface="Calibri" panose="020F0502020204030204" pitchFamily="34" charset="0"/>
              </a:rPr>
              <a:t>;</a:t>
            </a:r>
          </a:p>
          <a:p>
            <a:pPr algn="l" eaLnBrk="1" hangingPunct="1"/>
            <a:endParaRPr lang="es-MX" sz="800" b="1" dirty="0">
              <a:latin typeface="Calibri" panose="020F0502020204030204" pitchFamily="34" charset="0"/>
              <a:cs typeface="Calibri" panose="020F0502020204030204" pitchFamily="34" charset="0"/>
            </a:endParaRPr>
          </a:p>
        </p:txBody>
      </p:sp>
      <p:sp>
        <p:nvSpPr>
          <p:cNvPr id="10" name="Text Box 5">
            <a:extLst>
              <a:ext uri="{FF2B5EF4-FFF2-40B4-BE49-F238E27FC236}">
                <a16:creationId xmlns:a16="http://schemas.microsoft.com/office/drawing/2014/main" xmlns="" id="{353D273A-0097-4878-B697-B08896763BD3}"/>
              </a:ext>
            </a:extLst>
          </p:cNvPr>
          <p:cNvSpPr txBox="1">
            <a:spLocks noChangeArrowheads="1"/>
          </p:cNvSpPr>
          <p:nvPr/>
        </p:nvSpPr>
        <p:spPr bwMode="auto">
          <a:xfrm>
            <a:off x="1331640" y="4902259"/>
            <a:ext cx="6264696"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CREATE TABLE, CREATE INDEXTYPE, CREATE PROCEDURE,</a:t>
            </a:r>
          </a:p>
          <a:p>
            <a:pPr algn="l" eaLnBrk="1" hangingPunct="1"/>
            <a:r>
              <a:rPr lang="en-US" sz="1600" b="1" dirty="0">
                <a:latin typeface="Calibri" panose="020F0502020204030204" pitchFamily="34" charset="0"/>
                <a:cs typeface="Calibri" panose="020F0502020204030204" pitchFamily="34" charset="0"/>
              </a:rPr>
              <a:t>               CREATE TRIGGER, CREATE DATABASE LINK</a:t>
            </a: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desarrollo_finanzas</a:t>
            </a:r>
            <a:r>
              <a:rPr lang="en-US" sz="1600" b="1" dirty="0">
                <a:latin typeface="Calibri" panose="020F0502020204030204" pitchFamily="34" charset="0"/>
                <a:cs typeface="Calibri" panose="020F0502020204030204" pitchFamily="34" charset="0"/>
              </a:rPr>
              <a:t>; </a:t>
            </a:r>
          </a:p>
          <a:p>
            <a:pPr algn="l"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6856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Privilegios de Objetos</a:t>
            </a:r>
          </a:p>
        </p:txBody>
      </p:sp>
      <p:pic>
        <p:nvPicPr>
          <p:cNvPr id="2" name="Imagen 1">
            <a:extLst>
              <a:ext uri="{FF2B5EF4-FFF2-40B4-BE49-F238E27FC236}">
                <a16:creationId xmlns:a16="http://schemas.microsoft.com/office/drawing/2014/main" xmlns="" id="{E2053BE7-5728-4F0A-A492-DE65A230089D}"/>
              </a:ext>
            </a:extLst>
          </p:cNvPr>
          <p:cNvPicPr>
            <a:picLocks noChangeAspect="1"/>
          </p:cNvPicPr>
          <p:nvPr/>
        </p:nvPicPr>
        <p:blipFill>
          <a:blip r:embed="rId3"/>
          <a:stretch>
            <a:fillRect/>
          </a:stretch>
        </p:blipFill>
        <p:spPr>
          <a:xfrm>
            <a:off x="663334" y="1159156"/>
            <a:ext cx="7999401" cy="5474191"/>
          </a:xfrm>
          <a:prstGeom prst="rect">
            <a:avLst/>
          </a:prstGeom>
        </p:spPr>
      </p:pic>
    </p:spTree>
    <p:extLst>
      <p:ext uri="{BB962C8B-B14F-4D97-AF65-F5344CB8AC3E}">
        <p14:creationId xmlns:p14="http://schemas.microsoft.com/office/powerpoint/2010/main" val="1800340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Otorgando Privilegios de Objetos</a:t>
            </a:r>
          </a:p>
        </p:txBody>
      </p:sp>
      <p:sp>
        <p:nvSpPr>
          <p:cNvPr id="6" name="Marcador de contenido 1">
            <a:extLst>
              <a:ext uri="{FF2B5EF4-FFF2-40B4-BE49-F238E27FC236}">
                <a16:creationId xmlns:a16="http://schemas.microsoft.com/office/drawing/2014/main" xmlns="" id="{A6C10E15-4E3C-438D-8690-AB2D0ABC51BE}"/>
              </a:ext>
            </a:extLst>
          </p:cNvPr>
          <p:cNvSpPr txBox="1">
            <a:spLocks/>
          </p:cNvSpPr>
          <p:nvPr/>
        </p:nvSpPr>
        <p:spPr>
          <a:xfrm>
            <a:off x="662880"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A553F569-92DA-48E1-831E-968133BE6A22}"/>
              </a:ext>
            </a:extLst>
          </p:cNvPr>
          <p:cNvSpPr txBox="1">
            <a:spLocks noChangeArrowheads="1"/>
          </p:cNvSpPr>
          <p:nvPr/>
        </p:nvSpPr>
        <p:spPr bwMode="auto">
          <a:xfrm>
            <a:off x="1331640" y="4761983"/>
            <a:ext cx="6048672" cy="1323439"/>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a:t>
            </a:r>
            <a:r>
              <a:rPr lang="en-US" sz="1600" b="1" i="1" dirty="0" err="1">
                <a:latin typeface="Calibri" panose="020F0502020204030204" pitchFamily="34" charset="0"/>
                <a:cs typeface="Calibri" panose="020F0502020204030204" pitchFamily="34" charset="0"/>
              </a:rPr>
              <a:t>privilegio_objeto</a:t>
            </a:r>
            <a:r>
              <a:rPr lang="en-US" sz="1600" b="1" dirty="0">
                <a:latin typeface="Calibri" panose="020F0502020204030204" pitchFamily="34" charset="0"/>
                <a:cs typeface="Calibri" panose="020F0502020204030204" pitchFamily="34" charset="0"/>
              </a:rPr>
              <a:t> [(</a:t>
            </a:r>
            <a:r>
              <a:rPr lang="en-US" sz="1600" b="1" i="1" dirty="0" err="1">
                <a:latin typeface="Calibri" panose="020F0502020204030204" pitchFamily="34" charset="0"/>
                <a:cs typeface="Calibri" panose="020F0502020204030204" pitchFamily="34" charset="0"/>
              </a:rPr>
              <a:t>columnas</a:t>
            </a:r>
            <a:r>
              <a:rPr lang="en-US" sz="1600" b="1" dirty="0">
                <a:latin typeface="Calibri" panose="020F0502020204030204" pitchFamily="34" charset="0"/>
                <a:cs typeface="Calibri" panose="020F0502020204030204" pitchFamily="34" charset="0"/>
              </a:rPr>
              <a:t>)] | ALL}</a:t>
            </a:r>
          </a:p>
          <a:p>
            <a:pPr algn="l" eaLnBrk="1" hangingPunct="1"/>
            <a:r>
              <a:rPr lang="en-US" sz="1600" b="1" dirty="0">
                <a:latin typeface="Calibri" panose="020F0502020204030204" pitchFamily="34" charset="0"/>
                <a:cs typeface="Calibri" panose="020F0502020204030204" pitchFamily="34" charset="0"/>
              </a:rPr>
              <a:t> ON </a:t>
            </a:r>
            <a:r>
              <a:rPr lang="en-US" sz="1600" b="1" i="1" dirty="0" err="1">
                <a:latin typeface="Calibri" panose="020F0502020204030204" pitchFamily="34" charset="0"/>
                <a:cs typeface="Calibri" panose="020F0502020204030204" pitchFamily="34" charset="0"/>
              </a:rPr>
              <a:t>objeto</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 TO {</a:t>
            </a:r>
            <a:r>
              <a:rPr lang="en-US" sz="1600" b="1" i="1" dirty="0" err="1">
                <a:latin typeface="Calibri" panose="020F0502020204030204" pitchFamily="34" charset="0"/>
                <a:cs typeface="Calibri" panose="020F0502020204030204" pitchFamily="34" charset="0"/>
              </a:rPr>
              <a:t>usuario</a:t>
            </a:r>
            <a:r>
              <a:rPr lang="en-US" sz="1600" b="1" dirty="0" err="1">
                <a:latin typeface="Calibri" panose="020F0502020204030204" pitchFamily="34" charset="0"/>
                <a:cs typeface="Calibri" panose="020F0502020204030204" pitchFamily="34" charset="0"/>
              </a:rPr>
              <a:t>|</a:t>
            </a:r>
            <a:r>
              <a:rPr lang="en-US" sz="1600" b="1" i="1" dirty="0" err="1">
                <a:latin typeface="Calibri" panose="020F0502020204030204" pitchFamily="34" charset="0"/>
                <a:cs typeface="Calibri" panose="020F0502020204030204" pitchFamily="34" charset="0"/>
              </a:rPr>
              <a:t>rol</a:t>
            </a:r>
            <a:r>
              <a:rPr lang="en-US" sz="1600" b="1" dirty="0" err="1">
                <a:latin typeface="Calibri" panose="020F0502020204030204" pitchFamily="34" charset="0"/>
                <a:cs typeface="Calibri" panose="020F0502020204030204" pitchFamily="34" charset="0"/>
              </a:rPr>
              <a:t>|PUBLIC</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 [WITH GRANT OPTION];</a:t>
            </a:r>
          </a:p>
          <a:p>
            <a:pPr algn="l" eaLnBrk="1" hangingPunct="1"/>
            <a:endParaRPr lang="es-MX" sz="800" b="1" dirty="0">
              <a:latin typeface="Calibri" panose="020F0502020204030204" pitchFamily="34" charset="0"/>
              <a:cs typeface="Calibri" panose="020F0502020204030204" pitchFamily="34" charset="0"/>
            </a:endParaRPr>
          </a:p>
        </p:txBody>
      </p:sp>
      <p:pic>
        <p:nvPicPr>
          <p:cNvPr id="8" name="Imagen 7">
            <a:extLst>
              <a:ext uri="{FF2B5EF4-FFF2-40B4-BE49-F238E27FC236}">
                <a16:creationId xmlns:a16="http://schemas.microsoft.com/office/drawing/2014/main" xmlns="" id="{E1B4C39D-1D00-4672-B228-73918DFF0CD8}"/>
              </a:ext>
            </a:extLst>
          </p:cNvPr>
          <p:cNvPicPr>
            <a:picLocks noChangeAspect="1"/>
          </p:cNvPicPr>
          <p:nvPr/>
        </p:nvPicPr>
        <p:blipFill>
          <a:blip r:embed="rId3"/>
          <a:stretch>
            <a:fillRect/>
          </a:stretch>
        </p:blipFill>
        <p:spPr>
          <a:xfrm>
            <a:off x="505615" y="1223537"/>
            <a:ext cx="8132769" cy="3151905"/>
          </a:xfrm>
          <a:prstGeom prst="rect">
            <a:avLst/>
          </a:prstGeom>
        </p:spPr>
      </p:pic>
    </p:spTree>
    <p:extLst>
      <p:ext uri="{BB962C8B-B14F-4D97-AF65-F5344CB8AC3E}">
        <p14:creationId xmlns:p14="http://schemas.microsoft.com/office/powerpoint/2010/main" val="4070385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Otorgando Privilegios de Objetos</a:t>
            </a:r>
          </a:p>
        </p:txBody>
      </p:sp>
      <p:sp>
        <p:nvSpPr>
          <p:cNvPr id="7" name="Marcador de contenido 1">
            <a:extLst>
              <a:ext uri="{FF2B5EF4-FFF2-40B4-BE49-F238E27FC236}">
                <a16:creationId xmlns:a16="http://schemas.microsoft.com/office/drawing/2014/main" xmlns="" id="{F535AA56-55A9-486F-9E11-98178E43F9EF}"/>
              </a:ext>
            </a:extLst>
          </p:cNvPr>
          <p:cNvSpPr txBox="1">
            <a:spLocks/>
          </p:cNvSpPr>
          <p:nvPr/>
        </p:nvSpPr>
        <p:spPr>
          <a:xfrm>
            <a:off x="590872" y="1123562"/>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08D0281F-4D81-4826-A40D-710057A6FF52}"/>
              </a:ext>
            </a:extLst>
          </p:cNvPr>
          <p:cNvSpPr txBox="1">
            <a:spLocks noChangeArrowheads="1"/>
          </p:cNvSpPr>
          <p:nvPr/>
        </p:nvSpPr>
        <p:spPr bwMode="auto">
          <a:xfrm>
            <a:off x="1319917" y="1724254"/>
            <a:ext cx="60486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SELECT</a:t>
            </a:r>
          </a:p>
          <a:p>
            <a:pPr algn="l" eaLnBrk="1" hangingPunct="1"/>
            <a:r>
              <a:rPr lang="en-US" sz="1600" b="1" dirty="0">
                <a:latin typeface="Calibri" panose="020F0502020204030204" pitchFamily="34" charset="0"/>
                <a:cs typeface="Calibri" panose="020F0502020204030204" pitchFamily="34" charset="0"/>
              </a:rPr>
              <a:t>ON  </a:t>
            </a:r>
            <a:r>
              <a:rPr lang="en-US" sz="1600" b="1" dirty="0" err="1">
                <a:latin typeface="Calibri" panose="020F0502020204030204" pitchFamily="34" charset="0"/>
                <a:cs typeface="Calibri" panose="020F0502020204030204" pitchFamily="34" charset="0"/>
              </a:rPr>
              <a:t>hr.employees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desarrollo_personal</a:t>
            </a:r>
            <a:r>
              <a:rPr lang="en-US" sz="1600" b="1" dirty="0">
                <a:latin typeface="Calibri" panose="020F0502020204030204" pitchFamily="34" charset="0"/>
                <a:cs typeface="Calibri" panose="020F0502020204030204" pitchFamily="34" charset="0"/>
              </a:rPr>
              <a:t>;</a:t>
            </a:r>
          </a:p>
          <a:p>
            <a:pPr algn="l" eaLnBrk="1" hangingPunct="1"/>
            <a:endParaRPr lang="es-MX" sz="800" b="1" dirty="0">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B5E9B308-3951-429C-95E1-137C4C3A6EB0}"/>
              </a:ext>
            </a:extLst>
          </p:cNvPr>
          <p:cNvSpPr txBox="1">
            <a:spLocks noChangeArrowheads="1"/>
          </p:cNvSpPr>
          <p:nvPr/>
        </p:nvSpPr>
        <p:spPr bwMode="auto">
          <a:xfrm>
            <a:off x="1331640" y="3249815"/>
            <a:ext cx="60486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UPDATE (</a:t>
            </a:r>
            <a:r>
              <a:rPr lang="en-US" sz="1600" b="1" dirty="0" err="1">
                <a:latin typeface="Calibri" panose="020F0502020204030204" pitchFamily="34" charset="0"/>
                <a:cs typeface="Calibri" panose="020F0502020204030204" pitchFamily="34" charset="0"/>
              </a:rPr>
              <a:t>department_name</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location_id</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ON  </a:t>
            </a:r>
            <a:r>
              <a:rPr lang="en-US" sz="1600" b="1" dirty="0" err="1">
                <a:latin typeface="Calibri" panose="020F0502020204030204" pitchFamily="34" charset="0"/>
                <a:cs typeface="Calibri" panose="020F0502020204030204" pitchFamily="34" charset="0"/>
              </a:rPr>
              <a:t>hr.departments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desarrollo_finanzas</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desarrollo_personal</a:t>
            </a:r>
            <a:r>
              <a:rPr lang="en-US" sz="1600" b="1" dirty="0">
                <a:latin typeface="Calibri" panose="020F0502020204030204" pitchFamily="34" charset="0"/>
                <a:cs typeface="Calibri" panose="020F0502020204030204" pitchFamily="34" charset="0"/>
              </a:rPr>
              <a:t>; </a:t>
            </a:r>
          </a:p>
          <a:p>
            <a:pPr algn="l" eaLnBrk="1" hangingPunct="1"/>
            <a:endParaRPr lang="es-MX" sz="800" b="1" dirty="0">
              <a:latin typeface="Calibri" panose="020F0502020204030204" pitchFamily="34" charset="0"/>
              <a:cs typeface="Calibri" panose="020F0502020204030204" pitchFamily="34" charset="0"/>
            </a:endParaRPr>
          </a:p>
        </p:txBody>
      </p:sp>
      <p:sp>
        <p:nvSpPr>
          <p:cNvPr id="10" name="Text Box 5">
            <a:extLst>
              <a:ext uri="{FF2B5EF4-FFF2-40B4-BE49-F238E27FC236}">
                <a16:creationId xmlns:a16="http://schemas.microsoft.com/office/drawing/2014/main" xmlns="" id="{41B8ABBF-3CBF-4A41-9CDB-4966CC555750}"/>
              </a:ext>
            </a:extLst>
          </p:cNvPr>
          <p:cNvSpPr txBox="1">
            <a:spLocks noChangeArrowheads="1"/>
          </p:cNvSpPr>
          <p:nvPr/>
        </p:nvSpPr>
        <p:spPr bwMode="auto">
          <a:xfrm>
            <a:off x="1319917" y="4774429"/>
            <a:ext cx="6048672" cy="1323439"/>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SELECT, INSERT</a:t>
            </a:r>
          </a:p>
          <a:p>
            <a:pPr algn="l" eaLnBrk="1" hangingPunct="1"/>
            <a:r>
              <a:rPr lang="en-US" sz="1600" b="1" dirty="0">
                <a:latin typeface="Calibri" panose="020F0502020204030204" pitchFamily="34" charset="0"/>
                <a:cs typeface="Calibri" panose="020F0502020204030204" pitchFamily="34" charset="0"/>
              </a:rPr>
              <a:t>ON  </a:t>
            </a:r>
            <a:r>
              <a:rPr lang="en-US" sz="1600" b="1" dirty="0" err="1">
                <a:latin typeface="Calibri" panose="020F0502020204030204" pitchFamily="34" charset="0"/>
                <a:cs typeface="Calibri" panose="020F0502020204030204" pitchFamily="34" charset="0"/>
              </a:rPr>
              <a:t>hr.departments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desarrollo_personal</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WITH GRANT OPTION </a:t>
            </a:r>
          </a:p>
          <a:p>
            <a:pPr algn="l"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6910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Otorgando Privilegios de Objetos</a:t>
            </a:r>
          </a:p>
        </p:txBody>
      </p:sp>
      <p:sp>
        <p:nvSpPr>
          <p:cNvPr id="11" name="Marcador de contenido 1">
            <a:extLst>
              <a:ext uri="{FF2B5EF4-FFF2-40B4-BE49-F238E27FC236}">
                <a16:creationId xmlns:a16="http://schemas.microsoft.com/office/drawing/2014/main" xmlns="" id="{1B479AB8-1978-4E35-803C-50275CE80510}"/>
              </a:ext>
            </a:extLst>
          </p:cNvPr>
          <p:cNvSpPr txBox="1">
            <a:spLocks/>
          </p:cNvSpPr>
          <p:nvPr/>
        </p:nvSpPr>
        <p:spPr>
          <a:xfrm>
            <a:off x="590872" y="1123562"/>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16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12" name="Text Box 5">
            <a:extLst>
              <a:ext uri="{FF2B5EF4-FFF2-40B4-BE49-F238E27FC236}">
                <a16:creationId xmlns:a16="http://schemas.microsoft.com/office/drawing/2014/main" xmlns="" id="{96C7542C-6BF2-44C2-877B-1078492A47B1}"/>
              </a:ext>
            </a:extLst>
          </p:cNvPr>
          <p:cNvSpPr txBox="1">
            <a:spLocks noChangeArrowheads="1"/>
          </p:cNvSpPr>
          <p:nvPr/>
        </p:nvSpPr>
        <p:spPr bwMode="auto">
          <a:xfrm>
            <a:off x="1319917" y="1724254"/>
            <a:ext cx="60486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READ</a:t>
            </a:r>
          </a:p>
          <a:p>
            <a:pPr algn="l" eaLnBrk="1" hangingPunct="1"/>
            <a:r>
              <a:rPr lang="en-US" sz="1600" b="1" dirty="0">
                <a:latin typeface="Calibri" panose="020F0502020204030204" pitchFamily="34" charset="0"/>
                <a:cs typeface="Calibri" panose="020F0502020204030204" pitchFamily="34" charset="0"/>
              </a:rPr>
              <a:t>ON  hr.jobs</a:t>
            </a: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desarrollo_personal</a:t>
            </a:r>
            <a:r>
              <a:rPr lang="en-US" sz="1600" b="1" dirty="0">
                <a:latin typeface="Calibri" panose="020F0502020204030204" pitchFamily="34" charset="0"/>
                <a:cs typeface="Calibri" panose="020F0502020204030204" pitchFamily="34" charset="0"/>
              </a:rPr>
              <a:t>;</a:t>
            </a:r>
          </a:p>
          <a:p>
            <a:pPr algn="l" eaLnBrk="1" hangingPunct="1"/>
            <a:endParaRPr lang="es-MX" sz="800" b="1" dirty="0">
              <a:latin typeface="Calibri" panose="020F0502020204030204" pitchFamily="34" charset="0"/>
              <a:cs typeface="Calibri" panose="020F0502020204030204" pitchFamily="34" charset="0"/>
            </a:endParaRPr>
          </a:p>
        </p:txBody>
      </p:sp>
      <p:sp>
        <p:nvSpPr>
          <p:cNvPr id="13" name="Text Box 5">
            <a:extLst>
              <a:ext uri="{FF2B5EF4-FFF2-40B4-BE49-F238E27FC236}">
                <a16:creationId xmlns:a16="http://schemas.microsoft.com/office/drawing/2014/main" xmlns="" id="{E064384E-E22D-4216-AF74-96E09C4779E7}"/>
              </a:ext>
            </a:extLst>
          </p:cNvPr>
          <p:cNvSpPr txBox="1">
            <a:spLocks noChangeArrowheads="1"/>
          </p:cNvSpPr>
          <p:nvPr/>
        </p:nvSpPr>
        <p:spPr bwMode="auto">
          <a:xfrm>
            <a:off x="1331640" y="5334307"/>
            <a:ext cx="6048672"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ALL ON </a:t>
            </a:r>
            <a:r>
              <a:rPr lang="en-US" sz="1600" b="1" dirty="0" err="1">
                <a:latin typeface="Calibri" panose="020F0502020204030204" pitchFamily="34" charset="0"/>
                <a:cs typeface="Calibri" panose="020F0502020204030204" pitchFamily="34" charset="0"/>
              </a:rPr>
              <a:t>hr.employees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TO </a:t>
            </a:r>
            <a:r>
              <a:rPr lang="en-US" sz="1600" b="1" dirty="0" err="1">
                <a:latin typeface="Calibri" panose="020F0502020204030204" pitchFamily="34" charset="0"/>
                <a:cs typeface="Calibri" panose="020F0502020204030204" pitchFamily="34" charset="0"/>
              </a:rPr>
              <a:t>administrador</a:t>
            </a:r>
            <a:r>
              <a:rPr lang="en-US" sz="1600" b="1" dirty="0">
                <a:latin typeface="Calibri" panose="020F0502020204030204" pitchFamily="34" charset="0"/>
                <a:cs typeface="Calibri" panose="020F0502020204030204" pitchFamily="34" charset="0"/>
              </a:rPr>
              <a:t>; </a:t>
            </a:r>
          </a:p>
          <a:p>
            <a:pPr algn="l" eaLnBrk="1" hangingPunct="1"/>
            <a:endParaRPr lang="es-MX" sz="800" b="1" dirty="0">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2C70D437-8AF1-408D-A259-44ECEF82CE33}"/>
              </a:ext>
            </a:extLst>
          </p:cNvPr>
          <p:cNvSpPr txBox="1">
            <a:spLocks noChangeArrowheads="1"/>
          </p:cNvSpPr>
          <p:nvPr/>
        </p:nvSpPr>
        <p:spPr bwMode="auto">
          <a:xfrm>
            <a:off x="1331640" y="3573016"/>
            <a:ext cx="60486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GRANT  SELECT</a:t>
            </a:r>
          </a:p>
          <a:p>
            <a:pPr algn="l" eaLnBrk="1" hangingPunct="1"/>
            <a:r>
              <a:rPr lang="en-US" sz="1600" b="1" dirty="0">
                <a:latin typeface="Calibri" panose="020F0502020204030204" pitchFamily="34" charset="0"/>
                <a:cs typeface="Calibri" panose="020F0502020204030204" pitchFamily="34" charset="0"/>
              </a:rPr>
              <a:t>ON </a:t>
            </a:r>
            <a:r>
              <a:rPr lang="en-US" sz="1600" b="1" dirty="0" err="1">
                <a:latin typeface="Calibri" panose="020F0502020204030204" pitchFamily="34" charset="0"/>
                <a:cs typeface="Calibri" panose="020F0502020204030204" pitchFamily="34" charset="0"/>
              </a:rPr>
              <a:t>hr.departments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TO PUBLIC;</a:t>
            </a:r>
          </a:p>
          <a:p>
            <a:pPr algn="l"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5742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Usando los objetos sobre los que se asignaron privilegios</a:t>
            </a:r>
          </a:p>
        </p:txBody>
      </p:sp>
      <p:pic>
        <p:nvPicPr>
          <p:cNvPr id="2" name="Imagen 1">
            <a:extLst>
              <a:ext uri="{FF2B5EF4-FFF2-40B4-BE49-F238E27FC236}">
                <a16:creationId xmlns:a16="http://schemas.microsoft.com/office/drawing/2014/main" xmlns="" id="{D37D9AF1-816E-4AF4-8C2B-3C6F9D1AD36B}"/>
              </a:ext>
            </a:extLst>
          </p:cNvPr>
          <p:cNvPicPr>
            <a:picLocks noChangeAspect="1"/>
          </p:cNvPicPr>
          <p:nvPr/>
        </p:nvPicPr>
        <p:blipFill>
          <a:blip r:embed="rId3"/>
          <a:stretch>
            <a:fillRect/>
          </a:stretch>
        </p:blipFill>
        <p:spPr>
          <a:xfrm>
            <a:off x="507025" y="1149183"/>
            <a:ext cx="8059611" cy="3328704"/>
          </a:xfrm>
          <a:prstGeom prst="rect">
            <a:avLst/>
          </a:prstGeom>
        </p:spPr>
      </p:pic>
      <p:sp>
        <p:nvSpPr>
          <p:cNvPr id="9" name="Text Box 5">
            <a:extLst>
              <a:ext uri="{FF2B5EF4-FFF2-40B4-BE49-F238E27FC236}">
                <a16:creationId xmlns:a16="http://schemas.microsoft.com/office/drawing/2014/main" xmlns="" id="{FEF03F38-E476-4FFA-8530-E90F1176F8E1}"/>
              </a:ext>
            </a:extLst>
          </p:cNvPr>
          <p:cNvSpPr txBox="1">
            <a:spLocks noChangeArrowheads="1"/>
          </p:cNvSpPr>
          <p:nvPr/>
        </p:nvSpPr>
        <p:spPr bwMode="auto">
          <a:xfrm>
            <a:off x="329311" y="4592919"/>
            <a:ext cx="3803072"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SELECT * </a:t>
            </a:r>
          </a:p>
          <a:p>
            <a:pPr algn="l" eaLnBrk="1" hangingPunct="1"/>
            <a:r>
              <a:rPr lang="en-US" sz="1600" b="1" dirty="0">
                <a:latin typeface="Calibri" panose="020F0502020204030204" pitchFamily="34" charset="0"/>
                <a:cs typeface="Calibri" panose="020F0502020204030204" pitchFamily="34" charset="0"/>
              </a:rPr>
              <a:t>FROM  </a:t>
            </a:r>
            <a:r>
              <a:rPr lang="en-US" sz="1600" b="1" dirty="0" err="1">
                <a:latin typeface="Calibri" panose="020F0502020204030204" pitchFamily="34" charset="0"/>
                <a:cs typeface="Calibri" panose="020F0502020204030204" pitchFamily="34" charset="0"/>
              </a:rPr>
              <a:t>hr.employees</a:t>
            </a:r>
            <a:r>
              <a:rPr lang="en-US" sz="1600" b="1" dirty="0">
                <a:latin typeface="Calibri" panose="020F0502020204030204" pitchFamily="34" charset="0"/>
                <a:cs typeface="Calibri" panose="020F0502020204030204" pitchFamily="34" charset="0"/>
              </a:rPr>
              <a:t>;</a:t>
            </a:r>
          </a:p>
          <a:p>
            <a:pPr algn="l" eaLnBrk="1" hangingPunct="1"/>
            <a:endParaRPr lang="en-US" sz="800" b="1" dirty="0">
              <a:latin typeface="Calibri" panose="020F0502020204030204" pitchFamily="34" charset="0"/>
              <a:cs typeface="Calibri" panose="020F0502020204030204" pitchFamily="34" charset="0"/>
            </a:endParaRPr>
          </a:p>
        </p:txBody>
      </p:sp>
      <p:sp>
        <p:nvSpPr>
          <p:cNvPr id="13" name="Text Box 5">
            <a:extLst>
              <a:ext uri="{FF2B5EF4-FFF2-40B4-BE49-F238E27FC236}">
                <a16:creationId xmlns:a16="http://schemas.microsoft.com/office/drawing/2014/main" xmlns="" id="{81526610-4B87-4374-9771-3A35BEDCF37C}"/>
              </a:ext>
            </a:extLst>
          </p:cNvPr>
          <p:cNvSpPr txBox="1">
            <a:spLocks noChangeArrowheads="1"/>
          </p:cNvSpPr>
          <p:nvPr/>
        </p:nvSpPr>
        <p:spPr bwMode="auto">
          <a:xfrm>
            <a:off x="323448" y="5589387"/>
            <a:ext cx="38030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UPDATE  </a:t>
            </a:r>
            <a:r>
              <a:rPr lang="en-US" sz="1600" b="1" dirty="0" err="1">
                <a:latin typeface="Calibri" panose="020F0502020204030204" pitchFamily="34" charset="0"/>
                <a:cs typeface="Calibri" panose="020F0502020204030204" pitchFamily="34" charset="0"/>
              </a:rPr>
              <a:t>hr.departments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       SET </a:t>
            </a:r>
            <a:r>
              <a:rPr lang="en-US" sz="1600" b="1" dirty="0" err="1">
                <a:latin typeface="Calibri" panose="020F0502020204030204" pitchFamily="34" charset="0"/>
                <a:cs typeface="Calibri" panose="020F0502020204030204" pitchFamily="34" charset="0"/>
              </a:rPr>
              <a:t>location_id</a:t>
            </a:r>
            <a:r>
              <a:rPr lang="en-US" sz="1600" b="1" dirty="0">
                <a:latin typeface="Calibri" panose="020F0502020204030204" pitchFamily="34" charset="0"/>
                <a:cs typeface="Calibri" panose="020F0502020204030204" pitchFamily="34" charset="0"/>
              </a:rPr>
              <a:t>=1700</a:t>
            </a:r>
          </a:p>
          <a:p>
            <a:pPr algn="l" eaLnBrk="1" hangingPunct="1"/>
            <a:r>
              <a:rPr lang="en-US" sz="1600" b="1" dirty="0">
                <a:latin typeface="Calibri" panose="020F0502020204030204" pitchFamily="34" charset="0"/>
                <a:cs typeface="Calibri" panose="020F0502020204030204" pitchFamily="34" charset="0"/>
              </a:rPr>
              <a:t>WHERE </a:t>
            </a:r>
            <a:r>
              <a:rPr lang="en-US" sz="1600" b="1" dirty="0" err="1">
                <a:latin typeface="Calibri" panose="020F0502020204030204" pitchFamily="34" charset="0"/>
                <a:cs typeface="Calibri" panose="020F0502020204030204" pitchFamily="34" charset="0"/>
              </a:rPr>
              <a:t>department_id</a:t>
            </a:r>
            <a:r>
              <a:rPr lang="en-US" sz="1600" b="1" dirty="0">
                <a:latin typeface="Calibri" panose="020F0502020204030204" pitchFamily="34" charset="0"/>
                <a:cs typeface="Calibri" panose="020F0502020204030204" pitchFamily="34" charset="0"/>
              </a:rPr>
              <a:t>=20;</a:t>
            </a:r>
          </a:p>
          <a:p>
            <a:pPr algn="l" eaLnBrk="1" hangingPunct="1"/>
            <a:endParaRPr lang="es-MX" sz="800" b="1" dirty="0">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93302B94-A5A5-4CB4-8B2C-8AE742119BF4}"/>
              </a:ext>
            </a:extLst>
          </p:cNvPr>
          <p:cNvSpPr txBox="1">
            <a:spLocks noChangeArrowheads="1"/>
          </p:cNvSpPr>
          <p:nvPr/>
        </p:nvSpPr>
        <p:spPr bwMode="auto">
          <a:xfrm>
            <a:off x="5176807" y="4604639"/>
            <a:ext cx="3803072"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SELECT * </a:t>
            </a:r>
          </a:p>
          <a:p>
            <a:pPr algn="l" eaLnBrk="1" hangingPunct="1"/>
            <a:r>
              <a:rPr lang="en-US" sz="1600" b="1" dirty="0">
                <a:latin typeface="Calibri" panose="020F0502020204030204" pitchFamily="34" charset="0"/>
                <a:cs typeface="Calibri" panose="020F0502020204030204" pitchFamily="34" charset="0"/>
              </a:rPr>
              <a:t>FROM  </a:t>
            </a:r>
            <a:r>
              <a:rPr lang="en-US" sz="1600" b="1" dirty="0" err="1">
                <a:latin typeface="Calibri" panose="020F0502020204030204" pitchFamily="34" charset="0"/>
                <a:cs typeface="Calibri" panose="020F0502020204030204" pitchFamily="34" charset="0"/>
              </a:rPr>
              <a:t>syn_empleados</a:t>
            </a:r>
            <a:r>
              <a:rPr lang="en-US" sz="1600" b="1" dirty="0">
                <a:latin typeface="Calibri" panose="020F0502020204030204" pitchFamily="34" charset="0"/>
                <a:cs typeface="Calibri" panose="020F0502020204030204" pitchFamily="34" charset="0"/>
              </a:rPr>
              <a:t>;</a:t>
            </a:r>
          </a:p>
          <a:p>
            <a:pPr algn="l" eaLnBrk="1" hangingPunct="1"/>
            <a:endParaRPr lang="en-US" sz="800" b="1" dirty="0">
              <a:latin typeface="Calibri" panose="020F0502020204030204" pitchFamily="34" charset="0"/>
              <a:cs typeface="Calibri" panose="020F0502020204030204" pitchFamily="34" charset="0"/>
            </a:endParaRPr>
          </a:p>
        </p:txBody>
      </p:sp>
      <p:sp>
        <p:nvSpPr>
          <p:cNvPr id="15" name="Text Box 5">
            <a:extLst>
              <a:ext uri="{FF2B5EF4-FFF2-40B4-BE49-F238E27FC236}">
                <a16:creationId xmlns:a16="http://schemas.microsoft.com/office/drawing/2014/main" xmlns="" id="{C57321FB-03DD-4429-B5FA-F9966796A577}"/>
              </a:ext>
            </a:extLst>
          </p:cNvPr>
          <p:cNvSpPr txBox="1">
            <a:spLocks noChangeArrowheads="1"/>
          </p:cNvSpPr>
          <p:nvPr/>
        </p:nvSpPr>
        <p:spPr bwMode="auto">
          <a:xfrm>
            <a:off x="5170944" y="5601107"/>
            <a:ext cx="380307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UPDATE  </a:t>
            </a:r>
            <a:r>
              <a:rPr lang="en-US" sz="1600" b="1" dirty="0" err="1">
                <a:latin typeface="Calibri" panose="020F0502020204030204" pitchFamily="34" charset="0"/>
                <a:cs typeface="Calibri" panose="020F0502020204030204" pitchFamily="34" charset="0"/>
              </a:rPr>
              <a:t>syn_departamentos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       SET </a:t>
            </a:r>
            <a:r>
              <a:rPr lang="en-US" sz="1600" b="1" dirty="0" err="1">
                <a:latin typeface="Calibri" panose="020F0502020204030204" pitchFamily="34" charset="0"/>
                <a:cs typeface="Calibri" panose="020F0502020204030204" pitchFamily="34" charset="0"/>
              </a:rPr>
              <a:t>location_id</a:t>
            </a:r>
            <a:r>
              <a:rPr lang="en-US" sz="1600" b="1" dirty="0">
                <a:latin typeface="Calibri" panose="020F0502020204030204" pitchFamily="34" charset="0"/>
                <a:cs typeface="Calibri" panose="020F0502020204030204" pitchFamily="34" charset="0"/>
              </a:rPr>
              <a:t>=1700</a:t>
            </a:r>
          </a:p>
          <a:p>
            <a:pPr algn="l" eaLnBrk="1" hangingPunct="1"/>
            <a:r>
              <a:rPr lang="en-US" sz="1600" b="1" dirty="0">
                <a:latin typeface="Calibri" panose="020F0502020204030204" pitchFamily="34" charset="0"/>
                <a:cs typeface="Calibri" panose="020F0502020204030204" pitchFamily="34" charset="0"/>
              </a:rPr>
              <a:t>WHERE </a:t>
            </a:r>
            <a:r>
              <a:rPr lang="en-US" sz="1600" b="1" dirty="0" err="1">
                <a:latin typeface="Calibri" panose="020F0502020204030204" pitchFamily="34" charset="0"/>
                <a:cs typeface="Calibri" panose="020F0502020204030204" pitchFamily="34" charset="0"/>
              </a:rPr>
              <a:t>department_id</a:t>
            </a:r>
            <a:r>
              <a:rPr lang="en-US" sz="1600" b="1" dirty="0">
                <a:latin typeface="Calibri" panose="020F0502020204030204" pitchFamily="34" charset="0"/>
                <a:cs typeface="Calibri" panose="020F0502020204030204" pitchFamily="34" charset="0"/>
              </a:rPr>
              <a:t>=20;</a:t>
            </a:r>
          </a:p>
          <a:p>
            <a:pPr algn="l"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119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257808"/>
            <a:ext cx="6499771" cy="1499419"/>
          </a:xfrm>
        </p:spPr>
        <p:txBody>
          <a:bodyPr/>
          <a:lstStyle/>
          <a:p>
            <a:r>
              <a:rPr lang="es-ES_tradnl" sz="4800" b="1" dirty="0"/>
              <a:t>Asignación de </a:t>
            </a:r>
            <a:br>
              <a:rPr lang="es-ES_tradnl" sz="4800" b="1" dirty="0"/>
            </a:br>
            <a:r>
              <a:rPr lang="es-ES_tradnl" sz="4800" b="1" dirty="0"/>
              <a:t>Privilegios a través </a:t>
            </a:r>
            <a:br>
              <a:rPr lang="es-ES_tradnl" sz="4800" b="1" dirty="0"/>
            </a:br>
            <a:r>
              <a:rPr lang="es-ES_tradnl" sz="4800" b="1" dirty="0"/>
              <a:t>de Roles</a:t>
            </a:r>
          </a:p>
        </p:txBody>
      </p:sp>
      <p:sp>
        <p:nvSpPr>
          <p:cNvPr id="3" name="CuadroTexto 1">
            <a:extLst>
              <a:ext uri="{FF2B5EF4-FFF2-40B4-BE49-F238E27FC236}">
                <a16:creationId xmlns:a16="http://schemas.microsoft.com/office/drawing/2014/main" xmlns="" id="{B2605A00-C4D8-42E1-85EF-63978E155DE3}"/>
              </a:ext>
            </a:extLst>
          </p:cNvPr>
          <p:cNvSpPr txBox="1"/>
          <p:nvPr/>
        </p:nvSpPr>
        <p:spPr>
          <a:xfrm>
            <a:off x="576049" y="6012094"/>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 creación de roles y asignación de privilegios se realizan simulando ser el Administrador de Base de Datos</a:t>
            </a:r>
            <a:endParaRPr lang="es-CL" sz="1200" b="1" dirty="0">
              <a:solidFill>
                <a:schemeClr val="bg1"/>
              </a:solidFill>
            </a:endParaRPr>
          </a:p>
        </p:txBody>
      </p:sp>
    </p:spTree>
    <p:extLst>
      <p:ext uri="{BB962C8B-B14F-4D97-AF65-F5344CB8AC3E}">
        <p14:creationId xmlns:p14="http://schemas.microsoft.com/office/powerpoint/2010/main" val="3726567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defTabSz="457200"/>
            <a:r>
              <a:rPr lang="es-CL" sz="2800" b="1" dirty="0">
                <a:solidFill>
                  <a:prstClr val="white"/>
                </a:solidFill>
                <a:latin typeface="Calibri"/>
              </a:rPr>
              <a:t>Usando Roles para Otorgar Privilegios</a:t>
            </a:r>
          </a:p>
        </p:txBody>
      </p:sp>
      <p:pic>
        <p:nvPicPr>
          <p:cNvPr id="7" name="Imagen 6">
            <a:extLst>
              <a:ext uri="{FF2B5EF4-FFF2-40B4-BE49-F238E27FC236}">
                <a16:creationId xmlns:a16="http://schemas.microsoft.com/office/drawing/2014/main" xmlns="" id="{6678CA68-F98C-4E2A-9D22-756CBBFCAE12}"/>
              </a:ext>
            </a:extLst>
          </p:cNvPr>
          <p:cNvPicPr>
            <a:picLocks noChangeAspect="1"/>
          </p:cNvPicPr>
          <p:nvPr/>
        </p:nvPicPr>
        <p:blipFill>
          <a:blip r:embed="rId3"/>
          <a:stretch>
            <a:fillRect/>
          </a:stretch>
        </p:blipFill>
        <p:spPr>
          <a:xfrm>
            <a:off x="668833" y="1406280"/>
            <a:ext cx="7832343" cy="4801091"/>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342900">
              <a:defRPr/>
            </a:pPr>
            <a:r>
              <a:rPr lang="es-CL" sz="2800" b="1" dirty="0">
                <a:solidFill>
                  <a:prstClr val="white"/>
                </a:solidFill>
                <a:latin typeface="Calibri"/>
              </a:rPr>
              <a:t>Usando Roles para Otorgar Privilegios</a:t>
            </a:r>
          </a:p>
        </p:txBody>
      </p:sp>
      <p:pic>
        <p:nvPicPr>
          <p:cNvPr id="2" name="Imagen 1">
            <a:extLst>
              <a:ext uri="{FF2B5EF4-FFF2-40B4-BE49-F238E27FC236}">
                <a16:creationId xmlns:a16="http://schemas.microsoft.com/office/drawing/2014/main" xmlns="" id="{251E8DAB-128B-44E7-BBC0-AF59154F80A7}"/>
              </a:ext>
            </a:extLst>
          </p:cNvPr>
          <p:cNvPicPr>
            <a:picLocks noChangeAspect="1"/>
          </p:cNvPicPr>
          <p:nvPr/>
        </p:nvPicPr>
        <p:blipFill>
          <a:blip r:embed="rId3"/>
          <a:stretch>
            <a:fillRect/>
          </a:stretch>
        </p:blipFill>
        <p:spPr>
          <a:xfrm>
            <a:off x="425656" y="1104067"/>
            <a:ext cx="8327858" cy="5669771"/>
          </a:xfrm>
          <a:prstGeom prst="rect">
            <a:avLst/>
          </a:prstGeom>
        </p:spPr>
      </p:pic>
    </p:spTree>
    <p:extLst>
      <p:ext uri="{BB962C8B-B14F-4D97-AF65-F5344CB8AC3E}">
        <p14:creationId xmlns:p14="http://schemas.microsoft.com/office/powerpoint/2010/main" val="1352085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342900">
              <a:defRPr/>
            </a:pPr>
            <a:r>
              <a:rPr lang="es-CL" sz="2800" b="1" dirty="0">
                <a:solidFill>
                  <a:prstClr val="white"/>
                </a:solidFill>
                <a:latin typeface="Calibri"/>
              </a:rPr>
              <a:t>Usando Roles para Otorgar Privilegios</a:t>
            </a:r>
          </a:p>
        </p:txBody>
      </p:sp>
      <p:pic>
        <p:nvPicPr>
          <p:cNvPr id="11" name="Imagen 10">
            <a:extLst>
              <a:ext uri="{FF2B5EF4-FFF2-40B4-BE49-F238E27FC236}">
                <a16:creationId xmlns:a16="http://schemas.microsoft.com/office/drawing/2014/main" xmlns="" id="{F6B6B05E-3AD2-4C2A-A448-6B9CC27264FA}"/>
              </a:ext>
            </a:extLst>
          </p:cNvPr>
          <p:cNvPicPr>
            <a:picLocks noChangeAspect="1"/>
          </p:cNvPicPr>
          <p:nvPr/>
        </p:nvPicPr>
        <p:blipFill>
          <a:blip r:embed="rId3"/>
          <a:stretch>
            <a:fillRect/>
          </a:stretch>
        </p:blipFill>
        <p:spPr>
          <a:xfrm>
            <a:off x="1197341" y="1107758"/>
            <a:ext cx="6838827" cy="5621213"/>
          </a:xfrm>
          <a:prstGeom prst="rect">
            <a:avLst/>
          </a:prstGeom>
        </p:spPr>
      </p:pic>
    </p:spTree>
    <p:extLst>
      <p:ext uri="{BB962C8B-B14F-4D97-AF65-F5344CB8AC3E}">
        <p14:creationId xmlns:p14="http://schemas.microsoft.com/office/powerpoint/2010/main" val="1193934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342900">
              <a:defRPr/>
            </a:pPr>
            <a:r>
              <a:rPr lang="es-CL" sz="2800" b="1" dirty="0">
                <a:solidFill>
                  <a:prstClr val="white"/>
                </a:solidFill>
                <a:latin typeface="Calibri"/>
              </a:rPr>
              <a:t>Usando Roles para Otorgar Privilegios</a:t>
            </a:r>
          </a:p>
        </p:txBody>
      </p:sp>
      <p:sp>
        <p:nvSpPr>
          <p:cNvPr id="4" name="Marcador de contenido 1">
            <a:extLst>
              <a:ext uri="{FF2B5EF4-FFF2-40B4-BE49-F238E27FC236}">
                <a16:creationId xmlns:a16="http://schemas.microsoft.com/office/drawing/2014/main" xmlns="" id="{4F50C309-FD94-4BF7-8B21-78D5EE509248}"/>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Sintaxis:</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sz="1200"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5" name="Text Box 5">
            <a:extLst>
              <a:ext uri="{FF2B5EF4-FFF2-40B4-BE49-F238E27FC236}">
                <a16:creationId xmlns:a16="http://schemas.microsoft.com/office/drawing/2014/main" xmlns="" id="{3F14B203-1336-47F6-951E-B42A43BB954A}"/>
              </a:ext>
            </a:extLst>
          </p:cNvPr>
          <p:cNvSpPr txBox="1">
            <a:spLocks noChangeArrowheads="1"/>
          </p:cNvSpPr>
          <p:nvPr/>
        </p:nvSpPr>
        <p:spPr bwMode="auto">
          <a:xfrm>
            <a:off x="1331640" y="1628800"/>
            <a:ext cx="647732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algn="l" fontAlgn="auto">
              <a:spcBef>
                <a:spcPts val="0"/>
              </a:spcBef>
              <a:spcAft>
                <a:spcPts val="0"/>
              </a:spcAft>
              <a:defRPr/>
            </a:pPr>
            <a:r>
              <a:rPr lang="en-US" sz="1600" b="1" kern="0" dirty="0">
                <a:solidFill>
                  <a:prstClr val="black"/>
                </a:solidFill>
                <a:latin typeface="Calibri" panose="020F0502020204030204" pitchFamily="34" charset="0"/>
                <a:cs typeface="Calibri" panose="020F0502020204030204" pitchFamily="34" charset="0"/>
              </a:rPr>
              <a:t>CREATE ROLE </a:t>
            </a:r>
            <a:r>
              <a:rPr lang="en-US" sz="1600" b="1" i="1" kern="0" dirty="0" err="1">
                <a:solidFill>
                  <a:prstClr val="black"/>
                </a:solidFill>
                <a:latin typeface="Calibri" panose="020F0502020204030204" pitchFamily="34" charset="0"/>
                <a:cs typeface="Calibri" panose="020F0502020204030204" pitchFamily="34" charset="0"/>
              </a:rPr>
              <a:t>rol</a:t>
            </a:r>
            <a:r>
              <a:rPr lang="en-US" sz="1600" b="1" kern="0" dirty="0">
                <a:solidFill>
                  <a:prstClr val="black"/>
                </a:solidFill>
                <a:latin typeface="Calibri" panose="020F0502020204030204" pitchFamily="34" charset="0"/>
                <a:cs typeface="Calibri" panose="020F0502020204030204" pitchFamily="34" charset="0"/>
              </a:rPr>
              <a:t> [ NOT IDENTIFIED| IDENTIFIED </a:t>
            </a:r>
          </a:p>
          <a:p>
            <a:pPr lvl="0" algn="l" fontAlgn="auto">
              <a:spcBef>
                <a:spcPts val="0"/>
              </a:spcBef>
              <a:spcAft>
                <a:spcPts val="0"/>
              </a:spcAft>
              <a:defRPr/>
            </a:pPr>
            <a:r>
              <a:rPr lang="en-US" sz="1600" b="1" kern="0" dirty="0">
                <a:solidFill>
                  <a:prstClr val="black"/>
                </a:solidFill>
                <a:latin typeface="Calibri" panose="020F0502020204030204" pitchFamily="34" charset="0"/>
                <a:cs typeface="Calibri" panose="020F0502020204030204" pitchFamily="34" charset="0"/>
              </a:rPr>
              <a:t>{BY </a:t>
            </a:r>
            <a:r>
              <a:rPr lang="en-US" sz="1600" b="1" i="1" kern="0" dirty="0">
                <a:solidFill>
                  <a:prstClr val="black"/>
                </a:solidFill>
                <a:latin typeface="Calibri" panose="020F0502020204030204" pitchFamily="34" charset="0"/>
                <a:cs typeface="Calibri" panose="020F0502020204030204" pitchFamily="34" charset="0"/>
              </a:rPr>
              <a:t>password</a:t>
            </a:r>
            <a:r>
              <a:rPr lang="en-US" sz="1600" b="1" kern="0" dirty="0">
                <a:solidFill>
                  <a:prstClr val="black"/>
                </a:solidFill>
                <a:latin typeface="Calibri" panose="020F0502020204030204" pitchFamily="34" charset="0"/>
                <a:cs typeface="Calibri" panose="020F0502020204030204" pitchFamily="34" charset="0"/>
              </a:rPr>
              <a:t>| USING [ </a:t>
            </a:r>
            <a:r>
              <a:rPr lang="en-US" sz="1600" b="1" i="1" kern="0" dirty="0" err="1">
                <a:solidFill>
                  <a:prstClr val="black"/>
                </a:solidFill>
                <a:latin typeface="Calibri" panose="020F0502020204030204" pitchFamily="34" charset="0"/>
                <a:cs typeface="Calibri" panose="020F0502020204030204" pitchFamily="34" charset="0"/>
              </a:rPr>
              <a:t>esquema</a:t>
            </a:r>
            <a:r>
              <a:rPr lang="en-US" sz="1600" b="1" kern="0" dirty="0">
                <a:solidFill>
                  <a:prstClr val="black"/>
                </a:solidFill>
                <a:latin typeface="Calibri" panose="020F0502020204030204" pitchFamily="34" charset="0"/>
                <a:cs typeface="Calibri" panose="020F0502020204030204" pitchFamily="34" charset="0"/>
              </a:rPr>
              <a:t>. ] </a:t>
            </a:r>
            <a:r>
              <a:rPr lang="en-US" sz="1600" b="1" i="1" kern="0" dirty="0" err="1">
                <a:solidFill>
                  <a:prstClr val="black"/>
                </a:solidFill>
                <a:latin typeface="Calibri" panose="020F0502020204030204" pitchFamily="34" charset="0"/>
                <a:cs typeface="Calibri" panose="020F0502020204030204" pitchFamily="34" charset="0"/>
              </a:rPr>
              <a:t>package</a:t>
            </a:r>
            <a:r>
              <a:rPr lang="en-US" sz="1600" b="1" kern="0" dirty="0" err="1">
                <a:solidFill>
                  <a:prstClr val="black"/>
                </a:solidFill>
                <a:latin typeface="Calibri" panose="020F0502020204030204" pitchFamily="34" charset="0"/>
                <a:cs typeface="Calibri" panose="020F0502020204030204" pitchFamily="34" charset="0"/>
              </a:rPr>
              <a:t>|EXTERNALLY|GLOBALLY</a:t>
            </a:r>
            <a:r>
              <a:rPr lang="en-US" sz="1600" b="1" kern="0" dirty="0">
                <a:solidFill>
                  <a:prstClr val="black"/>
                </a:solidFill>
                <a:latin typeface="Calibri" panose="020F0502020204030204" pitchFamily="34" charset="0"/>
                <a:cs typeface="Calibri" panose="020F0502020204030204" pitchFamily="34" charset="0"/>
              </a:rPr>
              <a:t>}] ;</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6" name="Text Box 5">
            <a:extLst>
              <a:ext uri="{FF2B5EF4-FFF2-40B4-BE49-F238E27FC236}">
                <a16:creationId xmlns:a16="http://schemas.microsoft.com/office/drawing/2014/main" xmlns="" id="{BCC64BEC-B7F2-40F8-84E5-F4A5233A0EB5}"/>
              </a:ext>
            </a:extLst>
          </p:cNvPr>
          <p:cNvSpPr txBox="1">
            <a:spLocks noChangeArrowheads="1"/>
          </p:cNvSpPr>
          <p:nvPr/>
        </p:nvSpPr>
        <p:spPr bwMode="auto">
          <a:xfrm>
            <a:off x="1328242" y="3045514"/>
            <a:ext cx="6480720"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600" b="1" kern="0" dirty="0">
                <a:solidFill>
                  <a:prstClr val="black"/>
                </a:solidFill>
                <a:latin typeface="Calibri" panose="020F0502020204030204" pitchFamily="34" charset="0"/>
                <a:cs typeface="Calibri" panose="020F0502020204030204" pitchFamily="34" charset="0"/>
              </a:rPr>
              <a:t>CREATE ROLE </a:t>
            </a:r>
            <a:r>
              <a:rPr lang="en-US" sz="1600" b="1" kern="0" dirty="0" err="1">
                <a:solidFill>
                  <a:prstClr val="black"/>
                </a:solidFill>
                <a:latin typeface="Calibri" panose="020F0502020204030204" pitchFamily="34" charset="0"/>
                <a:cs typeface="Calibri" panose="020F0502020204030204" pitchFamily="34" charset="0"/>
              </a:rPr>
              <a:t>rol_gerencia</a:t>
            </a:r>
            <a:r>
              <a:rPr lang="en-US" sz="1600" b="1" kern="0" dirty="0">
                <a:solidFill>
                  <a:prstClr val="black"/>
                </a:solidFill>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7027B280-0683-4169-9D05-BF2AF66FD008}"/>
              </a:ext>
            </a:extLst>
          </p:cNvPr>
          <p:cNvSpPr txBox="1">
            <a:spLocks noChangeArrowheads="1"/>
          </p:cNvSpPr>
          <p:nvPr/>
        </p:nvSpPr>
        <p:spPr bwMode="auto">
          <a:xfrm>
            <a:off x="1331640" y="3852337"/>
            <a:ext cx="648072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algn="l" eaLnBrk="1" hangingPunct="1"/>
            <a:r>
              <a:rPr lang="en-US" sz="1600" b="1" kern="0" dirty="0">
                <a:solidFill>
                  <a:prstClr val="black"/>
                </a:solidFill>
                <a:latin typeface="Calibri" panose="020F0502020204030204" pitchFamily="34" charset="0"/>
                <a:cs typeface="Calibri" panose="020F0502020204030204" pitchFamily="34" charset="0"/>
              </a:rPr>
              <a:t>GRANT CREATE TABLE, CREATE VIEW TO </a:t>
            </a:r>
            <a:r>
              <a:rPr lang="en-US" sz="1600" b="1" kern="0" dirty="0" err="1">
                <a:solidFill>
                  <a:prstClr val="black"/>
                </a:solidFill>
                <a:latin typeface="Calibri" panose="020F0502020204030204" pitchFamily="34" charset="0"/>
                <a:cs typeface="Calibri" panose="020F0502020204030204" pitchFamily="34" charset="0"/>
              </a:rPr>
              <a:t>rol_gerencia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SELECT,INSERT,UPDATE,DELETE ON </a:t>
            </a:r>
            <a:r>
              <a:rPr lang="en-US" sz="1600" b="1" kern="0" dirty="0" err="1">
                <a:solidFill>
                  <a:prstClr val="black"/>
                </a:solidFill>
                <a:latin typeface="Calibri" panose="020F0502020204030204" pitchFamily="34" charset="0"/>
                <a:cs typeface="Calibri" panose="020F0502020204030204" pitchFamily="34" charset="0"/>
              </a:rPr>
              <a:t>hr.employees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rol_gerencia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C93B3470-B931-4602-8210-7AA812C93C22}"/>
              </a:ext>
            </a:extLst>
          </p:cNvPr>
          <p:cNvSpPr txBox="1">
            <a:spLocks noChangeArrowheads="1"/>
          </p:cNvSpPr>
          <p:nvPr/>
        </p:nvSpPr>
        <p:spPr bwMode="auto">
          <a:xfrm>
            <a:off x="1331640" y="4932457"/>
            <a:ext cx="647732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600" b="1" kern="0" dirty="0">
                <a:solidFill>
                  <a:prstClr val="black"/>
                </a:solidFill>
                <a:latin typeface="Calibri" panose="020F0502020204030204" pitchFamily="34" charset="0"/>
                <a:cs typeface="Calibri" panose="020F0502020204030204" pitchFamily="34" charset="0"/>
              </a:rPr>
              <a:t>GRANT </a:t>
            </a:r>
            <a:r>
              <a:rPr lang="en-US" sz="1600" b="1" kern="0" dirty="0" err="1">
                <a:solidFill>
                  <a:prstClr val="black"/>
                </a:solidFill>
                <a:latin typeface="Calibri" panose="020F0502020204030204" pitchFamily="34" charset="0"/>
                <a:cs typeface="Calibri" panose="020F0502020204030204" pitchFamily="34" charset="0"/>
              </a:rPr>
              <a:t>rol_gerencia</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administrador</a:t>
            </a:r>
            <a:r>
              <a:rPr lang="en-US" sz="1600" b="1" kern="0" dirty="0">
                <a:solidFill>
                  <a:prstClr val="black"/>
                </a:solidFill>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r>
              <a:rPr lang="en-US" sz="1600" b="1" kern="0" dirty="0">
                <a:solidFill>
                  <a:prstClr val="black"/>
                </a:solidFill>
                <a:latin typeface="Calibri" panose="020F0502020204030204" pitchFamily="34" charset="0"/>
                <a:cs typeface="Calibri" panose="020F0502020204030204" pitchFamily="34" charset="0"/>
              </a:rPr>
              <a:t>ALTER USER </a:t>
            </a:r>
            <a:r>
              <a:rPr lang="en-US" sz="1600" b="1" kern="0" dirty="0" err="1">
                <a:solidFill>
                  <a:prstClr val="black"/>
                </a:solidFill>
                <a:latin typeface="Calibri" panose="020F0502020204030204" pitchFamily="34" charset="0"/>
                <a:cs typeface="Calibri" panose="020F0502020204030204" pitchFamily="34" charset="0"/>
              </a:rPr>
              <a:t>administrador</a:t>
            </a:r>
            <a:r>
              <a:rPr lang="en-US" sz="1600" b="1" kern="0" dirty="0">
                <a:solidFill>
                  <a:prstClr val="black"/>
                </a:solidFill>
                <a:latin typeface="Calibri" panose="020F0502020204030204" pitchFamily="34" charset="0"/>
                <a:cs typeface="Calibri" panose="020F0502020204030204" pitchFamily="34" charset="0"/>
              </a:rPr>
              <a:t> DEFAULT ROLE “ROL_GERENCIA";</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9" name="Text Box 8">
            <a:extLst>
              <a:ext uri="{FF2B5EF4-FFF2-40B4-BE49-F238E27FC236}">
                <a16:creationId xmlns:a16="http://schemas.microsoft.com/office/drawing/2014/main" xmlns="" id="{AF3997A9-A175-4E4E-80BD-AD4D2FDACEB4}"/>
              </a:ext>
            </a:extLst>
          </p:cNvPr>
          <p:cNvSpPr txBox="1">
            <a:spLocks noChangeArrowheads="1"/>
          </p:cNvSpPr>
          <p:nvPr/>
        </p:nvSpPr>
        <p:spPr bwMode="auto">
          <a:xfrm>
            <a:off x="971600" y="3140968"/>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0" name="Text Box 8">
            <a:extLst>
              <a:ext uri="{FF2B5EF4-FFF2-40B4-BE49-F238E27FC236}">
                <a16:creationId xmlns:a16="http://schemas.microsoft.com/office/drawing/2014/main" xmlns="" id="{A29EA493-AB9B-4329-B869-B55C06860069}"/>
              </a:ext>
            </a:extLst>
          </p:cNvPr>
          <p:cNvSpPr txBox="1">
            <a:spLocks noChangeArrowheads="1"/>
          </p:cNvSpPr>
          <p:nvPr/>
        </p:nvSpPr>
        <p:spPr bwMode="auto">
          <a:xfrm>
            <a:off x="971600" y="4033733"/>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
        <p:nvSpPr>
          <p:cNvPr id="12" name="Text Box 8">
            <a:extLst>
              <a:ext uri="{FF2B5EF4-FFF2-40B4-BE49-F238E27FC236}">
                <a16:creationId xmlns:a16="http://schemas.microsoft.com/office/drawing/2014/main" xmlns="" id="{9F37DE71-7767-49C1-9032-104819050EAF}"/>
              </a:ext>
            </a:extLst>
          </p:cNvPr>
          <p:cNvSpPr txBox="1">
            <a:spLocks noChangeArrowheads="1"/>
          </p:cNvSpPr>
          <p:nvPr/>
        </p:nvSpPr>
        <p:spPr bwMode="auto">
          <a:xfrm>
            <a:off x="971600" y="4974848"/>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3</a:t>
            </a:r>
            <a:endParaRPr lang="es-ES"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0681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342900">
              <a:defRPr/>
            </a:pPr>
            <a:r>
              <a:rPr lang="es-CL" sz="2800" b="1" dirty="0">
                <a:solidFill>
                  <a:prstClr val="white"/>
                </a:solidFill>
                <a:latin typeface="Calibri"/>
              </a:rPr>
              <a:t>Usando Roles para Otorgar Privilegios</a:t>
            </a:r>
          </a:p>
        </p:txBody>
      </p:sp>
      <p:sp>
        <p:nvSpPr>
          <p:cNvPr id="11" name="Marcador de contenido 1">
            <a:extLst>
              <a:ext uri="{FF2B5EF4-FFF2-40B4-BE49-F238E27FC236}">
                <a16:creationId xmlns:a16="http://schemas.microsoft.com/office/drawing/2014/main" xmlns="" id="{10E2C3F8-7055-49B8-940D-09A3274C37D1}"/>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13" name="Text Box 5">
            <a:extLst>
              <a:ext uri="{FF2B5EF4-FFF2-40B4-BE49-F238E27FC236}">
                <a16:creationId xmlns:a16="http://schemas.microsoft.com/office/drawing/2014/main" xmlns="" id="{DC3C623F-1551-40C9-8015-E2D19247FF18}"/>
              </a:ext>
            </a:extLst>
          </p:cNvPr>
          <p:cNvSpPr txBox="1">
            <a:spLocks noChangeArrowheads="1"/>
          </p:cNvSpPr>
          <p:nvPr/>
        </p:nvSpPr>
        <p:spPr bwMode="auto">
          <a:xfrm>
            <a:off x="1328242" y="1628800"/>
            <a:ext cx="6480720"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600" b="1" kern="0" dirty="0">
                <a:solidFill>
                  <a:prstClr val="black"/>
                </a:solidFill>
                <a:latin typeface="Calibri" panose="020F0502020204030204" pitchFamily="34" charset="0"/>
                <a:cs typeface="Calibri" panose="020F0502020204030204" pitchFamily="34" charset="0"/>
              </a:rPr>
              <a:t>CREATE ROLE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0E603296-5275-45E9-B406-400E46F548E1}"/>
              </a:ext>
            </a:extLst>
          </p:cNvPr>
          <p:cNvSpPr txBox="1">
            <a:spLocks noChangeArrowheads="1"/>
          </p:cNvSpPr>
          <p:nvPr/>
        </p:nvSpPr>
        <p:spPr bwMode="auto">
          <a:xfrm>
            <a:off x="1331640" y="2435623"/>
            <a:ext cx="6480720"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hr.employees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hr.departments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hr.jobs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hr.countries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hr.locations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hr.regions</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r>
              <a:rPr lang="en-US" sz="1600" b="1" kern="0" dirty="0">
                <a:solidFill>
                  <a:prstClr val="black"/>
                </a:solidFill>
                <a:latin typeface="Calibri" panose="020F0502020204030204" pitchFamily="34" charset="0"/>
                <a:cs typeface="Calibri" panose="020F0502020204030204" pitchFamily="34" charset="0"/>
              </a:rPr>
              <a:t>GRANT SELECT ON </a:t>
            </a:r>
            <a:r>
              <a:rPr lang="en-US" sz="1600" b="1" kern="0" dirty="0" err="1">
                <a:solidFill>
                  <a:prstClr val="black"/>
                </a:solidFill>
                <a:latin typeface="Calibri" panose="020F0502020204030204" pitchFamily="34" charset="0"/>
                <a:cs typeface="Calibri" panose="020F0502020204030204" pitchFamily="34" charset="0"/>
              </a:rPr>
              <a:t>hr.job_history</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a:t>
            </a:r>
          </a:p>
          <a:p>
            <a:pPr algn="l" eaLnBrk="1" hangingPunct="1"/>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5" name="Text Box 5">
            <a:extLst>
              <a:ext uri="{FF2B5EF4-FFF2-40B4-BE49-F238E27FC236}">
                <a16:creationId xmlns:a16="http://schemas.microsoft.com/office/drawing/2014/main" xmlns="" id="{DA029628-6923-41FB-A792-B63DC5B1A34C}"/>
              </a:ext>
            </a:extLst>
          </p:cNvPr>
          <p:cNvSpPr txBox="1">
            <a:spLocks noChangeArrowheads="1"/>
          </p:cNvSpPr>
          <p:nvPr/>
        </p:nvSpPr>
        <p:spPr bwMode="auto">
          <a:xfrm>
            <a:off x="1331640" y="4725144"/>
            <a:ext cx="647732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600" b="1" kern="0" dirty="0">
                <a:solidFill>
                  <a:prstClr val="black"/>
                </a:solidFill>
                <a:latin typeface="Calibri" panose="020F0502020204030204" pitchFamily="34" charset="0"/>
                <a:cs typeface="Calibri" panose="020F0502020204030204" pitchFamily="34" charset="0"/>
              </a:rPr>
              <a:t>GRANT </a:t>
            </a:r>
            <a:r>
              <a:rPr lang="en-US" sz="1600" b="1" kern="0" dirty="0" err="1">
                <a:solidFill>
                  <a:prstClr val="black"/>
                </a:solidFill>
                <a:latin typeface="Calibri" panose="020F0502020204030204" pitchFamily="34" charset="0"/>
                <a:cs typeface="Calibri" panose="020F0502020204030204" pitchFamily="34" charset="0"/>
              </a:rPr>
              <a:t>rol_consulta</a:t>
            </a:r>
            <a:r>
              <a:rPr lang="en-US" sz="1600" b="1" kern="0" dirty="0">
                <a:solidFill>
                  <a:prstClr val="black"/>
                </a:solidFill>
                <a:latin typeface="Calibri" panose="020F0502020204030204" pitchFamily="34" charset="0"/>
                <a:cs typeface="Calibri" panose="020F0502020204030204" pitchFamily="34" charset="0"/>
              </a:rPr>
              <a:t> TO </a:t>
            </a:r>
            <a:r>
              <a:rPr lang="en-US" sz="1600" b="1" kern="0" dirty="0" err="1">
                <a:solidFill>
                  <a:prstClr val="black"/>
                </a:solidFill>
                <a:latin typeface="Calibri" panose="020F0502020204030204" pitchFamily="34" charset="0"/>
                <a:cs typeface="Calibri" panose="020F0502020204030204" pitchFamily="34" charset="0"/>
              </a:rPr>
              <a:t>consultor_personal</a:t>
            </a:r>
            <a:r>
              <a:rPr lang="en-US" sz="1600" b="1" kern="0" dirty="0">
                <a:solidFill>
                  <a:prstClr val="black"/>
                </a:solidFill>
                <a:latin typeface="Calibri" panose="020F0502020204030204" pitchFamily="34" charset="0"/>
                <a:cs typeface="Calibri" panose="020F0502020204030204" pitchFamily="34" charset="0"/>
              </a:rPr>
              <a:t>, </a:t>
            </a:r>
            <a:r>
              <a:rPr lang="en-US" sz="1600" b="1" kern="0" dirty="0" err="1">
                <a:solidFill>
                  <a:prstClr val="black"/>
                </a:solidFill>
                <a:latin typeface="Calibri" panose="020F0502020204030204" pitchFamily="34" charset="0"/>
                <a:cs typeface="Calibri" panose="020F0502020204030204" pitchFamily="34" charset="0"/>
              </a:rPr>
              <a:t>consultor_finanzas</a:t>
            </a:r>
            <a:r>
              <a:rPr lang="en-US" sz="1600" b="1" kern="0" dirty="0">
                <a:solidFill>
                  <a:prstClr val="black"/>
                </a:solidFill>
                <a:latin typeface="Calibri" panose="020F0502020204030204" pitchFamily="34" charset="0"/>
                <a:cs typeface="Calibri" panose="020F0502020204030204" pitchFamily="34" charset="0"/>
              </a:rPr>
              <a:t>;</a:t>
            </a:r>
          </a:p>
          <a:p>
            <a:pPr algn="l" fontAlgn="auto">
              <a:spcBef>
                <a:spcPts val="0"/>
              </a:spcBef>
              <a:spcAft>
                <a:spcPts val="0"/>
              </a:spcAf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ALTER USER </a:t>
            </a:r>
            <a:r>
              <a:rPr lang="en-US" sz="1600" b="1" kern="0" dirty="0" err="1">
                <a:solidFill>
                  <a:prstClr val="black"/>
                </a:solidFill>
                <a:latin typeface="Calibri" panose="020F0502020204030204" pitchFamily="34" charset="0"/>
                <a:cs typeface="Calibri" panose="020F0502020204030204" pitchFamily="34" charset="0"/>
              </a:rPr>
              <a:t>consultor_personal</a:t>
            </a:r>
            <a:r>
              <a:rPr lang="en-US" sz="1600" b="1" kern="0" dirty="0">
                <a:solidFill>
                  <a:prstClr val="black"/>
                </a:solidFill>
                <a:latin typeface="Calibri" panose="020F0502020204030204" pitchFamily="34" charset="0"/>
                <a:cs typeface="Calibri" panose="020F0502020204030204" pitchFamily="34" charset="0"/>
              </a:rPr>
              <a:t> DEFAULT ROLE "ROL_CONSULTA";</a:t>
            </a:r>
          </a:p>
          <a:p>
            <a:pPr algn="l" fontAlgn="auto">
              <a:spcBef>
                <a:spcPts val="0"/>
              </a:spcBef>
              <a:spcAft>
                <a:spcPts val="0"/>
              </a:spcAft>
              <a:defRPr/>
            </a:pPr>
            <a:r>
              <a:rPr lang="en-US" sz="1600" b="1" kern="0" dirty="0">
                <a:solidFill>
                  <a:prstClr val="black"/>
                </a:solidFill>
                <a:latin typeface="Calibri" panose="020F0502020204030204" pitchFamily="34" charset="0"/>
                <a:cs typeface="Calibri" panose="020F0502020204030204" pitchFamily="34" charset="0"/>
              </a:rPr>
              <a:t>ALTER USER </a:t>
            </a:r>
            <a:r>
              <a:rPr lang="en-US" sz="1600" b="1" kern="0" dirty="0" err="1">
                <a:solidFill>
                  <a:prstClr val="black"/>
                </a:solidFill>
                <a:latin typeface="Calibri" panose="020F0502020204030204" pitchFamily="34" charset="0"/>
                <a:cs typeface="Calibri" panose="020F0502020204030204" pitchFamily="34" charset="0"/>
              </a:rPr>
              <a:t>consultor_finanzas</a:t>
            </a:r>
            <a:r>
              <a:rPr lang="en-US" sz="1600" b="1" kern="0" dirty="0">
                <a:solidFill>
                  <a:prstClr val="black"/>
                </a:solidFill>
                <a:latin typeface="Calibri" panose="020F0502020204030204" pitchFamily="34" charset="0"/>
                <a:cs typeface="Calibri" panose="020F0502020204030204" pitchFamily="34" charset="0"/>
              </a:rPr>
              <a:t> DEFAULT ROLE "ROL_CONSULTA";</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 Box 8">
            <a:extLst>
              <a:ext uri="{FF2B5EF4-FFF2-40B4-BE49-F238E27FC236}">
                <a16:creationId xmlns:a16="http://schemas.microsoft.com/office/drawing/2014/main" xmlns="" id="{6306F815-8005-4D3C-B312-0C45DF6F1671}"/>
              </a:ext>
            </a:extLst>
          </p:cNvPr>
          <p:cNvSpPr txBox="1">
            <a:spLocks noChangeArrowheads="1"/>
          </p:cNvSpPr>
          <p:nvPr/>
        </p:nvSpPr>
        <p:spPr bwMode="auto">
          <a:xfrm>
            <a:off x="971600" y="1724254"/>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7" name="Text Box 8">
            <a:extLst>
              <a:ext uri="{FF2B5EF4-FFF2-40B4-BE49-F238E27FC236}">
                <a16:creationId xmlns:a16="http://schemas.microsoft.com/office/drawing/2014/main" xmlns="" id="{49EE2DED-89C6-48FE-B2C7-B93EA3D6E0A5}"/>
              </a:ext>
            </a:extLst>
          </p:cNvPr>
          <p:cNvSpPr txBox="1">
            <a:spLocks noChangeArrowheads="1"/>
          </p:cNvSpPr>
          <p:nvPr/>
        </p:nvSpPr>
        <p:spPr bwMode="auto">
          <a:xfrm>
            <a:off x="971600" y="2617019"/>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
        <p:nvSpPr>
          <p:cNvPr id="18" name="Text Box 8">
            <a:extLst>
              <a:ext uri="{FF2B5EF4-FFF2-40B4-BE49-F238E27FC236}">
                <a16:creationId xmlns:a16="http://schemas.microsoft.com/office/drawing/2014/main" xmlns="" id="{3ADD8C20-00CB-4165-88A9-1A33046BB213}"/>
              </a:ext>
            </a:extLst>
          </p:cNvPr>
          <p:cNvSpPr txBox="1">
            <a:spLocks noChangeArrowheads="1"/>
          </p:cNvSpPr>
          <p:nvPr/>
        </p:nvSpPr>
        <p:spPr bwMode="auto">
          <a:xfrm>
            <a:off x="971600" y="4911551"/>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3</a:t>
            </a:r>
            <a:endParaRPr lang="es-ES"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2791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defTabSz="457200"/>
            <a:r>
              <a:rPr lang="es-CL" sz="2800" b="1" dirty="0">
                <a:solidFill>
                  <a:prstClr val="white"/>
                </a:solidFill>
                <a:latin typeface="Calibri"/>
              </a:rPr>
              <a:t>Comprobando los Privilegios Asignados</a:t>
            </a:r>
          </a:p>
        </p:txBody>
      </p:sp>
      <p:pic>
        <p:nvPicPr>
          <p:cNvPr id="7" name="Imagen 6">
            <a:extLst>
              <a:ext uri="{FF2B5EF4-FFF2-40B4-BE49-F238E27FC236}">
                <a16:creationId xmlns:a16="http://schemas.microsoft.com/office/drawing/2014/main" xmlns="" id="{E264CE90-F8E6-4BBA-A973-AB96DD33FD80}"/>
              </a:ext>
            </a:extLst>
          </p:cNvPr>
          <p:cNvPicPr>
            <a:picLocks noChangeAspect="1"/>
          </p:cNvPicPr>
          <p:nvPr/>
        </p:nvPicPr>
        <p:blipFill>
          <a:blip r:embed="rId3"/>
          <a:stretch>
            <a:fillRect/>
          </a:stretch>
        </p:blipFill>
        <p:spPr>
          <a:xfrm>
            <a:off x="84955" y="1349047"/>
            <a:ext cx="8974090" cy="4816257"/>
          </a:xfrm>
          <a:prstGeom prst="rect">
            <a:avLst/>
          </a:prstGeom>
        </p:spPr>
      </p:pic>
    </p:spTree>
    <p:extLst>
      <p:ext uri="{BB962C8B-B14F-4D97-AF65-F5344CB8AC3E}">
        <p14:creationId xmlns:p14="http://schemas.microsoft.com/office/powerpoint/2010/main" val="1243630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defTabSz="457200"/>
            <a:r>
              <a:rPr lang="es-CL" sz="2800" b="1" dirty="0">
                <a:solidFill>
                  <a:prstClr val="white"/>
                </a:solidFill>
                <a:latin typeface="Calibri"/>
              </a:rPr>
              <a:t>Revocando Privilegios Asignados</a:t>
            </a:r>
          </a:p>
        </p:txBody>
      </p:sp>
      <p:sp>
        <p:nvSpPr>
          <p:cNvPr id="6" name="Marcador de contenido 1">
            <a:extLst>
              <a:ext uri="{FF2B5EF4-FFF2-40B4-BE49-F238E27FC236}">
                <a16:creationId xmlns:a16="http://schemas.microsoft.com/office/drawing/2014/main" xmlns="" id="{DF71E762-D96E-4A3A-9863-E246F48E11D9}"/>
              </a:ext>
            </a:extLst>
          </p:cNvPr>
          <p:cNvSpPr txBox="1">
            <a:spLocks/>
          </p:cNvSpPr>
          <p:nvPr/>
        </p:nvSpPr>
        <p:spPr>
          <a:xfrm>
            <a:off x="539552"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Sintaxis:</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sz="1200"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sz="1400"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sz="1000"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7" name="Text Box 5">
            <a:extLst>
              <a:ext uri="{FF2B5EF4-FFF2-40B4-BE49-F238E27FC236}">
                <a16:creationId xmlns:a16="http://schemas.microsoft.com/office/drawing/2014/main" xmlns="" id="{4EFAC4CD-7490-4A5F-A84C-EDCC5C917F37}"/>
              </a:ext>
            </a:extLst>
          </p:cNvPr>
          <p:cNvSpPr txBox="1">
            <a:spLocks noChangeArrowheads="1"/>
          </p:cNvSpPr>
          <p:nvPr/>
        </p:nvSpPr>
        <p:spPr bwMode="auto">
          <a:xfrm>
            <a:off x="1247909" y="1628800"/>
            <a:ext cx="7014832"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REVOKE {</a:t>
            </a:r>
            <a:r>
              <a:rPr lang="en-US" sz="1600" b="1" i="1" dirty="0">
                <a:latin typeface="Calibri" panose="020F0502020204030204" pitchFamily="34" charset="0"/>
                <a:cs typeface="Calibri" panose="020F0502020204030204" pitchFamily="34" charset="0"/>
              </a:rPr>
              <a:t>privilegio</a:t>
            </a:r>
            <a:r>
              <a:rPr lang="en-US" sz="1600" b="1" dirty="0">
                <a:latin typeface="Calibri" panose="020F0502020204030204" pitchFamily="34" charset="0"/>
                <a:cs typeface="Calibri" panose="020F0502020204030204" pitchFamily="34" charset="0"/>
              </a:rPr>
              <a:t> [, </a:t>
            </a:r>
            <a:r>
              <a:rPr lang="en-US" sz="1600" b="1" i="1" dirty="0">
                <a:latin typeface="Calibri" panose="020F0502020204030204" pitchFamily="34" charset="0"/>
                <a:cs typeface="Calibri" panose="020F0502020204030204" pitchFamily="34" charset="0"/>
              </a:rPr>
              <a:t>privilegio</a:t>
            </a:r>
            <a:r>
              <a:rPr lang="en-US" sz="1600" b="1" dirty="0">
                <a:latin typeface="Calibri" panose="020F0502020204030204" pitchFamily="34" charset="0"/>
                <a:cs typeface="Calibri" panose="020F0502020204030204" pitchFamily="34" charset="0"/>
              </a:rPr>
              <a:t>...]|ALL}</a:t>
            </a:r>
          </a:p>
          <a:p>
            <a:pPr algn="l">
              <a:defRPr/>
            </a:pPr>
            <a:r>
              <a:rPr lang="en-US" sz="1600" b="1" dirty="0">
                <a:latin typeface="Calibri" panose="020F0502020204030204" pitchFamily="34" charset="0"/>
                <a:cs typeface="Calibri" panose="020F0502020204030204" pitchFamily="34" charset="0"/>
              </a:rPr>
              <a:t>ON  </a:t>
            </a:r>
            <a:r>
              <a:rPr lang="en-US" sz="1600" b="1" i="1" dirty="0" err="1">
                <a:latin typeface="Calibri" panose="020F0502020204030204" pitchFamily="34" charset="0"/>
                <a:cs typeface="Calibri" panose="020F0502020204030204" pitchFamily="34" charset="0"/>
              </a:rPr>
              <a:t>objeto</a:t>
            </a:r>
            <a:endParaRPr lang="en-US" sz="1600" b="1" i="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FROM   {</a:t>
            </a:r>
            <a:r>
              <a:rPr lang="en-US" sz="1600" b="1" i="1" dirty="0" err="1">
                <a:latin typeface="Calibri" panose="020F0502020204030204" pitchFamily="34" charset="0"/>
                <a:cs typeface="Calibri" panose="020F0502020204030204" pitchFamily="34" charset="0"/>
              </a:rPr>
              <a:t>usuario</a:t>
            </a:r>
            <a:r>
              <a:rPr lang="en-US" sz="1600" b="1" dirty="0">
                <a:latin typeface="Calibri" panose="020F0502020204030204" pitchFamily="34" charset="0"/>
                <a:cs typeface="Calibri" panose="020F0502020204030204" pitchFamily="34" charset="0"/>
              </a:rPr>
              <a:t>[, </a:t>
            </a:r>
            <a:r>
              <a:rPr lang="en-US" sz="1600" b="1" i="1" dirty="0" err="1">
                <a:latin typeface="Calibri" panose="020F0502020204030204" pitchFamily="34" charset="0"/>
                <a:cs typeface="Calibri" panose="020F0502020204030204" pitchFamily="34" charset="0"/>
              </a:rPr>
              <a:t>usuario</a:t>
            </a:r>
            <a:r>
              <a:rPr lang="en-US" sz="1600" b="1" dirty="0">
                <a:latin typeface="Calibri" panose="020F0502020204030204" pitchFamily="34" charset="0"/>
                <a:cs typeface="Calibri" panose="020F0502020204030204" pitchFamily="34" charset="0"/>
              </a:rPr>
              <a:t>...]|</a:t>
            </a:r>
            <a:r>
              <a:rPr lang="en-US" sz="1600" b="1" i="1" dirty="0" err="1">
                <a:latin typeface="Calibri" panose="020F0502020204030204" pitchFamily="34" charset="0"/>
                <a:cs typeface="Calibri" panose="020F0502020204030204" pitchFamily="34" charset="0"/>
              </a:rPr>
              <a:t>rol</a:t>
            </a:r>
            <a:r>
              <a:rPr lang="en-US" sz="1600" b="1" dirty="0" err="1">
                <a:latin typeface="Calibri" panose="020F0502020204030204" pitchFamily="34" charset="0"/>
                <a:cs typeface="Calibri" panose="020F0502020204030204" pitchFamily="34" charset="0"/>
              </a:rPr>
              <a:t>|PUBLIC</a:t>
            </a:r>
            <a:r>
              <a:rPr lang="en-US" sz="1600" b="1" dirty="0">
                <a:latin typeface="Calibri" panose="020F0502020204030204" pitchFamily="34" charset="0"/>
                <a:cs typeface="Calibri" panose="020F0502020204030204" pitchFamily="34" charset="0"/>
              </a:rPr>
              <a:t>};</a:t>
            </a:r>
          </a:p>
          <a:p>
            <a:pPr algn="l">
              <a:defRPr/>
            </a:pPr>
            <a:endParaRPr lang="es-MX" sz="800" dirty="0">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9D0F99CF-14FB-4DD7-8354-C532BBE26DEB}"/>
              </a:ext>
            </a:extLst>
          </p:cNvPr>
          <p:cNvSpPr txBox="1">
            <a:spLocks noChangeArrowheads="1"/>
          </p:cNvSpPr>
          <p:nvPr/>
        </p:nvSpPr>
        <p:spPr bwMode="auto">
          <a:xfrm>
            <a:off x="1259632" y="3356992"/>
            <a:ext cx="701483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REVOKE ALL on </a:t>
            </a:r>
            <a:r>
              <a:rPr lang="en-US" sz="1600" b="1" dirty="0" err="1">
                <a:latin typeface="Calibri" panose="020F0502020204030204" pitchFamily="34" charset="0"/>
                <a:cs typeface="Calibri" panose="020F0502020204030204" pitchFamily="34" charset="0"/>
              </a:rPr>
              <a:t>hr.employees</a:t>
            </a:r>
            <a:r>
              <a:rPr lang="en-US" sz="1600" b="1" dirty="0">
                <a:latin typeface="Calibri" panose="020F0502020204030204" pitchFamily="34" charset="0"/>
                <a:cs typeface="Calibri" panose="020F0502020204030204" pitchFamily="34" charset="0"/>
              </a:rPr>
              <a:t> FROM </a:t>
            </a:r>
            <a:r>
              <a:rPr lang="en-US" sz="1600" b="1" dirty="0" err="1">
                <a:latin typeface="Calibri" panose="020F0502020204030204" pitchFamily="34" charset="0"/>
                <a:cs typeface="Calibri" panose="020F0502020204030204" pitchFamily="34" charset="0"/>
              </a:rPr>
              <a:t>rol_consulta</a:t>
            </a:r>
            <a:r>
              <a:rPr lang="en-US" sz="1600" b="1" dirty="0">
                <a:latin typeface="Calibri" panose="020F0502020204030204" pitchFamily="34" charset="0"/>
                <a:cs typeface="Calibri" panose="020F0502020204030204" pitchFamily="34" charset="0"/>
              </a:rPr>
              <a:t>;</a:t>
            </a:r>
          </a:p>
          <a:p>
            <a:pPr algn="l">
              <a:defRPr/>
            </a:pPr>
            <a:endParaRPr lang="es-MX" sz="800" dirty="0">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7F111072-5DA9-4716-86C4-4DCAA634F968}"/>
              </a:ext>
            </a:extLst>
          </p:cNvPr>
          <p:cNvSpPr txBox="1">
            <a:spLocks noChangeArrowheads="1"/>
          </p:cNvSpPr>
          <p:nvPr/>
        </p:nvSpPr>
        <p:spPr bwMode="auto">
          <a:xfrm>
            <a:off x="1259632" y="4428401"/>
            <a:ext cx="701483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REVOKE CREATE TABLE FROM </a:t>
            </a:r>
            <a:r>
              <a:rPr lang="en-US" sz="1600" b="1" dirty="0" err="1">
                <a:latin typeface="Calibri" panose="020F0502020204030204" pitchFamily="34" charset="0"/>
                <a:cs typeface="Calibri" panose="020F0502020204030204" pitchFamily="34" charset="0"/>
              </a:rPr>
              <a:t>rol_gerencia</a:t>
            </a:r>
            <a:r>
              <a:rPr lang="en-US" sz="1600" b="1" dirty="0">
                <a:latin typeface="Calibri" panose="020F0502020204030204" pitchFamily="34" charset="0"/>
                <a:cs typeface="Calibri" panose="020F0502020204030204" pitchFamily="34" charset="0"/>
              </a:rPr>
              <a:t>;</a:t>
            </a:r>
          </a:p>
          <a:p>
            <a:pPr algn="l">
              <a:defRPr/>
            </a:pPr>
            <a:endParaRPr lang="es-MX" sz="800" dirty="0">
              <a:latin typeface="Calibri" panose="020F0502020204030204" pitchFamily="34" charset="0"/>
              <a:cs typeface="Calibri" panose="020F0502020204030204" pitchFamily="34" charset="0"/>
            </a:endParaRPr>
          </a:p>
        </p:txBody>
      </p:sp>
      <p:sp>
        <p:nvSpPr>
          <p:cNvPr id="10" name="Text Box 5">
            <a:extLst>
              <a:ext uri="{FF2B5EF4-FFF2-40B4-BE49-F238E27FC236}">
                <a16:creationId xmlns:a16="http://schemas.microsoft.com/office/drawing/2014/main" xmlns="" id="{9D7D9893-CF21-4A1B-BABA-1EAA3D41D02B}"/>
              </a:ext>
            </a:extLst>
          </p:cNvPr>
          <p:cNvSpPr txBox="1">
            <a:spLocks noChangeArrowheads="1"/>
          </p:cNvSpPr>
          <p:nvPr/>
        </p:nvSpPr>
        <p:spPr bwMode="auto">
          <a:xfrm>
            <a:off x="1259632" y="5508521"/>
            <a:ext cx="701483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REVOKE UPDATE ON </a:t>
            </a:r>
            <a:r>
              <a:rPr lang="en-US" sz="1600" b="1" dirty="0" err="1">
                <a:latin typeface="Calibri" panose="020F0502020204030204" pitchFamily="34" charset="0"/>
                <a:cs typeface="Calibri" panose="020F0502020204030204" pitchFamily="34" charset="0"/>
              </a:rPr>
              <a:t>hr.departments</a:t>
            </a:r>
            <a:r>
              <a:rPr lang="en-US" sz="1600" b="1" dirty="0">
                <a:latin typeface="Calibri" panose="020F0502020204030204" pitchFamily="34" charset="0"/>
                <a:cs typeface="Calibri" panose="020F0502020204030204" pitchFamily="34" charset="0"/>
              </a:rPr>
              <a:t> FROM </a:t>
            </a:r>
            <a:r>
              <a:rPr lang="en-US" sz="1600" b="1" dirty="0" err="1">
                <a:latin typeface="Calibri" panose="020F0502020204030204" pitchFamily="34" charset="0"/>
                <a:cs typeface="Calibri" panose="020F0502020204030204" pitchFamily="34" charset="0"/>
              </a:rPr>
              <a:t>desarrollo_finanzas</a:t>
            </a:r>
            <a:r>
              <a:rPr lang="en-US" sz="1600" b="1" dirty="0">
                <a:latin typeface="Calibri" panose="020F0502020204030204" pitchFamily="34" charset="0"/>
                <a:cs typeface="Calibri" panose="020F0502020204030204" pitchFamily="34" charset="0"/>
              </a:rPr>
              <a:t>;</a:t>
            </a:r>
          </a:p>
          <a:p>
            <a:pPr algn="l">
              <a:defRPr/>
            </a:pPr>
            <a:endParaRPr lang="es-MX"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9025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26</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7" name="Marcador de texto 8">
            <a:extLst>
              <a:ext uri="{FF2B5EF4-FFF2-40B4-BE49-F238E27FC236}">
                <a16:creationId xmlns:a16="http://schemas.microsoft.com/office/drawing/2014/main" xmlns="" id="{7A14858D-47C9-4316-ADA0-F2DE2BA91EEF}"/>
              </a:ext>
            </a:extLst>
          </p:cNvPr>
          <p:cNvSpPr>
            <a:spLocks noGrp="1"/>
          </p:cNvSpPr>
          <p:nvPr>
            <p:ph type="body" sz="quarter" idx="11"/>
          </p:nvPr>
        </p:nvSpPr>
        <p:spPr>
          <a:xfrm>
            <a:off x="560387" y="2303589"/>
            <a:ext cx="8023225" cy="3213595"/>
          </a:xfrm>
        </p:spPr>
        <p:txBody>
          <a:bodyPr/>
          <a:lstStyle/>
          <a:p>
            <a:pPr marL="393700" indent="-342900" algn="just">
              <a:buFont typeface="Arial" panose="020B0604020202020204" pitchFamily="34" charset="0"/>
              <a:buChar char="•"/>
            </a:pPr>
            <a:r>
              <a:rPr lang="es-MX" sz="2200" dirty="0"/>
              <a:t>Se explicó cómo controlar el acceso y uso de la base de datos.</a:t>
            </a:r>
          </a:p>
          <a:p>
            <a:pPr marL="393700" indent="-342900" algn="just">
              <a:buFont typeface="Arial" panose="020B0604020202020204" pitchFamily="34" charset="0"/>
              <a:buChar char="•"/>
            </a:pPr>
            <a:r>
              <a:rPr lang="es-MX" sz="2200" dirty="0"/>
              <a:t>Se explicaron las características de los privilegios</a:t>
            </a:r>
          </a:p>
          <a:p>
            <a:pPr marL="393700" indent="-342900" algn="just">
              <a:buFont typeface="Arial" panose="020B0604020202020204" pitchFamily="34" charset="0"/>
              <a:buChar char="•"/>
            </a:pPr>
            <a:r>
              <a:rPr lang="es-MX" sz="2200" dirty="0"/>
              <a:t>Se explicó cómo controlar el acceso a los objetos de la Base de Datos a través de los privilegios.</a:t>
            </a:r>
          </a:p>
          <a:p>
            <a:pPr marL="393700" indent="-342900" algn="just">
              <a:buFont typeface="Arial" panose="020B0604020202020204" pitchFamily="34" charset="0"/>
              <a:buChar char="•"/>
            </a:pPr>
            <a:r>
              <a:rPr lang="es-MX" sz="2200" dirty="0"/>
              <a:t>Se explicó qué son los privilegios de sistema y privilegios de objetos.</a:t>
            </a:r>
          </a:p>
          <a:p>
            <a:pPr marL="393700" indent="-342900" algn="just">
              <a:buFont typeface="Arial" panose="020B0604020202020204" pitchFamily="34" charset="0"/>
              <a:buChar char="•"/>
            </a:pPr>
            <a:r>
              <a:rPr lang="es-MX" sz="2200" dirty="0"/>
              <a:t>Se explicó cómo otorgar diferentes privilegios a los Usuarios</a:t>
            </a:r>
          </a:p>
          <a:p>
            <a:pPr marL="393700" indent="-342900" algn="just">
              <a:buFont typeface="Arial" panose="020B0604020202020204" pitchFamily="34" charset="0"/>
              <a:buChar char="•"/>
            </a:pPr>
            <a:r>
              <a:rPr lang="es-MX" sz="2200" dirty="0"/>
              <a:t>Se explicaron las características de los Roles.</a:t>
            </a:r>
          </a:p>
          <a:p>
            <a:pPr marL="393700" indent="-342900" algn="just">
              <a:buFont typeface="Arial" panose="020B0604020202020204" pitchFamily="34" charset="0"/>
              <a:buChar char="•"/>
            </a:pPr>
            <a:r>
              <a:rPr lang="es-MX" sz="2200" dirty="0"/>
              <a:t>Se explicó cómo otorgar privilegios usando Roles</a:t>
            </a:r>
          </a:p>
          <a:p>
            <a:pPr marL="393700" indent="-342900" algn="just">
              <a:buFont typeface="Arial" panose="020B0604020202020204" pitchFamily="34" charset="0"/>
              <a:buChar char="•"/>
            </a:pPr>
            <a:r>
              <a:rPr lang="es-MX" sz="2200" dirty="0"/>
              <a:t>Se explicó cómo comprobar y revocar privilegios asignados</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4728</TotalTime>
  <Words>3611</Words>
  <Application>Microsoft Office PowerPoint</Application>
  <PresentationFormat>Presentación en pantalla (4:3)</PresentationFormat>
  <Paragraphs>407</Paragraphs>
  <Slides>26</Slides>
  <Notes>23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26</vt:i4>
      </vt:variant>
    </vt:vector>
  </HeadingPairs>
  <TitlesOfParts>
    <vt:vector size="36" baseType="lpstr">
      <vt:lpstr>Franklin Gothic</vt:lpstr>
      <vt:lpstr>Calibri</vt:lpstr>
      <vt:lpstr>Roboto Condensed</vt:lpstr>
      <vt:lpstr>Roboto</vt:lpstr>
      <vt:lpstr>Arial Unicode MS</vt:lpstr>
      <vt:lpstr>Roboto Mono</vt:lpstr>
      <vt:lpstr>Arial</vt:lpstr>
      <vt:lpstr>Bebas Neue</vt:lpstr>
      <vt:lpstr>ＭＳ Ｐゴシック</vt:lpstr>
      <vt:lpstr>Tema de Office</vt:lpstr>
      <vt:lpstr>Asignando Privilegios de Sistemas y Objetos a los Usuarios</vt:lpstr>
      <vt:lpstr>Experiencia de Aprendizaje y Competencia Asociada</vt:lpstr>
      <vt:lpstr>Objetivos de la Clase</vt:lpstr>
      <vt:lpstr>Conceptos de Seguridad de la Base de Datos</vt:lpstr>
      <vt:lpstr>Seguridad del acceso y uso  de la Base de Datos</vt:lpstr>
      <vt:lpstr>Seguridad de la  Base de Datos</vt:lpstr>
      <vt:lpstr>Privilegios</vt:lpstr>
      <vt:lpstr>Privilegios de Base de Datos</vt:lpstr>
      <vt:lpstr>Asignación de Privilegios Individuales</vt:lpstr>
      <vt:lpstr>Privilegios de Sistema</vt:lpstr>
      <vt:lpstr>Privilegios de Sistema</vt:lpstr>
      <vt:lpstr>Otorgando Privilegios de Sistema</vt:lpstr>
      <vt:lpstr>Privilegios de Objetos</vt:lpstr>
      <vt:lpstr>Otorgando Privilegios de Objetos</vt:lpstr>
      <vt:lpstr>Otorgando Privilegios de Objetos</vt:lpstr>
      <vt:lpstr>Otorgando Privilegios de Objetos</vt:lpstr>
      <vt:lpstr>Usando los objetos sobre los que se asignaron privilegios</vt:lpstr>
      <vt:lpstr>Asignación de  Privilegios a través  de Roles</vt:lpstr>
      <vt:lpstr>Usando Roles para Otorgar Privilegios</vt:lpstr>
      <vt:lpstr>Usando Roles para Otorgar Privilegios</vt:lpstr>
      <vt:lpstr>Usando Roles para Otorgar Privilegios</vt:lpstr>
      <vt:lpstr>Usando Roles para Otorgar Privilegios</vt:lpstr>
      <vt:lpstr>Usando Roles para Otorgar Privilegios</vt:lpstr>
      <vt:lpstr>Comprobando los Privilegios Asignados</vt:lpstr>
      <vt:lpstr>Revocando Privilegios Asignados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583</cp:revision>
  <dcterms:modified xsi:type="dcterms:W3CDTF">2020-06-24T16:26:20Z</dcterms:modified>
</cp:coreProperties>
</file>