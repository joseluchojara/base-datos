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41"/>
  </p:notesMasterIdLst>
  <p:sldIdLst>
    <p:sldId id="367" r:id="rId2"/>
    <p:sldId id="339" r:id="rId3"/>
    <p:sldId id="369" r:id="rId4"/>
    <p:sldId id="258" r:id="rId5"/>
    <p:sldId id="315" r:id="rId6"/>
    <p:sldId id="316" r:id="rId7"/>
    <p:sldId id="353" r:id="rId8"/>
    <p:sldId id="317" r:id="rId9"/>
    <p:sldId id="370" r:id="rId10"/>
    <p:sldId id="386" r:id="rId11"/>
    <p:sldId id="387" r:id="rId12"/>
    <p:sldId id="388" r:id="rId13"/>
    <p:sldId id="371" r:id="rId14"/>
    <p:sldId id="389" r:id="rId15"/>
    <p:sldId id="390" r:id="rId16"/>
    <p:sldId id="391" r:id="rId17"/>
    <p:sldId id="392" r:id="rId18"/>
    <p:sldId id="268" r:id="rId19"/>
    <p:sldId id="279" r:id="rId20"/>
    <p:sldId id="372" r:id="rId21"/>
    <p:sldId id="373" r:id="rId22"/>
    <p:sldId id="374" r:id="rId23"/>
    <p:sldId id="385" r:id="rId24"/>
    <p:sldId id="397" r:id="rId25"/>
    <p:sldId id="398" r:id="rId26"/>
    <p:sldId id="393" r:id="rId27"/>
    <p:sldId id="396" r:id="rId28"/>
    <p:sldId id="375" r:id="rId29"/>
    <p:sldId id="376" r:id="rId30"/>
    <p:sldId id="269" r:id="rId31"/>
    <p:sldId id="304" r:id="rId32"/>
    <p:sldId id="380" r:id="rId33"/>
    <p:sldId id="381" r:id="rId34"/>
    <p:sldId id="382" r:id="rId35"/>
    <p:sldId id="394" r:id="rId36"/>
    <p:sldId id="383" r:id="rId37"/>
    <p:sldId id="395" r:id="rId38"/>
    <p:sldId id="342" r:id="rId39"/>
    <p:sldId id="314" r:id="rId40"/>
  </p:sldIdLst>
  <p:sldSz cx="9144000" cy="6858000" type="screen4x3"/>
  <p:notesSz cx="6858000" cy="9144000"/>
  <p:embeddedFontLst>
    <p:embeddedFont>
      <p:font typeface="Roboto Condensed" panose="020B0604020202020204" charset="0"/>
      <p:regular r:id="rId42"/>
      <p:bold r:id="rId43"/>
      <p:italic r:id="rId44"/>
      <p:boldItalic r:id="rId45"/>
    </p:embeddedFont>
    <p:embeddedFont>
      <p:font typeface="Calibri" panose="020F0502020204030204" pitchFamily="34" charset="0"/>
      <p:regular r:id="rId46"/>
      <p:bold r:id="rId47"/>
      <p:italic r:id="rId48"/>
      <p:boldItalic r:id="rId49"/>
    </p:embeddedFont>
    <p:embeddedFont>
      <p:font typeface="Roboto Mono" panose="020B0604020202020204" charset="0"/>
      <p:regular r:id="rId50"/>
      <p:bold r:id="rId51"/>
      <p:italic r:id="rId52"/>
      <p:boldItalic r:id="rId53"/>
    </p:embeddedFont>
    <p:embeddedFont>
      <p:font typeface="Franklin Gothic" panose="020B0604020202020204" charset="0"/>
      <p:regular r:id="rId54"/>
      <p:bold r:id="rId55"/>
      <p:italic r:id="rId56"/>
      <p:boldItalic r:id="rId57"/>
    </p:embeddedFont>
    <p:embeddedFont>
      <p:font typeface="Bebas Neue" panose="020B0604020202020204" charset="0"/>
      <p:regular r:id="rId58"/>
    </p:embeddedFont>
    <p:embeddedFont>
      <p:font typeface="Arial Unicode MS" panose="020B0604020202020204" pitchFamily="34" charset="-128"/>
      <p:regular r:id="rId59"/>
    </p:embeddedFont>
    <p:embeddedFont>
      <p:font typeface="ＭＳ Ｐゴシック" panose="020B0600070205080204" pitchFamily="34" charset="-128"/>
      <p:regular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BFE0"/>
    <a:srgbClr val="99CC00"/>
    <a:srgbClr val="97B2D9"/>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5325" autoAdjust="0"/>
  </p:normalViewPr>
  <p:slideViewPr>
    <p:cSldViewPr snapToGrid="0" snapToObjects="1">
      <p:cViewPr varScale="1">
        <p:scale>
          <a:sx n="56" d="100"/>
          <a:sy n="56" d="100"/>
        </p:scale>
        <p:origin x="177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45975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Objeto Vistas</a:t>
            </a:r>
          </a:p>
          <a:p>
            <a:pPr marL="0" indent="0" algn="just" eaLnBrk="1" hangingPunct="1">
              <a:lnSpc>
                <a:spcPct val="90000"/>
              </a:lnSpc>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Una Vista es una representación lógica (no física como una tabla) basada en una tabla, varias tablas o en otra vista. Es un objeto de Base de Datos que no contiene datos, pero es similar a una “ventana” que a través de ella se pueden ver o modificar datos. Las tablas sobre las cuales está basada la vista se llaman Tablas Base. Las vistas se almacenan como una sentencia SELECT en el diccionario de datos de la Base de Datos.</a:t>
            </a:r>
          </a:p>
        </p:txBody>
      </p:sp>
    </p:spTree>
    <p:extLst>
      <p:ext uri="{BB962C8B-B14F-4D97-AF65-F5344CB8AC3E}">
        <p14:creationId xmlns:p14="http://schemas.microsoft.com/office/powerpoint/2010/main" val="413306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8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Ventajas de usar Vistas</a:t>
            </a:r>
          </a:p>
          <a:p>
            <a:pPr marL="171450" indent="-171450" eaLnBrk="1" hangingPunct="1">
              <a:lnSpc>
                <a:spcPct val="90000"/>
              </a:lnSpc>
              <a:spcBef>
                <a:spcPct val="0"/>
              </a:spcBef>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Las vistas restringen el acceso a los datos porque puede mostrar columnas seleccionadas desde la tabla.</a:t>
            </a:r>
          </a:p>
          <a:p>
            <a:pPr marL="171450" indent="-171450" eaLnBrk="1" hangingPunct="1">
              <a:lnSpc>
                <a:spcPct val="90000"/>
              </a:lnSpc>
              <a:spcBef>
                <a:spcPct val="0"/>
              </a:spcBef>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Una vista puede ser usada para construir una consulta simple que recupere datos desde otra consulta compleja.</a:t>
            </a:r>
          </a:p>
          <a:p>
            <a:pPr marL="171450" indent="-171450" eaLnBrk="1" hangingPunct="1">
              <a:lnSpc>
                <a:spcPct val="90000"/>
              </a:lnSpc>
              <a:spcBef>
                <a:spcPct val="0"/>
              </a:spcBef>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Las vistas proporcionan independencia de los datos entre el usuario y la aplicación.</a:t>
            </a:r>
            <a:r>
              <a:rPr lang="es-MX"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Una vista </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se puede usar para recuperar datos de varias tablas.</a:t>
            </a:r>
            <a:r>
              <a:rPr lang="es-MX"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a:t>
            </a:r>
            <a:endPar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171450" indent="-171450" eaLnBrk="1" hangingPunct="1">
              <a:lnSpc>
                <a:spcPct val="90000"/>
              </a:lnSpc>
              <a:spcBef>
                <a:spcPct val="0"/>
              </a:spcBef>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Las vistas proporcionan a los grupos de usuarios acceso a los datos de acuerdo a criterios en particular</a:t>
            </a:r>
            <a:r>
              <a:rPr lang="es-MX"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y las labores que efectúan.</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eaLnBrk="1" hangingPunct="1">
              <a:lnSpc>
                <a:spcPct val="80000"/>
              </a:lnSpc>
              <a:spcBef>
                <a:spcPct val="0"/>
              </a:spcBef>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502507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Vistas Simples y Complejas</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Existen dos clasificaciones para las vistas: Simples y Complejas. La diferencia básica está relacionada con las operaciones DML (INSERT, UPDATE y DELETE) que se pueden efectuar a través de ellas.</a:t>
            </a: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Una Vista Simple es aquella que:</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Deriva de datos de una sola tabla.</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No contiene funciones o grupos de datos.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Se puede realizar operaciones de DML a través de la vista.</a:t>
            </a:r>
          </a:p>
          <a:p>
            <a:pPr marL="0" marR="0" lvl="0" indent="0" algn="l" defTabSz="914400" rtl="0" eaLnBrk="1" fontAlgn="base" latinLnBrk="0" hangingPunct="1">
              <a:lnSpc>
                <a:spcPct val="80000"/>
              </a:lnSpc>
              <a:spcBef>
                <a:spcPct val="0"/>
              </a:spcBef>
              <a:spcAft>
                <a:spcPct val="0"/>
              </a:spcAft>
              <a:buClrTx/>
              <a:buSzTx/>
              <a:buNone/>
              <a:tabLst/>
              <a:defRPr/>
            </a:pP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Una Vista Compleja es aquella que:</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Deriva de datos de una o más tablas.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Contiene funciones o grupos de datos.</a:t>
            </a:r>
          </a:p>
          <a:p>
            <a:pPr marL="171450" marR="0" lvl="0" indent="-171450" algn="l" defTabSz="914400" rtl="0" eaLnBrk="1" fontAlgn="base" latinLnBrk="0" hangingPunct="1">
              <a:lnSpc>
                <a:spcPct val="80000"/>
              </a:lnSpc>
              <a:spcBef>
                <a:spcPct val="0"/>
              </a:spcBef>
              <a:spcAft>
                <a:spcPct val="0"/>
              </a:spcAft>
              <a:buClrTx/>
              <a:buSzTx/>
              <a:buFont typeface="Arial" panose="020B0604020202020204" pitchFamily="34" charset="0"/>
              <a:buChar char="•"/>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No siempre permite operaciones DML través de la vista.</a:t>
            </a:r>
            <a:b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b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1" fontAlgn="base" latinLnBrk="0" hangingPunct="1">
              <a:lnSpc>
                <a:spcPct val="80000"/>
              </a:lnSpc>
              <a:spcBef>
                <a:spcPct val="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2350826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Creando una Vista</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En la sintaxis: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OR REPLACE: </a:t>
            </a:r>
            <a:r>
              <a:rPr kumimoji="0" lang="es-MX" sz="1200" b="0" i="0" u="none" strike="noStrike" kern="1200" cap="none" spc="0" normalizeH="0" baseline="0" noProof="0" dirty="0">
                <a:ln>
                  <a:noFill/>
                </a:ln>
                <a:solidFill>
                  <a:prstClr val="black"/>
                </a:solidFill>
                <a:effectLst/>
                <a:uLnTx/>
                <a:uFillTx/>
                <a:latin typeface="Calibri"/>
                <a:ea typeface="+mn-ea"/>
                <a:cs typeface="+mn-cs"/>
              </a:rPr>
              <a:t>recrea (vuelve a crear) la vista si ésta ya existe.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FORCE:</a:t>
            </a:r>
            <a:r>
              <a:rPr kumimoji="0" lang="es-MX" sz="1200" b="0" i="0" u="none" strike="noStrike" kern="1200" cap="none" spc="0" normalizeH="0" baseline="0" noProof="0" dirty="0">
                <a:ln>
                  <a:noFill/>
                </a:ln>
                <a:solidFill>
                  <a:prstClr val="black"/>
                </a:solidFill>
                <a:effectLst/>
                <a:uLnTx/>
                <a:uFillTx/>
                <a:latin typeface="Calibri"/>
                <a:ea typeface="+mn-ea"/>
                <a:cs typeface="+mn-cs"/>
              </a:rPr>
              <a:t> crea la vista sin importar que no existan las tablas bases.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NOFORCE: </a:t>
            </a:r>
            <a:r>
              <a:rPr kumimoji="0" lang="es-MX" sz="1200" b="0" i="0" u="none" strike="noStrike" kern="1200" cap="none" spc="0" normalizeH="0" baseline="0" noProof="0" dirty="0">
                <a:ln>
                  <a:noFill/>
                </a:ln>
                <a:solidFill>
                  <a:prstClr val="black"/>
                </a:solidFill>
                <a:effectLst/>
                <a:uLnTx/>
                <a:uFillTx/>
                <a:latin typeface="Calibri"/>
                <a:ea typeface="+mn-ea"/>
                <a:cs typeface="+mn-cs"/>
              </a:rPr>
              <a:t>crea la vista sólo si las tablas bases existen. Es la opción por defecto.</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err="1">
                <a:ln>
                  <a:noFill/>
                </a:ln>
                <a:solidFill>
                  <a:prstClr val="black"/>
                </a:solidFill>
                <a:effectLst/>
                <a:uLnTx/>
                <a:uFillTx/>
                <a:latin typeface="Calibri"/>
                <a:ea typeface="+mn-ea"/>
                <a:cs typeface="+mn-cs"/>
              </a:rPr>
              <a:t>nombre_vista</a:t>
            </a:r>
            <a:r>
              <a:rPr kumimoji="0" lang="es-MX" sz="1200" b="0" i="0" u="none" strike="noStrike" kern="1200" cap="none" spc="0" normalizeH="0" baseline="0" noProof="0" dirty="0">
                <a:ln>
                  <a:noFill/>
                </a:ln>
                <a:solidFill>
                  <a:prstClr val="black"/>
                </a:solidFill>
                <a:effectLst/>
                <a:uLnTx/>
                <a:uFillTx/>
                <a:latin typeface="Calibri"/>
                <a:ea typeface="+mn-ea"/>
                <a:cs typeface="+mn-cs"/>
              </a:rPr>
              <a:t>: es el nombre de la vista que se desea crear.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a:ln>
                  <a:noFill/>
                </a:ln>
                <a:solidFill>
                  <a:prstClr val="black"/>
                </a:solidFill>
                <a:effectLst/>
                <a:uLnTx/>
                <a:uFillTx/>
                <a:latin typeface="Calibri"/>
                <a:ea typeface="+mn-ea"/>
                <a:cs typeface="+mn-cs"/>
              </a:rPr>
              <a:t>alias</a:t>
            </a:r>
            <a:r>
              <a:rPr kumimoji="0" lang="es-MX" sz="1200" b="1" i="0" u="none" strike="noStrike" kern="1200" cap="none" spc="0" normalizeH="0" baseline="0" noProof="0" dirty="0">
                <a:ln>
                  <a:noFill/>
                </a:ln>
                <a:solidFill>
                  <a:prstClr val="black"/>
                </a:solidFill>
                <a:effectLst/>
                <a:uLnTx/>
                <a:uFillTx/>
                <a:latin typeface="Calibri"/>
                <a:ea typeface="+mn-ea"/>
                <a:cs typeface="+mn-cs"/>
              </a:rPr>
              <a:t>:</a:t>
            </a:r>
            <a:r>
              <a:rPr kumimoji="0" lang="es-MX" sz="1200" b="0" i="0" u="none" strike="noStrike" kern="1200" cap="none" spc="0" normalizeH="0" baseline="0" noProof="0" dirty="0">
                <a:ln>
                  <a:noFill/>
                </a:ln>
                <a:solidFill>
                  <a:prstClr val="black"/>
                </a:solidFill>
                <a:effectLst/>
                <a:uLnTx/>
                <a:uFillTx/>
                <a:latin typeface="Calibri"/>
                <a:ea typeface="+mn-ea"/>
                <a:cs typeface="+mn-cs"/>
              </a:rPr>
              <a:t> especifica el nombre para las expresiones seleccionadas por la consulta de la vista. Deben coincidir con el número de expresiones seleccionadas por la vista. Si no se especifican alias, los nombres de columnas de la vista serán las columnas seleccionadas en la lista de la cláusula SELECT.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1" u="none" strike="noStrike" kern="1200" cap="none" spc="0" normalizeH="0" baseline="0" noProof="0" dirty="0">
                <a:ln>
                  <a:noFill/>
                </a:ln>
                <a:solidFill>
                  <a:prstClr val="black"/>
                </a:solidFill>
                <a:effectLst/>
                <a:uLnTx/>
                <a:uFillTx/>
                <a:latin typeface="Calibri"/>
                <a:ea typeface="+mn-ea"/>
                <a:cs typeface="+mn-cs"/>
              </a:rPr>
              <a:t>subconsulta</a:t>
            </a:r>
            <a:r>
              <a:rPr kumimoji="0" lang="es-MX" sz="1200" b="1" i="0" u="none" strike="noStrike" kern="1200" cap="none" spc="0" normalizeH="0" baseline="0" noProof="0" dirty="0">
                <a:ln>
                  <a:noFill/>
                </a:ln>
                <a:solidFill>
                  <a:prstClr val="black"/>
                </a:solidFill>
                <a:effectLst/>
                <a:uLnTx/>
                <a:uFillTx/>
                <a:latin typeface="Calibri"/>
                <a:ea typeface="+mn-ea"/>
                <a:cs typeface="+mn-cs"/>
              </a:rPr>
              <a:t>:</a:t>
            </a:r>
            <a:r>
              <a:rPr kumimoji="0" lang="es-MX" sz="1200" b="0" i="0" u="none" strike="noStrike" kern="1200" cap="none" spc="0" normalizeH="0" baseline="0" noProof="0" dirty="0">
                <a:ln>
                  <a:noFill/>
                </a:ln>
                <a:solidFill>
                  <a:prstClr val="black"/>
                </a:solidFill>
                <a:effectLst/>
                <a:uLnTx/>
                <a:uFillTx/>
                <a:latin typeface="Calibri"/>
                <a:ea typeface="+mn-ea"/>
                <a:cs typeface="+mn-cs"/>
              </a:rPr>
              <a:t> es una sentencia SELECT completa.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WITH CHECK OPTION :</a:t>
            </a:r>
            <a:r>
              <a:rPr kumimoji="0" lang="es-MX" sz="1200" b="0" i="0" u="none" strike="noStrike" kern="1200" cap="none" spc="0" normalizeH="0" baseline="0" noProof="0" dirty="0">
                <a:ln>
                  <a:noFill/>
                </a:ln>
                <a:solidFill>
                  <a:prstClr val="black"/>
                </a:solidFill>
                <a:effectLst/>
                <a:uLnTx/>
                <a:uFillTx/>
                <a:latin typeface="Calibri"/>
                <a:ea typeface="+mn-ea"/>
                <a:cs typeface="+mn-cs"/>
              </a:rPr>
              <a:t> Especifica que solo las filas accesibles para la vista pueden ser insertadas o modificadas. La restricción que sigue a esta sección es el nombre que se le da a la restricción de tipo CHECK OPTION. Si no le asigna un nombre a la restricción, el sistema asigna un nombre por defecto en el formato </a:t>
            </a:r>
            <a:r>
              <a:rPr kumimoji="0" lang="es-MX" sz="1200" b="0" i="0" u="none" strike="noStrike" kern="1200" cap="none" spc="0" normalizeH="0" baseline="0" noProof="0" dirty="0" err="1">
                <a:ln>
                  <a:noFill/>
                </a:ln>
                <a:solidFill>
                  <a:prstClr val="black"/>
                </a:solidFill>
                <a:effectLst/>
                <a:uLnTx/>
                <a:uFillTx/>
                <a:latin typeface="Calibri"/>
                <a:ea typeface="+mn-ea"/>
                <a:cs typeface="+mn-cs"/>
              </a:rPr>
              <a:t>SYS_Cn</a:t>
            </a:r>
            <a:endParaRPr kumimoji="0" lang="es-MX" sz="1200" b="0" i="0" u="none" strike="noStrike" kern="1200" cap="none" spc="0" normalizeH="0" baseline="0" noProof="0" dirty="0">
              <a:ln>
                <a:noFill/>
              </a:ln>
              <a:solidFill>
                <a:prstClr val="black"/>
              </a:solidFill>
              <a:effectLst/>
              <a:uLnTx/>
              <a:uFillTx/>
              <a:latin typeface="Calibri"/>
              <a:ea typeface="+mn-ea"/>
              <a:cs typeface="+mn-cs"/>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WITH READ ONLY:</a:t>
            </a:r>
            <a:r>
              <a:rPr kumimoji="0" lang="es-MX" sz="1200" b="0" i="0" u="none" strike="noStrike" kern="1200" cap="none" spc="0" normalizeH="0" baseline="0" noProof="0" dirty="0">
                <a:ln>
                  <a:noFill/>
                </a:ln>
                <a:solidFill>
                  <a:prstClr val="black"/>
                </a:solidFill>
                <a:effectLst/>
                <a:uLnTx/>
                <a:uFillTx/>
                <a:latin typeface="Calibri"/>
                <a:ea typeface="+mn-ea"/>
                <a:cs typeface="+mn-cs"/>
              </a:rPr>
              <a:t> especifica que la vista sea sólo de lectura.</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NOTA:</a:t>
            </a:r>
            <a:r>
              <a:rPr kumimoji="0" lang="es-MX" sz="1200" b="0" i="0" u="none" strike="noStrike" kern="1200" cap="none" spc="0" normalizeH="0" baseline="0" noProof="0" dirty="0">
                <a:ln>
                  <a:noFill/>
                </a:ln>
                <a:solidFill>
                  <a:prstClr val="black"/>
                </a:solidFill>
                <a:effectLst/>
                <a:uLnTx/>
                <a:uFillTx/>
                <a:latin typeface="Calibri"/>
                <a:ea typeface="+mn-ea"/>
                <a:cs typeface="+mn-cs"/>
              </a:rPr>
              <a:t> Los tipos de datos de las columnas de la vista corresponden a los tipos de datos de las columnas de la tabla base.</a:t>
            </a:r>
            <a:endParaRPr kumimoji="0" lang="es-CL"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94603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una Vista Simple</a:t>
            </a: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se crea la vista v_emp_depto_80 que mostrará la identificación, apellido y salario de los empleados que trabajan en el departamento 80. Para ver la estructura de la vista creada se puede usar el comando DESCRIBE (DESC). Al momento de mostrar los datos, se puede mostrar todo el contenido que retorna la vista o restringir las filas y columnas a través de alguna condición (de la misma manera como se realiza en una sentencia </a:t>
            </a:r>
            <a:r>
              <a:rPr kumimoji="0" lang="es-MX" sz="1200" b="0" i="0" u="none" strike="noStrike" kern="1200" cap="none" spc="0" normalizeH="0" baseline="0" noProof="0" dirty="0" err="1">
                <a:ln>
                  <a:noFill/>
                </a:ln>
                <a:solidFill>
                  <a:prstClr val="black"/>
                </a:solidFill>
                <a:effectLst/>
                <a:uLnTx/>
                <a:uFillTx/>
                <a:latin typeface="Calibri"/>
                <a:ea typeface="+mn-ea"/>
                <a:cs typeface="Arial" pitchFamily="34" charset="0"/>
              </a:rPr>
              <a:t>Select</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basada en una tabla). En el ejemplo se muestran todas las filas y columnas de la vista v_emp_depto_80 ordenadas por salario y apellido en forma ascendente.</a:t>
            </a:r>
          </a:p>
          <a:p>
            <a:pPr marL="0" marR="0" lvl="0" indent="0" algn="l" defTabSz="914400" rtl="0" eaLnBrk="0" fontAlgn="base" latinLnBrk="0" hangingPunct="0">
              <a:lnSpc>
                <a:spcPct val="9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761415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una Vista Simple</a:t>
            </a: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Se pueden controlar los nombres de columna de la vista mediante la inclusión de los alias de columna en la Subconsulta. Alternativamente, se puede utilizar un alias en la cláusula CREATE VIEW. El número de alias enumerados debe coincidir con el número de expresiones seleccionadas en la Subconsulta.</a:t>
            </a:r>
            <a:b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b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se crea la vista v_salarios_depto_50 que contiene la identificación del empleado con el alias ID_EMPLEADO, su apellido con el alias APELLIDO, su salario con el alias SALARIO_MENSUAL y el salario multiplicado por 12 con el alias SALARIO_ANUAL para todos los empleados del departamento 50. </a:t>
            </a: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4019459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una Vista Compleja</a:t>
            </a: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ejemplo que se muestra, la vista </a:t>
            </a:r>
            <a:r>
              <a:rPr kumimoji="0" lang="es-MX" sz="1200" b="0" i="0" u="none" strike="noStrike" kern="1200" cap="none" spc="0" normalizeH="0" baseline="0" noProof="0" dirty="0" err="1">
                <a:ln>
                  <a:noFill/>
                </a:ln>
                <a:solidFill>
                  <a:prstClr val="black"/>
                </a:solidFill>
                <a:effectLst/>
                <a:uLnTx/>
                <a:uFillTx/>
                <a:latin typeface="Calibri"/>
                <a:ea typeface="+mn-ea"/>
                <a:cs typeface="Arial" pitchFamily="34" charset="0"/>
              </a:rPr>
              <a:t>v_dept_sum</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contiene funciones de grupo y muestra valores de dos tablas. La vista contendrá el nombre de departamento (cuyo código exista en las tablas </a:t>
            </a:r>
            <a:r>
              <a:rPr kumimoji="0" lang="es-MX" sz="1200" b="0" i="0" u="none" strike="noStrike" kern="1200" cap="none" spc="0" normalizeH="0" baseline="0" noProof="0" dirty="0" err="1">
                <a:ln>
                  <a:noFill/>
                </a:ln>
                <a:solidFill>
                  <a:prstClr val="black"/>
                </a:solidFill>
                <a:effectLst/>
                <a:uLnTx/>
                <a:uFillTx/>
                <a:latin typeface="Calibri"/>
                <a:ea typeface="+mn-ea"/>
                <a:cs typeface="Arial" pitchFamily="34" charset="0"/>
              </a:rPr>
              <a:t>employees</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y </a:t>
            </a:r>
            <a:r>
              <a:rPr kumimoji="0" lang="es-MX" sz="1200" b="0" i="0" u="none" strike="noStrike" kern="1200" cap="none" spc="0" normalizeH="0" baseline="0" noProof="0" dirty="0" err="1">
                <a:ln>
                  <a:noFill/>
                </a:ln>
                <a:solidFill>
                  <a:prstClr val="black"/>
                </a:solidFill>
                <a:effectLst/>
                <a:uLnTx/>
                <a:uFillTx/>
                <a:latin typeface="Calibri"/>
                <a:ea typeface="+mn-ea"/>
                <a:cs typeface="Arial" pitchFamily="34" charset="0"/>
              </a:rPr>
              <a:t>departments</a:t>
            </a: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 su salario mínimo, salario máximo y salario promedio. En este caso, a los resultados de cada función de grupo se le debe asignar un alias en la vista ya que es un requisito si cualquier columna de la vista se deriva de una función o una expresión. La información de la vista se muestra ordenada por salario mínimo y nombre de departamento en forma ascendente.</a:t>
            </a:r>
          </a:p>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Se debe recordar que para ver la estructura de la vista se puede usar DESCRIBE.</a:t>
            </a:r>
          </a:p>
        </p:txBody>
      </p:sp>
    </p:spTree>
    <p:extLst>
      <p:ext uri="{BB962C8B-B14F-4D97-AF65-F5344CB8AC3E}">
        <p14:creationId xmlns:p14="http://schemas.microsoft.com/office/powerpoint/2010/main" val="2386695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Operaciones DML sobre una Vista</a:t>
            </a:r>
          </a:p>
          <a:p>
            <a:pPr marL="0" marR="0" lvl="0" indent="0" algn="l" defTabSz="914400" rtl="0" eaLnBrk="0" fontAlgn="base" latinLnBrk="0" hangingPunct="0">
              <a:lnSpc>
                <a:spcPct val="9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Se pueden realizar operaciones DML sobre</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los datos </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a través de una vista si esas operaciones siguen ciertas reglas. Se debe considerar que las operaciones DML se</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efectúan sobre la tabla base que usa la Vista para visualizar la información.</a:t>
            </a:r>
            <a:endPar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171450"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Para eliminar una fila de una vista, ésta no puede contener:</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Funciones de grupo</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Una cláusula de GROUP BY</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DISTINCT</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pseudocolumn</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ROWNUM</a:t>
            </a:r>
          </a:p>
          <a:p>
            <a:pPr marL="171450"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Se pueden</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modificar datos a través de una Vista si ésta no contiene:</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Funciones de grupo</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Una cláusula de GROUP BY</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DISTINCT</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pseudocolumn</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ROWNUM</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Columnas definidas por expresiones.</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Por ejemplo, </a:t>
            </a:r>
            <a:r>
              <a:rPr lang="es-CL" sz="1200" b="0" i="0" u="none" strike="noStrike" cap="none" baseline="0"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salary</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*12.</a:t>
            </a:r>
          </a:p>
          <a:p>
            <a:pPr marL="171450" indent="-171450" eaLnBrk="1" hangingPunct="1">
              <a:spcBef>
                <a:spcPct val="0"/>
              </a:spcBef>
              <a:buFont typeface="Arial" panose="020B0604020202020204" pitchFamily="34" charset="0"/>
              <a:buChar char="•"/>
            </a:pP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Se pueden insertar filas a través de una Vista si ésta no incluye:</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Funciones de grupo</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Una cláusula de GROUP BY</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DISTINCT</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La palabra clave </a:t>
            </a:r>
            <a:r>
              <a:rPr lang="es-CL" sz="1200" b="0" i="0" u="none" strike="noStrike" cap="none"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pseudocolumn</a:t>
            </a: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ROWNUM</a:t>
            </a: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Columnas definidas por expresiones.</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Por ejemplo, </a:t>
            </a:r>
            <a:r>
              <a:rPr lang="es-CL" sz="1200" b="0" i="0" u="none" strike="noStrike" cap="none" baseline="0" dirty="0" err="1">
                <a:solidFill>
                  <a:srgbClr val="000000"/>
                </a:solidFill>
                <a:latin typeface="Calibri" panose="020F0502020204030204" pitchFamily="34" charset="0"/>
                <a:ea typeface="ＭＳ Ｐゴシック" pitchFamily="34" charset="-128"/>
                <a:cs typeface="Calibri" panose="020F0502020204030204" pitchFamily="34" charset="0"/>
                <a:sym typeface="Arial"/>
              </a:rPr>
              <a:t>salary</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*12.</a:t>
            </a:r>
            <a:endPar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628650" lvl="1" indent="-171450" eaLnBrk="1" hangingPunct="1">
              <a:spcBef>
                <a:spcPct val="0"/>
              </a:spcBef>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Una columna</a:t>
            </a:r>
            <a:r>
              <a:rPr lang="es-CL" sz="1200" b="0" i="0" u="none" strike="noStrike" cap="none" baseline="0" dirty="0">
                <a:solidFill>
                  <a:srgbClr val="000000"/>
                </a:solidFill>
                <a:latin typeface="Calibri" panose="020F0502020204030204" pitchFamily="34" charset="0"/>
                <a:ea typeface="ＭＳ Ｐゴシック" pitchFamily="34" charset="-128"/>
                <a:cs typeface="Calibri" panose="020F0502020204030204" pitchFamily="34" charset="0"/>
                <a:sym typeface="Arial"/>
              </a:rPr>
              <a:t> NOT NULL de la tabla que no es seleccionada por la Vista.</a:t>
            </a:r>
            <a:endParaRPr lang="es-CL"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endParaRPr>
          </a:p>
          <a:p>
            <a:pPr marL="0" marR="0" lvl="0" indent="0" algn="l" defTabSz="914400" rtl="0" eaLnBrk="0" fontAlgn="base" latinLnBrk="0" hangingPunct="0">
              <a:lnSpc>
                <a:spcPct val="9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2276271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rPr>
              <a:t>Uso de la Cláusula WITH CHECK OPTION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A través de las vistas es posible realizar controles de la integridad referencial. Por lo tanto, una vista puede servir de mecanismo para proteger la integridad de los datos. La vista se puede utilizar para proteger la integridad de datos, pero el uso es limitado. </a:t>
            </a:r>
            <a:b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b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cláusula WITH CHECK OPTION especifica que las inserciones y actualizaciones que se realizan a través de la vista no pueden crear filas que la vista no selecciona. Por lo tanto, permite que las restricciones de integridad y controles de validación de datos se deban ejecutar en los datos que se insertan o actualizan. Por lo tanto, en el ejemplo, la cláusula WITH CHECK OPTION no permite modificar la columna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department_id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porque al hacerlo la fila ya no aparecería en la vista; sí se pueden actualizar las demás columnas. Por ejemplo, si se intenta actualizar a 10 la columna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employee_id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 alguna fila mediante la vista, Oracle muestra un mensaje de error.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La misma restricción surge al ejecutar un INSERT sobre la vista; solamente se pueden agregar filas el valor 30 para la columna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department_id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si se intenta ingresar filas con un valor diferente de 30 a esta columna, Oracle mostrará un mensaje de error.</a:t>
            </a:r>
          </a:p>
        </p:txBody>
      </p:sp>
    </p:spTree>
    <p:extLst>
      <p:ext uri="{BB962C8B-B14F-4D97-AF65-F5344CB8AC3E}">
        <p14:creationId xmlns:p14="http://schemas.microsoft.com/office/powerpoint/2010/main" val="1843835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Uso de la Cláusula WITH CHECK OPTION</a:t>
            </a:r>
          </a:p>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primer ejemplo, se usa la vista v_depto_30 (que sólo obtiene a los empleados que pertenecen al departamento 30) para actualizar al empleado 10 con un departamento diferente al 30 y se generará el error ORA-01402 que indica que la cláusula WITH CHECK OPTION ha sido violada.</a:t>
            </a:r>
          </a:p>
          <a:p>
            <a:pPr marL="0" marR="0" lvl="0" indent="0" algn="just" defTabSz="914400" rtl="0" eaLnBrk="0" fontAlgn="base" latinLnBrk="0" hangingPunct="0">
              <a:lnSpc>
                <a:spcPct val="9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segundo ejemplo, se usa la vista para insertar un nuevo empleado asignándole el departamento 100. Como la vista sólo permite usar el departamento 30, se genera el error que se visualiza.</a:t>
            </a:r>
          </a:p>
        </p:txBody>
      </p:sp>
    </p:spTree>
    <p:extLst>
      <p:ext uri="{BB962C8B-B14F-4D97-AF65-F5344CB8AC3E}">
        <p14:creationId xmlns:p14="http://schemas.microsoft.com/office/powerpoint/2010/main" val="1715874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Uso de la Cláusula WITH READ ONLY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Para asegurar de que no se efectúen operaciones DML en la vista se debe agregar la opción WITH  READ ONLY al momento de crear la vista. Cuando se intenta efectuar una operación DML sobre cualquier fila de la vista el servidor Oracle retornará un error ORA-42399. Del mismo modo, cualquier intento de insertar o modificar una fila usando la vista con una restricción de sólo lectura se traduce en el mismo error.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ejemplo primero se crea la vista v_emp_10, de sólo lectura, con la identificación del empleado, nombre y trabajo de los empleados que trabajan en el departamento 10. Posteriormente se desea eliminar el empleado 200, que es el quien trabaja en el departamento 10, pero se produce el error que indica que no se puede realizar una operación DML sobre una vista que es sólo lectura.</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300836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Modificando una Vista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Con la opción OR REPLACE, una vista se puede crear, incluso si ya existe con el mismo nombre, sustituyendo así la antigua versión de la vista. Esto significa que la vista puede ser modificada sin eliminar o tener que volver a asignar privilegios sobre el objeto. Al asignar alias de columna en la cláusula CREATE OR REPLACE VIEW, se debe recordar que los alias se enumeran en el mismo orden que las columnas de la subconsulta.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ejemplo, a la vista v_emp_depto_80 (creada anteriormente), se le asigna un alias por cada nombre de columna en la cláusula CREATE OR REPLACE VIEW. Por lo tanto, para la columna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employee_id</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la vista tendrá el alias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id_empleado</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para las columnas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first_name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y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last_name</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cocatenadas</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se le asigna el alias nombre, a las columnas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salary</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alias salario y para la columna </a:t>
            </a:r>
            <a:r>
              <a:rPr lang="es-MX"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department_id</a:t>
            </a: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el alias departamento. Posteriormente, se muestra el nombre y salario de la vista creada para los empleados con salario mayor a 10000</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85904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Eliminando una Vista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Para eliminar una Vista se debe usar la sentencia DROP VIEW seguido del nombre de la Vista que se desea eliminar. Se elimina la definición de la Vista sin afectar a las tablas bases en la que se basó la Vista.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Todos los objetos que hacen referencia a la Vista eliminada quedan como objetos inválidos en la Base de Datos.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Solo el usuario que creó la Vista o el que tenga el privilegio DROP ANU VIEW puede eliminar una Vista.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primer ejemplo se elimina la Vista v_emp_10. En el segundo ejemplo se elimina la Vista v_emp_depto_80.</a:t>
            </a:r>
            <a:endPar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136357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07011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t>Objeto Secuencia </a:t>
            </a:r>
            <a:endParaRPr lang="es-CL" sz="1200" b="1" i="0" u="none" strike="noStrike" cap="none" dirty="0">
              <a:solidFill>
                <a:prstClr val="white"/>
              </a:solidFill>
              <a:latin typeface="Arial"/>
              <a:ea typeface="Arial"/>
              <a:cs typeface="Arial"/>
              <a:sym typeface="Arial"/>
            </a:endParaRPr>
          </a:p>
          <a:p>
            <a:pPr marL="0" indent="0">
              <a:buFont typeface="Arial" panose="020B0604020202020204" pitchFamily="34" charset="0"/>
              <a:buNone/>
            </a:pPr>
            <a:r>
              <a:rPr lang="es-CL" sz="1200" dirty="0"/>
              <a:t>Una secuencia es un objeto de Base de Datos creado por el usuario y que puede ser compartido por múltiples usuarios para generar valores numéricos. Se puede definir una secuencia para generar valores únicos o para reciclar y usar los mismos números nuevamente.</a:t>
            </a:r>
          </a:p>
          <a:p>
            <a:pPr marL="0" indent="0">
              <a:buFont typeface="Arial" panose="020B0604020202020204" pitchFamily="34" charset="0"/>
              <a:buNone/>
            </a:pPr>
            <a:r>
              <a:rPr lang="es-CL" sz="1200" dirty="0"/>
              <a:t>Un uso típico de las secuencias es para crear un valor de Clave Primaria</a:t>
            </a:r>
            <a:r>
              <a:rPr lang="es-CL" sz="1200" baseline="0" dirty="0"/>
              <a:t> de una tabla</a:t>
            </a:r>
            <a:r>
              <a:rPr lang="es-CL" sz="1200" dirty="0"/>
              <a:t>. Se usa también para columnas que cuyo valor es un número correlativo.</a:t>
            </a:r>
          </a:p>
          <a:p>
            <a:pPr marL="0" indent="0">
              <a:buFont typeface="Arial" panose="020B0604020202020204" pitchFamily="34" charset="0"/>
              <a:buNone/>
            </a:pPr>
            <a:r>
              <a:rPr lang="es-CL" sz="1200" dirty="0"/>
              <a:t>Una secuencia se genera e incrementa (o disminuye) mediante una rutina interna de Oracle.  Esto lo transforma en un objeto eficiente porque puede reducir la cantidad de código de la aplicación necesaria para escribir una rutina de generación de secuencias.</a:t>
            </a:r>
          </a:p>
          <a:p>
            <a:pPr marL="0" indent="0">
              <a:buFont typeface="Arial" panose="020B0604020202020204" pitchFamily="34" charset="0"/>
              <a:buNone/>
            </a:pPr>
            <a:r>
              <a:rPr lang="es-CL" sz="1200" dirty="0"/>
              <a:t>Los números de secuencia se almacenan y generan independientemente de las tablas. Por lo tanto, la misma secuencia se puede usar para varias tablas.</a:t>
            </a:r>
          </a:p>
        </p:txBody>
      </p:sp>
    </p:spTree>
    <p:extLst>
      <p:ext uri="{BB962C8B-B14F-4D97-AF65-F5344CB8AC3E}">
        <p14:creationId xmlns:p14="http://schemas.microsoft.com/office/powerpoint/2010/main" val="1947518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Creando Secuencias</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En la Sintaxis:</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secuencia:</a:t>
            </a:r>
            <a:r>
              <a:rPr lang="es-CL" sz="1200" dirty="0">
                <a:latin typeface="Calibri" panose="020F0502020204030204" pitchFamily="34" charset="0"/>
                <a:cs typeface="Calibri" panose="020F0502020204030204" pitchFamily="34" charset="0"/>
              </a:rPr>
              <a:t>  es el nombre que se le da al objeto de secuencia a crear.</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INCREMENT BY:</a:t>
            </a:r>
            <a:r>
              <a:rPr lang="es-CL" sz="1200" dirty="0">
                <a:latin typeface="Calibri" panose="020F0502020204030204" pitchFamily="34" charset="0"/>
                <a:cs typeface="Calibri" panose="020F0502020204030204" pitchFamily="34" charset="0"/>
              </a:rPr>
              <a:t> indica cuánto se incrementa la secuencia cada vez que se usa. Por defecto se incrementa de uno en uno. Su incremento puede ascendente o descendente. Si el incremento es un valor negativo, el parámetro </a:t>
            </a:r>
            <a:r>
              <a:rPr lang="es-CL" sz="1200" b="0" dirty="0">
                <a:latin typeface="Calibri" panose="020F0502020204030204" pitchFamily="34" charset="0"/>
                <a:cs typeface="Calibri" panose="020F0502020204030204" pitchFamily="34" charset="0"/>
              </a:rPr>
              <a:t>START WITH y MAXVALUE deben tener el mismo valor.</a:t>
            </a:r>
            <a:endParaRPr lang="es-CL"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START WITH:</a:t>
            </a:r>
            <a:r>
              <a:rPr lang="es-CL" sz="1200" dirty="0">
                <a:latin typeface="Calibri" panose="020F0502020204030204" pitchFamily="34" charset="0"/>
                <a:cs typeface="Calibri" panose="020F0502020204030204" pitchFamily="34" charset="0"/>
              </a:rPr>
              <a:t> indica el valor inicial de la secuencia (por defecto 1).</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MAXVALUE:</a:t>
            </a:r>
            <a:r>
              <a:rPr lang="es-CL" sz="1200" dirty="0">
                <a:latin typeface="Calibri" panose="020F0502020204030204" pitchFamily="34" charset="0"/>
                <a:cs typeface="Calibri" panose="020F0502020204030204" pitchFamily="34" charset="0"/>
              </a:rPr>
              <a:t> máximo valor que puede tomar la secuencia. </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NOMAXVALUE:</a:t>
            </a:r>
            <a:r>
              <a:rPr lang="es-CL" sz="1200" b="0" dirty="0">
                <a:latin typeface="Calibri" panose="020F0502020204030204" pitchFamily="34" charset="0"/>
                <a:cs typeface="Calibri" panose="020F0502020204030204" pitchFamily="34" charset="0"/>
              </a:rPr>
              <a:t> opción por defecto que es</a:t>
            </a:r>
            <a:r>
              <a:rPr lang="es-CL" sz="1200" dirty="0">
                <a:latin typeface="Calibri" panose="020F0502020204030204" pitchFamily="34" charset="0"/>
                <a:cs typeface="Calibri" panose="020F0502020204030204" pitchFamily="34" charset="0"/>
              </a:rPr>
              <a:t>pecifica un valor máximo de 10 ^ 27 para una secuencia ascendente y -1 para una secuencia descendente.</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MINVALUE:</a:t>
            </a:r>
            <a:r>
              <a:rPr lang="es-CL" sz="1200" dirty="0">
                <a:latin typeface="Calibri" panose="020F0502020204030204" pitchFamily="34" charset="0"/>
                <a:cs typeface="Calibri" panose="020F0502020204030204" pitchFamily="34" charset="0"/>
              </a:rPr>
              <a:t> mínimo valor que puede tomar la secuencia. MINVALUE debe ser menor o igual que o igual a START WITH, y debe ser menor a MAXVALUE.</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NOMINVALUE:</a:t>
            </a:r>
            <a:r>
              <a:rPr lang="es-CL" sz="1200" b="0" dirty="0">
                <a:latin typeface="Calibri" panose="020F0502020204030204" pitchFamily="34" charset="0"/>
                <a:cs typeface="Calibri" panose="020F0502020204030204" pitchFamily="34" charset="0"/>
              </a:rPr>
              <a:t> opción por defecto que e</a:t>
            </a:r>
            <a:r>
              <a:rPr lang="es-CL" sz="1200" dirty="0">
                <a:latin typeface="Calibri" panose="020F0502020204030204" pitchFamily="34" charset="0"/>
                <a:cs typeface="Calibri" panose="020F0502020204030204" pitchFamily="34" charset="0"/>
              </a:rPr>
              <a:t>specifica un valor mínimo de 1 para una secuencia ascendente y - (10 ^ 26) para una secuencia descendente. </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CYCLE:</a:t>
            </a:r>
            <a:r>
              <a:rPr lang="es-CL" sz="1200" dirty="0">
                <a:latin typeface="Calibri" panose="020F0502020204030204" pitchFamily="34" charset="0"/>
                <a:cs typeface="Calibri" panose="020F0502020204030204" pitchFamily="34" charset="0"/>
              </a:rPr>
              <a:t> hace que la secuencia vuelva a empezar si se ha llegado al máximo valor. </a:t>
            </a:r>
            <a:r>
              <a:rPr lang="en-US" altLang="es-CL" sz="1200" dirty="0">
                <a:latin typeface="Calibri" panose="020F0502020204030204" pitchFamily="34" charset="0"/>
                <a:cs typeface="Calibri" panose="020F0502020204030204" pitchFamily="34" charset="0"/>
              </a:rPr>
              <a:t>NOCYCLE es la </a:t>
            </a:r>
            <a:r>
              <a:rPr lang="en-US" altLang="es-CL" sz="1200" dirty="0" err="1">
                <a:latin typeface="Calibri" panose="020F0502020204030204" pitchFamily="34" charset="0"/>
                <a:cs typeface="Calibri" panose="020F0502020204030204" pitchFamily="34" charset="0"/>
              </a:rPr>
              <a:t>opción</a:t>
            </a:r>
            <a:r>
              <a:rPr lang="en-US" altLang="es-CL" sz="1200" dirty="0">
                <a:latin typeface="Calibri" panose="020F0502020204030204" pitchFamily="34" charset="0"/>
                <a:cs typeface="Calibri" panose="020F0502020204030204" pitchFamily="34" charset="0"/>
              </a:rPr>
              <a:t> por </a:t>
            </a:r>
            <a:r>
              <a:rPr lang="en-US" altLang="es-CL" sz="1200" dirty="0" err="1">
                <a:latin typeface="Calibri" panose="020F0502020204030204" pitchFamily="34" charset="0"/>
                <a:cs typeface="Calibri" panose="020F0502020204030204" pitchFamily="34" charset="0"/>
              </a:rPr>
              <a:t>defecto</a:t>
            </a:r>
            <a:r>
              <a:rPr lang="en-US" altLang="es-CL" sz="1200" dirty="0">
                <a:latin typeface="Calibri" panose="020F0502020204030204" pitchFamily="34" charset="0"/>
                <a:cs typeface="Calibri" panose="020F0502020204030204" pitchFamily="34" charset="0"/>
              </a:rPr>
              <a:t>.</a:t>
            </a:r>
            <a:endParaRPr lang="es-CL"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CACHE:</a:t>
            </a:r>
            <a:r>
              <a:rPr lang="es-CL" sz="1200" dirty="0">
                <a:latin typeface="Calibri" panose="020F0502020204030204" pitchFamily="34" charset="0"/>
                <a:cs typeface="Calibri" panose="020F0502020204030204" pitchFamily="34" charset="0"/>
              </a:rPr>
              <a:t> especifica cuántos valores de la secuencia la base de datos </a:t>
            </a:r>
            <a:r>
              <a:rPr lang="es-CL" sz="1200" dirty="0" err="1">
                <a:latin typeface="Calibri" panose="020F0502020204030204" pitchFamily="34" charset="0"/>
                <a:cs typeface="Calibri" panose="020F0502020204030204" pitchFamily="34" charset="0"/>
              </a:rPr>
              <a:t>preasigna</a:t>
            </a:r>
            <a:r>
              <a:rPr lang="es-CL" sz="1200" dirty="0">
                <a:latin typeface="Calibri" panose="020F0502020204030204" pitchFamily="34" charset="0"/>
                <a:cs typeface="Calibri" panose="020F0502020204030204" pitchFamily="34" charset="0"/>
              </a:rPr>
              <a:t> y mantiene en memoria para un acceso más rápido. Este valor entero puede tener 28 dígitos o menos. El valor mínimo para este parámetro es 2. Si se omite tanto CACHE y NOCACHE por defecto la base de datos almacena en caché 20 números de la secuencia.</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ORDER:</a:t>
            </a:r>
            <a:r>
              <a:rPr lang="es-CL" sz="1200" b="0" dirty="0">
                <a:latin typeface="Calibri" panose="020F0502020204030204" pitchFamily="34" charset="0"/>
                <a:cs typeface="Calibri" panose="020F0502020204030204" pitchFamily="34" charset="0"/>
              </a:rPr>
              <a:t> </a:t>
            </a:r>
            <a:r>
              <a:rPr lang="es-ES" sz="1200" dirty="0"/>
              <a:t>permite asegurar que Oracle generará los números de secuencia en orden de solicitud. Esta opción es útil si se está utilizando Oracle Real </a:t>
            </a:r>
            <a:r>
              <a:rPr lang="es-ES" sz="1200" dirty="0" err="1"/>
              <a:t>Application</a:t>
            </a:r>
            <a:r>
              <a:rPr lang="es-ES" sz="1200" dirty="0"/>
              <a:t> </a:t>
            </a:r>
            <a:r>
              <a:rPr lang="es-ES" sz="1200" dirty="0" err="1"/>
              <a:t>Clusters</a:t>
            </a:r>
            <a:r>
              <a:rPr lang="es-ES" sz="1200" dirty="0"/>
              <a:t>. Cuando se usa el modo exclusivo (base de datos tradicional), Oracle siempre generará números de secuencia en orden</a:t>
            </a:r>
          </a:p>
          <a:p>
            <a:pPr marL="171450" indent="-171450">
              <a:buFont typeface="Arial" panose="020B0604020202020204" pitchFamily="34" charset="0"/>
              <a:buChar char="•"/>
            </a:pPr>
            <a:r>
              <a:rPr lang="es-ES" sz="1200" b="1" dirty="0">
                <a:latin typeface="Calibri" panose="020F0502020204030204" pitchFamily="34" charset="0"/>
                <a:cs typeface="Calibri" panose="020F0502020204030204" pitchFamily="34" charset="0"/>
              </a:rPr>
              <a:t>NOORDER:</a:t>
            </a:r>
            <a:r>
              <a:rPr lang="es-ES" sz="1200" b="0" dirty="0">
                <a:latin typeface="Calibri" panose="020F0502020204030204" pitchFamily="34" charset="0"/>
                <a:cs typeface="Calibri" panose="020F0502020204030204" pitchFamily="34" charset="0"/>
              </a:rPr>
              <a:t> se usa esta opción s</a:t>
            </a:r>
            <a:r>
              <a:rPr lang="es-ES" sz="1200" dirty="0"/>
              <a:t>i no se desea asegurar de que Oracle genere números de secuencia en orden de solicitud. Esta opción es la predeterminada.</a:t>
            </a:r>
            <a:endParaRPr lang="es-CL" sz="1200" b="1"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 se crea una secuencia con nombre DEPT_DEPTID_SEQ para ser usada como Clave Primaria de la tabla DEPARTMENTS. Su valor inicial será 280, su incremento cada vez que se use es 10, el valor máximo que alcanzará es 9999, no se almacenarán los valores de la secuencia en memoria y no volverá a empezar en el primer valor cuando alcance su máximo valor.</a:t>
            </a:r>
          </a:p>
          <a:p>
            <a:pPr marL="0" inden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699960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Usando una Secuencia </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Después de crear un objeto secuencia se pueden generar números secuenciales para usar en las tablas. Para hacer referencia a los valores de una secuencia se usan las </a:t>
            </a:r>
            <a:r>
              <a:rPr lang="es-CL" sz="1200" b="0" dirty="0" err="1">
                <a:latin typeface="Calibri" panose="020F0502020204030204" pitchFamily="34" charset="0"/>
                <a:cs typeface="Calibri" panose="020F0502020204030204" pitchFamily="34" charset="0"/>
              </a:rPr>
              <a:t>pseudocolumnas</a:t>
            </a:r>
            <a:r>
              <a:rPr lang="es-CL" sz="1200" b="0" dirty="0">
                <a:latin typeface="Calibri" panose="020F0502020204030204" pitchFamily="34" charset="0"/>
                <a:cs typeface="Calibri" panose="020F0502020204030204" pitchFamily="34" charset="0"/>
              </a:rPr>
              <a:t> NEXTVAL y CURRVAL. </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NEXTVAL:</a:t>
            </a:r>
            <a:r>
              <a:rPr lang="es-CL" sz="1200" dirty="0">
                <a:latin typeface="Calibri" panose="020F0502020204030204" pitchFamily="34" charset="0"/>
                <a:cs typeface="Calibri" panose="020F0502020204030204" pitchFamily="34" charset="0"/>
              </a:rPr>
              <a:t> retorna el siguiente valor disponible de la secuencia. Ésta  retorna un valor único cada vez que es referenciado, por lo tanto es diferente para cada usuario que utilice la secuencia. Se debe </a:t>
            </a:r>
            <a:r>
              <a:rPr lang="es-CL" sz="1200" b="0" dirty="0">
                <a:latin typeface="Calibri" panose="020F0502020204030204" pitchFamily="34" charset="0"/>
                <a:cs typeface="Calibri" panose="020F0502020204030204" pitchFamily="34" charset="0"/>
              </a:rPr>
              <a:t>calificar NEXTVAL con el nombre de la secuencia. Cuando hace referencia a </a:t>
            </a:r>
            <a:r>
              <a:rPr lang="es-CL" sz="1200" b="0" dirty="0" err="1">
                <a:latin typeface="Calibri" panose="020F0502020204030204" pitchFamily="34" charset="0"/>
                <a:cs typeface="Calibri" panose="020F0502020204030204" pitchFamily="34" charset="0"/>
              </a:rPr>
              <a:t>secuencia.NEXTVAL</a:t>
            </a:r>
            <a:r>
              <a:rPr lang="es-CL" sz="1200" b="0" dirty="0">
                <a:latin typeface="Calibri" panose="020F0502020204030204" pitchFamily="34" charset="0"/>
                <a:cs typeface="Calibri" panose="020F0502020204030204" pitchFamily="34" charset="0"/>
              </a:rPr>
              <a:t>, se genera un nuevo número de secuencia.</a:t>
            </a:r>
          </a:p>
          <a:p>
            <a:pPr marL="171450" indent="-171450">
              <a:buFont typeface="Arial" panose="020B0604020202020204" pitchFamily="34" charset="0"/>
              <a:buChar char="•"/>
            </a:pPr>
            <a:r>
              <a:rPr lang="es-CL" sz="1200" b="1" dirty="0">
                <a:latin typeface="Calibri" panose="020F0502020204030204" pitchFamily="34" charset="0"/>
                <a:cs typeface="Calibri" panose="020F0502020204030204" pitchFamily="34" charset="0"/>
              </a:rPr>
              <a:t>CURRVAL:</a:t>
            </a:r>
            <a:r>
              <a:rPr lang="es-CL" sz="1200" b="0" dirty="0">
                <a:latin typeface="Calibri" panose="020F0502020204030204" pitchFamily="34" charset="0"/>
                <a:cs typeface="Calibri" panose="020F0502020204030204" pitchFamily="34" charset="0"/>
              </a:rPr>
              <a:t> se usa para hacer referencia al valor actual de la secuencia que el usuario acaba de generar. Sin embargo, NEXTVAL se debe usar para generar un número de secuencia en la sesión del usuario actual antes de que se pueda hacer referencia a CURRVAL.  Se debe calificar CURRVAL con el nombre de la secuencia. Cuando hace referencia a </a:t>
            </a:r>
            <a:r>
              <a:rPr lang="es-CL" sz="1200" b="0" dirty="0" err="1">
                <a:latin typeface="Calibri" panose="020F0502020204030204" pitchFamily="34" charset="0"/>
                <a:cs typeface="Calibri" panose="020F0502020204030204" pitchFamily="34" charset="0"/>
              </a:rPr>
              <a:t>secuencia.CURRVAL</a:t>
            </a:r>
            <a:r>
              <a:rPr lang="es-CL" sz="1200" b="0" dirty="0">
                <a:latin typeface="Calibri" panose="020F0502020204030204" pitchFamily="34" charset="0"/>
                <a:cs typeface="Calibri" panose="020F0502020204030204" pitchFamily="34" charset="0"/>
              </a:rPr>
              <a:t>, se muestra el último valor generado de la secuencia.</a:t>
            </a:r>
          </a:p>
          <a:p>
            <a:pPr marL="0" indent="0">
              <a:buFont typeface="Arial" panose="020B0604020202020204" pitchFamily="34" charset="0"/>
              <a:buNone/>
            </a:pPr>
            <a:endParaRPr lang="es-CL" sz="1200" b="0"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Ambas </a:t>
            </a:r>
            <a:r>
              <a:rPr lang="es-CL" sz="1200" dirty="0" err="1">
                <a:latin typeface="Calibri" panose="020F0502020204030204" pitchFamily="34" charset="0"/>
                <a:cs typeface="Calibri" panose="020F0502020204030204" pitchFamily="34" charset="0"/>
              </a:rPr>
              <a:t>pseudocolumnas</a:t>
            </a:r>
            <a:r>
              <a:rPr lang="es-CL" sz="1200" dirty="0">
                <a:latin typeface="Calibri" panose="020F0502020204030204" pitchFamily="34" charset="0"/>
                <a:cs typeface="Calibri" panose="020F0502020204030204" pitchFamily="34" charset="0"/>
              </a:rPr>
              <a:t> pueden ser utilizadas en:</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Una consulta SELECT que no lleve DISTINCT, ni grupos, ni sea parte de una vista, ni sea subconsulta de otro SELECT, UPDATE o DELETE.</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Una subconsulta SELECT en una instrucción INSERT.</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cláusula VALUES de la instrucción INSERT.</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La cláusula SET de la instrucción UPDATE</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No se pueden utilizar como valor para la cláusula DEFAULT de un campo de tabla. Su uso más habitual es como apoyo al comando INSERT.</a:t>
            </a:r>
          </a:p>
        </p:txBody>
      </p:sp>
    </p:spTree>
    <p:extLst>
      <p:ext uri="{BB962C8B-B14F-4D97-AF65-F5344CB8AC3E}">
        <p14:creationId xmlns:p14="http://schemas.microsoft.com/office/powerpoint/2010/main" val="2762933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Usando Secuencias</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Las </a:t>
            </a:r>
            <a:r>
              <a:rPr lang="es-CL" sz="1200" b="0" dirty="0" err="1">
                <a:latin typeface="Calibri" panose="020F0502020204030204" pitchFamily="34" charset="0"/>
                <a:cs typeface="Calibri" panose="020F0502020204030204" pitchFamily="34" charset="0"/>
              </a:rPr>
              <a:t>pseudocolumnas</a:t>
            </a:r>
            <a:r>
              <a:rPr lang="es-CL" sz="1200" b="0" dirty="0">
                <a:latin typeface="Calibri" panose="020F0502020204030204" pitchFamily="34" charset="0"/>
                <a:cs typeface="Calibri" panose="020F0502020204030204" pitchFamily="34" charset="0"/>
              </a:rPr>
              <a:t> NEXTVAL y CURRVAL se pueden</a:t>
            </a:r>
            <a:r>
              <a:rPr lang="es-CL" sz="1200" b="0" baseline="0" dirty="0">
                <a:latin typeface="Calibri" panose="020F0502020204030204" pitchFamily="34" charset="0"/>
                <a:cs typeface="Calibri" panose="020F0502020204030204" pitchFamily="34" charset="0"/>
              </a:rPr>
              <a:t> usar en:</a:t>
            </a:r>
          </a:p>
          <a:p>
            <a:pPr marL="285750" indent="-2857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a:t>
            </a:r>
            <a:r>
              <a:rPr lang="es-CL" sz="1200" baseline="0" dirty="0">
                <a:solidFill>
                  <a:srgbClr val="FFFFFF"/>
                </a:solidFill>
                <a:latin typeface="Calibri" panose="020F0502020204030204" pitchFamily="34" charset="0"/>
                <a:cs typeface="Calibri" panose="020F0502020204030204" pitchFamily="34" charset="0"/>
              </a:rPr>
              <a:t> </a:t>
            </a:r>
            <a:r>
              <a:rPr lang="es-CL" sz="1200" dirty="0">
                <a:solidFill>
                  <a:srgbClr val="FFFFFF"/>
                </a:solidFill>
                <a:latin typeface="Calibri" panose="020F0502020204030204" pitchFamily="34" charset="0"/>
                <a:cs typeface="Calibri" panose="020F0502020204030204" pitchFamily="34" charset="0"/>
              </a:rPr>
              <a:t>lista de expresiones de una sentencia SELECT que no es parte de una subconsulta.</a:t>
            </a:r>
          </a:p>
          <a:p>
            <a:pPr marL="285750" indent="-2857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lista de expresiones de una sentencias SELECT que se usa para crear una tabla.</a:t>
            </a:r>
          </a:p>
          <a:p>
            <a:pPr marL="285750" indent="-2857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lista de expresiones de una sentencia SELECT que es una subconsulta de una  instrucción INSERT.</a:t>
            </a:r>
          </a:p>
          <a:p>
            <a:pPr marL="285750" indent="-2857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cláusula VALUES de una instrucción INSERT.</a:t>
            </a:r>
          </a:p>
          <a:p>
            <a:pPr marL="285750" indent="-2857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cláusula SET de una instrucción UPDATE.</a:t>
            </a:r>
          </a:p>
          <a:p>
            <a:pPr marL="0" indent="0" algn="just">
              <a:buFont typeface="Arial" panose="020B0604020202020204" pitchFamily="34" charset="0"/>
              <a:buNone/>
              <a:defRPr/>
            </a:pPr>
            <a:r>
              <a:rPr lang="es-CL" sz="1200" b="0" dirty="0">
                <a:solidFill>
                  <a:srgbClr val="FFFFFF"/>
                </a:solidFill>
                <a:latin typeface="Calibri" panose="020F0502020204030204" pitchFamily="34" charset="0"/>
                <a:cs typeface="Calibri" panose="020F0502020204030204" pitchFamily="34" charset="0"/>
              </a:rPr>
              <a:t>Cuando la secuencia se usa en una sentencia SELECT, ésta no puede tener la cláusula ORDER BY.</a:t>
            </a:r>
          </a:p>
          <a:p>
            <a:pPr marL="0" indent="0" algn="just">
              <a:buFont typeface="Arial" panose="020B0604020202020204" pitchFamily="34" charset="0"/>
              <a:buNone/>
              <a:defRPr/>
            </a:pPr>
            <a:r>
              <a:rPr lang="es-CL" sz="1200" b="0" dirty="0">
                <a:latin typeface="Calibri" panose="020F0502020204030204" pitchFamily="34" charset="0"/>
                <a:cs typeface="Calibri" panose="020F0502020204030204" pitchFamily="34" charset="0"/>
              </a:rPr>
              <a:t>Las </a:t>
            </a:r>
            <a:r>
              <a:rPr lang="es-CL" sz="1200" b="0" dirty="0" err="1">
                <a:latin typeface="Calibri" panose="020F0502020204030204" pitchFamily="34" charset="0"/>
                <a:cs typeface="Calibri" panose="020F0502020204030204" pitchFamily="34" charset="0"/>
              </a:rPr>
              <a:t>pseudocolumnas</a:t>
            </a:r>
            <a:r>
              <a:rPr lang="es-CL" sz="1200" b="0" dirty="0">
                <a:latin typeface="Calibri" panose="020F0502020204030204" pitchFamily="34" charset="0"/>
                <a:cs typeface="Calibri" panose="020F0502020204030204" pitchFamily="34" charset="0"/>
              </a:rPr>
              <a:t> NEXTVAL y CURRVAL no se pueden</a:t>
            </a:r>
            <a:r>
              <a:rPr lang="es-CL" sz="1200" b="0" baseline="0" dirty="0">
                <a:latin typeface="Calibri" panose="020F0502020204030204" pitchFamily="34" charset="0"/>
                <a:cs typeface="Calibri" panose="020F0502020204030204" pitchFamily="34" charset="0"/>
              </a:rPr>
              <a:t> usar en:</a:t>
            </a:r>
          </a:p>
          <a:p>
            <a:pPr marL="285750" indent="-285750" algn="l">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En la lista de expresiones de la sentencia SELECT de una Vista.</a:t>
            </a:r>
          </a:p>
          <a:p>
            <a:pPr marL="285750" indent="-285750" algn="l">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En una sentencia SELECT con la palabra clave DISTINCT.</a:t>
            </a:r>
          </a:p>
          <a:p>
            <a:pPr marL="285750" indent="-285750" algn="l">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En una sentencia SELECT con cláusulas GROUP BY, HAVING u ORDER BY</a:t>
            </a:r>
          </a:p>
          <a:p>
            <a:pPr marL="285750" indent="-285750" algn="l">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En una subconsulta de una sentencia SELECT, DELETE o UPDATE.</a:t>
            </a:r>
          </a:p>
          <a:p>
            <a:pPr marL="285750" indent="-285750" algn="l">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expresión DEFAULT en una sentencia CREATE TABLE o ALTER TABLE</a:t>
            </a:r>
            <a:endPar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107526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Usando Secuencias</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En el primer ejemplo se inserta un nuevo departamento </a:t>
            </a:r>
            <a:r>
              <a:rPr lang="es-CL" sz="1200" b="0" dirty="0" err="1">
                <a:latin typeface="Calibri" panose="020F0502020204030204" pitchFamily="34" charset="0"/>
                <a:cs typeface="Calibri" panose="020F0502020204030204" pitchFamily="34" charset="0"/>
              </a:rPr>
              <a:t>Support</a:t>
            </a:r>
            <a:r>
              <a:rPr lang="es-CL" sz="1200" b="0" dirty="0">
                <a:latin typeface="Calibri" panose="020F0502020204030204" pitchFamily="34" charset="0"/>
                <a:cs typeface="Calibri" panose="020F0502020204030204" pitchFamily="34" charset="0"/>
              </a:rPr>
              <a:t>. Para la identificación del departamento (que es </a:t>
            </a:r>
            <a:r>
              <a:rPr lang="es-CL" sz="1200" b="0" dirty="0" err="1">
                <a:latin typeface="Calibri" panose="020F0502020204030204" pitchFamily="34" charset="0"/>
                <a:cs typeface="Calibri" panose="020F0502020204030204" pitchFamily="34" charset="0"/>
              </a:rPr>
              <a:t>primary</a:t>
            </a:r>
            <a:r>
              <a:rPr lang="es-CL" sz="1200" b="0" dirty="0">
                <a:latin typeface="Calibri" panose="020F0502020204030204" pitchFamily="34" charset="0"/>
                <a:cs typeface="Calibri" panose="020F0502020204030204" pitchFamily="34" charset="0"/>
              </a:rPr>
              <a:t> </a:t>
            </a:r>
            <a:r>
              <a:rPr lang="es-CL" sz="1200" b="0" dirty="0" err="1">
                <a:latin typeface="Calibri" panose="020F0502020204030204" pitchFamily="34" charset="0"/>
                <a:cs typeface="Calibri" panose="020F0502020204030204" pitchFamily="34" charset="0"/>
              </a:rPr>
              <a:t>key</a:t>
            </a:r>
            <a:r>
              <a:rPr lang="es-CL" sz="1200" b="0" dirty="0">
                <a:latin typeface="Calibri" panose="020F0502020204030204" pitchFamily="34" charset="0"/>
                <a:cs typeface="Calibri" panose="020F0502020204030204" pitchFamily="34" charset="0"/>
              </a:rPr>
              <a:t> de la tabla) se usa el objeto secuencia </a:t>
            </a:r>
            <a:r>
              <a:rPr lang="es-CL" sz="1200" b="0" dirty="0" err="1">
                <a:latin typeface="Calibri" panose="020F0502020204030204" pitchFamily="34" charset="0"/>
                <a:cs typeface="Calibri" panose="020F0502020204030204" pitchFamily="34" charset="0"/>
              </a:rPr>
              <a:t>seq_dept_deptid</a:t>
            </a:r>
            <a:r>
              <a:rPr lang="es-CL" sz="1200" b="0" dirty="0">
                <a:latin typeface="Calibri" panose="020F0502020204030204" pitchFamily="34" charset="0"/>
                <a:cs typeface="Calibri" panose="020F0502020204030204" pitchFamily="34" charset="0"/>
              </a:rPr>
              <a:t> creada anteriormente. Como es la primera vez que se usa la secuencia, al usar NEXTVAL toma el primer valor definido (280).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En el segundo ejemplo, la sentencia de la</a:t>
            </a:r>
            <a:r>
              <a:rPr lang="es-CL" sz="1200" b="0" baseline="0" dirty="0">
                <a:latin typeface="Calibri" panose="020F0502020204030204" pitchFamily="34" charset="0"/>
                <a:cs typeface="Calibri" panose="020F0502020204030204" pitchFamily="34" charset="0"/>
              </a:rPr>
              <a:t> izquierda </a:t>
            </a:r>
            <a:r>
              <a:rPr lang="es-CL" sz="1200" b="0" dirty="0">
                <a:latin typeface="Calibri" panose="020F0502020204030204" pitchFamily="34" charset="0"/>
                <a:cs typeface="Calibri" panose="020F0502020204030204" pitchFamily="34" charset="0"/>
              </a:rPr>
              <a:t>obtiene el valor actual de la secuencia </a:t>
            </a:r>
            <a:r>
              <a:rPr lang="es-CL" sz="1200" b="0" dirty="0" err="1">
                <a:latin typeface="Calibri" panose="020F0502020204030204" pitchFamily="34" charset="0"/>
                <a:cs typeface="Calibri" panose="020F0502020204030204" pitchFamily="34" charset="0"/>
              </a:rPr>
              <a:t>seq_dept_deptid</a:t>
            </a:r>
            <a:r>
              <a:rPr lang="es-CL" sz="1200" b="0" dirty="0">
                <a:latin typeface="Calibri" panose="020F0502020204030204" pitchFamily="34" charset="0"/>
                <a:cs typeface="Calibri" panose="020F0502020204030204" pitchFamily="34" charset="0"/>
              </a:rPr>
              <a:t> después de haber sido usada en la inserción por lo tanto, el valor es 280. La sentencia de la derecha obtiene el siguiente valor de la secuencia </a:t>
            </a:r>
            <a:r>
              <a:rPr lang="es-CL" sz="1200" b="0" dirty="0" err="1">
                <a:latin typeface="Calibri" panose="020F0502020204030204" pitchFamily="34" charset="0"/>
                <a:cs typeface="Calibri" panose="020F0502020204030204" pitchFamily="34" charset="0"/>
              </a:rPr>
              <a:t>seq_dept_deptid</a:t>
            </a:r>
            <a:r>
              <a:rPr lang="es-CL" sz="1200" b="0" dirty="0">
                <a:latin typeface="Calibri" panose="020F0502020204030204" pitchFamily="34" charset="0"/>
                <a:cs typeface="Calibri" panose="020F0502020204030204" pitchFamily="34" charset="0"/>
              </a:rPr>
              <a:t> que ahora es 290.</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En el tercer ejemplo se inserta un nuevo departamento </a:t>
            </a:r>
            <a:r>
              <a:rPr lang="es-CL" sz="1200" b="0" dirty="0" err="1">
                <a:latin typeface="Calibri" panose="020F0502020204030204" pitchFamily="34" charset="0"/>
                <a:cs typeface="Calibri" panose="020F0502020204030204" pitchFamily="34" charset="0"/>
              </a:rPr>
              <a:t>Support</a:t>
            </a:r>
            <a:r>
              <a:rPr lang="es-CL" sz="1200" b="0" dirty="0">
                <a:latin typeface="Calibri" panose="020F0502020204030204" pitchFamily="34" charset="0"/>
                <a:cs typeface="Calibri" panose="020F0502020204030204" pitchFamily="34" charset="0"/>
              </a:rPr>
              <a:t> </a:t>
            </a:r>
            <a:r>
              <a:rPr lang="es-CL" sz="1200" b="0" dirty="0" err="1">
                <a:latin typeface="Calibri" panose="020F0502020204030204" pitchFamily="34" charset="0"/>
                <a:cs typeface="Calibri" panose="020F0502020204030204" pitchFamily="34" charset="0"/>
              </a:rPr>
              <a:t>Construction</a:t>
            </a:r>
            <a:r>
              <a:rPr lang="es-CL" sz="1200" b="0" dirty="0">
                <a:latin typeface="Calibri" panose="020F0502020204030204" pitchFamily="34" charset="0"/>
                <a:cs typeface="Calibri" panose="020F0502020204030204" pitchFamily="34" charset="0"/>
              </a:rPr>
              <a:t>. Para la identificación del departamento se vuelve a usar el objeto secuencia </a:t>
            </a:r>
            <a:r>
              <a:rPr lang="es-CL" sz="1200" b="0" dirty="0" err="1">
                <a:latin typeface="Calibri" panose="020F0502020204030204" pitchFamily="34" charset="0"/>
                <a:cs typeface="Calibri" panose="020F0502020204030204" pitchFamily="34" charset="0"/>
              </a:rPr>
              <a:t>seq_dept_deptid</a:t>
            </a:r>
            <a:r>
              <a:rPr lang="es-CL" sz="1200" b="0" dirty="0">
                <a:latin typeface="Calibri" panose="020F0502020204030204" pitchFamily="34" charset="0"/>
                <a:cs typeface="Calibri" panose="020F0502020204030204" pitchFamily="34" charset="0"/>
              </a:rPr>
              <a:t>  (que quedó en el valor 290) con la </a:t>
            </a:r>
            <a:r>
              <a:rPr lang="es-CL" sz="1200" b="0" dirty="0" err="1">
                <a:latin typeface="Calibri" panose="020F0502020204030204" pitchFamily="34" charset="0"/>
                <a:cs typeface="Calibri" panose="020F0502020204030204" pitchFamily="34" charset="0"/>
              </a:rPr>
              <a:t>pseudocolumna</a:t>
            </a:r>
            <a:r>
              <a:rPr lang="es-CL" sz="1200" b="0" dirty="0">
                <a:latin typeface="Calibri" panose="020F0502020204030204" pitchFamily="34" charset="0"/>
                <a:cs typeface="Calibri" panose="020F0502020204030204" pitchFamily="34" charset="0"/>
              </a:rPr>
              <a:t> NEXTVAL por eso ahora la identificación del nuevo departamento es 300.</a:t>
            </a:r>
          </a:p>
        </p:txBody>
      </p:sp>
    </p:spTree>
    <p:extLst>
      <p:ext uri="{BB962C8B-B14F-4D97-AF65-F5344CB8AC3E}">
        <p14:creationId xmlns:p14="http://schemas.microsoft.com/office/powerpoint/2010/main" val="2504651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Usando Secuencias</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En el ejemplo, se crear la secuencia SEQ_NUEVOS_DEPTOS cuyo valor inicial será 1000 y se incrementará en forma descendente en 1. Posteriormente, se crea la tabla NUEVOS_DEPTOS a partir de información existente en la tabla DEPARTMENTS. Para la identificación del departamento se usa la secuencia creada. La información se desea insertar ordenada alfabéticamente por el nombre del departamento. Sin embargo, al ejecutar se produce el error que se visualiza. </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Este error, se produce porque cuando se usa una secuencia en una sentencia SELECT, ésta sentencia no puede tener la cláusula ORDER BY. Si es requisito que la información se almacene en algún orden específico, primero se debería almacenar la información necesaria en una primera de tabla y posteriormente crear la tabla final.</a:t>
            </a:r>
          </a:p>
        </p:txBody>
      </p:sp>
    </p:spTree>
    <p:extLst>
      <p:ext uri="{BB962C8B-B14F-4D97-AF65-F5344CB8AC3E}">
        <p14:creationId xmlns:p14="http://schemas.microsoft.com/office/powerpoint/2010/main" val="40292049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Usando Secuencias</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0" dirty="0">
                <a:latin typeface="Calibri" panose="020F0502020204030204" pitchFamily="34" charset="0"/>
                <a:cs typeface="Calibri" panose="020F0502020204030204" pitchFamily="34" charset="0"/>
              </a:rPr>
              <a:t>De acuerdo al ejemplo anterior, los pasos para realizar lo requerido serían:</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1.- </a:t>
            </a:r>
            <a:r>
              <a:rPr lang="es-CL" sz="1200" b="0" dirty="0">
                <a:latin typeface="Calibri" panose="020F0502020204030204" pitchFamily="34" charset="0"/>
                <a:cs typeface="Calibri" panose="020F0502020204030204" pitchFamily="34" charset="0"/>
              </a:rPr>
              <a:t>Crear el objeto secuencia</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2.- </a:t>
            </a:r>
            <a:r>
              <a:rPr lang="es-CL" sz="1200" b="0" dirty="0">
                <a:latin typeface="Calibri" panose="020F0502020204030204" pitchFamily="34" charset="0"/>
                <a:cs typeface="Calibri" panose="020F0502020204030204" pitchFamily="34" charset="0"/>
              </a:rPr>
              <a:t>Obtener la información que se requiere desde a tabla DEPARTMENTS y ordenarla por el nombre del departamento. Esta información se almacena en la tabla NUEVOS_DEPTOS_PASO.</a:t>
            </a:r>
          </a:p>
          <a:p>
            <a:pPr marL="0" marR="0" lvl="0" indent="0" algn="just"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3.- </a:t>
            </a:r>
            <a:r>
              <a:rPr lang="es-CL" sz="1200" b="0" dirty="0">
                <a:latin typeface="Calibri" panose="020F0502020204030204" pitchFamily="34" charset="0"/>
                <a:cs typeface="Calibri" panose="020F0502020204030204" pitchFamily="34" charset="0"/>
              </a:rPr>
              <a:t>Se obtiene toda la información desde la tabla NUEVOS_DEPTOS_PASO (que ya está ordenada de acuerdo a lo que requiere) para almacenarla en la tabla final NUEVOS_DEPTOS. Para el id del departamento se usa la secuencia creada la que se incrementa en forma descendente.</a:t>
            </a:r>
          </a:p>
        </p:txBody>
      </p:sp>
    </p:spTree>
    <p:extLst>
      <p:ext uri="{BB962C8B-B14F-4D97-AF65-F5344CB8AC3E}">
        <p14:creationId xmlns:p14="http://schemas.microsoft.com/office/powerpoint/2010/main" val="3426067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Secuencias versus Columnas Auto-Incrementables </a:t>
            </a:r>
            <a:endParaRPr lang="es-MX" sz="1200" b="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i="0" u="none" strike="noStrike" cap="none" dirty="0">
                <a:solidFill>
                  <a:prstClr val="white"/>
                </a:solidFill>
                <a:latin typeface="Calibri" panose="020F0502020204030204" pitchFamily="34" charset="0"/>
                <a:cs typeface="Calibri" panose="020F0502020204030204" pitchFamily="34" charset="0"/>
                <a:sym typeface="Arial"/>
              </a:rPr>
              <a:t>A contar de la versión Oracle 12c, se puede utilizar un nuevo atributo a nivel de columna de la tabla, conocido como identidad a nivel de columna ( </a:t>
            </a:r>
            <a:r>
              <a:rPr lang="es-MX" sz="1200" b="0" i="0" u="none" strike="noStrike" cap="none" dirty="0" err="1">
                <a:solidFill>
                  <a:prstClr val="white"/>
                </a:solidFill>
                <a:latin typeface="Calibri" panose="020F0502020204030204" pitchFamily="34" charset="0"/>
                <a:cs typeface="Calibri" panose="020F0502020204030204" pitchFamily="34" charset="0"/>
                <a:sym typeface="Arial"/>
              </a:rPr>
              <a:t>Identity</a:t>
            </a:r>
            <a:r>
              <a:rPr lang="es-MX" sz="1200" b="0" i="0" u="none" strike="noStrike" cap="none" dirty="0">
                <a:solidFill>
                  <a:prstClr val="white"/>
                </a:solidFill>
                <a:latin typeface="Calibri" panose="020F0502020204030204" pitchFamily="34" charset="0"/>
                <a:cs typeface="Calibri" panose="020F0502020204030204" pitchFamily="34" charset="0"/>
                <a:sym typeface="Arial"/>
              </a:rPr>
              <a:t> </a:t>
            </a:r>
            <a:r>
              <a:rPr lang="es-MX" sz="1200" b="0" i="0" u="none" strike="noStrike" cap="none" dirty="0" err="1">
                <a:solidFill>
                  <a:prstClr val="white"/>
                </a:solidFill>
                <a:latin typeface="Calibri" panose="020F0502020204030204" pitchFamily="34" charset="0"/>
                <a:cs typeface="Calibri" panose="020F0502020204030204" pitchFamily="34" charset="0"/>
                <a:sym typeface="Arial"/>
              </a:rPr>
              <a:t>Column</a:t>
            </a:r>
            <a:r>
              <a:rPr lang="es-MX" sz="1200" b="0" i="0" u="none" strike="noStrike" cap="none" dirty="0">
                <a:solidFill>
                  <a:prstClr val="white"/>
                </a:solidFill>
                <a:latin typeface="Calibri" panose="020F0502020204030204" pitchFamily="34" charset="0"/>
                <a:cs typeface="Calibri" panose="020F0502020204030204" pitchFamily="34" charset="0"/>
                <a:sym typeface="Arial"/>
              </a:rPr>
              <a:t> ). Esto permite que una </a:t>
            </a:r>
            <a:r>
              <a:rPr lang="es-MX" sz="1100" b="0" i="0" u="none" strike="noStrike" cap="none" dirty="0">
                <a:solidFill>
                  <a:srgbClr val="000000"/>
                </a:solidFill>
                <a:effectLst/>
                <a:latin typeface="Arial"/>
                <a:ea typeface="Arial"/>
                <a:cs typeface="Arial"/>
                <a:sym typeface="Arial"/>
              </a:rPr>
              <a:t>columna pueda </a:t>
            </a:r>
            <a:r>
              <a:rPr lang="es-MX" sz="1100" b="0" i="0" u="none" strike="noStrike" cap="none" dirty="0" err="1">
                <a:solidFill>
                  <a:srgbClr val="000000"/>
                </a:solidFill>
                <a:effectLst/>
                <a:latin typeface="Arial"/>
                <a:ea typeface="Arial"/>
                <a:cs typeface="Arial"/>
                <a:sym typeface="Arial"/>
              </a:rPr>
              <a:t>auto-incrementarse</a:t>
            </a:r>
            <a:r>
              <a:rPr lang="es-MX" sz="1100" b="0" i="0" u="none" strike="noStrike" cap="none" dirty="0">
                <a:solidFill>
                  <a:srgbClr val="000000"/>
                </a:solidFill>
                <a:effectLst/>
                <a:latin typeface="Arial"/>
                <a:ea typeface="Arial"/>
                <a:cs typeface="Arial"/>
                <a:sym typeface="Arial"/>
              </a:rPr>
              <a:t> automáticamente, como se hacen en otros motores de base de datos.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0" i="0" u="none" strike="noStrike" cap="none" dirty="0">
                <a:solidFill>
                  <a:srgbClr val="000000"/>
                </a:solidFill>
                <a:effectLst/>
                <a:latin typeface="Arial"/>
                <a:cs typeface="Arial"/>
                <a:sym typeface="Arial"/>
              </a:rPr>
              <a:t>La diferencia entre una columna </a:t>
            </a:r>
            <a:r>
              <a:rPr lang="es-MX" sz="1100" b="0" i="0" u="none" strike="noStrike" cap="none" dirty="0" err="1">
                <a:solidFill>
                  <a:srgbClr val="000000"/>
                </a:solidFill>
                <a:effectLst/>
                <a:latin typeface="Arial"/>
                <a:cs typeface="Arial"/>
                <a:sym typeface="Arial"/>
              </a:rPr>
              <a:t>auto-incrementable</a:t>
            </a:r>
            <a:r>
              <a:rPr lang="es-MX" sz="1100" b="0" i="0" u="none" strike="noStrike" cap="none" dirty="0">
                <a:solidFill>
                  <a:srgbClr val="000000"/>
                </a:solidFill>
                <a:effectLst/>
                <a:latin typeface="Arial"/>
                <a:cs typeface="Arial"/>
                <a:sym typeface="Arial"/>
              </a:rPr>
              <a:t> y una secuencia es que: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Las secuencias no están asociada a ninguna tabla por lo tanto, se pueden usar indistintamente para insertar valores en diferentes columnas de diferentes tablas.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Se pueden usar diferentes secuencias para insertar valores en diferentes columnas de la misma tabla.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Se puede modificar la definición de las secuencias.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Una tabla puede tener sólo una columna IDENTITY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En las columnas IDENTITY no se pueden modificar los valores que se definieron para realizar el </a:t>
            </a:r>
            <a:r>
              <a:rPr lang="es-MX" sz="1100" b="0" i="0" u="none" strike="noStrike" cap="none" dirty="0" err="1">
                <a:solidFill>
                  <a:srgbClr val="000000"/>
                </a:solidFill>
                <a:effectLst/>
                <a:latin typeface="Arial"/>
                <a:cs typeface="Arial"/>
                <a:sym typeface="Arial"/>
              </a:rPr>
              <a:t>auto-incremento</a:t>
            </a:r>
            <a:r>
              <a:rPr lang="es-MX" sz="1100" b="0" i="0" u="none" strike="noStrike" cap="none" dirty="0">
                <a:solidFill>
                  <a:srgbClr val="000000"/>
                </a:solidFill>
                <a:effectLst/>
                <a:latin typeface="Arial"/>
                <a:cs typeface="Arial"/>
                <a:sym typeface="Arial"/>
              </a:rPr>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100" b="0" i="0" u="none" strike="noStrike" cap="none" dirty="0">
                <a:solidFill>
                  <a:srgbClr val="000000"/>
                </a:solidFill>
                <a:effectLst/>
                <a:latin typeface="Arial"/>
                <a:cs typeface="Arial"/>
                <a:sym typeface="Arial"/>
              </a:rPr>
              <a:t>Si la tabla posee sólo una columna que es un valor </a:t>
            </a:r>
            <a:r>
              <a:rPr lang="es-MX" sz="1100" b="0" i="0" u="none" strike="noStrike" cap="none" dirty="0" err="1">
                <a:solidFill>
                  <a:srgbClr val="000000"/>
                </a:solidFill>
                <a:effectLst/>
                <a:latin typeface="Arial"/>
                <a:cs typeface="Arial"/>
                <a:sym typeface="Arial"/>
              </a:rPr>
              <a:t>auto-incrementable</a:t>
            </a:r>
            <a:r>
              <a:rPr lang="es-MX" sz="1100" b="0" i="0" u="none" strike="noStrike" cap="none" dirty="0">
                <a:solidFill>
                  <a:srgbClr val="000000"/>
                </a:solidFill>
                <a:effectLst/>
                <a:latin typeface="Arial"/>
                <a:cs typeface="Arial"/>
                <a:sym typeface="Arial"/>
              </a:rPr>
              <a:t>, entonces es mucho más óptimo crearla como columnas </a:t>
            </a:r>
            <a:r>
              <a:rPr lang="es-MX" sz="1200" b="0" i="0" u="none" strike="noStrike" cap="none" dirty="0">
                <a:solidFill>
                  <a:srgbClr val="000000"/>
                </a:solidFill>
                <a:effectLst/>
                <a:latin typeface="Arial"/>
                <a:cs typeface="Arial"/>
                <a:sym typeface="Arial"/>
              </a:rPr>
              <a:t>IDENTITY en lugar de usar un secuencia para insertar valores en esa columna.</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2464260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dirty="0">
                <a:latin typeface="Calibri" panose="020F0502020204030204" pitchFamily="34" charset="0"/>
                <a:cs typeface="Calibri" panose="020F0502020204030204" pitchFamily="34" charset="0"/>
              </a:rPr>
              <a:t>Secuencias versus Columnas Auto-Incrementables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0" dirty="0">
                <a:latin typeface="Calibri" panose="020F0502020204030204" pitchFamily="34" charset="0"/>
                <a:cs typeface="Calibri" panose="020F0502020204030204" pitchFamily="34" charset="0"/>
              </a:rPr>
              <a:t>En el primer ejemplo, se crea el objeto secuencia SEQ_INCREMENTO con las siguientes características: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mínimo: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inicial: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Incremento de: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máximo: 9999999999999999999999999999</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Se </a:t>
            </a:r>
            <a:r>
              <a:rPr lang="es-MX" sz="1200" b="0" dirty="0" err="1">
                <a:latin typeface="Calibri" panose="020F0502020204030204" pitchFamily="34" charset="0"/>
                <a:cs typeface="Calibri" panose="020F0502020204030204" pitchFamily="34" charset="0"/>
              </a:rPr>
              <a:t>preasignan</a:t>
            </a:r>
            <a:r>
              <a:rPr lang="es-MX" sz="1200" b="0" dirty="0">
                <a:latin typeface="Calibri" panose="020F0502020204030204" pitchFamily="34" charset="0"/>
                <a:cs typeface="Calibri" panose="020F0502020204030204" pitchFamily="34" charset="0"/>
              </a:rPr>
              <a:t> 20 valores en memoria.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Si la secuencia alcanza su máximo valor no comenzará en su valor inicial.</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s-MX" sz="1200" b="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MX" sz="1200" b="0" dirty="0">
                <a:latin typeface="Calibri" panose="020F0502020204030204" pitchFamily="34" charset="0"/>
                <a:cs typeface="Calibri" panose="020F0502020204030204" pitchFamily="34" charset="0"/>
              </a:rPr>
              <a:t>En el segundo ejemplo, se crea la tabla TEST_TABLA_INCREMENTAL con la columna ID de tipo IDENTITY que tiene las siguientes características: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mínimo: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inicial: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Incremento de: 1</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Valor máximo: 9999999999999999999999999999</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Se </a:t>
            </a:r>
            <a:r>
              <a:rPr lang="es-MX" sz="1200" b="0" dirty="0" err="1">
                <a:latin typeface="Calibri" panose="020F0502020204030204" pitchFamily="34" charset="0"/>
                <a:cs typeface="Calibri" panose="020F0502020204030204" pitchFamily="34" charset="0"/>
              </a:rPr>
              <a:t>preasignan</a:t>
            </a:r>
            <a:r>
              <a:rPr lang="es-MX" sz="1200" b="0" dirty="0">
                <a:latin typeface="Calibri" panose="020F0502020204030204" pitchFamily="34" charset="0"/>
                <a:cs typeface="Calibri" panose="020F0502020204030204" pitchFamily="34" charset="0"/>
              </a:rPr>
              <a:t> 20 valores en memoria.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0" dirty="0">
                <a:latin typeface="Calibri" panose="020F0502020204030204" pitchFamily="34" charset="0"/>
                <a:cs typeface="Calibri" panose="020F0502020204030204" pitchFamily="34" charset="0"/>
              </a:rPr>
              <a:t>Si alcanza su máximo valor no comenzará en su valor inicial.</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s-MX" sz="1200" b="0" dirty="0">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s-MX" sz="12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1968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Modificando Valores de las Secuencias</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Debe ser el dueño o tener el privilegio ALTER para modificar la secuencia. </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Debe ser el dueño o tener el privilegio DROP ANY SEQUENCE para eliminarla.</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Solo los números de secuencia futuros se ven afectados por la instrucción ALTER SEQUENCE.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La opción START WITH no se puede modificar usando ALTER SEQUENCE. La secuencia se debe eliminar y volver a crear para reiniciar la secuencia en un número diferente.</a:t>
            </a:r>
          </a:p>
          <a:p>
            <a:pPr marL="171450" indent="-171450">
              <a:buFont typeface="Arial" panose="020B0604020202020204" pitchFamily="34" charset="0"/>
              <a:buChar char="•"/>
            </a:pPr>
            <a:r>
              <a:rPr lang="es-CL" sz="1200" b="0" dirty="0">
                <a:latin typeface="Calibri" panose="020F0502020204030204" pitchFamily="34" charset="0"/>
                <a:cs typeface="Calibri" panose="020F0502020204030204" pitchFamily="34" charset="0"/>
              </a:rPr>
              <a:t>Al modificar una secuencia, se realizan algunas validaciones. Por ejemplo, no se puede definir un nuevo MAXVALUE que sea menor que el número actual de la secuencia.</a:t>
            </a: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5959167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Modificando Valores de las Secuencias</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primer ejemplo se modifica el incremento que tendrá la secuencia (inicialmente se creó con incremento 10) y el valor máximo que puede alcanzar (inicialmente se creó con valor máximo 9999).</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En el segundo ejemplo primero se elimina la secuencia y se vuelve a crear ahora con valor inicial será 5 y se incrementará en 5.</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001006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Arial" pitchFamily="34" charset="0"/>
              </a:rPr>
              <a:t>Objetivo Sinónimo</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Supongamos que Ud. debe desarrollar una nueva propuesta de consulta en línea de los movimientos bancarios que los clientes han efectuado. ¿De qué forma optimizaría su propuesta considerando que lo único que diferenciará la consulta en línea de los últimos movimientos bancarios con la consulta en línea de los movimientos históricos es la tabla desde la cual se obtendrán los datos?.</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rPr>
              <a:t>La respuesta es que la misma consulta en línea será capaz de acceder en forma transparente a los datos almacenados en las diferentes tablas a través del uso de SINÓNIMOS, objeto que va a referenciar a la tabla indicada dependiendo de la información que requiera el usuario. Eso se hace recreando el sinónimo en tiempo de ejecución para que referencie a la tabla que corresponde.</a:t>
            </a: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01313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1" dirty="0">
                <a:latin typeface="Calibri" panose="020F0502020204030204" pitchFamily="34" charset="0"/>
                <a:cs typeface="Calibri" panose="020F0502020204030204" pitchFamily="34" charset="0"/>
              </a:rPr>
              <a:t>Objetivo Sinónimo</a:t>
            </a:r>
            <a:endParaRPr lang="es-CL" sz="1200" b="1" i="0" u="none" strike="noStrike" cap="none" dirty="0">
              <a:solidFill>
                <a:prstClr val="white"/>
              </a:solidFill>
              <a:latin typeface="Calibri" panose="020F0502020204030204" pitchFamily="34" charset="0"/>
              <a:cs typeface="Calibri" panose="020F0502020204030204" pitchFamily="34" charset="0"/>
              <a:sym typeface="Arial"/>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Un sinónimo es un nombre alternativo para una tabla, vista, secuencia, procedimiento, función almacenada, paquete, vista materializada, objeto de esquema de clase Java, tipos definidos por el usuario u otro sinónimo. Un sinónimo también puede tener el mismo nombre al que referencia.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Los sinónimos proporcionan independencia de los datos, los objetos  y de la ubicación en donde se encuentren. Esto permite que el usuario no conozca el nombre de objeto real y que tablas está accediendo por lo tanto, permite tener el control de los objetos que el usuario accede.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Los sinónimos permiten que las aplicaciones funcionen sin modificaciones, independientemente del usuario o de la base de datos que contenga la tabla o vista. Sin embargo, los sinónimos no son un sustituto de los privilegios de los objetos de la base de datos.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Un sinónimo puede ser usado en cualquiera de las operaciones DML ya conocidas por usted y en otras que no son objeto de esta asignatura.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Un sinónimo crea una dependencia con su objeto de destino y deja de ser válido si ese objeto se modifica o se elimina.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A</a:t>
            </a:r>
            <a:r>
              <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excepción de los usuarios predefinidos de Oracle SYS y SYSTEM, a cualquier otro usuario que requiera crear o usar sinónimos se les </a:t>
            </a: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deben otorgar los privilegios apropiados</a:t>
            </a:r>
            <a:endParaRPr kumimoji="0" lang="es-MX"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7029253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Creando y Usando Sinónimos</a:t>
            </a:r>
            <a:endParaRPr lang="es-CL" sz="1200" b="1" i="0" u="none" strike="noStrike" cap="none" dirty="0">
              <a:solidFill>
                <a:prstClr val="white"/>
              </a:solidFill>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sintaxis: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0" u="none" strike="noStrike" cap="none" dirty="0">
                <a:solidFill>
                  <a:srgbClr val="000000"/>
                </a:solidFill>
                <a:latin typeface="Calibri" panose="020F0502020204030204" pitchFamily="34" charset="0"/>
                <a:ea typeface="Times New Roman" panose="02020603050405020304" pitchFamily="18" charset="0"/>
                <a:cs typeface="Calibri" panose="020F0502020204030204" pitchFamily="34" charset="0"/>
                <a:sym typeface="Arial"/>
              </a:rPr>
              <a:t>OR REPLACE</a:t>
            </a:r>
            <a:r>
              <a:rPr lang="es-CL" sz="1200" b="0" i="0" u="none" strike="noStrike" cap="none" dirty="0">
                <a:solidFill>
                  <a:srgbClr val="000000"/>
                </a:solidFill>
                <a:latin typeface="Calibri" panose="020F0502020204030204" pitchFamily="34" charset="0"/>
                <a:ea typeface="Times New Roman" panose="02020603050405020304" pitchFamily="18" charset="0"/>
                <a:cs typeface="Calibri" panose="020F0502020204030204" pitchFamily="34" charset="0"/>
                <a:sym typeface="Arial"/>
              </a:rPr>
              <a:t>: </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recrea (vuelve a crear) el sinónimo si éste ya existe.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MX" sz="1200" b="1"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PUBLIC:</a:t>
            </a:r>
            <a:r>
              <a:rPr lang="es-MX" sz="1200" b="0" i="0" u="none" strike="noStrike" cap="none" dirty="0">
                <a:solidFill>
                  <a:srgbClr val="000000"/>
                </a:solidFill>
                <a:latin typeface="Calibri" panose="020F0502020204030204" pitchFamily="34" charset="0"/>
                <a:ea typeface="ＭＳ Ｐゴシック" pitchFamily="34" charset="-128"/>
                <a:cs typeface="Calibri" panose="020F0502020204030204" pitchFamily="34" charset="0"/>
                <a:sym typeface="Arial"/>
              </a:rPr>
              <a:t> permite que el sinónimo sea accesible por</a:t>
            </a:r>
            <a:r>
              <a:rPr lang="es-ES" sz="1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todos los usuarios. Sin embargo, el usuario debe tener los privilegios necesarios sobre el objeto referenciado por el sinónimo para que lo pueda usar.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sz="1200" b="1" i="1" dirty="0">
                <a:solidFill>
                  <a:srgbClr val="000000"/>
                </a:solidFill>
                <a:latin typeface="Calibri" panose="020F0502020204030204" pitchFamily="34" charset="0"/>
                <a:cs typeface="Calibri" panose="020F0502020204030204" pitchFamily="34" charset="0"/>
              </a:rPr>
              <a:t>esquema1</a:t>
            </a:r>
            <a:r>
              <a:rPr lang="es-ES" sz="1200" b="1" i="0" dirty="0">
                <a:solidFill>
                  <a:srgbClr val="000000"/>
                </a:solidFill>
                <a:latin typeface="Calibri" panose="020F0502020204030204" pitchFamily="34" charset="0"/>
                <a:cs typeface="Calibri" panose="020F0502020204030204" pitchFamily="34" charset="0"/>
              </a:rPr>
              <a:t>:</a:t>
            </a:r>
            <a:r>
              <a:rPr lang="es-ES" sz="1200" b="0" i="0" dirty="0">
                <a:solidFill>
                  <a:srgbClr val="000000"/>
                </a:solidFill>
                <a:latin typeface="Calibri" panose="020F0502020204030204" pitchFamily="34" charset="0"/>
                <a:cs typeface="Calibri" panose="020F0502020204030204" pitchFamily="34" charset="0"/>
              </a:rPr>
              <a:t> si se indica un nombre de esquema, significa que </a:t>
            </a:r>
            <a:r>
              <a:rPr lang="es-ES" sz="1200" dirty="0">
                <a:solidFill>
                  <a:srgbClr val="000000"/>
                </a:solidFill>
                <a:latin typeface="Calibri" panose="020F0502020204030204" pitchFamily="34" charset="0"/>
                <a:ea typeface="Times New Roman" panose="02020603050405020304" pitchFamily="18" charset="0"/>
                <a:cs typeface="Calibri" panose="020F0502020204030204" pitchFamily="34" charset="0"/>
              </a:rPr>
              <a:t>el sinónimo es privado y solo se puede acceder a él dentro del esquema en el que ha sido creado. Un nombre de sinónimo privado debe ser único en su esquema.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sz="1200" b="1" i="1"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nombre_sinónimo</a:t>
            </a:r>
            <a:r>
              <a:rPr lang="es-ES" sz="1200" b="1" i="0" dirty="0">
                <a:solidFill>
                  <a:srgbClr val="000000"/>
                </a:solidFill>
                <a:latin typeface="Calibri" panose="020F0502020204030204" pitchFamily="34" charset="0"/>
                <a:ea typeface="Times New Roman" panose="02020603050405020304" pitchFamily="18" charset="0"/>
                <a:cs typeface="Calibri" panose="020F0502020204030204" pitchFamily="34" charset="0"/>
              </a:rPr>
              <a:t>:</a:t>
            </a:r>
            <a:r>
              <a:rPr lang="es-ES" sz="1200" b="0" i="0" dirty="0">
                <a:solidFill>
                  <a:srgbClr val="000000"/>
                </a:solidFill>
                <a:latin typeface="Calibri" panose="020F0502020204030204" pitchFamily="34" charset="0"/>
                <a:ea typeface="Times New Roman" panose="02020603050405020304" pitchFamily="18" charset="0"/>
                <a:cs typeface="Calibri" panose="020F0502020204030204" pitchFamily="34" charset="0"/>
              </a:rPr>
              <a:t> nombre del sinónimo que se desea crear.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sz="1200" b="1" i="0" dirty="0">
                <a:solidFill>
                  <a:srgbClr val="000000"/>
                </a:solidFill>
                <a:latin typeface="Calibri" panose="020F0502020204030204" pitchFamily="34" charset="0"/>
                <a:ea typeface="Times New Roman" panose="02020603050405020304" pitchFamily="18" charset="0"/>
                <a:cs typeface="Calibri" panose="020F0502020204030204" pitchFamily="34" charset="0"/>
              </a:rPr>
              <a:t>e</a:t>
            </a:r>
            <a:r>
              <a:rPr lang="es-ES" sz="1200" b="1" i="1" dirty="0">
                <a:solidFill>
                  <a:srgbClr val="000000"/>
                </a:solidFill>
                <a:latin typeface="Calibri" panose="020F0502020204030204" pitchFamily="34" charset="0"/>
                <a:ea typeface="Times New Roman" panose="02020603050405020304" pitchFamily="18" charset="0"/>
                <a:cs typeface="Calibri" panose="020F0502020204030204" pitchFamily="34" charset="0"/>
              </a:rPr>
              <a:t>squema2</a:t>
            </a:r>
            <a:r>
              <a:rPr lang="es-ES" sz="1200" b="1" i="0" dirty="0">
                <a:solidFill>
                  <a:srgbClr val="000000"/>
                </a:solidFill>
                <a:latin typeface="Calibri" panose="020F0502020204030204" pitchFamily="34" charset="0"/>
                <a:ea typeface="Times New Roman" panose="02020603050405020304" pitchFamily="18" charset="0"/>
                <a:cs typeface="Calibri" panose="020F0502020204030204" pitchFamily="34" charset="0"/>
              </a:rPr>
              <a:t>:</a:t>
            </a:r>
            <a:r>
              <a:rPr lang="es-ES" sz="1200" b="0" i="0" dirty="0">
                <a:solidFill>
                  <a:srgbClr val="000000"/>
                </a:solidFill>
                <a:latin typeface="Calibri" panose="020F0502020204030204" pitchFamily="34" charset="0"/>
                <a:ea typeface="Times New Roman" panose="02020603050405020304" pitchFamily="18" charset="0"/>
                <a:cs typeface="Calibri" panose="020F0502020204030204" pitchFamily="34" charset="0"/>
              </a:rPr>
              <a:t> es el esquema </a:t>
            </a:r>
            <a:r>
              <a:rPr lang="es-CL" sz="1200" dirty="0">
                <a:latin typeface="Calibri" panose="020F0502020204030204" pitchFamily="34" charset="0"/>
                <a:ea typeface="Calibri" panose="020F0502020204030204" pitchFamily="34" charset="0"/>
                <a:cs typeface="Calibri" panose="020F0502020204030204" pitchFamily="34" charset="0"/>
              </a:rPr>
              <a:t>que contendrá el sinónimo. Si omite el sinónimo es creado en el mismo esquema al que se está conectado. No se puede especificar un esquema para el sinónimo si ha especificado PUBLIC.</a:t>
            </a:r>
            <a:endParaRPr lang="es-ES" sz="1200" b="1" i="1"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sz="1200" b="1" i="1" dirty="0" err="1">
                <a:solidFill>
                  <a:srgbClr val="000000"/>
                </a:solidFill>
                <a:latin typeface="Calibri" panose="020F0502020204030204" pitchFamily="34" charset="0"/>
                <a:cs typeface="Calibri" panose="020F0502020204030204" pitchFamily="34" charset="0"/>
              </a:rPr>
              <a:t>objeto_referenciado</a:t>
            </a:r>
            <a:r>
              <a:rPr lang="es-ES" sz="1200" b="1" i="0" dirty="0">
                <a:solidFill>
                  <a:srgbClr val="000000"/>
                </a:solidFill>
                <a:latin typeface="Calibri" panose="020F0502020204030204" pitchFamily="34" charset="0"/>
                <a:cs typeface="Calibri" panose="020F0502020204030204" pitchFamily="34" charset="0"/>
              </a:rPr>
              <a:t>:</a:t>
            </a:r>
            <a:r>
              <a:rPr lang="es-ES" sz="1200" b="0" i="0" dirty="0">
                <a:solidFill>
                  <a:srgbClr val="000000"/>
                </a:solidFill>
                <a:latin typeface="Calibri" panose="020F0502020204030204" pitchFamily="34" charset="0"/>
                <a:cs typeface="Calibri" panose="020F0502020204030204" pitchFamily="34" charset="0"/>
              </a:rPr>
              <a:t> es la </a:t>
            </a: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tabla, vista, secuencia, procedimiento, función almacenada, paquete, vista materializada, objeto de esquema de clase Java, tipos definidos por el usuario u otro sinónimo al que hace referencia.</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1" i="1" u="none" strike="noStrike" cap="none"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dblink</a:t>
            </a:r>
            <a:r>
              <a:rPr lang="es-CL" sz="12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a:t>
            </a:r>
            <a:r>
              <a:rPr lang="es-CL" sz="1200" b="0"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rPr>
              <a:t> es un objeto de base de datos que se crear para acceder a una base de datos remota.</a:t>
            </a:r>
            <a:endParaRPr lang="es-CL" sz="1200" b="1" i="1"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s-CL" sz="1200" b="0" i="0" dirty="0">
                <a:latin typeface="Calibri" panose="020F0502020204030204" pitchFamily="34" charset="0"/>
                <a:cs typeface="Calibri" panose="020F0502020204030204" pitchFamily="34" charset="0"/>
              </a:rPr>
              <a:t>En el ejemplo, el usuario HR, que posee los privilegios para crear sinónimos, crea un sinónimo privado con el nombre </a:t>
            </a:r>
            <a:r>
              <a:rPr lang="es-CL" sz="1200" b="0" i="0" dirty="0" err="1">
                <a:latin typeface="Calibri" panose="020F0502020204030204" pitchFamily="34" charset="0"/>
                <a:cs typeface="Calibri" panose="020F0502020204030204" pitchFamily="34" charset="0"/>
              </a:rPr>
              <a:t>syn_deptos</a:t>
            </a:r>
            <a:r>
              <a:rPr lang="es-CL" sz="1200" b="0" i="0" dirty="0">
                <a:latin typeface="Calibri" panose="020F0502020204030204" pitchFamily="34" charset="0"/>
                <a:cs typeface="Calibri" panose="020F0502020204030204" pitchFamily="34" charset="0"/>
              </a:rPr>
              <a:t> que referencia a la tabla </a:t>
            </a:r>
            <a:r>
              <a:rPr lang="es-CL" sz="1200" b="0" i="0" dirty="0" err="1">
                <a:latin typeface="Calibri" panose="020F0502020204030204" pitchFamily="34" charset="0"/>
                <a:cs typeface="Calibri" panose="020F0502020204030204" pitchFamily="34" charset="0"/>
              </a:rPr>
              <a:t>departments</a:t>
            </a:r>
            <a:r>
              <a:rPr lang="es-CL" sz="1200" b="0" i="0" dirty="0">
                <a:latin typeface="Calibri" panose="020F0502020204030204" pitchFamily="34" charset="0"/>
                <a:cs typeface="Calibri" panose="020F0502020204030204" pitchFamily="34" charset="0"/>
              </a:rPr>
              <a:t>. Posteriormente se construya una sentencia para obtener la información de los departamentos que se encuentran en la localización 1800. La sentencia ahora no utiliza la tabla </a:t>
            </a:r>
            <a:r>
              <a:rPr lang="es-CL" sz="1200" b="0" i="0" dirty="0" err="1">
                <a:latin typeface="Calibri" panose="020F0502020204030204" pitchFamily="34" charset="0"/>
                <a:cs typeface="Calibri" panose="020F0502020204030204" pitchFamily="34" charset="0"/>
              </a:rPr>
              <a:t>departments</a:t>
            </a:r>
            <a:r>
              <a:rPr lang="es-CL" sz="1200" b="0" i="0" dirty="0">
                <a:latin typeface="Calibri" panose="020F0502020204030204" pitchFamily="34" charset="0"/>
                <a:cs typeface="Calibri" panose="020F0502020204030204" pitchFamily="34" charset="0"/>
              </a:rPr>
              <a:t> para obtener la información sino que usa el sinónimo creado que es el que accede a la tabla.</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CL" sz="1200" b="0" i="0" u="none" strike="noStrike" kern="1200" cap="none" spc="0" normalizeH="0" baseline="0" noProof="0" dirty="0">
              <a:ln>
                <a:noFill/>
              </a:ln>
              <a:solidFill>
                <a:srgbClr val="800080"/>
              </a:solidFill>
              <a:effectLst/>
              <a:uLnTx/>
              <a:uFillTx/>
              <a:latin typeface="Calibri"/>
              <a:ea typeface="+mn-ea"/>
              <a:cs typeface="Arial" pitchFamily="34" charset="0"/>
            </a:endParaRPr>
          </a:p>
        </p:txBody>
      </p:sp>
    </p:spTree>
    <p:extLst>
      <p:ext uri="{BB962C8B-B14F-4D97-AF65-F5344CB8AC3E}">
        <p14:creationId xmlns:p14="http://schemas.microsoft.com/office/powerpoint/2010/main" val="73961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1" i="0" u="none" strike="noStrike" cap="none" dirty="0">
                <a:solidFill>
                  <a:srgbClr val="000000"/>
                </a:solidFill>
                <a:latin typeface="Calibri" panose="020F0502020204030204" pitchFamily="34" charset="0"/>
                <a:ea typeface="Arial"/>
                <a:cs typeface="Calibri" panose="020F0502020204030204" pitchFamily="34" charset="0"/>
                <a:sym typeface="Arial"/>
              </a:rPr>
              <a:t>Creando y Usando Sinónimos</a:t>
            </a:r>
            <a:endParaRPr lang="es-CL" sz="1200" b="1" i="0" u="none" strike="noStrike" kern="0" cap="none" dirty="0">
              <a:solidFill>
                <a:prstClr val="white"/>
              </a:solidFill>
              <a:effectLst/>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El siguiente ejemplo, conectado como usuario SYSTEM, se construye una sentencia para obtener la información de los departamentos que se encuentran en la localización 1800. La sentencia utilizar la tabla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departments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del usuario HR. El usuario SYSTEM posee el permiso para efectuar sentencias SELECT sobre la tabla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departments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 esta razón puede ver los datos, pero debe indicar que la tabla es del usuario HR.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Posteriormente, el usuario SYSTEM construye una segunda sentencia para obtener la misma información, pero ahora usando el sinónimo privado creado anteriormente. Sin embargo, al ejecutar la sentencia de produce el error que se visualiza el que indica que la tabla o vista no existe. Este error se produce porque el usuario SYSTEM tiene permiso para acceder a la tabla del usuario HR pero no al sinónimo privado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syn_deptos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t>
            </a:r>
            <a:endParaRPr lang="es-CL" sz="1200" b="1" i="1" dirty="0">
              <a:latin typeface="Calibri" panose="020F0502020204030204" pitchFamily="34" charset="0"/>
              <a:cs typeface="Calibri" panose="020F050202020403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CL" sz="1200" b="0" i="0" u="none" strike="noStrike" kern="1200" cap="none" spc="0" normalizeH="0" baseline="0" noProof="0" dirty="0">
              <a:ln>
                <a:noFill/>
              </a:ln>
              <a:solidFill>
                <a:srgbClr val="800080"/>
              </a:solidFill>
              <a:effectLst/>
              <a:uLnTx/>
              <a:uFillTx/>
              <a:latin typeface="Calibri"/>
              <a:ea typeface="+mn-ea"/>
              <a:cs typeface="Arial" pitchFamily="34" charset="0"/>
            </a:endParaRPr>
          </a:p>
        </p:txBody>
      </p:sp>
    </p:spTree>
    <p:extLst>
      <p:ext uri="{BB962C8B-B14F-4D97-AF65-F5344CB8AC3E}">
        <p14:creationId xmlns:p14="http://schemas.microsoft.com/office/powerpoint/2010/main" val="3693391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s-MX" sz="1100" b="1" i="0" u="none" strike="noStrike" cap="none" dirty="0">
                <a:solidFill>
                  <a:srgbClr val="000000"/>
                </a:solidFill>
                <a:latin typeface="Calibri" panose="020F0502020204030204" pitchFamily="34" charset="0"/>
                <a:ea typeface="Arial"/>
                <a:cs typeface="Calibri" panose="020F0502020204030204" pitchFamily="34" charset="0"/>
                <a:sym typeface="Arial"/>
              </a:rPr>
              <a:t>Creando y Usando Sinónimos</a:t>
            </a:r>
            <a:endParaRPr lang="es-CL" sz="1200" b="1" i="0" u="none" strike="noStrike" kern="0" cap="none" dirty="0">
              <a:solidFill>
                <a:prstClr val="white"/>
              </a:solidFill>
              <a:effectLst/>
              <a:latin typeface="Calibri" panose="020F0502020204030204" pitchFamily="34" charset="0"/>
              <a:ea typeface="Arial"/>
              <a:cs typeface="Calibri" panose="020F0502020204030204" pitchFamily="34" charset="0"/>
              <a:sym typeface="Aria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En el ejemplo que se presenta, el usuario SYS le otorga el privilegio de lectura sobre la vista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dba_tables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al usuario HR. La vista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dba_tables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es propia de la base de datos Oracle y obtiene información de todas las tablas que se encuentran creadas en la base de datos. Una vez otorgado el privilegio, se crea el sinónimo público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syn_tablas_bd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que accede a la vista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dba_tables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Al ser un sinónimo público, cualquier usuario de la base de datos que tenga privilegio de lectura sobre la vista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dba_tables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podrá usar el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sinonimo</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sin problema.</a:t>
            </a:r>
          </a:p>
          <a:p>
            <a:pPr marL="0" marR="0" lvl="0" indent="0" algn="l" defTabSz="914400" rtl="0" eaLnBrk="0" fontAlgn="base" latinLnBrk="0" hangingPunct="0">
              <a:lnSpc>
                <a:spcPct val="100000"/>
              </a:lnSpc>
              <a:spcBef>
                <a:spcPct val="30000"/>
              </a:spcBef>
              <a:spcAft>
                <a:spcPct val="0"/>
              </a:spcAft>
              <a:buClrTx/>
              <a:buSzTx/>
              <a:buFontTx/>
              <a:buNone/>
              <a:tabLst/>
              <a:defRPr/>
            </a:pP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Posteriormente el usuario HR obtendrá toda la información de las tablas usando el sinónimo público creado ordenada por el nombre de la tabla. El usuario HR puede usar el sinónimo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syn_tables_bd</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porque posee el permiso para ver información de la vista </a:t>
            </a:r>
            <a:r>
              <a:rPr lang="es-CL" sz="1200" b="0" i="0" u="none" strike="noStrike" kern="1200" cap="none" dirty="0" err="1">
                <a:solidFill>
                  <a:schemeClr val="tx1"/>
                </a:solidFill>
                <a:effectLst/>
                <a:latin typeface="Calibri" panose="020F0502020204030204" pitchFamily="34" charset="0"/>
                <a:ea typeface="Arial"/>
                <a:cs typeface="Calibri" panose="020F0502020204030204" pitchFamily="34" charset="0"/>
                <a:sym typeface="Arial"/>
              </a:rPr>
              <a:t>dba_tables</a:t>
            </a:r>
            <a:r>
              <a:rPr lang="es-CL" sz="1200" b="0" i="0" u="none" strike="noStrike" kern="1200" cap="none" dirty="0">
                <a:solidFill>
                  <a:schemeClr val="tx1"/>
                </a:solidFill>
                <a:effectLst/>
                <a:latin typeface="Calibri" panose="020F0502020204030204" pitchFamily="34" charset="0"/>
                <a:ea typeface="Arial"/>
                <a:cs typeface="Calibri" panose="020F0502020204030204" pitchFamily="34" charset="0"/>
                <a:sym typeface="Arial"/>
              </a:rPr>
              <a:t>. Si no tuviera ese permiso no podría usar el sinónimo aun siendo público.</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CL" sz="1200" b="0" i="0" u="none" strike="noStrike" kern="1200" cap="none" spc="0" normalizeH="0" baseline="0" noProof="0" dirty="0">
              <a:ln>
                <a:noFill/>
              </a:ln>
              <a:solidFill>
                <a:srgbClr val="800080"/>
              </a:solidFill>
              <a:effectLst/>
              <a:uLnTx/>
              <a:uFillTx/>
              <a:latin typeface="Calibri"/>
              <a:ea typeface="+mn-ea"/>
              <a:cs typeface="Arial" pitchFamily="34" charset="0"/>
            </a:endParaRPr>
          </a:p>
        </p:txBody>
      </p:sp>
    </p:spTree>
    <p:extLst>
      <p:ext uri="{BB962C8B-B14F-4D97-AF65-F5344CB8AC3E}">
        <p14:creationId xmlns:p14="http://schemas.microsoft.com/office/powerpoint/2010/main" val="30693843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srgbClr val="800080"/>
                </a:solidFill>
                <a:effectLst/>
                <a:uLnTx/>
                <a:uFillTx/>
                <a:latin typeface="Calibri"/>
                <a:ea typeface="+mn-ea"/>
                <a:cs typeface="Arial" pitchFamily="34" charset="0"/>
              </a:rPr>
              <a:t>Creando y Usando Sinónimos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En el ejemplo, el usuario SYS vuelve a crear el sinónimo público </a:t>
            </a:r>
            <a:r>
              <a:rPr kumimoji="0" lang="es-MX" sz="1200" b="0" i="0" u="none" strike="noStrike" kern="1200" cap="none" spc="0" normalizeH="0" baseline="0" noProof="0" dirty="0" err="1">
                <a:ln>
                  <a:noFill/>
                </a:ln>
                <a:solidFill>
                  <a:srgbClr val="800080"/>
                </a:solidFill>
                <a:effectLst/>
                <a:uLnTx/>
                <a:uFillTx/>
                <a:latin typeface="Calibri"/>
                <a:ea typeface="+mn-ea"/>
                <a:cs typeface="Arial" pitchFamily="34" charset="0"/>
              </a:rPr>
              <a:t>syn_tablas_bd</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 pero ahora accediendo a la vista </a:t>
            </a:r>
            <a:r>
              <a:rPr kumimoji="0" lang="es-MX" sz="1200" b="0" i="0" u="none" strike="noStrike" kern="1200" cap="none" spc="0" normalizeH="0" baseline="0" noProof="0" dirty="0" err="1">
                <a:ln>
                  <a:noFill/>
                </a:ln>
                <a:solidFill>
                  <a:srgbClr val="800080"/>
                </a:solidFill>
                <a:effectLst/>
                <a:uLnTx/>
                <a:uFillTx/>
                <a:latin typeface="Calibri"/>
                <a:ea typeface="+mn-ea"/>
                <a:cs typeface="Arial" pitchFamily="34" charset="0"/>
              </a:rPr>
              <a:t>user_tables</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 Esta vista es propia de Oracle y permite mostrar sólo las tablas que pertenecen al usuario que consulta la información, es decir al usuario con el que se conectó a la base de datos.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Después el usuario HR vuelve a usar el sinónimo para obtener información de las tablas, pero la sentencia ahora sólo retorna las tablas que son propias de HR porque el sinónimo ahora sólo accede a la vista </a:t>
            </a:r>
            <a:r>
              <a:rPr kumimoji="0" lang="es-MX" sz="1200" b="0" i="0" u="none" strike="noStrike" kern="1200" cap="none" spc="0" normalizeH="0" baseline="0" noProof="0" dirty="0" err="1">
                <a:ln>
                  <a:noFill/>
                </a:ln>
                <a:solidFill>
                  <a:srgbClr val="800080"/>
                </a:solidFill>
                <a:effectLst/>
                <a:uLnTx/>
                <a:uFillTx/>
                <a:latin typeface="Calibri"/>
                <a:ea typeface="+mn-ea"/>
                <a:cs typeface="Arial" pitchFamily="34" charset="0"/>
              </a:rPr>
              <a:t>user_tables</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a:t>
            </a:r>
          </a:p>
        </p:txBody>
      </p:sp>
    </p:spTree>
    <p:extLst>
      <p:ext uri="{BB962C8B-B14F-4D97-AF65-F5344CB8AC3E}">
        <p14:creationId xmlns:p14="http://schemas.microsoft.com/office/powerpoint/2010/main" val="3116294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srgbClr val="800080"/>
                </a:solidFill>
                <a:effectLst/>
                <a:uLnTx/>
                <a:uFillTx/>
                <a:latin typeface="Calibri"/>
                <a:ea typeface="+mn-ea"/>
                <a:cs typeface="Arial" pitchFamily="34" charset="0"/>
              </a:rPr>
              <a:t>Creando y Usando Sinónimos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El usuario SYS creo el sinónimo privado </a:t>
            </a:r>
            <a:r>
              <a:rPr kumimoji="0" lang="es-MX" sz="1200" b="0" i="0" u="none" strike="noStrike" kern="1200" cap="none" spc="0" normalizeH="0" baseline="0" noProof="0" dirty="0" err="1">
                <a:ln>
                  <a:noFill/>
                </a:ln>
                <a:solidFill>
                  <a:srgbClr val="800080"/>
                </a:solidFill>
                <a:effectLst/>
                <a:uLnTx/>
                <a:uFillTx/>
                <a:latin typeface="Calibri"/>
                <a:ea typeface="+mn-ea"/>
                <a:cs typeface="Arial" pitchFamily="34" charset="0"/>
              </a:rPr>
              <a:t>syn_tablas_bd</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 en el esquema HR. Este sinónimo accede a la vista </a:t>
            </a:r>
            <a:r>
              <a:rPr kumimoji="0" lang="es-MX" sz="1200" b="0" i="0" u="none" strike="noStrike" kern="1200" cap="none" spc="0" normalizeH="0" baseline="0" noProof="0" dirty="0" err="1">
                <a:ln>
                  <a:noFill/>
                </a:ln>
                <a:solidFill>
                  <a:srgbClr val="800080"/>
                </a:solidFill>
                <a:effectLst/>
                <a:uLnTx/>
                <a:uFillTx/>
                <a:latin typeface="Calibri"/>
                <a:ea typeface="+mn-ea"/>
                <a:cs typeface="Arial" pitchFamily="34" charset="0"/>
              </a:rPr>
              <a:t>dba_tables</a:t>
            </a: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 es decir, a la vista que muestra la información de todas las tablas creadas en la base de datos. Ahora entonces, existe un sinónimo público y uno privado con el mismo nombre y el usuario HR puede usar ambos.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Cuando esto sucede, el sinónimo privado tiene prioridad sobre el sinónimo público. Por esta razón es que al estar conectado como HR se obtienen la información de todas las tablas creadas en la base de datos y no sólo de las tablas de las cuales él es el dueño.</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MX" sz="1200" b="0" i="0" u="none" strike="noStrike" kern="1200" cap="none" spc="0" normalizeH="0" baseline="0" noProof="0" dirty="0">
                <a:ln>
                  <a:noFill/>
                </a:ln>
                <a:solidFill>
                  <a:srgbClr val="800080"/>
                </a:solidFill>
                <a:effectLst/>
                <a:uLnTx/>
                <a:uFillTx/>
                <a:latin typeface="Calibri"/>
                <a:ea typeface="+mn-ea"/>
                <a:cs typeface="Arial" pitchFamily="34" charset="0"/>
              </a:rPr>
              <a:t>El sinónimo privado sólo lo puede usar el usuario dueño del esquema en donde se creó el sinónimo.</a:t>
            </a:r>
          </a:p>
        </p:txBody>
      </p:sp>
    </p:spTree>
    <p:extLst>
      <p:ext uri="{BB962C8B-B14F-4D97-AF65-F5344CB8AC3E}">
        <p14:creationId xmlns:p14="http://schemas.microsoft.com/office/powerpoint/2010/main" val="41761827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Eliminando Sinónimos</a:t>
            </a:r>
          </a:p>
          <a:p>
            <a:pPr marL="0" marR="0" lvl="0" indent="0" algn="l" defTabSz="914400" rtl="0" eaLnBrk="1" fontAlgn="base" latinLnBrk="0" hangingPunct="1">
              <a:lnSpc>
                <a:spcPct val="100000"/>
              </a:lnSpc>
              <a:spcBef>
                <a:spcPct val="0"/>
              </a:spcBef>
              <a:spcAft>
                <a:spcPct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sintaxis:</a:t>
            </a:r>
          </a:p>
          <a:p>
            <a:pPr marL="171450" indent="-171450">
              <a:buFont typeface="Arial" panose="020B0604020202020204" pitchFamily="34" charset="0"/>
              <a:buChar char="•"/>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PUBLIC:</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se debe especificar si el sinónimo a eliminar en un sinónimo público. No se puede especificar el esquema si se especifica PUBLIC.</a:t>
            </a:r>
          </a:p>
          <a:p>
            <a:pPr marL="171450" indent="-171450">
              <a:buFont typeface="Arial" panose="020B0604020202020204" pitchFamily="34" charset="0"/>
              <a:buChar char="•"/>
            </a:pPr>
            <a:r>
              <a:rPr lang="es-MX" sz="1200" b="1" i="1" u="none" strike="noStrike" cap="none" dirty="0">
                <a:solidFill>
                  <a:srgbClr val="000000"/>
                </a:solidFill>
                <a:latin typeface="Calibri" panose="020F0502020204030204" pitchFamily="34" charset="0"/>
                <a:ea typeface="Arial"/>
                <a:cs typeface="Calibri" panose="020F0502020204030204" pitchFamily="34" charset="0"/>
                <a:sym typeface="Arial"/>
              </a:rPr>
              <a:t>esquema</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especifica el esquema que contiene el sinónimo privado a eliminar. Si se omite el esquema, Oracle asume que el sinónimo se encuentra en el esquema del usuario con el está conectado.</a:t>
            </a:r>
          </a:p>
          <a:p>
            <a:pPr marL="171450" indent="-171450">
              <a:buFont typeface="Arial" panose="020B0604020202020204" pitchFamily="34" charset="0"/>
              <a:buChar char="•"/>
            </a:pPr>
            <a:r>
              <a:rPr lang="es-MX" sz="1200" b="1" i="1" u="none" strike="noStrike" cap="none" dirty="0" err="1">
                <a:solidFill>
                  <a:srgbClr val="000000"/>
                </a:solidFill>
                <a:latin typeface="Calibri" panose="020F0502020204030204" pitchFamily="34" charset="0"/>
                <a:ea typeface="Arial"/>
                <a:cs typeface="Calibri" panose="020F0502020204030204" pitchFamily="34" charset="0"/>
                <a:sym typeface="Arial"/>
              </a:rPr>
              <a:t>nombre_sinónimo</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es el sinónimo que se desea eliminar.</a:t>
            </a:r>
          </a:p>
          <a:p>
            <a:pPr marL="0" indent="0">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El primer ejemplo elimina el sinónimo privado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syn_deptos</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del esquema HR.</a:t>
            </a:r>
          </a:p>
          <a:p>
            <a:pPr marL="0" indent="0">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segundo ejemplo se elimina el sinónimo público </a:t>
            </a:r>
            <a:r>
              <a:rPr lang="es-MX" sz="1200" b="0" i="0" u="none" strike="noStrike" cap="none" dirty="0" err="1">
                <a:solidFill>
                  <a:srgbClr val="000000"/>
                </a:solidFill>
                <a:latin typeface="Calibri" panose="020F0502020204030204" pitchFamily="34" charset="0"/>
                <a:ea typeface="Arial"/>
                <a:cs typeface="Calibri" panose="020F0502020204030204" pitchFamily="34" charset="0"/>
                <a:sym typeface="Arial"/>
              </a:rPr>
              <a:t>syn_tablas_bd</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Al eliminar un sinónimo, los privilegios asignados sobre los objetos referenciados por el sinónimo no se eliminan. Para esto, se debe revocar el privilegio otorgado al usuario (si corresponde) sobre el objeto referenciado por el sinónimo.</a:t>
            </a:r>
          </a:p>
        </p:txBody>
      </p:sp>
    </p:spTree>
    <p:extLst>
      <p:ext uri="{BB962C8B-B14F-4D97-AF65-F5344CB8AC3E}">
        <p14:creationId xmlns:p14="http://schemas.microsoft.com/office/powerpoint/2010/main" val="28252720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410547" y="2527594"/>
            <a:ext cx="8651454" cy="2891100"/>
          </a:xfrm>
          <a:prstGeom prst="rect">
            <a:avLst/>
          </a:prstGeom>
        </p:spPr>
        <p:txBody>
          <a:bodyPr spcFirstLastPara="1" wrap="square" lIns="91425" tIns="45700" rIns="91425" bIns="45700" anchor="b" anchorCtr="0">
            <a:noAutofit/>
          </a:bodyPr>
          <a:lstStyle/>
          <a:p>
            <a:pPr lvl="0"/>
            <a:r>
              <a:rPr lang="es-MX" sz="5800" b="1" dirty="0"/>
              <a:t>Creando Vistas, </a:t>
            </a:r>
            <a:br>
              <a:rPr lang="es-MX" sz="5800" b="1" dirty="0"/>
            </a:br>
            <a:r>
              <a:rPr lang="es-MX" sz="5800" b="1" dirty="0"/>
              <a:t>Secuencias y </a:t>
            </a:r>
            <a:br>
              <a:rPr lang="es-MX" sz="5800" b="1" dirty="0"/>
            </a:br>
            <a:r>
              <a:rPr lang="es-MX" sz="5800" b="1" dirty="0"/>
              <a:t>Sinónimos</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extLst>
              <p:ext uri="{D42A27DB-BD31-4B8C-83A1-F6EECF244321}">
                <p14:modId xmlns:p14="http://schemas.microsoft.com/office/powerpoint/2010/main" val="2701480423"/>
              </p:ext>
            </p:extLst>
          </p:nvPr>
        </p:nvGraphicFramePr>
        <p:xfrm>
          <a:off x="428622" y="1668467"/>
          <a:ext cx="8315325" cy="366477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3</a:t>
                      </a: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Gestión de usuarios y objetos de la base de datos </a:t>
                      </a:r>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MX"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en la base de datos que permitan controlar y mejorar la manipulación y recuperación de datos utilizando el lenguaje asociado y de acuerdo a los requerimientos de la organización.</a:t>
                      </a:r>
                      <a:endParaRPr lang="es-CL"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392329"/>
            <a:ext cx="8023225" cy="2275770"/>
          </a:xfrm>
        </p:spPr>
        <p:txBody>
          <a:bodyPr/>
          <a:lstStyle/>
          <a:p>
            <a:pPr marL="393700" indent="-342900" algn="just">
              <a:buFont typeface="Arial" panose="020B0604020202020204" pitchFamily="34" charset="0"/>
              <a:buChar char="•"/>
            </a:pPr>
            <a:r>
              <a:rPr lang="es-MX" sz="2200" dirty="0"/>
              <a:t>Cuáles son las características de las Vistas.</a:t>
            </a:r>
          </a:p>
          <a:p>
            <a:pPr marL="393700" indent="-342900" algn="just">
              <a:buFont typeface="Arial" panose="020B0604020202020204" pitchFamily="34" charset="0"/>
              <a:buChar char="•"/>
            </a:pPr>
            <a:r>
              <a:rPr lang="es-MX" sz="2200" dirty="0"/>
              <a:t>Cómo crear una Vista.</a:t>
            </a:r>
          </a:p>
          <a:p>
            <a:pPr marL="393700" indent="-342900" algn="just">
              <a:buFont typeface="Arial" panose="020B0604020202020204" pitchFamily="34" charset="0"/>
              <a:buChar char="•"/>
            </a:pPr>
            <a:r>
              <a:rPr lang="es-MX" sz="2200" dirty="0"/>
              <a:t>Cómo poder efectuar sentencias DML usando una Vista. </a:t>
            </a:r>
          </a:p>
          <a:p>
            <a:pPr marL="393700" indent="-342900" algn="just">
              <a:buFont typeface="Arial" panose="020B0604020202020204" pitchFamily="34" charset="0"/>
              <a:buChar char="•"/>
            </a:pPr>
            <a:r>
              <a:rPr lang="es-MX" sz="2200" dirty="0"/>
              <a:t>Cuáles son las características de las Secuencias.</a:t>
            </a:r>
          </a:p>
          <a:p>
            <a:pPr marL="393700" indent="-342900" algn="just">
              <a:buFont typeface="Arial" panose="020B0604020202020204" pitchFamily="34" charset="0"/>
              <a:buChar char="•"/>
            </a:pPr>
            <a:r>
              <a:rPr lang="es-MX" sz="2200" dirty="0"/>
              <a:t>Cómo crear y utilizar una Secuencia en sentencias DML.</a:t>
            </a:r>
          </a:p>
          <a:p>
            <a:pPr marL="393700" indent="-342900" algn="just">
              <a:buFont typeface="Arial" panose="020B0604020202020204" pitchFamily="34" charset="0"/>
              <a:buChar char="•"/>
            </a:pPr>
            <a:r>
              <a:rPr lang="es-MX" sz="2200" dirty="0"/>
              <a:t>Diferencias entre una Secuencia y una columna Auto-Incrementable.</a:t>
            </a:r>
          </a:p>
          <a:p>
            <a:pPr marL="393700" indent="-342900" algn="just">
              <a:buFont typeface="Arial" panose="020B0604020202020204" pitchFamily="34" charset="0"/>
              <a:buChar char="•"/>
            </a:pPr>
            <a:r>
              <a:rPr lang="es-MX" sz="2200" dirty="0"/>
              <a:t>Cuáles con las características de un Sinónimo.</a:t>
            </a:r>
          </a:p>
          <a:p>
            <a:pPr marL="393700" indent="-342900" algn="just">
              <a:buFont typeface="Arial" panose="020B0604020202020204" pitchFamily="34" charset="0"/>
              <a:buChar char="•"/>
            </a:pPr>
            <a:r>
              <a:rPr lang="es-MX" sz="2200" dirty="0"/>
              <a:t>Cómo crear y usar sinónimos Públicos y Privados en sentencias SQL</a:t>
            </a:r>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96152" y="3793739"/>
            <a:ext cx="5995800" cy="1599357"/>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n-US" sz="4800" b="1" dirty="0" err="1"/>
              <a:t>Creación</a:t>
            </a:r>
            <a:r>
              <a:rPr lang="en-US" sz="4800" b="1" dirty="0"/>
              <a:t> y </a:t>
            </a:r>
            <a:r>
              <a:rPr lang="en-US" sz="4800" b="1" dirty="0" err="1"/>
              <a:t>Uso</a:t>
            </a:r>
            <a:r>
              <a:rPr lang="en-US" sz="4800" b="1" dirty="0"/>
              <a:t> de </a:t>
            </a:r>
            <a:br>
              <a:rPr lang="en-US" sz="4800" b="1" dirty="0"/>
            </a:br>
            <a:r>
              <a:rPr lang="en-US" sz="4800" b="1" dirty="0"/>
              <a:t>Vistas</a:t>
            </a:r>
            <a:endParaRPr sz="4800" b="1" dirty="0"/>
          </a:p>
        </p:txBody>
      </p:sp>
      <p:sp>
        <p:nvSpPr>
          <p:cNvPr id="3" name="CuadroTexto 1">
            <a:extLst>
              <a:ext uri="{FF2B5EF4-FFF2-40B4-BE49-F238E27FC236}">
                <a16:creationId xmlns:a16="http://schemas.microsoft.com/office/drawing/2014/main" xmlns="" id="{ED67881F-ACA7-4253-9139-9FFD1B37CCEF}"/>
              </a:ext>
            </a:extLst>
          </p:cNvPr>
          <p:cNvSpPr txBox="1"/>
          <p:nvPr/>
        </p:nvSpPr>
        <p:spPr>
          <a:xfrm>
            <a:off x="1208058" y="6274836"/>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de los ejemplos usan las tablas del esquema HR de la Base de Datos Oracle </a:t>
            </a: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defTabSz="457200">
              <a:defRPr/>
            </a:pPr>
            <a:r>
              <a:rPr lang="es-CL" sz="2800" b="1" dirty="0">
                <a:solidFill>
                  <a:prstClr val="white"/>
                </a:solidFill>
                <a:latin typeface="Calibri"/>
              </a:rPr>
              <a:t>Objeto Vista</a:t>
            </a:r>
          </a:p>
        </p:txBody>
      </p:sp>
      <p:pic>
        <p:nvPicPr>
          <p:cNvPr id="4" name="Imagen 3">
            <a:extLst>
              <a:ext uri="{FF2B5EF4-FFF2-40B4-BE49-F238E27FC236}">
                <a16:creationId xmlns:a16="http://schemas.microsoft.com/office/drawing/2014/main" xmlns="" id="{0F72B36B-D3DA-48E0-ACC8-55614B382530}"/>
              </a:ext>
            </a:extLst>
          </p:cNvPr>
          <p:cNvPicPr>
            <a:picLocks noChangeAspect="1"/>
          </p:cNvPicPr>
          <p:nvPr/>
        </p:nvPicPr>
        <p:blipFill>
          <a:blip r:embed="rId3"/>
          <a:stretch>
            <a:fillRect/>
          </a:stretch>
        </p:blipFill>
        <p:spPr>
          <a:xfrm>
            <a:off x="293718" y="1231437"/>
            <a:ext cx="8514380" cy="5089263"/>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2">
            <a:extLst>
              <a:ext uri="{FF2B5EF4-FFF2-40B4-BE49-F238E27FC236}">
                <a16:creationId xmlns:a16="http://schemas.microsoft.com/office/drawing/2014/main" xmlns="" id="{D64CB303-9E50-4C86-A303-36B71E615426}"/>
              </a:ext>
            </a:extLst>
          </p:cNvPr>
          <p:cNvSpPr>
            <a:spLocks noGrp="1"/>
          </p:cNvSpPr>
          <p:nvPr>
            <p:ph type="title"/>
          </p:nvPr>
        </p:nvSpPr>
        <p:spPr>
          <a:xfrm>
            <a:off x="1705943" y="224579"/>
            <a:ext cx="4647630" cy="813000"/>
          </a:xfrm>
        </p:spPr>
        <p:txBody>
          <a:bodyPr/>
          <a:lstStyle/>
          <a:p>
            <a:pPr defTabSz="457200">
              <a:defRPr/>
            </a:pPr>
            <a:r>
              <a:rPr lang="es-CL" sz="2800" b="1" dirty="0">
                <a:solidFill>
                  <a:prstClr val="white"/>
                </a:solidFill>
                <a:latin typeface="Calibri"/>
              </a:rPr>
              <a:t>Ventajas de usar Vistas</a:t>
            </a:r>
          </a:p>
        </p:txBody>
      </p:sp>
      <p:pic>
        <p:nvPicPr>
          <p:cNvPr id="4" name="Imagen 3">
            <a:extLst>
              <a:ext uri="{FF2B5EF4-FFF2-40B4-BE49-F238E27FC236}">
                <a16:creationId xmlns:a16="http://schemas.microsoft.com/office/drawing/2014/main" xmlns="" id="{478E2D44-E5B1-4C26-BA37-468DDA58490C}"/>
              </a:ext>
            </a:extLst>
          </p:cNvPr>
          <p:cNvPicPr>
            <a:picLocks noChangeAspect="1"/>
          </p:cNvPicPr>
          <p:nvPr/>
        </p:nvPicPr>
        <p:blipFill>
          <a:blip r:embed="rId3"/>
          <a:stretch>
            <a:fillRect/>
          </a:stretch>
        </p:blipFill>
        <p:spPr>
          <a:xfrm>
            <a:off x="200630" y="1484784"/>
            <a:ext cx="8741462" cy="4468147"/>
          </a:xfrm>
          <a:prstGeom prst="rect">
            <a:avLst/>
          </a:prstGeom>
        </p:spPr>
      </p:pic>
    </p:spTree>
    <p:extLst>
      <p:ext uri="{BB962C8B-B14F-4D97-AF65-F5344CB8AC3E}">
        <p14:creationId xmlns:p14="http://schemas.microsoft.com/office/powerpoint/2010/main" val="293406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16441B05-0AB4-474D-8CDA-6BE3DF94E0F0}"/>
              </a:ext>
            </a:extLst>
          </p:cNvPr>
          <p:cNvSpPr>
            <a:spLocks noGrp="1"/>
          </p:cNvSpPr>
          <p:nvPr>
            <p:ph type="title"/>
          </p:nvPr>
        </p:nvSpPr>
        <p:spPr>
          <a:xfrm>
            <a:off x="1705943" y="224579"/>
            <a:ext cx="4647630" cy="813000"/>
          </a:xfrm>
        </p:spPr>
        <p:txBody>
          <a:bodyPr/>
          <a:lstStyle/>
          <a:p>
            <a:pPr defTabSz="457200">
              <a:defRPr/>
            </a:pPr>
            <a:r>
              <a:rPr lang="es-CL" sz="2800" b="1" dirty="0">
                <a:solidFill>
                  <a:prstClr val="white"/>
                </a:solidFill>
                <a:latin typeface="Calibri"/>
              </a:rPr>
              <a:t>Vistas Simples y Complejas</a:t>
            </a:r>
          </a:p>
        </p:txBody>
      </p:sp>
      <p:pic>
        <p:nvPicPr>
          <p:cNvPr id="6" name="Imagen 5">
            <a:extLst>
              <a:ext uri="{FF2B5EF4-FFF2-40B4-BE49-F238E27FC236}">
                <a16:creationId xmlns:a16="http://schemas.microsoft.com/office/drawing/2014/main" xmlns="" id="{0A0C0F91-12ED-48C8-82B2-072B507D78EA}"/>
              </a:ext>
            </a:extLst>
          </p:cNvPr>
          <p:cNvPicPr>
            <a:picLocks noChangeAspect="1"/>
          </p:cNvPicPr>
          <p:nvPr/>
        </p:nvPicPr>
        <p:blipFill>
          <a:blip r:embed="rId3"/>
          <a:stretch>
            <a:fillRect/>
          </a:stretch>
        </p:blipFill>
        <p:spPr>
          <a:xfrm>
            <a:off x="219287" y="1632009"/>
            <a:ext cx="8794083" cy="4081305"/>
          </a:xfrm>
          <a:prstGeom prst="rect">
            <a:avLst/>
          </a:prstGeom>
        </p:spPr>
      </p:pic>
    </p:spTree>
    <p:extLst>
      <p:ext uri="{BB962C8B-B14F-4D97-AF65-F5344CB8AC3E}">
        <p14:creationId xmlns:p14="http://schemas.microsoft.com/office/powerpoint/2010/main" val="1355666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lvl="0" defTabSz="457200">
              <a:defRPr/>
            </a:pPr>
            <a:r>
              <a:rPr lang="es-CL" sz="2800" b="1" dirty="0">
                <a:solidFill>
                  <a:prstClr val="white"/>
                </a:solidFill>
                <a:latin typeface="Calibri"/>
              </a:rPr>
              <a:t>Creando una Vista</a:t>
            </a:r>
            <a:endParaRPr lang="es-CL" sz="2800" b="1" kern="1200" dirty="0">
              <a:solidFill>
                <a:prstClr val="white"/>
              </a:solidFill>
              <a:latin typeface="Calibri"/>
            </a:endParaRPr>
          </a:p>
        </p:txBody>
      </p:sp>
      <p:sp>
        <p:nvSpPr>
          <p:cNvPr id="21" name="Marcador de contenido 1">
            <a:extLst>
              <a:ext uri="{FF2B5EF4-FFF2-40B4-BE49-F238E27FC236}">
                <a16:creationId xmlns:a16="http://schemas.microsoft.com/office/drawing/2014/main" xmlns="" id="{84E8DCE7-65A1-41B5-B80B-CB8092033158}"/>
              </a:ext>
            </a:extLst>
          </p:cNvPr>
          <p:cNvSpPr txBox="1">
            <a:spLocks/>
          </p:cNvSpPr>
          <p:nvPr/>
        </p:nvSpPr>
        <p:spPr>
          <a:xfrm>
            <a:off x="457200" y="4012163"/>
            <a:ext cx="8229600" cy="187693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solidFill>
                <a:effectLst/>
                <a:uLnTx/>
                <a:uFillTx/>
                <a:latin typeface="Calibri"/>
                <a:ea typeface="+mn-ea"/>
                <a:cs typeface="+mn-cs"/>
              </a:rPr>
              <a:t>Sintaxis:</a:t>
            </a:r>
          </a:p>
        </p:txBody>
      </p:sp>
      <p:sp>
        <p:nvSpPr>
          <p:cNvPr id="14" name="Rectángulo redondeado 4">
            <a:extLst>
              <a:ext uri="{FF2B5EF4-FFF2-40B4-BE49-F238E27FC236}">
                <a16:creationId xmlns:a16="http://schemas.microsoft.com/office/drawing/2014/main" xmlns="" id="{E89E0A3B-05D8-4866-88F3-806D4BAAB5F0}"/>
              </a:ext>
            </a:extLst>
          </p:cNvPr>
          <p:cNvSpPr/>
          <p:nvPr/>
        </p:nvSpPr>
        <p:spPr>
          <a:xfrm>
            <a:off x="287744" y="1484784"/>
            <a:ext cx="1980000" cy="1980000"/>
          </a:xfrm>
          <a:prstGeom prst="roundRect">
            <a:avLst/>
          </a:prstGeom>
          <a:solidFill>
            <a:srgbClr val="EC700A"/>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lvl="0" algn="ctr">
              <a:defRPr/>
            </a:pPr>
            <a:r>
              <a:rPr lang="es-CL" sz="1800" b="1" dirty="0">
                <a:solidFill>
                  <a:srgbClr val="FFFFFF"/>
                </a:solidFill>
                <a:latin typeface="Calibri" panose="020F0502020204030204" pitchFamily="34" charset="0"/>
                <a:cs typeface="Calibri" panose="020F0502020204030204" pitchFamily="34" charset="0"/>
              </a:rPr>
              <a:t>Para crear una vista se utiliza la sentencia CREATE VIEW</a:t>
            </a:r>
          </a:p>
        </p:txBody>
      </p:sp>
      <p:sp>
        <p:nvSpPr>
          <p:cNvPr id="15" name="Rectángulo redondeado 4">
            <a:extLst>
              <a:ext uri="{FF2B5EF4-FFF2-40B4-BE49-F238E27FC236}">
                <a16:creationId xmlns:a16="http://schemas.microsoft.com/office/drawing/2014/main" xmlns="" id="{49DFD1DF-2AC5-4F8F-8DFD-994D47236A6F}"/>
              </a:ext>
            </a:extLst>
          </p:cNvPr>
          <p:cNvSpPr/>
          <p:nvPr/>
        </p:nvSpPr>
        <p:spPr>
          <a:xfrm>
            <a:off x="2483768" y="1484784"/>
            <a:ext cx="1980000" cy="1980000"/>
          </a:xfrm>
          <a:prstGeom prst="roundRect">
            <a:avLst/>
          </a:prstGeom>
          <a:solidFill>
            <a:srgbClr val="17375E"/>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 Se debe incorporar una </a:t>
            </a:r>
            <a:r>
              <a:rPr lang="es-CL" sz="1800" b="1" dirty="0" err="1">
                <a:solidFill>
                  <a:srgbClr val="FFFFFF"/>
                </a:solidFill>
                <a:latin typeface="Calibri" panose="020F0502020204030204" pitchFamily="34" charset="0"/>
                <a:cs typeface="Calibri" panose="020F0502020204030204" pitchFamily="34" charset="0"/>
              </a:rPr>
              <a:t>Subconsulta</a:t>
            </a:r>
            <a:r>
              <a:rPr lang="es-CL" sz="1800" b="1" dirty="0">
                <a:solidFill>
                  <a:srgbClr val="FFFFFF"/>
                </a:solidFill>
                <a:latin typeface="Calibri" panose="020F0502020204030204" pitchFamily="34" charset="0"/>
                <a:cs typeface="Calibri" panose="020F0502020204030204" pitchFamily="34" charset="0"/>
              </a:rPr>
              <a:t> en la sentencia CREATE VIEW</a:t>
            </a:r>
          </a:p>
        </p:txBody>
      </p:sp>
      <p:sp>
        <p:nvSpPr>
          <p:cNvPr id="16" name="Rectángulo redondeado 4">
            <a:extLst>
              <a:ext uri="{FF2B5EF4-FFF2-40B4-BE49-F238E27FC236}">
                <a16:creationId xmlns:a16="http://schemas.microsoft.com/office/drawing/2014/main" xmlns="" id="{F5226125-18FC-483F-9F1B-590582B0E512}"/>
              </a:ext>
            </a:extLst>
          </p:cNvPr>
          <p:cNvSpPr/>
          <p:nvPr/>
        </p:nvSpPr>
        <p:spPr>
          <a:xfrm>
            <a:off x="4680232" y="1520568"/>
            <a:ext cx="1980000" cy="1980000"/>
          </a:xfrm>
          <a:prstGeom prst="roundRect">
            <a:avLst/>
          </a:prstGeom>
          <a:solidFill>
            <a:srgbClr val="86A33F"/>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r>
              <a:rPr lang="es-CL" sz="1800" b="1" dirty="0">
                <a:solidFill>
                  <a:srgbClr val="FFFFFF"/>
                </a:solidFill>
                <a:latin typeface="Calibri" panose="020F0502020204030204" pitchFamily="34" charset="0"/>
                <a:cs typeface="Calibri" panose="020F0502020204030204" pitchFamily="34" charset="0"/>
              </a:rPr>
              <a:t>La </a:t>
            </a:r>
            <a:r>
              <a:rPr lang="es-CL" sz="1800" b="1" dirty="0" err="1">
                <a:solidFill>
                  <a:srgbClr val="FFFFFF"/>
                </a:solidFill>
                <a:latin typeface="Calibri" panose="020F0502020204030204" pitchFamily="34" charset="0"/>
                <a:cs typeface="Calibri" panose="020F0502020204030204" pitchFamily="34" charset="0"/>
              </a:rPr>
              <a:t>Subconsulta</a:t>
            </a:r>
            <a:r>
              <a:rPr lang="es-CL" sz="1800" b="1" dirty="0">
                <a:solidFill>
                  <a:srgbClr val="FFFFFF"/>
                </a:solidFill>
                <a:latin typeface="Calibri" panose="020F0502020204030204" pitchFamily="34" charset="0"/>
                <a:cs typeface="Calibri" panose="020F0502020204030204" pitchFamily="34" charset="0"/>
              </a:rPr>
              <a:t> puede contener sentencias SELECT complejas</a:t>
            </a:r>
          </a:p>
        </p:txBody>
      </p:sp>
      <p:sp>
        <p:nvSpPr>
          <p:cNvPr id="17" name="Rectángulo redondeado 4">
            <a:extLst>
              <a:ext uri="{FF2B5EF4-FFF2-40B4-BE49-F238E27FC236}">
                <a16:creationId xmlns:a16="http://schemas.microsoft.com/office/drawing/2014/main" xmlns="" id="{43323F7F-0F18-4986-84D6-F04050C0A53A}"/>
              </a:ext>
            </a:extLst>
          </p:cNvPr>
          <p:cNvSpPr/>
          <p:nvPr/>
        </p:nvSpPr>
        <p:spPr>
          <a:xfrm>
            <a:off x="6912480" y="1484784"/>
            <a:ext cx="1980000" cy="1980000"/>
          </a:xfrm>
          <a:prstGeom prst="roundRect">
            <a:avLst/>
          </a:prstGeom>
          <a:solidFill>
            <a:srgbClr val="B94441"/>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El usuario debe tener asignado el privilegio CREATE VIEW y los  privilegios sobre las tablas bases de la Vista</a:t>
            </a:r>
          </a:p>
        </p:txBody>
      </p:sp>
      <p:sp>
        <p:nvSpPr>
          <p:cNvPr id="19" name="Text Box 5">
            <a:extLst>
              <a:ext uri="{FF2B5EF4-FFF2-40B4-BE49-F238E27FC236}">
                <a16:creationId xmlns:a16="http://schemas.microsoft.com/office/drawing/2014/main" xmlns="" id="{17721C49-B1AF-433A-9788-7D1C01111326}"/>
              </a:ext>
            </a:extLst>
          </p:cNvPr>
          <p:cNvSpPr txBox="1">
            <a:spLocks noChangeArrowheads="1"/>
          </p:cNvSpPr>
          <p:nvPr/>
        </p:nvSpPr>
        <p:spPr bwMode="auto">
          <a:xfrm>
            <a:off x="1089046" y="4367819"/>
            <a:ext cx="6048672"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CREATE [OR REPLACE] [FORCE|NOFORCE] VIEW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nombre_vista</a:t>
            </a:r>
            <a:endParaRPr kumimoji="0" lang="en-US" sz="1600" b="1" i="1"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alias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alias</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AS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subconsulta</a:t>
            </a:r>
            <a:endParaRPr kumimoji="0" lang="en-US" sz="1600" b="1" i="1"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[WITH CHECK OPTION [CONSTRAINT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nombre_constraint</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[WITH READ ONLY [CONSTRAINT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nombre_constraint</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Tree>
    <p:extLst>
      <p:ext uri="{BB962C8B-B14F-4D97-AF65-F5344CB8AC3E}">
        <p14:creationId xmlns:p14="http://schemas.microsoft.com/office/powerpoint/2010/main" val="1587763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lvl="0" defTabSz="457200">
              <a:defRPr/>
            </a:pPr>
            <a:r>
              <a:rPr lang="es-CL" sz="2800" b="1" dirty="0">
                <a:solidFill>
                  <a:prstClr val="white"/>
                </a:solidFill>
                <a:latin typeface="Calibri"/>
              </a:rPr>
              <a:t>Creando una Vista Simple</a:t>
            </a:r>
            <a:endParaRPr lang="es-CL" sz="2800" b="1" kern="1200" dirty="0">
              <a:solidFill>
                <a:prstClr val="white"/>
              </a:solidFill>
              <a:latin typeface="Calibri"/>
            </a:endParaRPr>
          </a:p>
        </p:txBody>
      </p:sp>
      <p:sp>
        <p:nvSpPr>
          <p:cNvPr id="9" name="Marcador de contenido 1">
            <a:extLst>
              <a:ext uri="{FF2B5EF4-FFF2-40B4-BE49-F238E27FC236}">
                <a16:creationId xmlns:a16="http://schemas.microsoft.com/office/drawing/2014/main" xmlns="" id="{EF030FF7-7501-4B30-9784-2D889F5EE2FF}"/>
              </a:ext>
            </a:extLst>
          </p:cNvPr>
          <p:cNvSpPr txBox="1">
            <a:spLocks/>
          </p:cNvSpPr>
          <p:nvPr/>
        </p:nvSpPr>
        <p:spPr>
          <a:xfrm>
            <a:off x="611560" y="135681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10" name="Text Box 5">
            <a:extLst>
              <a:ext uri="{FF2B5EF4-FFF2-40B4-BE49-F238E27FC236}">
                <a16:creationId xmlns:a16="http://schemas.microsoft.com/office/drawing/2014/main" xmlns="" id="{F37FA9C7-2298-4C48-A88A-8E4015AC0DDD}"/>
              </a:ext>
            </a:extLst>
          </p:cNvPr>
          <p:cNvSpPr txBox="1">
            <a:spLocks noChangeArrowheads="1"/>
          </p:cNvSpPr>
          <p:nvPr/>
        </p:nvSpPr>
        <p:spPr bwMode="auto">
          <a:xfrm>
            <a:off x="1331640" y="1700808"/>
            <a:ext cx="5256584"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VIEW v_emp_depto_80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AS SELECT </a:t>
            </a:r>
            <a:r>
              <a:rPr kumimoji="0" lang="en-US" sz="1600" b="1" i="0" u="none" strike="noStrike" kern="0" cap="none" spc="0" normalizeH="0" baseline="0" noProof="0" dirty="0" err="1">
                <a:ln>
                  <a:noFill/>
                </a:ln>
                <a:solidFill>
                  <a:srgbClr val="D81102"/>
                </a:solidFill>
                <a:effectLst/>
                <a:uLnTx/>
                <a:uFillTx/>
                <a:latin typeface="Calibri" panose="020F0502020204030204" pitchFamily="34" charset="0"/>
                <a:cs typeface="Calibri" panose="020F0502020204030204" pitchFamily="34" charset="0"/>
              </a:rPr>
              <a:t>employee_id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D81102"/>
                </a:solidFill>
                <a:effectLst/>
                <a:uLnTx/>
                <a:uFillTx/>
                <a:latin typeface="Calibri" panose="020F0502020204030204" pitchFamily="34" charset="0"/>
                <a:cs typeface="Calibri" panose="020F0502020204030204" pitchFamily="34" charset="0"/>
              </a:rPr>
              <a:t>last_name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a:ln>
                  <a:noFill/>
                </a:ln>
                <a:solidFill>
                  <a:srgbClr val="D81102"/>
                </a:solidFill>
                <a:effectLst/>
                <a:uLnTx/>
                <a:uFillTx/>
                <a:latin typeface="Calibri" panose="020F0502020204030204" pitchFamily="34" charset="0"/>
                <a:cs typeface="Calibri" panose="020F0502020204030204" pitchFamily="34" charset="0"/>
              </a:rPr>
              <a:t>salary</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FROM employees</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80;</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C3E184A9-C0E2-4304-A7C3-5AD44846B084}"/>
              </a:ext>
            </a:extLst>
          </p:cNvPr>
          <p:cNvSpPr txBox="1">
            <a:spLocks noChangeArrowheads="1"/>
          </p:cNvSpPr>
          <p:nvPr/>
        </p:nvSpPr>
        <p:spPr bwMode="auto">
          <a:xfrm>
            <a:off x="824187" y="3256313"/>
            <a:ext cx="280831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DESC v_emp_depto_80;</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2" name="Imagen 11">
            <a:extLst>
              <a:ext uri="{FF2B5EF4-FFF2-40B4-BE49-F238E27FC236}">
                <a16:creationId xmlns:a16="http://schemas.microsoft.com/office/drawing/2014/main" xmlns="" id="{ECE30A8E-B3A8-47C9-8C7C-0AAEF3EBF9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1583" y="3918333"/>
            <a:ext cx="2371429" cy="847619"/>
          </a:xfrm>
          <a:prstGeom prst="rect">
            <a:avLst/>
          </a:prstGeom>
        </p:spPr>
      </p:pic>
      <p:sp>
        <p:nvSpPr>
          <p:cNvPr id="14" name="Text Box 5">
            <a:extLst>
              <a:ext uri="{FF2B5EF4-FFF2-40B4-BE49-F238E27FC236}">
                <a16:creationId xmlns:a16="http://schemas.microsoft.com/office/drawing/2014/main" xmlns="" id="{58C73606-6B76-47E1-A716-3C04D3A2D4C5}"/>
              </a:ext>
            </a:extLst>
          </p:cNvPr>
          <p:cNvSpPr txBox="1">
            <a:spLocks noChangeArrowheads="1"/>
          </p:cNvSpPr>
          <p:nvPr/>
        </p:nvSpPr>
        <p:spPr bwMode="auto">
          <a:xfrm>
            <a:off x="5000651" y="3215878"/>
            <a:ext cx="3603797"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v_emp_depto_80</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ORDER BY salary,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last_name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5" name="Imagen 14">
            <a:extLst>
              <a:ext uri="{FF2B5EF4-FFF2-40B4-BE49-F238E27FC236}">
                <a16:creationId xmlns:a16="http://schemas.microsoft.com/office/drawing/2014/main" xmlns="" id="{EB0E6088-DB3C-4303-A8AE-69BBDD3166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7295" y="4342142"/>
            <a:ext cx="2086357" cy="2111194"/>
          </a:xfrm>
          <a:prstGeom prst="rect">
            <a:avLst/>
          </a:prstGeom>
        </p:spPr>
      </p:pic>
      <p:sp>
        <p:nvSpPr>
          <p:cNvPr id="16" name="Text Box 8">
            <a:extLst>
              <a:ext uri="{FF2B5EF4-FFF2-40B4-BE49-F238E27FC236}">
                <a16:creationId xmlns:a16="http://schemas.microsoft.com/office/drawing/2014/main" xmlns="" id="{EDA0F84E-7EB0-4A43-BFFF-61FC8EDE3F72}"/>
              </a:ext>
            </a:extLst>
          </p:cNvPr>
          <p:cNvSpPr txBox="1">
            <a:spLocks noChangeArrowheads="1"/>
          </p:cNvSpPr>
          <p:nvPr/>
        </p:nvSpPr>
        <p:spPr bwMode="auto">
          <a:xfrm>
            <a:off x="976617" y="2065859"/>
            <a:ext cx="340158"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1</a:t>
            </a:r>
            <a:endParaRPr lang="es-ES" sz="2400" b="1" dirty="0">
              <a:solidFill>
                <a:srgbClr val="800080"/>
              </a:solidFill>
              <a:latin typeface="Calibri" panose="020F0502020204030204" pitchFamily="34" charset="0"/>
              <a:cs typeface="Calibri" panose="020F0502020204030204" pitchFamily="34" charset="0"/>
            </a:endParaRPr>
          </a:p>
        </p:txBody>
      </p:sp>
      <p:sp>
        <p:nvSpPr>
          <p:cNvPr id="17" name="Text Box 8">
            <a:extLst>
              <a:ext uri="{FF2B5EF4-FFF2-40B4-BE49-F238E27FC236}">
                <a16:creationId xmlns:a16="http://schemas.microsoft.com/office/drawing/2014/main" xmlns="" id="{4D97F26F-7224-46ED-B6A7-7112392F4E86}"/>
              </a:ext>
            </a:extLst>
          </p:cNvPr>
          <p:cNvSpPr txBox="1">
            <a:spLocks noChangeArrowheads="1"/>
          </p:cNvSpPr>
          <p:nvPr/>
        </p:nvSpPr>
        <p:spPr bwMode="auto">
          <a:xfrm>
            <a:off x="491712" y="3349303"/>
            <a:ext cx="340158"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2</a:t>
            </a:r>
            <a:endParaRPr lang="es-ES" sz="2400" b="1" dirty="0">
              <a:solidFill>
                <a:srgbClr val="800080"/>
              </a:solidFill>
              <a:latin typeface="Calibri" panose="020F0502020204030204" pitchFamily="34" charset="0"/>
              <a:cs typeface="Calibri" panose="020F0502020204030204" pitchFamily="34" charset="0"/>
            </a:endParaRPr>
          </a:p>
        </p:txBody>
      </p:sp>
      <p:sp>
        <p:nvSpPr>
          <p:cNvPr id="18" name="Text Box 8">
            <a:extLst>
              <a:ext uri="{FF2B5EF4-FFF2-40B4-BE49-F238E27FC236}">
                <a16:creationId xmlns:a16="http://schemas.microsoft.com/office/drawing/2014/main" xmlns="" id="{0FA77753-66D4-4D6C-B4D2-8FF55CC3B409}"/>
              </a:ext>
            </a:extLst>
          </p:cNvPr>
          <p:cNvSpPr txBox="1">
            <a:spLocks noChangeArrowheads="1"/>
          </p:cNvSpPr>
          <p:nvPr/>
        </p:nvSpPr>
        <p:spPr bwMode="auto">
          <a:xfrm>
            <a:off x="4660493" y="3356992"/>
            <a:ext cx="340158"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3</a:t>
            </a:r>
            <a:endParaRPr lang="es-ES" sz="2400" b="1" dirty="0">
              <a:solidFill>
                <a:srgbClr val="80008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3007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lvl="0" defTabSz="457200">
              <a:defRPr/>
            </a:pPr>
            <a:r>
              <a:rPr lang="es-CL" sz="2800" b="1" dirty="0">
                <a:solidFill>
                  <a:prstClr val="white"/>
                </a:solidFill>
                <a:latin typeface="Calibri"/>
              </a:rPr>
              <a:t>Creando una Vista Simple</a:t>
            </a:r>
            <a:endParaRPr lang="es-CL" sz="2800" b="1" kern="1200" dirty="0">
              <a:solidFill>
                <a:prstClr val="white"/>
              </a:solidFill>
              <a:latin typeface="Calibri"/>
            </a:endParaRPr>
          </a:p>
        </p:txBody>
      </p:sp>
      <p:sp>
        <p:nvSpPr>
          <p:cNvPr id="19" name="Marcador de contenido 1">
            <a:extLst>
              <a:ext uri="{FF2B5EF4-FFF2-40B4-BE49-F238E27FC236}">
                <a16:creationId xmlns:a16="http://schemas.microsoft.com/office/drawing/2014/main" xmlns="" id="{0048DCCD-53AA-4121-8411-C51D779AB98A}"/>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20" name="Text Box 5">
            <a:extLst>
              <a:ext uri="{FF2B5EF4-FFF2-40B4-BE49-F238E27FC236}">
                <a16:creationId xmlns:a16="http://schemas.microsoft.com/office/drawing/2014/main" xmlns="" id="{5D7C59C7-6AC8-4A8D-B9DD-0FC290B0466F}"/>
              </a:ext>
            </a:extLst>
          </p:cNvPr>
          <p:cNvSpPr txBox="1">
            <a:spLocks noChangeArrowheads="1"/>
          </p:cNvSpPr>
          <p:nvPr/>
        </p:nvSpPr>
        <p:spPr bwMode="auto">
          <a:xfrm>
            <a:off x="1331640" y="1628800"/>
            <a:ext cx="597666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VIEW  v_salarios_depto_50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AS SELECT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employee_id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a:ln>
                  <a:noFill/>
                </a:ln>
                <a:solidFill>
                  <a:srgbClr val="D81102"/>
                </a:solidFill>
                <a:effectLst/>
                <a:uLnTx/>
                <a:uFillTx/>
                <a:latin typeface="Calibri" panose="020F0502020204030204" pitchFamily="34" charset="0"/>
                <a:cs typeface="Calibri" panose="020F0502020204030204" pitchFamily="34" charset="0"/>
              </a:rPr>
              <a:t>ID_EMPLEADO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last_name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a:ln>
                  <a:noFill/>
                </a:ln>
                <a:solidFill>
                  <a:srgbClr val="D81102"/>
                </a:solidFill>
                <a:effectLst/>
                <a:uLnTx/>
                <a:uFillTx/>
                <a:latin typeface="Calibri" panose="020F0502020204030204" pitchFamily="34" charset="0"/>
                <a:cs typeface="Calibri" panose="020F0502020204030204" pitchFamily="34" charset="0"/>
              </a:rPr>
              <a:t>APELLIDO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salary </a:t>
            </a:r>
            <a:r>
              <a:rPr kumimoji="0" lang="en-US" sz="1600" b="1" i="0" u="none" strike="noStrike" kern="0" cap="none" spc="0" normalizeH="0" baseline="0" noProof="0" dirty="0">
                <a:ln>
                  <a:noFill/>
                </a:ln>
                <a:solidFill>
                  <a:srgbClr val="D81102"/>
                </a:solidFill>
                <a:effectLst/>
                <a:uLnTx/>
                <a:uFillTx/>
                <a:latin typeface="Calibri" panose="020F0502020204030204" pitchFamily="34" charset="0"/>
                <a:cs typeface="Calibri" panose="020F0502020204030204" pitchFamily="34" charset="0"/>
              </a:rPr>
              <a:t>SALARIO_MENSUAL</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salary*12 </a:t>
            </a:r>
            <a:r>
              <a:rPr kumimoji="0" lang="en-US" sz="1600" b="1" i="0" u="none" strike="noStrike" kern="0" cap="none" spc="0" normalizeH="0" baseline="0" noProof="0" dirty="0">
                <a:ln>
                  <a:noFill/>
                </a:ln>
                <a:solidFill>
                  <a:srgbClr val="D81102"/>
                </a:solidFill>
                <a:effectLst/>
                <a:uLnTx/>
                <a:uFillTx/>
                <a:latin typeface="Calibri" panose="020F0502020204030204" pitchFamily="34" charset="0"/>
                <a:cs typeface="Calibri" panose="020F0502020204030204" pitchFamily="34" charset="0"/>
              </a:rPr>
              <a:t>SALARIO_ANUAL</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FROM    employees</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50;</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21" name="Text Box 8">
            <a:extLst>
              <a:ext uri="{FF2B5EF4-FFF2-40B4-BE49-F238E27FC236}">
                <a16:creationId xmlns:a16="http://schemas.microsoft.com/office/drawing/2014/main" xmlns="" id="{A806D252-E39B-4993-9AFA-EAC37C059DB1}"/>
              </a:ext>
            </a:extLst>
          </p:cNvPr>
          <p:cNvSpPr txBox="1">
            <a:spLocks noChangeArrowheads="1"/>
          </p:cNvSpPr>
          <p:nvPr/>
        </p:nvSpPr>
        <p:spPr bwMode="auto">
          <a:xfrm>
            <a:off x="976617" y="1993851"/>
            <a:ext cx="340158"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1</a:t>
            </a:r>
            <a:endParaRPr lang="es-ES" sz="2400" b="1" dirty="0">
              <a:solidFill>
                <a:srgbClr val="800080"/>
              </a:solidFill>
              <a:latin typeface="Calibri" panose="020F0502020204030204" pitchFamily="34" charset="0"/>
              <a:cs typeface="Calibri" panose="020F0502020204030204" pitchFamily="34" charset="0"/>
            </a:endParaRPr>
          </a:p>
        </p:txBody>
      </p:sp>
      <p:sp>
        <p:nvSpPr>
          <p:cNvPr id="22" name="Text Box 8">
            <a:extLst>
              <a:ext uri="{FF2B5EF4-FFF2-40B4-BE49-F238E27FC236}">
                <a16:creationId xmlns:a16="http://schemas.microsoft.com/office/drawing/2014/main" xmlns="" id="{5B743E11-7855-4236-B0B6-D0C66768D348}"/>
              </a:ext>
            </a:extLst>
          </p:cNvPr>
          <p:cNvSpPr txBox="1">
            <a:spLocks noChangeArrowheads="1"/>
          </p:cNvSpPr>
          <p:nvPr/>
        </p:nvSpPr>
        <p:spPr bwMode="auto">
          <a:xfrm>
            <a:off x="919475" y="3615407"/>
            <a:ext cx="340158"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2</a:t>
            </a:r>
            <a:endParaRPr lang="es-ES" sz="2400" b="1" dirty="0">
              <a:solidFill>
                <a:srgbClr val="800080"/>
              </a:solidFill>
              <a:latin typeface="Calibri" panose="020F0502020204030204" pitchFamily="34" charset="0"/>
              <a:cs typeface="Calibri" panose="020F0502020204030204" pitchFamily="34" charset="0"/>
            </a:endParaRPr>
          </a:p>
        </p:txBody>
      </p:sp>
      <p:sp>
        <p:nvSpPr>
          <p:cNvPr id="23" name="Text Box 5">
            <a:extLst>
              <a:ext uri="{FF2B5EF4-FFF2-40B4-BE49-F238E27FC236}">
                <a16:creationId xmlns:a16="http://schemas.microsoft.com/office/drawing/2014/main" xmlns="" id="{0785E946-C0CD-40AF-9892-DB70E6AE4CD0}"/>
              </a:ext>
            </a:extLst>
          </p:cNvPr>
          <p:cNvSpPr txBox="1">
            <a:spLocks noChangeArrowheads="1"/>
          </p:cNvSpPr>
          <p:nvPr/>
        </p:nvSpPr>
        <p:spPr bwMode="auto">
          <a:xfrm>
            <a:off x="1328243" y="3443101"/>
            <a:ext cx="597666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v_salarios_depto_50;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4" name="Imagen 23">
            <a:extLst>
              <a:ext uri="{FF2B5EF4-FFF2-40B4-BE49-F238E27FC236}">
                <a16:creationId xmlns:a16="http://schemas.microsoft.com/office/drawing/2014/main" xmlns="" id="{03C352E9-23B7-42F7-AA1F-616DB92ED8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4350892"/>
            <a:ext cx="3838095" cy="2390476"/>
          </a:xfrm>
          <a:prstGeom prst="rect">
            <a:avLst/>
          </a:prstGeom>
        </p:spPr>
      </p:pic>
    </p:spTree>
    <p:extLst>
      <p:ext uri="{BB962C8B-B14F-4D97-AF65-F5344CB8AC3E}">
        <p14:creationId xmlns:p14="http://schemas.microsoft.com/office/powerpoint/2010/main" val="8702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lvl="0" defTabSz="457200">
              <a:defRPr/>
            </a:pPr>
            <a:r>
              <a:rPr lang="es-CL" sz="2800" b="1" dirty="0">
                <a:solidFill>
                  <a:prstClr val="white"/>
                </a:solidFill>
                <a:latin typeface="Calibri"/>
              </a:rPr>
              <a:t>Creando una Vista Compleja</a:t>
            </a:r>
            <a:endParaRPr lang="es-CL" sz="2800" b="1" kern="1200" dirty="0">
              <a:solidFill>
                <a:prstClr val="white"/>
              </a:solidFill>
              <a:latin typeface="Calibri"/>
            </a:endParaRPr>
          </a:p>
        </p:txBody>
      </p:sp>
      <p:sp>
        <p:nvSpPr>
          <p:cNvPr id="9" name="Marcador de contenido 1">
            <a:extLst>
              <a:ext uri="{FF2B5EF4-FFF2-40B4-BE49-F238E27FC236}">
                <a16:creationId xmlns:a16="http://schemas.microsoft.com/office/drawing/2014/main" xmlns="" id="{22EC48DB-B0B5-4081-A529-CBBAAB687B20}"/>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10" name="Text Box 5">
            <a:extLst>
              <a:ext uri="{FF2B5EF4-FFF2-40B4-BE49-F238E27FC236}">
                <a16:creationId xmlns:a16="http://schemas.microsoft.com/office/drawing/2014/main" xmlns="" id="{72858D0E-CC6A-4AA5-9706-8DE1E06520EA}"/>
              </a:ext>
            </a:extLst>
          </p:cNvPr>
          <p:cNvSpPr txBox="1">
            <a:spLocks noChangeArrowheads="1"/>
          </p:cNvSpPr>
          <p:nvPr/>
        </p:nvSpPr>
        <p:spPr bwMode="auto">
          <a:xfrm>
            <a:off x="1013552" y="1681138"/>
            <a:ext cx="7548944" cy="1815882"/>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algn="l" eaLnBrk="1" hangingPunct="1"/>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CREATE OR REPLACE VIEW </a:t>
            </a:r>
            <a:r>
              <a:rPr lang="en-US" sz="1600" b="1" dirty="0" err="1">
                <a:latin typeface="Calibri" panose="020F0502020204030204" pitchFamily="34" charset="0"/>
                <a:cs typeface="Calibri" panose="020F0502020204030204" pitchFamily="34" charset="0"/>
              </a:rPr>
              <a:t>v_dept_sum</a:t>
            </a:r>
            <a:endParaRPr lang="en-US" sz="16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       (</a:t>
            </a:r>
            <a:r>
              <a:rPr lang="en-US" sz="1600" b="1" dirty="0" err="1">
                <a:solidFill>
                  <a:srgbClr val="D81102"/>
                </a:solidFill>
                <a:latin typeface="Calibri" panose="020F0502020204030204" pitchFamily="34" charset="0"/>
                <a:cs typeface="Calibri" panose="020F0502020204030204" pitchFamily="34" charset="0"/>
              </a:rPr>
              <a:t>nombre</a:t>
            </a:r>
            <a:r>
              <a:rPr lang="en-US" sz="1600" b="1" dirty="0" err="1">
                <a:latin typeface="Calibri" panose="020F0502020204030204" pitchFamily="34" charset="0"/>
                <a:cs typeface="Calibri" panose="020F0502020204030204" pitchFamily="34" charset="0"/>
              </a:rPr>
              <a:t>_</a:t>
            </a:r>
            <a:r>
              <a:rPr lang="en-US" sz="1600" b="1" dirty="0" err="1">
                <a:solidFill>
                  <a:srgbClr val="D81102"/>
                </a:solidFill>
                <a:latin typeface="Calibri" panose="020F0502020204030204" pitchFamily="34" charset="0"/>
                <a:cs typeface="Calibri" panose="020F0502020204030204" pitchFamily="34" charset="0"/>
              </a:rPr>
              <a:t>depto</a:t>
            </a:r>
            <a:r>
              <a:rPr lang="en-US" sz="1600" b="1" dirty="0">
                <a:latin typeface="Calibri" panose="020F0502020204030204" pitchFamily="34" charset="0"/>
                <a:cs typeface="Calibri" panose="020F0502020204030204" pitchFamily="34" charset="0"/>
              </a:rPr>
              <a:t>, </a:t>
            </a:r>
            <a:r>
              <a:rPr lang="en-US" sz="1600" b="1" dirty="0" err="1">
                <a:solidFill>
                  <a:srgbClr val="0000FF"/>
                </a:solidFill>
                <a:latin typeface="Calibri" panose="020F0502020204030204" pitchFamily="34" charset="0"/>
                <a:cs typeface="Calibri" panose="020F0502020204030204" pitchFamily="34" charset="0"/>
              </a:rPr>
              <a:t>minsal</a:t>
            </a:r>
            <a:r>
              <a:rPr lang="en-US" sz="1600" b="1" dirty="0">
                <a:latin typeface="Calibri" panose="020F0502020204030204" pitchFamily="34" charset="0"/>
                <a:cs typeface="Calibri" panose="020F0502020204030204" pitchFamily="34" charset="0"/>
              </a:rPr>
              <a:t>, </a:t>
            </a:r>
            <a:r>
              <a:rPr lang="en-US" sz="1600" b="1" dirty="0" err="1">
                <a:solidFill>
                  <a:schemeClr val="folHlink"/>
                </a:solidFill>
                <a:latin typeface="Calibri" panose="020F0502020204030204" pitchFamily="34" charset="0"/>
                <a:cs typeface="Calibri" panose="020F0502020204030204" pitchFamily="34" charset="0"/>
              </a:rPr>
              <a:t>maxsal</a:t>
            </a:r>
            <a:r>
              <a:rPr lang="en-US" sz="1600" b="1" dirty="0">
                <a:latin typeface="Calibri" panose="020F0502020204030204" pitchFamily="34" charset="0"/>
                <a:cs typeface="Calibri" panose="020F0502020204030204" pitchFamily="34" charset="0"/>
              </a:rPr>
              <a:t>, </a:t>
            </a:r>
            <a:r>
              <a:rPr lang="en-US" sz="1600" b="1" dirty="0" err="1">
                <a:solidFill>
                  <a:srgbClr val="008000"/>
                </a:solidFill>
                <a:latin typeface="Calibri" panose="020F0502020204030204" pitchFamily="34" charset="0"/>
                <a:cs typeface="Calibri" panose="020F0502020204030204" pitchFamily="34" charset="0"/>
              </a:rPr>
              <a:t>avgsal</a:t>
            </a:r>
            <a:r>
              <a:rPr lang="en-US" sz="1600" b="1" dirty="0">
                <a:latin typeface="Calibri" panose="020F0502020204030204" pitchFamily="34" charset="0"/>
                <a:cs typeface="Calibri" panose="020F0502020204030204" pitchFamily="34" charset="0"/>
              </a:rPr>
              <a:t>)</a:t>
            </a:r>
          </a:p>
          <a:p>
            <a:pPr algn="l">
              <a:defRPr/>
            </a:pPr>
            <a:r>
              <a:rPr lang="en-US" sz="1600" b="1" dirty="0">
                <a:latin typeface="Calibri" panose="020F0502020204030204" pitchFamily="34" charset="0"/>
                <a:cs typeface="Calibri" panose="020F0502020204030204" pitchFamily="34" charset="0"/>
              </a:rPr>
              <a:t>AS SELECT </a:t>
            </a:r>
            <a:r>
              <a:rPr lang="en-US" sz="1600" b="1" dirty="0" err="1">
                <a:solidFill>
                  <a:srgbClr val="D81102"/>
                </a:solidFill>
                <a:latin typeface="Calibri" panose="020F0502020204030204" pitchFamily="34" charset="0"/>
                <a:cs typeface="Calibri" panose="020F0502020204030204" pitchFamily="34" charset="0"/>
              </a:rPr>
              <a:t>d.department_name</a:t>
            </a:r>
            <a:r>
              <a:rPr lang="en-US" sz="1600" b="1" dirty="0">
                <a:latin typeface="Calibri" panose="020F0502020204030204" pitchFamily="34" charset="0"/>
                <a:cs typeface="Calibri" panose="020F0502020204030204" pitchFamily="34" charset="0"/>
              </a:rPr>
              <a:t>, </a:t>
            </a:r>
            <a:r>
              <a:rPr lang="en-US" sz="1600" b="1" dirty="0">
                <a:solidFill>
                  <a:srgbClr val="0000FF"/>
                </a:solidFill>
                <a:latin typeface="Calibri" panose="020F0502020204030204" pitchFamily="34" charset="0"/>
                <a:cs typeface="Calibri" panose="020F0502020204030204" pitchFamily="34" charset="0"/>
              </a:rPr>
              <a:t>MIN(</a:t>
            </a:r>
            <a:r>
              <a:rPr lang="en-US" sz="1600" b="1" dirty="0" err="1">
                <a:solidFill>
                  <a:srgbClr val="0000FF"/>
                </a:solidFill>
                <a:latin typeface="Calibri" panose="020F0502020204030204" pitchFamily="34" charset="0"/>
                <a:cs typeface="Calibri" panose="020F0502020204030204" pitchFamily="34" charset="0"/>
              </a:rPr>
              <a:t>e.salary</a:t>
            </a:r>
            <a:r>
              <a:rPr lang="en-US" sz="1600" b="1" dirty="0">
                <a:solidFill>
                  <a:srgbClr val="0000FF"/>
                </a:solidFill>
                <a:latin typeface="Calibri" panose="020F0502020204030204" pitchFamily="34" charset="0"/>
                <a:cs typeface="Calibri" panose="020F0502020204030204" pitchFamily="34" charset="0"/>
              </a:rPr>
              <a:t>)</a:t>
            </a:r>
            <a:r>
              <a:rPr lang="en-US" sz="1600" b="1" dirty="0">
                <a:latin typeface="Calibri" panose="020F0502020204030204" pitchFamily="34" charset="0"/>
                <a:cs typeface="Calibri" panose="020F0502020204030204" pitchFamily="34" charset="0"/>
              </a:rPr>
              <a:t>, </a:t>
            </a:r>
            <a:r>
              <a:rPr lang="en-US" sz="1600" b="1" dirty="0">
                <a:solidFill>
                  <a:schemeClr val="folHlink"/>
                </a:solidFill>
                <a:latin typeface="Calibri" panose="020F0502020204030204" pitchFamily="34" charset="0"/>
                <a:cs typeface="Calibri" panose="020F0502020204030204" pitchFamily="34" charset="0"/>
              </a:rPr>
              <a:t>MAX(</a:t>
            </a:r>
            <a:r>
              <a:rPr lang="en-US" sz="1600" b="1" dirty="0" err="1">
                <a:solidFill>
                  <a:schemeClr val="folHlink"/>
                </a:solidFill>
                <a:latin typeface="Calibri" panose="020F0502020204030204" pitchFamily="34" charset="0"/>
                <a:cs typeface="Calibri" panose="020F0502020204030204" pitchFamily="34" charset="0"/>
              </a:rPr>
              <a:t>e.salary</a:t>
            </a:r>
            <a:r>
              <a:rPr lang="en-US" sz="1600" b="1" dirty="0">
                <a:solidFill>
                  <a:schemeClr val="folHlink"/>
                </a:solidFill>
                <a:latin typeface="Calibri" panose="020F0502020204030204" pitchFamily="34" charset="0"/>
                <a:cs typeface="Calibri" panose="020F0502020204030204" pitchFamily="34" charset="0"/>
              </a:rPr>
              <a:t>)</a:t>
            </a:r>
            <a:r>
              <a:rPr lang="en-US" sz="1600" b="1" dirty="0">
                <a:latin typeface="Calibri" panose="020F0502020204030204" pitchFamily="34" charset="0"/>
                <a:cs typeface="Calibri" panose="020F0502020204030204" pitchFamily="34" charset="0"/>
              </a:rPr>
              <a:t>, </a:t>
            </a:r>
            <a:r>
              <a:rPr lang="en-US" sz="1600" b="1" dirty="0">
                <a:solidFill>
                  <a:srgbClr val="008000"/>
                </a:solidFill>
                <a:latin typeface="Calibri" panose="020F0502020204030204" pitchFamily="34" charset="0"/>
                <a:cs typeface="Calibri" panose="020F0502020204030204" pitchFamily="34" charset="0"/>
              </a:rPr>
              <a:t>ROUND(AVG(</a:t>
            </a:r>
            <a:r>
              <a:rPr lang="en-US" sz="1600" b="1" dirty="0" err="1">
                <a:solidFill>
                  <a:srgbClr val="008000"/>
                </a:solidFill>
                <a:latin typeface="Calibri" panose="020F0502020204030204" pitchFamily="34" charset="0"/>
                <a:cs typeface="Calibri" panose="020F0502020204030204" pitchFamily="34" charset="0"/>
              </a:rPr>
              <a:t>e.salary</a:t>
            </a:r>
            <a:r>
              <a:rPr lang="en-US" sz="1600" b="1" dirty="0">
                <a:solidFill>
                  <a:srgbClr val="008000"/>
                </a:solidFill>
                <a:latin typeface="Calibri" panose="020F0502020204030204" pitchFamily="34" charset="0"/>
                <a:cs typeface="Calibri" panose="020F0502020204030204" pitchFamily="34" charset="0"/>
              </a:rPr>
              <a:t>))</a:t>
            </a:r>
          </a:p>
          <a:p>
            <a:pPr algn="l">
              <a:defRPr/>
            </a:pPr>
            <a:r>
              <a:rPr lang="en-US" sz="1600" b="1" dirty="0">
                <a:latin typeface="Calibri" panose="020F0502020204030204" pitchFamily="34" charset="0"/>
                <a:cs typeface="Calibri" panose="020F0502020204030204" pitchFamily="34" charset="0"/>
              </a:rPr>
              <a:t>          FROM employees e JOIN departments d</a:t>
            </a:r>
          </a:p>
          <a:p>
            <a:pPr algn="l">
              <a:defRPr/>
            </a:pPr>
            <a:r>
              <a:rPr lang="en-US" sz="1600" b="1" dirty="0">
                <a:latin typeface="Calibri" panose="020F0502020204030204" pitchFamily="34" charset="0"/>
                <a:cs typeface="Calibri" panose="020F0502020204030204" pitchFamily="34" charset="0"/>
              </a:rPr>
              <a:t>               ON (</a:t>
            </a:r>
            <a:r>
              <a:rPr lang="en-US" sz="1600" b="1" dirty="0" err="1">
                <a:latin typeface="Calibri" panose="020F0502020204030204" pitchFamily="34" charset="0"/>
                <a:cs typeface="Calibri" panose="020F0502020204030204" pitchFamily="34" charset="0"/>
              </a:rPr>
              <a:t>e.department_id</a:t>
            </a:r>
            <a:r>
              <a:rPr lang="en-US" sz="1600" b="1" dirty="0">
                <a:latin typeface="Calibri" panose="020F0502020204030204" pitchFamily="34" charset="0"/>
                <a:cs typeface="Calibri" panose="020F0502020204030204" pitchFamily="34" charset="0"/>
              </a:rPr>
              <a:t> = </a:t>
            </a:r>
            <a:r>
              <a:rPr lang="en-US" sz="1600" b="1" dirty="0" err="1">
                <a:latin typeface="Calibri" panose="020F0502020204030204" pitchFamily="34" charset="0"/>
                <a:cs typeface="Calibri" panose="020F0502020204030204" pitchFamily="34" charset="0"/>
              </a:rPr>
              <a:t>d.department_id</a:t>
            </a:r>
            <a:r>
              <a:rPr lang="en-US" sz="1600" b="1" dirty="0">
                <a:latin typeface="Calibri" panose="020F0502020204030204" pitchFamily="34" charset="0"/>
                <a:cs typeface="Calibri" panose="020F0502020204030204" pitchFamily="34" charset="0"/>
              </a:rPr>
              <a:t>)</a:t>
            </a:r>
          </a:p>
          <a:p>
            <a:pPr algn="l">
              <a:defRPr/>
            </a:pPr>
            <a:r>
              <a:rPr lang="en-US" sz="1600" b="1" dirty="0">
                <a:latin typeface="Calibri" panose="020F0502020204030204" pitchFamily="34" charset="0"/>
                <a:cs typeface="Calibri" panose="020F0502020204030204" pitchFamily="34" charset="0"/>
              </a:rPr>
              <a:t>      GROUP BY </a:t>
            </a:r>
            <a:r>
              <a:rPr lang="en-US" sz="1600" b="1" dirty="0" err="1">
                <a:latin typeface="Calibri" panose="020F0502020204030204" pitchFamily="34" charset="0"/>
                <a:cs typeface="Calibri" panose="020F0502020204030204" pitchFamily="34" charset="0"/>
              </a:rPr>
              <a:t>d.department_name</a:t>
            </a:r>
            <a:r>
              <a:rPr lang="en-US" sz="1600" b="1" dirty="0">
                <a:latin typeface="Calibri" panose="020F0502020204030204" pitchFamily="34" charset="0"/>
                <a:cs typeface="Calibri" panose="020F0502020204030204" pitchFamily="34" charset="0"/>
              </a:rPr>
              <a:t>;</a:t>
            </a:r>
          </a:p>
          <a:p>
            <a:pPr algn="l">
              <a:defRPr/>
            </a:pPr>
            <a:endParaRPr lang="es-MX" sz="800" dirty="0">
              <a:latin typeface="Calibri" panose="020F0502020204030204" pitchFamily="34" charset="0"/>
              <a:cs typeface="Calibri" panose="020F0502020204030204" pitchFamily="34" charset="0"/>
            </a:endParaRPr>
          </a:p>
        </p:txBody>
      </p:sp>
      <p:sp>
        <p:nvSpPr>
          <p:cNvPr id="11" name="Text Box 8">
            <a:extLst>
              <a:ext uri="{FF2B5EF4-FFF2-40B4-BE49-F238E27FC236}">
                <a16:creationId xmlns:a16="http://schemas.microsoft.com/office/drawing/2014/main" xmlns="" id="{A2F170C5-0CB6-41BB-B68C-43484CA2DF4D}"/>
              </a:ext>
            </a:extLst>
          </p:cNvPr>
          <p:cNvSpPr txBox="1">
            <a:spLocks noChangeArrowheads="1"/>
          </p:cNvSpPr>
          <p:nvPr/>
        </p:nvSpPr>
        <p:spPr bwMode="auto">
          <a:xfrm>
            <a:off x="703451" y="2065859"/>
            <a:ext cx="340157" cy="461665"/>
          </a:xfrm>
          <a:prstGeom prst="rect">
            <a:avLst/>
          </a:prstGeom>
          <a:noFill/>
          <a:ln w="9525">
            <a:noFill/>
            <a:miter lim="800000"/>
            <a:headEnd/>
            <a:tailEnd/>
          </a:ln>
        </p:spPr>
        <p:txBody>
          <a:bodyPr wrap="none">
            <a:spAutoFit/>
          </a:bodyPr>
          <a:lstStyle/>
          <a:p>
            <a:r>
              <a:rPr lang="es-CL" sz="2400" b="1" dirty="0">
                <a:solidFill>
                  <a:schemeClr val="folHlink"/>
                </a:solidFill>
                <a:latin typeface="Calibri" panose="020F0502020204030204" pitchFamily="34" charset="0"/>
                <a:cs typeface="Calibri" panose="020F0502020204030204" pitchFamily="34" charset="0"/>
              </a:rPr>
              <a:t>1</a:t>
            </a:r>
            <a:endParaRPr lang="es-ES" sz="2400" b="1" dirty="0">
              <a:solidFill>
                <a:schemeClr val="folHlink"/>
              </a:solidFill>
              <a:latin typeface="Calibri" panose="020F0502020204030204" pitchFamily="34" charset="0"/>
              <a:cs typeface="Calibri" panose="020F0502020204030204" pitchFamily="34" charset="0"/>
            </a:endParaRPr>
          </a:p>
        </p:txBody>
      </p:sp>
      <p:sp>
        <p:nvSpPr>
          <p:cNvPr id="12" name="Text Box 8">
            <a:extLst>
              <a:ext uri="{FF2B5EF4-FFF2-40B4-BE49-F238E27FC236}">
                <a16:creationId xmlns:a16="http://schemas.microsoft.com/office/drawing/2014/main" xmlns="" id="{4BFCFE3F-17F2-4EBA-9C98-A0612876FF08}"/>
              </a:ext>
            </a:extLst>
          </p:cNvPr>
          <p:cNvSpPr txBox="1">
            <a:spLocks noChangeArrowheads="1"/>
          </p:cNvSpPr>
          <p:nvPr/>
        </p:nvSpPr>
        <p:spPr bwMode="auto">
          <a:xfrm>
            <a:off x="683568" y="4119463"/>
            <a:ext cx="340157" cy="461665"/>
          </a:xfrm>
          <a:prstGeom prst="rect">
            <a:avLst/>
          </a:prstGeom>
          <a:noFill/>
          <a:ln w="9525">
            <a:noFill/>
            <a:miter lim="800000"/>
            <a:headEnd/>
            <a:tailEnd/>
          </a:ln>
        </p:spPr>
        <p:txBody>
          <a:bodyPr wrap="none">
            <a:spAutoFit/>
          </a:bodyPr>
          <a:lstStyle/>
          <a:p>
            <a:r>
              <a:rPr lang="es-CL" sz="2400" b="1" dirty="0">
                <a:solidFill>
                  <a:schemeClr val="folHlink"/>
                </a:solidFill>
                <a:latin typeface="Calibri" panose="020F0502020204030204" pitchFamily="34" charset="0"/>
                <a:cs typeface="Calibri" panose="020F0502020204030204" pitchFamily="34" charset="0"/>
              </a:rPr>
              <a:t>2</a:t>
            </a:r>
            <a:endParaRPr lang="es-ES" sz="2400" b="1" dirty="0">
              <a:solidFill>
                <a:schemeClr val="folHlink"/>
              </a:solidFill>
              <a:latin typeface="Calibri" panose="020F0502020204030204" pitchFamily="34" charset="0"/>
              <a:cs typeface="Calibri" panose="020F0502020204030204" pitchFamily="34" charset="0"/>
            </a:endParaRPr>
          </a:p>
        </p:txBody>
      </p:sp>
      <p:sp>
        <p:nvSpPr>
          <p:cNvPr id="14" name="Text Box 5">
            <a:extLst>
              <a:ext uri="{FF2B5EF4-FFF2-40B4-BE49-F238E27FC236}">
                <a16:creationId xmlns:a16="http://schemas.microsoft.com/office/drawing/2014/main" xmlns="" id="{D5471644-B41A-4E62-9DF0-770D548B809A}"/>
              </a:ext>
            </a:extLst>
          </p:cNvPr>
          <p:cNvSpPr txBox="1">
            <a:spLocks noChangeArrowheads="1"/>
          </p:cNvSpPr>
          <p:nvPr/>
        </p:nvSpPr>
        <p:spPr bwMode="auto">
          <a:xfrm>
            <a:off x="1028836" y="3863950"/>
            <a:ext cx="3603797" cy="1077218"/>
          </a:xfrm>
          <a:prstGeom prst="rect">
            <a:avLst/>
          </a:prstGeom>
          <a:solidFill>
            <a:srgbClr val="FFC000"/>
          </a:solidFill>
          <a:ln w="22225">
            <a:solidFill>
              <a:schemeClr val="tx1"/>
            </a:solidFill>
            <a:miter lim="800000"/>
            <a:headEnd/>
            <a:tailEnd/>
          </a:ln>
          <a:scene3d>
            <a:camera prst="orthographicFront"/>
            <a:lightRig rig="threePt" dir="t"/>
          </a:scene3d>
          <a:sp3d>
            <a:bevelT w="165100" prst="coolSlant"/>
            <a:bevelB/>
          </a:sp3d>
        </p:spPr>
        <p:txBody>
          <a:bodyPr>
            <a:spAutoFit/>
          </a:bodyPr>
          <a:lstStyle/>
          <a:p>
            <a:pPr algn="l">
              <a:defRPr/>
            </a:pPr>
            <a:endParaRPr lang="es-MX" sz="800"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SELECT * </a:t>
            </a:r>
          </a:p>
          <a:p>
            <a:pPr algn="l">
              <a:defRPr/>
            </a:pPr>
            <a:r>
              <a:rPr lang="en-US" sz="1600" b="1" dirty="0">
                <a:latin typeface="Calibri" panose="020F0502020204030204" pitchFamily="34" charset="0"/>
                <a:cs typeface="Calibri" panose="020F0502020204030204" pitchFamily="34" charset="0"/>
              </a:rPr>
              <a:t>FROM </a:t>
            </a:r>
            <a:r>
              <a:rPr lang="en-US" sz="1600" b="1" dirty="0" err="1">
                <a:latin typeface="Calibri" panose="020F0502020204030204" pitchFamily="34" charset="0"/>
                <a:cs typeface="Calibri" panose="020F0502020204030204" pitchFamily="34" charset="0"/>
              </a:rPr>
              <a:t>v_dept_sum</a:t>
            </a:r>
            <a:endParaRPr lang="en-US" sz="1600" b="1" dirty="0">
              <a:latin typeface="Calibri" panose="020F0502020204030204" pitchFamily="34" charset="0"/>
              <a:cs typeface="Calibri" panose="020F0502020204030204" pitchFamily="34" charset="0"/>
            </a:endParaRPr>
          </a:p>
          <a:p>
            <a:pPr algn="l">
              <a:defRPr/>
            </a:pPr>
            <a:r>
              <a:rPr lang="en-US" sz="1600" b="1" dirty="0">
                <a:latin typeface="Calibri" panose="020F0502020204030204" pitchFamily="34" charset="0"/>
                <a:cs typeface="Calibri" panose="020F0502020204030204" pitchFamily="34" charset="0"/>
              </a:rPr>
              <a:t>ORDER BY </a:t>
            </a:r>
            <a:r>
              <a:rPr lang="en-US" sz="1600" b="1" dirty="0" err="1">
                <a:latin typeface="Calibri" panose="020F0502020204030204" pitchFamily="34" charset="0"/>
                <a:cs typeface="Calibri" panose="020F0502020204030204" pitchFamily="34" charset="0"/>
              </a:rPr>
              <a:t>minsal</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nombre_depto</a:t>
            </a:r>
            <a:r>
              <a:rPr lang="en-US" sz="1600" b="1" dirty="0">
                <a:latin typeface="Calibri" panose="020F0502020204030204" pitchFamily="34" charset="0"/>
                <a:cs typeface="Calibri" panose="020F0502020204030204" pitchFamily="34" charset="0"/>
              </a:rPr>
              <a:t>;</a:t>
            </a:r>
          </a:p>
          <a:p>
            <a:pPr algn="l">
              <a:defRPr/>
            </a:pPr>
            <a:endParaRPr lang="en-US" sz="800" b="1" dirty="0">
              <a:latin typeface="Calibri" panose="020F0502020204030204" pitchFamily="34" charset="0"/>
              <a:cs typeface="Calibri" panose="020F0502020204030204" pitchFamily="34" charset="0"/>
            </a:endParaRPr>
          </a:p>
        </p:txBody>
      </p:sp>
      <p:pic>
        <p:nvPicPr>
          <p:cNvPr id="15" name="Imagen 14">
            <a:extLst>
              <a:ext uri="{FF2B5EF4-FFF2-40B4-BE49-F238E27FC236}">
                <a16:creationId xmlns:a16="http://schemas.microsoft.com/office/drawing/2014/main" xmlns="" id="{C758FF49-B85B-4247-8DFC-F9D4B888AA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7" y="3886519"/>
            <a:ext cx="3597419" cy="2638825"/>
          </a:xfrm>
          <a:prstGeom prst="rect">
            <a:avLst/>
          </a:prstGeom>
        </p:spPr>
      </p:pic>
    </p:spTree>
    <p:extLst>
      <p:ext uri="{BB962C8B-B14F-4D97-AF65-F5344CB8AC3E}">
        <p14:creationId xmlns:p14="http://schemas.microsoft.com/office/powerpoint/2010/main" val="57629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defTabSz="457200"/>
            <a:r>
              <a:rPr lang="es-CL" sz="2800" b="1" dirty="0">
                <a:solidFill>
                  <a:prstClr val="white"/>
                </a:solidFill>
                <a:latin typeface="Calibri"/>
              </a:rPr>
              <a:t>Operaciones DML sobre una Vista</a:t>
            </a:r>
          </a:p>
        </p:txBody>
      </p:sp>
      <p:pic>
        <p:nvPicPr>
          <p:cNvPr id="16" name="Imagen 15">
            <a:extLst>
              <a:ext uri="{FF2B5EF4-FFF2-40B4-BE49-F238E27FC236}">
                <a16:creationId xmlns:a16="http://schemas.microsoft.com/office/drawing/2014/main" xmlns="" id="{BD111814-9C56-483B-A453-ADF6290CB4F8}"/>
              </a:ext>
            </a:extLst>
          </p:cNvPr>
          <p:cNvPicPr>
            <a:picLocks noChangeAspect="1"/>
          </p:cNvPicPr>
          <p:nvPr/>
        </p:nvPicPr>
        <p:blipFill>
          <a:blip r:embed="rId3"/>
          <a:stretch>
            <a:fillRect/>
          </a:stretch>
        </p:blipFill>
        <p:spPr>
          <a:xfrm>
            <a:off x="539552" y="1194678"/>
            <a:ext cx="7864522" cy="5474682"/>
          </a:xfrm>
          <a:prstGeom prst="rect">
            <a:avLst/>
          </a:prstGeom>
        </p:spPr>
      </p:pic>
    </p:spTree>
    <p:extLst>
      <p:ext uri="{BB962C8B-B14F-4D97-AF65-F5344CB8AC3E}">
        <p14:creationId xmlns:p14="http://schemas.microsoft.com/office/powerpoint/2010/main" val="4069454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defTabSz="457200"/>
            <a:r>
              <a:rPr lang="es-CL" sz="2800" b="1" dirty="0">
                <a:solidFill>
                  <a:prstClr val="white"/>
                </a:solidFill>
                <a:latin typeface="Calibri"/>
              </a:rPr>
              <a:t>Uso de la Cláusula WITH CHECK OPTION</a:t>
            </a:r>
          </a:p>
        </p:txBody>
      </p:sp>
      <p:sp>
        <p:nvSpPr>
          <p:cNvPr id="8" name="Marcador de contenido 1">
            <a:extLst>
              <a:ext uri="{FF2B5EF4-FFF2-40B4-BE49-F238E27FC236}">
                <a16:creationId xmlns:a16="http://schemas.microsoft.com/office/drawing/2014/main" xmlns="" id="{7B73C363-96E9-4F2A-85C5-901282BE416A}"/>
              </a:ext>
            </a:extLst>
          </p:cNvPr>
          <p:cNvSpPr txBox="1">
            <a:spLocks/>
          </p:cNvSpPr>
          <p:nvPr/>
        </p:nvSpPr>
        <p:spPr>
          <a:xfrm>
            <a:off x="590872" y="156288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9" name="Text Box 5">
            <a:extLst>
              <a:ext uri="{FF2B5EF4-FFF2-40B4-BE49-F238E27FC236}">
                <a16:creationId xmlns:a16="http://schemas.microsoft.com/office/drawing/2014/main" xmlns="" id="{A1CE7F5B-D47E-4F39-A06D-0D940A5E32F5}"/>
              </a:ext>
            </a:extLst>
          </p:cNvPr>
          <p:cNvSpPr txBox="1">
            <a:spLocks noChangeArrowheads="1"/>
          </p:cNvSpPr>
          <p:nvPr/>
        </p:nvSpPr>
        <p:spPr bwMode="auto">
          <a:xfrm>
            <a:off x="971600" y="3391678"/>
            <a:ext cx="6048672"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CREATE OR REPLACE VIEW v_dept30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AS SELECT *</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FROM employees</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WHERE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department_id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=30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D81102"/>
                </a:solidFill>
                <a:effectLst/>
                <a:uLnTx/>
                <a:uFillTx/>
                <a:latin typeface="Calibri"/>
                <a:cs typeface="Arial" panose="020B0604020202020204" pitchFamily="34" charset="0"/>
              </a:rPr>
              <a:t>WITH CHECK OPTION CONSTRAINT control_v_dept30</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0" name="Elipse 9">
            <a:extLst>
              <a:ext uri="{FF2B5EF4-FFF2-40B4-BE49-F238E27FC236}">
                <a16:creationId xmlns:a16="http://schemas.microsoft.com/office/drawing/2014/main" xmlns="" id="{B7EC00C1-D451-436F-8B35-77F1CAAB477B}"/>
              </a:ext>
            </a:extLst>
          </p:cNvPr>
          <p:cNvSpPr/>
          <p:nvPr/>
        </p:nvSpPr>
        <p:spPr>
          <a:xfrm>
            <a:off x="2376160" y="1231438"/>
            <a:ext cx="4464000" cy="1764000"/>
          </a:xfrm>
          <a:prstGeom prst="ellipse">
            <a:avLst/>
          </a:prstGeom>
          <a:solidFill>
            <a:srgbClr val="17365F"/>
          </a:solidFill>
          <a:ln w="38100" cap="flat" cmpd="sng" algn="ctr">
            <a:solidFill>
              <a:sysClr val="window" lastClr="FFFFFF"/>
            </a:solidFill>
            <a:prstDash val="solid"/>
          </a:ln>
          <a:effectLst>
            <a:outerShdw blurRad="50800" dist="38100" dir="2700000" algn="tl" rotWithShape="0">
              <a:prstClr val="black">
                <a:alpha val="40000"/>
              </a:prstClr>
            </a:outerShdw>
          </a:effectLst>
        </p:spPr>
        <p:txBody>
          <a:bodyPr lIns="0" tIns="0" rIns="0" bIns="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600" b="1" i="0" u="none" strike="noStrike" kern="0" cap="none" spc="0" normalizeH="0" baseline="0" noProof="0" dirty="0">
                <a:ln>
                  <a:noFill/>
                </a:ln>
                <a:solidFill>
                  <a:srgbClr val="FFFFFF"/>
                </a:solidFill>
                <a:effectLst/>
                <a:uLnTx/>
                <a:uFillTx/>
                <a:latin typeface="Calibri"/>
                <a:ea typeface="+mn-ea"/>
                <a:cs typeface="+mn-cs"/>
              </a:rPr>
              <a:t>Garantiza que las operaciones INSERT y UPDATE realizadas a través de la vista no pueden crear o actualizar filas que no serían seleccionadas por la propia vista</a:t>
            </a:r>
          </a:p>
        </p:txBody>
      </p:sp>
      <p:pic>
        <p:nvPicPr>
          <p:cNvPr id="11" name="Imagen 10">
            <a:extLst>
              <a:ext uri="{FF2B5EF4-FFF2-40B4-BE49-F238E27FC236}">
                <a16:creationId xmlns:a16="http://schemas.microsoft.com/office/drawing/2014/main" xmlns="" id="{34736798-790C-493B-AFC4-007D2A91AF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5047862"/>
            <a:ext cx="8237964" cy="1270055"/>
          </a:xfrm>
          <a:prstGeom prst="rect">
            <a:avLst/>
          </a:prstGeom>
        </p:spPr>
      </p:pic>
    </p:spTree>
    <p:extLst>
      <p:ext uri="{BB962C8B-B14F-4D97-AF65-F5344CB8AC3E}">
        <p14:creationId xmlns:p14="http://schemas.microsoft.com/office/powerpoint/2010/main" val="429412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lvl="0" defTabSz="457200">
              <a:defRPr/>
            </a:pPr>
            <a:r>
              <a:rPr lang="es-CL" sz="2800" b="1" dirty="0">
                <a:solidFill>
                  <a:prstClr val="white"/>
                </a:solidFill>
                <a:latin typeface="Calibri"/>
              </a:rPr>
              <a:t>Uso de la Cláusula WITH CHECK OPTION</a:t>
            </a:r>
            <a:endParaRPr lang="es-CL" sz="2800" b="1" kern="1200" dirty="0">
              <a:solidFill>
                <a:prstClr val="white"/>
              </a:solidFill>
              <a:latin typeface="Calibri"/>
            </a:endParaRPr>
          </a:p>
        </p:txBody>
      </p:sp>
      <p:sp>
        <p:nvSpPr>
          <p:cNvPr id="16" name="Marcador de contenido 1">
            <a:extLst>
              <a:ext uri="{FF2B5EF4-FFF2-40B4-BE49-F238E27FC236}">
                <a16:creationId xmlns:a16="http://schemas.microsoft.com/office/drawing/2014/main" xmlns="" id="{4A55F52E-D94A-40B6-B3D7-409E07A2E5AF}"/>
              </a:ext>
            </a:extLst>
          </p:cNvPr>
          <p:cNvSpPr txBox="1">
            <a:spLocks/>
          </p:cNvSpPr>
          <p:nvPr/>
        </p:nvSpPr>
        <p:spPr>
          <a:xfrm>
            <a:off x="590872" y="130659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a:t>
            </a: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7" name="Text Box 5">
            <a:extLst>
              <a:ext uri="{FF2B5EF4-FFF2-40B4-BE49-F238E27FC236}">
                <a16:creationId xmlns:a16="http://schemas.microsoft.com/office/drawing/2014/main" xmlns="" id="{B67F39A2-3355-46F8-B6E8-8A19833E1EBB}"/>
              </a:ext>
            </a:extLst>
          </p:cNvPr>
          <p:cNvSpPr txBox="1">
            <a:spLocks noChangeArrowheads="1"/>
          </p:cNvSpPr>
          <p:nvPr/>
        </p:nvSpPr>
        <p:spPr bwMode="auto">
          <a:xfrm>
            <a:off x="971600" y="1695236"/>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UPDATE v_dept30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SET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department_id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=10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WHERE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employee_id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 115;</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pic>
        <p:nvPicPr>
          <p:cNvPr id="18" name="Imagen 17">
            <a:extLst>
              <a:ext uri="{FF2B5EF4-FFF2-40B4-BE49-F238E27FC236}">
                <a16:creationId xmlns:a16="http://schemas.microsoft.com/office/drawing/2014/main" xmlns="" id="{BF38217E-0514-4B08-9B8F-98AEB5705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9325" y="2861903"/>
            <a:ext cx="3857143" cy="838095"/>
          </a:xfrm>
          <a:prstGeom prst="rect">
            <a:avLst/>
          </a:prstGeom>
        </p:spPr>
      </p:pic>
      <p:sp>
        <p:nvSpPr>
          <p:cNvPr id="19" name="Text Box 5">
            <a:extLst>
              <a:ext uri="{FF2B5EF4-FFF2-40B4-BE49-F238E27FC236}">
                <a16:creationId xmlns:a16="http://schemas.microsoft.com/office/drawing/2014/main" xmlns="" id="{04C877E7-9906-4F69-8057-73DAA201C444}"/>
              </a:ext>
            </a:extLst>
          </p:cNvPr>
          <p:cNvSpPr txBox="1">
            <a:spLocks noChangeArrowheads="1"/>
          </p:cNvSpPr>
          <p:nvPr/>
        </p:nvSpPr>
        <p:spPr bwMode="auto">
          <a:xfrm>
            <a:off x="971600" y="4239323"/>
            <a:ext cx="7416824" cy="120032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INSERT INTO v_dept30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employee_id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first_name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last_name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email,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phone_number</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hire_date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job_id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salary,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commission_pct</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manager_id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department_id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VALUES(999, 'Louis', 'Popp', 'LPOPP',  '515.124.4567', SYSDATE, </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'AC_ACCOUNT', 6900, NULL, 205, 100);</a:t>
            </a:r>
            <a:endParaRPr kumimoji="0" lang="en-US" sz="800" b="1"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pic>
        <p:nvPicPr>
          <p:cNvPr id="20" name="Imagen 19">
            <a:extLst>
              <a:ext uri="{FF2B5EF4-FFF2-40B4-BE49-F238E27FC236}">
                <a16:creationId xmlns:a16="http://schemas.microsoft.com/office/drawing/2014/main" xmlns="" id="{59787FCF-7E2B-4613-8214-D46DDBA05D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1681" y="5523161"/>
            <a:ext cx="8081711" cy="698037"/>
          </a:xfrm>
          <a:prstGeom prst="rect">
            <a:avLst/>
          </a:prstGeom>
        </p:spPr>
      </p:pic>
    </p:spTree>
    <p:extLst>
      <p:ext uri="{BB962C8B-B14F-4D97-AF65-F5344CB8AC3E}">
        <p14:creationId xmlns:p14="http://schemas.microsoft.com/office/powerpoint/2010/main" val="43858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defTabSz="457200"/>
            <a:r>
              <a:rPr lang="es-CL" sz="2800" b="1" dirty="0">
                <a:solidFill>
                  <a:prstClr val="white"/>
                </a:solidFill>
                <a:latin typeface="Calibri"/>
              </a:rPr>
              <a:t>Uso de la Cláusula WITH READ ONLY </a:t>
            </a:r>
          </a:p>
        </p:txBody>
      </p:sp>
      <p:pic>
        <p:nvPicPr>
          <p:cNvPr id="7" name="Imagen 6">
            <a:extLst>
              <a:ext uri="{FF2B5EF4-FFF2-40B4-BE49-F238E27FC236}">
                <a16:creationId xmlns:a16="http://schemas.microsoft.com/office/drawing/2014/main" xmlns="" id="{1DBEF3A8-FD21-4F1C-A910-0089EA736B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5447" y="5948574"/>
            <a:ext cx="4942857" cy="504762"/>
          </a:xfrm>
          <a:prstGeom prst="rect">
            <a:avLst/>
          </a:prstGeom>
        </p:spPr>
      </p:pic>
      <p:sp>
        <p:nvSpPr>
          <p:cNvPr id="12" name="Marcador de contenido 1">
            <a:extLst>
              <a:ext uri="{FF2B5EF4-FFF2-40B4-BE49-F238E27FC236}">
                <a16:creationId xmlns:a16="http://schemas.microsoft.com/office/drawing/2014/main" xmlns="" id="{89A3EF0C-FD0A-4290-8A4C-F634466BC621}"/>
              </a:ext>
            </a:extLst>
          </p:cNvPr>
          <p:cNvSpPr txBox="1">
            <a:spLocks/>
          </p:cNvSpPr>
          <p:nvPr/>
        </p:nvSpPr>
        <p:spPr>
          <a:xfrm>
            <a:off x="590872" y="1355336"/>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4" name="Text Box 5">
            <a:extLst>
              <a:ext uri="{FF2B5EF4-FFF2-40B4-BE49-F238E27FC236}">
                <a16:creationId xmlns:a16="http://schemas.microsoft.com/office/drawing/2014/main" xmlns="" id="{690D9F99-5067-4EF4-ADA2-DA3070979835}"/>
              </a:ext>
            </a:extLst>
          </p:cNvPr>
          <p:cNvSpPr txBox="1">
            <a:spLocks noChangeArrowheads="1"/>
          </p:cNvSpPr>
          <p:nvPr/>
        </p:nvSpPr>
        <p:spPr bwMode="auto">
          <a:xfrm>
            <a:off x="926060" y="2824094"/>
            <a:ext cx="741682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CREATE OR REPLACE VIEW v_emp_10(</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employee_number</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employee_name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job_title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AS SELECT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employee_id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last_name</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job_id</a:t>
            </a:r>
            <a:endPar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FROM employees</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WHERE </a:t>
            </a:r>
            <a:r>
              <a:rPr kumimoji="0" lang="en-US" sz="1600" b="1" i="0" u="none" strike="noStrike" kern="0" cap="none" spc="0" normalizeH="0" baseline="0" noProof="0" dirty="0" err="1">
                <a:ln>
                  <a:noFill/>
                </a:ln>
                <a:solidFill>
                  <a:prstClr val="black"/>
                </a:solidFill>
                <a:effectLst/>
                <a:uLnTx/>
                <a:uFillTx/>
                <a:latin typeface="Calibri"/>
                <a:cs typeface="Arial" panose="020B0604020202020204" pitchFamily="34" charset="0"/>
              </a:rPr>
              <a:t>department_id</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 10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r>
              <a:rPr kumimoji="0" lang="en-US" sz="1600" b="1" i="0" u="none" strike="noStrike" kern="0" cap="none" spc="0" normalizeH="0" baseline="0" noProof="0" dirty="0">
                <a:ln>
                  <a:noFill/>
                </a:ln>
                <a:solidFill>
                  <a:srgbClr val="D81102"/>
                </a:solidFill>
                <a:effectLst/>
                <a:uLnTx/>
                <a:uFillTx/>
                <a:latin typeface="Calibri"/>
                <a:cs typeface="Arial" panose="020B0604020202020204" pitchFamily="34" charset="0"/>
              </a:rPr>
              <a:t>WITH READ ONLY</a:t>
            </a:r>
            <a:r>
              <a:rPr kumimoji="0" lang="en-US" sz="1600" b="1" i="0" u="none" strike="noStrike" kern="0" cap="none" spc="0" normalizeH="0" baseline="0" noProof="0" dirty="0">
                <a:ln>
                  <a:noFill/>
                </a:ln>
                <a:solidFill>
                  <a:prstClr val="black"/>
                </a:solidFill>
                <a:effectLst/>
                <a:uLnTx/>
                <a:uFillTx/>
                <a:latin typeface="Calibri"/>
                <a:cs typeface="Arial" panose="020B0604020202020204" pitchFamily="34" charset="0"/>
              </a:rPr>
              <a:t> ;</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5" name="Elipse 14">
            <a:extLst>
              <a:ext uri="{FF2B5EF4-FFF2-40B4-BE49-F238E27FC236}">
                <a16:creationId xmlns:a16="http://schemas.microsoft.com/office/drawing/2014/main" xmlns="" id="{4C23EA84-789B-4BFA-9CFC-5D25C432A57E}"/>
              </a:ext>
            </a:extLst>
          </p:cNvPr>
          <p:cNvSpPr/>
          <p:nvPr/>
        </p:nvSpPr>
        <p:spPr>
          <a:xfrm>
            <a:off x="2844184" y="1219822"/>
            <a:ext cx="3384000" cy="1368000"/>
          </a:xfrm>
          <a:prstGeom prst="ellipse">
            <a:avLst/>
          </a:prstGeom>
          <a:solidFill>
            <a:srgbClr val="D96709"/>
          </a:solidFill>
          <a:ln w="38100" cap="flat" cmpd="sng" algn="ctr">
            <a:solidFill>
              <a:sysClr val="window" lastClr="FFFFFF"/>
            </a:solidFill>
            <a:prstDash val="solid"/>
          </a:ln>
          <a:effectLst>
            <a:outerShdw blurRad="50800" dist="38100" dir="2700000" algn="tl" rotWithShape="0">
              <a:prstClr val="black">
                <a:alpha val="40000"/>
              </a:prstClr>
            </a:outerShdw>
          </a:effectLst>
        </p:spPr>
        <p:txBody>
          <a:bodyPr lIns="0" tIns="0" rIns="0" bIns="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600" b="1" i="0" u="none" strike="noStrike" kern="0" cap="none" spc="0" normalizeH="0" baseline="0" noProof="0" dirty="0">
                <a:ln>
                  <a:noFill/>
                </a:ln>
                <a:solidFill>
                  <a:srgbClr val="FFFFFF"/>
                </a:solidFill>
                <a:effectLst/>
                <a:uLnTx/>
                <a:uFillTx/>
                <a:latin typeface="Calibri"/>
                <a:ea typeface="+mn-ea"/>
                <a:cs typeface="+mn-cs"/>
              </a:rPr>
              <a:t>Asegura de que no se efectúen operaciones DML en la vista</a:t>
            </a:r>
          </a:p>
        </p:txBody>
      </p:sp>
      <p:pic>
        <p:nvPicPr>
          <p:cNvPr id="16" name="Imagen 15">
            <a:extLst>
              <a:ext uri="{FF2B5EF4-FFF2-40B4-BE49-F238E27FC236}">
                <a16:creationId xmlns:a16="http://schemas.microsoft.com/office/drawing/2014/main" xmlns="" id="{3DA496A3-FB69-4191-8B7C-DA3E28743F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7784" y="4452142"/>
            <a:ext cx="3238095" cy="438095"/>
          </a:xfrm>
          <a:prstGeom prst="rect">
            <a:avLst/>
          </a:prstGeom>
        </p:spPr>
      </p:pic>
      <p:sp>
        <p:nvSpPr>
          <p:cNvPr id="17" name="Text Box 5">
            <a:extLst>
              <a:ext uri="{FF2B5EF4-FFF2-40B4-BE49-F238E27FC236}">
                <a16:creationId xmlns:a16="http://schemas.microsoft.com/office/drawing/2014/main" xmlns="" id="{190C4CC5-E782-4CC9-86EF-A83663A0D29F}"/>
              </a:ext>
            </a:extLst>
          </p:cNvPr>
          <p:cNvSpPr txBox="1">
            <a:spLocks noChangeArrowheads="1"/>
          </p:cNvSpPr>
          <p:nvPr/>
        </p:nvSpPr>
        <p:spPr bwMode="auto">
          <a:xfrm>
            <a:off x="926060" y="5043942"/>
            <a:ext cx="741682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rPr>
              <a:t>DELETE FROM v_emp_10</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rPr>
              <a:t>WHERE  </a:t>
            </a:r>
            <a:r>
              <a:rPr kumimoji="0" lang="en-US" sz="1600" b="1" i="0" u="none" strike="noStrike" kern="0" cap="none" spc="0" normalizeH="0" baseline="0" noProof="0" dirty="0" err="1">
                <a:ln>
                  <a:noFill/>
                </a:ln>
                <a:solidFill>
                  <a:prstClr val="black"/>
                </a:solidFill>
                <a:effectLst/>
                <a:uLnTx/>
                <a:uFillTx/>
                <a:latin typeface="Calibri"/>
              </a:rPr>
              <a:t>employee_number</a:t>
            </a:r>
            <a:r>
              <a:rPr kumimoji="0" lang="en-US" sz="1600" b="1" i="0" u="none" strike="noStrike" kern="0" cap="none" spc="0" normalizeH="0" baseline="0" noProof="0" dirty="0">
                <a:ln>
                  <a:noFill/>
                </a:ln>
                <a:solidFill>
                  <a:prstClr val="black"/>
                </a:solidFill>
                <a:effectLst/>
                <a:uLnTx/>
                <a:uFillTx/>
                <a:latin typeface="Calibri"/>
              </a:rPr>
              <a:t> = 200;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a:endParaRPr>
          </a:p>
        </p:txBody>
      </p:sp>
    </p:spTree>
    <p:extLst>
      <p:ext uri="{BB962C8B-B14F-4D97-AF65-F5344CB8AC3E}">
        <p14:creationId xmlns:p14="http://schemas.microsoft.com/office/powerpoint/2010/main" val="3724030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defTabSz="457200"/>
            <a:r>
              <a:rPr lang="es-CL" sz="2800" b="1" dirty="0">
                <a:solidFill>
                  <a:prstClr val="white"/>
                </a:solidFill>
                <a:latin typeface="Calibri"/>
              </a:rPr>
              <a:t>Modificando una Vista</a:t>
            </a:r>
          </a:p>
        </p:txBody>
      </p:sp>
      <p:sp>
        <p:nvSpPr>
          <p:cNvPr id="9" name="Marcador de contenido 1">
            <a:extLst>
              <a:ext uri="{FF2B5EF4-FFF2-40B4-BE49-F238E27FC236}">
                <a16:creationId xmlns:a16="http://schemas.microsoft.com/office/drawing/2014/main" xmlns="" id="{BA4FED49-02E5-4BEC-9622-F1521F918764}"/>
              </a:ext>
            </a:extLst>
          </p:cNvPr>
          <p:cNvSpPr txBox="1">
            <a:spLocks/>
          </p:cNvSpPr>
          <p:nvPr/>
        </p:nvSpPr>
        <p:spPr>
          <a:xfrm>
            <a:off x="611560" y="1355025"/>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10" name="Text Box 5">
            <a:extLst>
              <a:ext uri="{FF2B5EF4-FFF2-40B4-BE49-F238E27FC236}">
                <a16:creationId xmlns:a16="http://schemas.microsoft.com/office/drawing/2014/main" xmlns="" id="{4712F476-2C03-412F-B16A-53FDD64BE2CF}"/>
              </a:ext>
            </a:extLst>
          </p:cNvPr>
          <p:cNvSpPr txBox="1">
            <a:spLocks noChangeArrowheads="1"/>
          </p:cNvSpPr>
          <p:nvPr/>
        </p:nvSpPr>
        <p:spPr bwMode="auto">
          <a:xfrm>
            <a:off x="1331639" y="1699023"/>
            <a:ext cx="7060181"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OR REPLACE VIEW v_emp_depto_80</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D81102"/>
                </a:solidFill>
                <a:effectLst/>
                <a:uLnTx/>
                <a:uFillTx/>
                <a:latin typeface="Calibri" panose="020F0502020204030204" pitchFamily="34" charset="0"/>
                <a:cs typeface="Calibri" panose="020F0502020204030204" pitchFamily="34" charset="0"/>
              </a:rPr>
              <a:t>id_empleado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0000FF"/>
                </a:solidFill>
                <a:effectLst/>
                <a:uLnTx/>
                <a:uFillTx/>
                <a:latin typeface="Calibri" panose="020F0502020204030204" pitchFamily="34" charset="0"/>
                <a:cs typeface="Calibri" panose="020F0502020204030204" pitchFamily="34" charset="0"/>
              </a:rPr>
              <a:t>nombre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800080"/>
                </a:solidFill>
                <a:effectLst/>
                <a:uLnTx/>
                <a:uFillTx/>
                <a:latin typeface="Calibri" panose="020F0502020204030204" pitchFamily="34" charset="0"/>
                <a:cs typeface="Calibri" panose="020F0502020204030204" pitchFamily="34" charset="0"/>
              </a:rPr>
              <a:t>salario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008000"/>
                </a:solidFill>
                <a:effectLst/>
                <a:uLnTx/>
                <a:uFillTx/>
                <a:latin typeface="Calibri" panose="020F0502020204030204" pitchFamily="34" charset="0"/>
                <a:cs typeface="Calibri" panose="020F0502020204030204" pitchFamily="34" charset="0"/>
              </a:rPr>
              <a:t>id_departmento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AS SELECT </a:t>
            </a:r>
            <a:r>
              <a:rPr kumimoji="0" lang="en-US" sz="1600" b="1" i="0" u="none" strike="noStrike" kern="0" cap="none" spc="0" normalizeH="0" baseline="0" noProof="0" dirty="0" err="1">
                <a:ln>
                  <a:noFill/>
                </a:ln>
                <a:solidFill>
                  <a:srgbClr val="D81102"/>
                </a:solidFill>
                <a:effectLst/>
                <a:uLnTx/>
                <a:uFillTx/>
                <a:latin typeface="Calibri" panose="020F0502020204030204" pitchFamily="34" charset="0"/>
                <a:cs typeface="Calibri" panose="020F0502020204030204" pitchFamily="34" charset="0"/>
              </a:rPr>
              <a:t>employee_id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0000FF"/>
                </a:solidFill>
                <a:effectLst/>
                <a:uLnTx/>
                <a:uFillTx/>
                <a:latin typeface="Calibri" panose="020F0502020204030204" pitchFamily="34" charset="0"/>
                <a:cs typeface="Calibri" panose="020F0502020204030204" pitchFamily="34" charset="0"/>
              </a:rPr>
              <a:t>first_name</a:t>
            </a:r>
            <a:r>
              <a:rPr kumimoji="0" lang="en-US" sz="1600" b="1" i="0" u="none" strike="noStrike" kern="0" cap="none" spc="0" normalizeH="0" baseline="0" noProof="0" dirty="0">
                <a:ln>
                  <a:noFill/>
                </a:ln>
                <a:solidFill>
                  <a:srgbClr val="0000FF"/>
                </a:solidFill>
                <a:effectLst/>
                <a:uLnTx/>
                <a:uFillTx/>
                <a:latin typeface="Calibri" panose="020F0502020204030204" pitchFamily="34" charset="0"/>
                <a:cs typeface="Calibri" panose="020F0502020204030204" pitchFamily="34" charset="0"/>
              </a:rPr>
              <a:t> || ' ' || </a:t>
            </a:r>
            <a:r>
              <a:rPr kumimoji="0" lang="en-US" sz="1600" b="1" i="0" u="none" strike="noStrike" kern="0" cap="none" spc="0" normalizeH="0" baseline="0" noProof="0" dirty="0" err="1">
                <a:ln>
                  <a:noFill/>
                </a:ln>
                <a:solidFill>
                  <a:srgbClr val="0000FF"/>
                </a:solidFill>
                <a:effectLst/>
                <a:uLnTx/>
                <a:uFillTx/>
                <a:latin typeface="Calibri" panose="020F0502020204030204" pitchFamily="34" charset="0"/>
                <a:cs typeface="Calibri" panose="020F0502020204030204" pitchFamily="34" charset="0"/>
              </a:rPr>
              <a:t>last_name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a:ln>
                  <a:noFill/>
                </a:ln>
                <a:solidFill>
                  <a:srgbClr val="800080"/>
                </a:solidFill>
                <a:effectLst/>
                <a:uLnTx/>
                <a:uFillTx/>
                <a:latin typeface="Calibri" panose="020F0502020204030204" pitchFamily="34" charset="0"/>
                <a:cs typeface="Calibri" panose="020F0502020204030204" pitchFamily="34" charset="0"/>
              </a:rPr>
              <a:t>salary</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srgbClr val="008000"/>
                </a:solidFill>
                <a:effectLst/>
                <a:uLnTx/>
                <a:uFillTx/>
                <a:latin typeface="Calibri" panose="020F0502020204030204" pitchFamily="34" charset="0"/>
                <a:cs typeface="Calibri" panose="020F0502020204030204" pitchFamily="34" charset="0"/>
              </a:rPr>
              <a:t>department_id</a:t>
            </a:r>
            <a:endParaRPr kumimoji="0" lang="en-US" sz="1600" b="1" i="0" u="none" strike="noStrike" kern="0" cap="none" spc="0" normalizeH="0" baseline="0" noProof="0" dirty="0">
              <a:ln>
                <a:noFill/>
              </a:ln>
              <a:solidFill>
                <a:srgbClr val="008000"/>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FROM employees</a:t>
            </a: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 80;</a:t>
            </a: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1" name="Text Box 8">
            <a:extLst>
              <a:ext uri="{FF2B5EF4-FFF2-40B4-BE49-F238E27FC236}">
                <a16:creationId xmlns:a16="http://schemas.microsoft.com/office/drawing/2014/main" xmlns="" id="{F2FF7725-C92A-45C2-8867-757BFA043A87}"/>
              </a:ext>
            </a:extLst>
          </p:cNvPr>
          <p:cNvSpPr txBox="1">
            <a:spLocks noChangeArrowheads="1"/>
          </p:cNvSpPr>
          <p:nvPr/>
        </p:nvSpPr>
        <p:spPr bwMode="auto">
          <a:xfrm>
            <a:off x="976617" y="2064074"/>
            <a:ext cx="340157"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1</a:t>
            </a:r>
            <a:endParaRPr lang="es-ES" sz="2400" b="1" dirty="0">
              <a:solidFill>
                <a:srgbClr val="800080"/>
              </a:solidFill>
              <a:latin typeface="Calibri" panose="020F0502020204030204" pitchFamily="34" charset="0"/>
              <a:cs typeface="Calibri" panose="020F0502020204030204" pitchFamily="34" charset="0"/>
            </a:endParaRPr>
          </a:p>
        </p:txBody>
      </p:sp>
      <p:sp>
        <p:nvSpPr>
          <p:cNvPr id="18" name="Text Box 8">
            <a:extLst>
              <a:ext uri="{FF2B5EF4-FFF2-40B4-BE49-F238E27FC236}">
                <a16:creationId xmlns:a16="http://schemas.microsoft.com/office/drawing/2014/main" xmlns="" id="{848FA9B2-5D00-4C56-80C6-D6D9ED235003}"/>
              </a:ext>
            </a:extLst>
          </p:cNvPr>
          <p:cNvSpPr txBox="1">
            <a:spLocks noChangeArrowheads="1"/>
          </p:cNvSpPr>
          <p:nvPr/>
        </p:nvSpPr>
        <p:spPr bwMode="auto">
          <a:xfrm>
            <a:off x="924394" y="3571231"/>
            <a:ext cx="340157"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2</a:t>
            </a:r>
            <a:endParaRPr lang="es-ES" sz="2400" b="1" dirty="0">
              <a:solidFill>
                <a:srgbClr val="800080"/>
              </a:solidFill>
              <a:latin typeface="Calibri" panose="020F0502020204030204" pitchFamily="34" charset="0"/>
              <a:cs typeface="Calibri" panose="020F0502020204030204" pitchFamily="34" charset="0"/>
            </a:endParaRPr>
          </a:p>
        </p:txBody>
      </p:sp>
      <p:sp>
        <p:nvSpPr>
          <p:cNvPr id="19" name="Text Box 5">
            <a:extLst>
              <a:ext uri="{FF2B5EF4-FFF2-40B4-BE49-F238E27FC236}">
                <a16:creationId xmlns:a16="http://schemas.microsoft.com/office/drawing/2014/main" xmlns="" id="{FA26D2F4-43E7-4E9F-97B6-30FD0315CAFB}"/>
              </a:ext>
            </a:extLst>
          </p:cNvPr>
          <p:cNvSpPr txBox="1">
            <a:spLocks noChangeArrowheads="1"/>
          </p:cNvSpPr>
          <p:nvPr/>
        </p:nvSpPr>
        <p:spPr bwMode="auto">
          <a:xfrm>
            <a:off x="4788024" y="3547064"/>
            <a:ext cx="3603797"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nombre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salario</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v_emp_depto_80</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salario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&gt; 10000;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20" name="Text Box 5">
            <a:extLst>
              <a:ext uri="{FF2B5EF4-FFF2-40B4-BE49-F238E27FC236}">
                <a16:creationId xmlns:a16="http://schemas.microsoft.com/office/drawing/2014/main" xmlns="" id="{391214F0-BEC3-421A-806F-6F97C163C1B1}"/>
              </a:ext>
            </a:extLst>
          </p:cNvPr>
          <p:cNvSpPr txBox="1">
            <a:spLocks noChangeArrowheads="1"/>
          </p:cNvSpPr>
          <p:nvPr/>
        </p:nvSpPr>
        <p:spPr bwMode="auto">
          <a:xfrm>
            <a:off x="1331113" y="3529618"/>
            <a:ext cx="2702325"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DESC v_emp_depto_80;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1" name="Imagen 20">
            <a:extLst>
              <a:ext uri="{FF2B5EF4-FFF2-40B4-BE49-F238E27FC236}">
                <a16:creationId xmlns:a16="http://schemas.microsoft.com/office/drawing/2014/main" xmlns="" id="{B8814363-F033-4842-BEE6-B9C643AB4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598" y="4272562"/>
            <a:ext cx="2485714" cy="1057143"/>
          </a:xfrm>
          <a:prstGeom prst="rect">
            <a:avLst/>
          </a:prstGeom>
        </p:spPr>
      </p:pic>
      <p:pic>
        <p:nvPicPr>
          <p:cNvPr id="22" name="Imagen 21">
            <a:extLst>
              <a:ext uri="{FF2B5EF4-FFF2-40B4-BE49-F238E27FC236}">
                <a16:creationId xmlns:a16="http://schemas.microsoft.com/office/drawing/2014/main" xmlns="" id="{A7A53AC1-6F13-445A-B725-B0962CD007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0072" y="4690282"/>
            <a:ext cx="2238095" cy="1761905"/>
          </a:xfrm>
          <a:prstGeom prst="rect">
            <a:avLst/>
          </a:prstGeom>
        </p:spPr>
      </p:pic>
      <p:sp>
        <p:nvSpPr>
          <p:cNvPr id="23" name="Text Box 8">
            <a:extLst>
              <a:ext uri="{FF2B5EF4-FFF2-40B4-BE49-F238E27FC236}">
                <a16:creationId xmlns:a16="http://schemas.microsoft.com/office/drawing/2014/main" xmlns="" id="{916427C0-B859-49D0-BB77-0F76AFA2D4F7}"/>
              </a:ext>
            </a:extLst>
          </p:cNvPr>
          <p:cNvSpPr txBox="1">
            <a:spLocks noChangeArrowheads="1"/>
          </p:cNvSpPr>
          <p:nvPr/>
        </p:nvSpPr>
        <p:spPr bwMode="auto">
          <a:xfrm>
            <a:off x="4375859" y="3571231"/>
            <a:ext cx="340157" cy="461665"/>
          </a:xfrm>
          <a:prstGeom prst="rect">
            <a:avLst/>
          </a:prstGeom>
          <a:noFill/>
          <a:ln w="9525">
            <a:noFill/>
            <a:miter lim="800000"/>
            <a:headEnd/>
            <a:tailEnd/>
          </a:ln>
        </p:spPr>
        <p:txBody>
          <a:bodyPr wrap="none">
            <a:spAutoFit/>
          </a:bodyPr>
          <a:lstStyle/>
          <a:p>
            <a:r>
              <a:rPr lang="es-CL" sz="2400" b="1" dirty="0">
                <a:solidFill>
                  <a:srgbClr val="800080"/>
                </a:solidFill>
                <a:latin typeface="Calibri" panose="020F0502020204030204" pitchFamily="34" charset="0"/>
                <a:cs typeface="Calibri" panose="020F0502020204030204" pitchFamily="34" charset="0"/>
              </a:rPr>
              <a:t>3</a:t>
            </a:r>
            <a:endParaRPr lang="es-ES" sz="2400" b="1" dirty="0">
              <a:solidFill>
                <a:srgbClr val="80008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4694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2">
            <a:extLst>
              <a:ext uri="{FF2B5EF4-FFF2-40B4-BE49-F238E27FC236}">
                <a16:creationId xmlns:a16="http://schemas.microsoft.com/office/drawing/2014/main" xmlns="" id="{6D7AF4AA-C604-4375-8289-4DBDEA0E1C5F}"/>
              </a:ext>
            </a:extLst>
          </p:cNvPr>
          <p:cNvSpPr>
            <a:spLocks noGrp="1"/>
          </p:cNvSpPr>
          <p:nvPr>
            <p:ph type="title"/>
          </p:nvPr>
        </p:nvSpPr>
        <p:spPr>
          <a:xfrm>
            <a:off x="1705943" y="241512"/>
            <a:ext cx="4356190" cy="813000"/>
          </a:xfrm>
        </p:spPr>
        <p:txBody>
          <a:bodyPr/>
          <a:lstStyle/>
          <a:p>
            <a:pPr defTabSz="457200"/>
            <a:r>
              <a:rPr lang="es-CL" sz="2800" b="1" dirty="0">
                <a:solidFill>
                  <a:prstClr val="white"/>
                </a:solidFill>
                <a:latin typeface="Calibri"/>
              </a:rPr>
              <a:t>Eliminando una Vista</a:t>
            </a:r>
          </a:p>
        </p:txBody>
      </p:sp>
      <p:sp>
        <p:nvSpPr>
          <p:cNvPr id="16" name="Marcador de contenido 1">
            <a:extLst>
              <a:ext uri="{FF2B5EF4-FFF2-40B4-BE49-F238E27FC236}">
                <a16:creationId xmlns:a16="http://schemas.microsoft.com/office/drawing/2014/main" xmlns="" id="{A930C0F3-B990-4086-AEA7-FA378122E989}"/>
              </a:ext>
            </a:extLst>
          </p:cNvPr>
          <p:cNvSpPr txBox="1">
            <a:spLocks/>
          </p:cNvSpPr>
          <p:nvPr/>
        </p:nvSpPr>
        <p:spPr>
          <a:xfrm>
            <a:off x="611560" y="1355025"/>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Sintaxis:</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r>
              <a:rPr lang="es-CL" dirty="0">
                <a:latin typeface="Calibri" panose="020F0502020204030204" pitchFamily="34" charset="0"/>
                <a:ea typeface="Arial Unicode MS" pitchFamily="34" charset="-128"/>
                <a:cs typeface="Calibri" panose="020F0502020204030204" pitchFamily="34" charset="0"/>
              </a:rPr>
              <a:t>Ejemplo:</a:t>
            </a: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a:p>
            <a:pPr marL="609600" indent="-609600" algn="just" fontAlgn="auto">
              <a:lnSpc>
                <a:spcPct val="80000"/>
              </a:lnSpc>
              <a:spcAft>
                <a:spcPts val="0"/>
              </a:spcAft>
            </a:pPr>
            <a:endParaRPr lang="es-CL" dirty="0">
              <a:latin typeface="Calibri" panose="020F0502020204030204" pitchFamily="34" charset="0"/>
              <a:ea typeface="Arial Unicode MS" pitchFamily="34" charset="-128"/>
              <a:cs typeface="Calibri" panose="020F0502020204030204" pitchFamily="34" charset="0"/>
            </a:endParaRPr>
          </a:p>
        </p:txBody>
      </p:sp>
      <p:sp>
        <p:nvSpPr>
          <p:cNvPr id="17" name="Text Box 5">
            <a:extLst>
              <a:ext uri="{FF2B5EF4-FFF2-40B4-BE49-F238E27FC236}">
                <a16:creationId xmlns:a16="http://schemas.microsoft.com/office/drawing/2014/main" xmlns="" id="{DB87964A-1E8C-4665-86EA-E0A7D2622E12}"/>
              </a:ext>
            </a:extLst>
          </p:cNvPr>
          <p:cNvSpPr txBox="1">
            <a:spLocks noChangeArrowheads="1"/>
          </p:cNvSpPr>
          <p:nvPr/>
        </p:nvSpPr>
        <p:spPr bwMode="auto">
          <a:xfrm>
            <a:off x="1328243" y="1663306"/>
            <a:ext cx="7060181"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DROP VIEW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nombre_vista</a:t>
            </a:r>
            <a:r>
              <a:rPr kumimoji="0" lang="en-US" sz="1600" b="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24" name="Text Box 5">
            <a:extLst>
              <a:ext uri="{FF2B5EF4-FFF2-40B4-BE49-F238E27FC236}">
                <a16:creationId xmlns:a16="http://schemas.microsoft.com/office/drawing/2014/main" xmlns="" id="{9E989140-B36F-4B6F-A255-4B0D21681D1E}"/>
              </a:ext>
            </a:extLst>
          </p:cNvPr>
          <p:cNvSpPr txBox="1">
            <a:spLocks noChangeArrowheads="1"/>
          </p:cNvSpPr>
          <p:nvPr/>
        </p:nvSpPr>
        <p:spPr bwMode="auto">
          <a:xfrm>
            <a:off x="1331640" y="2916233"/>
            <a:ext cx="7060181"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algn="l" fontAlgn="auto">
              <a:spcBef>
                <a:spcPts val="0"/>
              </a:spcBef>
              <a:spcAft>
                <a:spcPts val="0"/>
              </a:spcAf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DROP </a:t>
            </a:r>
            <a:r>
              <a:rPr lang="en-US" sz="1600" b="1" kern="0" dirty="0">
                <a:solidFill>
                  <a:prstClr val="black"/>
                </a:solidFill>
                <a:latin typeface="Calibri" panose="020F0502020204030204" pitchFamily="34" charset="0"/>
                <a:cs typeface="Calibri" panose="020F0502020204030204" pitchFamily="34" charset="0"/>
              </a:rPr>
              <a:t>VIEW v_emp_10</a:t>
            </a:r>
            <a:r>
              <a:rPr kumimoji="0" lang="en-US" sz="1600" b="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25" name="Text Box 5">
            <a:extLst>
              <a:ext uri="{FF2B5EF4-FFF2-40B4-BE49-F238E27FC236}">
                <a16:creationId xmlns:a16="http://schemas.microsoft.com/office/drawing/2014/main" xmlns="" id="{DBD1E7EB-DB83-4417-9426-6AFCAAFEE5ED}"/>
              </a:ext>
            </a:extLst>
          </p:cNvPr>
          <p:cNvSpPr txBox="1">
            <a:spLocks noChangeArrowheads="1"/>
          </p:cNvSpPr>
          <p:nvPr/>
        </p:nvSpPr>
        <p:spPr bwMode="auto">
          <a:xfrm>
            <a:off x="1331640" y="3708321"/>
            <a:ext cx="7060181"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algn="l" fontAlgn="auto">
              <a:spcBef>
                <a:spcPts val="0"/>
              </a:spcBef>
              <a:spcAft>
                <a:spcPts val="0"/>
              </a:spcAf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DROP </a:t>
            </a:r>
            <a:r>
              <a:rPr lang="en-US" sz="1600" b="1" kern="0" dirty="0">
                <a:solidFill>
                  <a:prstClr val="black"/>
                </a:solidFill>
                <a:latin typeface="Calibri" panose="020F0502020204030204" pitchFamily="34" charset="0"/>
                <a:cs typeface="Calibri" panose="020F0502020204030204" pitchFamily="34" charset="0"/>
              </a:rPr>
              <a:t>VIEW v_emp_depto_80</a:t>
            </a:r>
            <a:r>
              <a:rPr kumimoji="0" lang="en-US" sz="1600" b="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0" fontAlgn="auto" latinLnBrk="0" hangingPunct="0">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0861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29000"/>
            <a:ext cx="5995800" cy="1515533"/>
          </a:xfrm>
        </p:spPr>
        <p:txBody>
          <a:bodyPr anchor="ctr" anchorCtr="0"/>
          <a:lstStyle/>
          <a:p>
            <a:r>
              <a:rPr lang="es-ES_tradnl" sz="4800" b="1" dirty="0"/>
              <a:t>Creación y Uso de Secuencias</a:t>
            </a:r>
          </a:p>
        </p:txBody>
      </p:sp>
    </p:spTree>
    <p:extLst>
      <p:ext uri="{BB962C8B-B14F-4D97-AF65-F5344CB8AC3E}">
        <p14:creationId xmlns:p14="http://schemas.microsoft.com/office/powerpoint/2010/main" val="1679846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Objeto Secuencia</a:t>
            </a:r>
          </a:p>
        </p:txBody>
      </p:sp>
      <p:pic>
        <p:nvPicPr>
          <p:cNvPr id="4" name="Imagen 3">
            <a:extLst>
              <a:ext uri="{FF2B5EF4-FFF2-40B4-BE49-F238E27FC236}">
                <a16:creationId xmlns:a16="http://schemas.microsoft.com/office/drawing/2014/main" xmlns="" id="{746F23FF-472A-410E-B3B7-E6D2B0F5C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6780" y="4111508"/>
            <a:ext cx="5995312" cy="2027362"/>
          </a:xfrm>
          <a:prstGeom prst="rect">
            <a:avLst/>
          </a:prstGeom>
        </p:spPr>
      </p:pic>
      <p:sp>
        <p:nvSpPr>
          <p:cNvPr id="5" name="Rectángulo redondeado 4">
            <a:extLst>
              <a:ext uri="{FF2B5EF4-FFF2-40B4-BE49-F238E27FC236}">
                <a16:creationId xmlns:a16="http://schemas.microsoft.com/office/drawing/2014/main" xmlns="" id="{594272C1-9F02-4E97-8821-BDF3409D1F2E}"/>
              </a:ext>
            </a:extLst>
          </p:cNvPr>
          <p:cNvSpPr/>
          <p:nvPr/>
        </p:nvSpPr>
        <p:spPr>
          <a:xfrm>
            <a:off x="107504" y="1628800"/>
            <a:ext cx="2124000" cy="2160000"/>
          </a:xfrm>
          <a:prstGeom prst="roundRect">
            <a:avLst/>
          </a:prstGeom>
          <a:solidFill>
            <a:srgbClr val="EC700A"/>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Es un objeto de Base de Datos que genera en forma automática números diferentes</a:t>
            </a:r>
          </a:p>
        </p:txBody>
      </p:sp>
      <p:sp>
        <p:nvSpPr>
          <p:cNvPr id="6" name="Rectángulo redondeado 4">
            <a:extLst>
              <a:ext uri="{FF2B5EF4-FFF2-40B4-BE49-F238E27FC236}">
                <a16:creationId xmlns:a16="http://schemas.microsoft.com/office/drawing/2014/main" xmlns="" id="{9C0F5540-94C5-4F2E-BD80-0889E274F72B}"/>
              </a:ext>
            </a:extLst>
          </p:cNvPr>
          <p:cNvSpPr/>
          <p:nvPr/>
        </p:nvSpPr>
        <p:spPr>
          <a:xfrm>
            <a:off x="2387516" y="1628800"/>
            <a:ext cx="2124000" cy="2160000"/>
          </a:xfrm>
          <a:prstGeom prst="roundRect">
            <a:avLst/>
          </a:prstGeom>
          <a:solidFill>
            <a:srgbClr val="17375E"/>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 Se utiliza para columnas cuyo valor es un número único y/o correlativo</a:t>
            </a:r>
          </a:p>
        </p:txBody>
      </p:sp>
      <p:sp>
        <p:nvSpPr>
          <p:cNvPr id="7" name="Rectángulo redondeado 4">
            <a:extLst>
              <a:ext uri="{FF2B5EF4-FFF2-40B4-BE49-F238E27FC236}">
                <a16:creationId xmlns:a16="http://schemas.microsoft.com/office/drawing/2014/main" xmlns="" id="{7CC5E47D-7C75-45F7-B5CA-420214B77128}"/>
              </a:ext>
            </a:extLst>
          </p:cNvPr>
          <p:cNvSpPr/>
          <p:nvPr/>
        </p:nvSpPr>
        <p:spPr>
          <a:xfrm>
            <a:off x="4622292" y="1628800"/>
            <a:ext cx="2124000" cy="2160000"/>
          </a:xfrm>
          <a:prstGeom prst="roundRect">
            <a:avLst/>
          </a:prstGeom>
          <a:solidFill>
            <a:srgbClr val="86A33F"/>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Se genera e incrementa (o disminuye) a través de una rutina de Oracle</a:t>
            </a:r>
          </a:p>
        </p:txBody>
      </p:sp>
      <p:sp>
        <p:nvSpPr>
          <p:cNvPr id="9" name="Rectángulo redondeado 4">
            <a:extLst>
              <a:ext uri="{FF2B5EF4-FFF2-40B4-BE49-F238E27FC236}">
                <a16:creationId xmlns:a16="http://schemas.microsoft.com/office/drawing/2014/main" xmlns="" id="{73ACBD51-54A9-407E-A14B-8A8899D1AA7B}"/>
              </a:ext>
            </a:extLst>
          </p:cNvPr>
          <p:cNvSpPr/>
          <p:nvPr/>
        </p:nvSpPr>
        <p:spPr>
          <a:xfrm>
            <a:off x="6872198" y="1628800"/>
            <a:ext cx="2124000" cy="2160000"/>
          </a:xfrm>
          <a:prstGeom prst="roundRect">
            <a:avLst/>
          </a:prstGeom>
          <a:solidFill>
            <a:srgbClr val="B94441"/>
          </a:solidFill>
          <a:ln>
            <a:solidFill>
              <a:schemeClr val="tx1"/>
            </a:solidFill>
          </a:ln>
          <a:effectLst>
            <a:outerShdw blurRad="50800" dist="38100" dir="2700000" algn="tl" rotWithShape="0">
              <a:prstClr val="black">
                <a:alpha val="40000"/>
              </a:prstClr>
            </a:outerShdw>
          </a:effectLst>
        </p:spPr>
        <p:style>
          <a:lnRef idx="3">
            <a:schemeClr val="lt1"/>
          </a:lnRef>
          <a:fillRef idx="1">
            <a:schemeClr val="accent6"/>
          </a:fillRef>
          <a:effectRef idx="1">
            <a:schemeClr val="accent6"/>
          </a:effectRef>
          <a:fontRef idx="minor">
            <a:schemeClr val="lt1"/>
          </a:fontRef>
        </p:style>
        <p:txBody>
          <a:bodyPr lIns="0" rIns="0" rtlCol="0" anchor="ctr"/>
          <a:lstStyle/>
          <a:p>
            <a:pPr algn="ctr">
              <a:defRPr/>
            </a:pPr>
            <a:r>
              <a:rPr lang="es-CL" sz="1800" b="1" dirty="0">
                <a:solidFill>
                  <a:srgbClr val="FFFFFF"/>
                </a:solidFill>
                <a:latin typeface="Calibri" panose="020F0502020204030204" pitchFamily="34" charset="0"/>
                <a:cs typeface="Calibri" panose="020F0502020204030204" pitchFamily="34" charset="0"/>
              </a:rPr>
              <a:t>Debido a que su valor se genera y almacena en forma independiente de las tablas, se puede usar para diferentes tablas </a:t>
            </a:r>
          </a:p>
        </p:txBody>
      </p:sp>
    </p:spTree>
    <p:extLst>
      <p:ext uri="{BB962C8B-B14F-4D97-AF65-F5344CB8AC3E}">
        <p14:creationId xmlns:p14="http://schemas.microsoft.com/office/powerpoint/2010/main" val="3828127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Creando Secuencias</a:t>
            </a:r>
          </a:p>
        </p:txBody>
      </p:sp>
      <p:sp>
        <p:nvSpPr>
          <p:cNvPr id="5" name="Marcador de contenido 1">
            <a:extLst>
              <a:ext uri="{FF2B5EF4-FFF2-40B4-BE49-F238E27FC236}">
                <a16:creationId xmlns:a16="http://schemas.microsoft.com/office/drawing/2014/main" xmlns="" id="{4A960D24-3EBE-4319-8992-9C189018E8FC}"/>
              </a:ext>
            </a:extLst>
          </p:cNvPr>
          <p:cNvSpPr txBox="1">
            <a:spLocks/>
          </p:cNvSpPr>
          <p:nvPr/>
        </p:nvSpPr>
        <p:spPr>
          <a:xfrm>
            <a:off x="590872"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a:t>
            </a: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9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6" name="Text Box 5">
            <a:extLst>
              <a:ext uri="{FF2B5EF4-FFF2-40B4-BE49-F238E27FC236}">
                <a16:creationId xmlns:a16="http://schemas.microsoft.com/office/drawing/2014/main" xmlns="" id="{B5C01497-A5A9-4480-B0A7-6F40CE212368}"/>
              </a:ext>
            </a:extLst>
          </p:cNvPr>
          <p:cNvSpPr txBox="1">
            <a:spLocks noChangeArrowheads="1"/>
          </p:cNvSpPr>
          <p:nvPr/>
        </p:nvSpPr>
        <p:spPr bwMode="auto">
          <a:xfrm>
            <a:off x="1259632" y="1657398"/>
            <a:ext cx="6048672" cy="2308324"/>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SEQUENCE </a:t>
            </a:r>
            <a:r>
              <a:rPr kumimoji="0" lang="en-US" sz="1600" b="1" i="1"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secuencia</a:t>
            </a:r>
            <a:endPar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[INCREMENT BY n]</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[START WITH n]</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[{MAXVALUE n | </a:t>
            </a:r>
            <a:r>
              <a:rPr kumimoji="0" lang="en-US" sz="1600" b="1" i="0" u="sng"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NOMAXVALUE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[{MINVALUE n | </a:t>
            </a:r>
            <a:r>
              <a:rPr kumimoji="0" lang="en-US" sz="1600" b="1" i="0" u="sng"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NOMINVALUE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[{CYCLE | </a:t>
            </a:r>
            <a:r>
              <a:rPr kumimoji="0" lang="en-US" sz="1600" b="1" i="0" u="sng"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NOCYCLE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[{CACHE n | NOCACHE}] </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               [{ORDER | </a:t>
            </a:r>
            <a:r>
              <a:rPr lang="en-US" sz="1600" b="1" u="sng" dirty="0">
                <a:solidFill>
                  <a:prstClr val="black"/>
                </a:solidFill>
                <a:latin typeface="Calibri" panose="020F0502020204030204" pitchFamily="34" charset="0"/>
                <a:cs typeface="Calibri" panose="020F0502020204030204" pitchFamily="34" charset="0"/>
              </a:rPr>
              <a:t>NOORDER</a:t>
            </a:r>
            <a:r>
              <a:rPr lang="en-US" sz="1600" b="1" dirty="0">
                <a:solidFill>
                  <a:prstClr val="black"/>
                </a:solidFill>
                <a:latin typeface="Calibri" panose="020F0502020204030204" pitchFamily="34" charset="0"/>
                <a:cs typeface="Calibri" panose="020F0502020204030204" pitchFamily="34" charset="0"/>
              </a:rPr>
              <a:t>}]; </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F077BD17-90A1-434D-B60E-205DEAD1DAF7}"/>
              </a:ext>
            </a:extLst>
          </p:cNvPr>
          <p:cNvSpPr txBox="1">
            <a:spLocks noChangeArrowheads="1"/>
          </p:cNvSpPr>
          <p:nvPr/>
        </p:nvSpPr>
        <p:spPr bwMode="auto">
          <a:xfrm>
            <a:off x="1259632" y="4393702"/>
            <a:ext cx="6048672"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SEQUENCE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seq_dept_deptid</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INCREMENT BY 10</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START WITH 280</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MAXVALUE 9999</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NOCACHE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NOCYCLE;</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3156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Usando Secuencias</a:t>
            </a:r>
          </a:p>
        </p:txBody>
      </p:sp>
      <p:pic>
        <p:nvPicPr>
          <p:cNvPr id="2" name="Imagen 1">
            <a:extLst>
              <a:ext uri="{FF2B5EF4-FFF2-40B4-BE49-F238E27FC236}">
                <a16:creationId xmlns:a16="http://schemas.microsoft.com/office/drawing/2014/main" xmlns="" id="{A02E8A89-0211-4F48-BD6D-6CB268C9E5A8}"/>
              </a:ext>
            </a:extLst>
          </p:cNvPr>
          <p:cNvPicPr>
            <a:picLocks noChangeAspect="1"/>
          </p:cNvPicPr>
          <p:nvPr/>
        </p:nvPicPr>
        <p:blipFill>
          <a:blip r:embed="rId3"/>
          <a:stretch>
            <a:fillRect/>
          </a:stretch>
        </p:blipFill>
        <p:spPr>
          <a:xfrm>
            <a:off x="901890" y="1285572"/>
            <a:ext cx="7609064" cy="5100095"/>
          </a:xfrm>
          <a:prstGeom prst="rect">
            <a:avLst/>
          </a:prstGeom>
        </p:spPr>
      </p:pic>
    </p:spTree>
    <p:extLst>
      <p:ext uri="{BB962C8B-B14F-4D97-AF65-F5344CB8AC3E}">
        <p14:creationId xmlns:p14="http://schemas.microsoft.com/office/powerpoint/2010/main" val="3858200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Usando Secuencias</a:t>
            </a:r>
          </a:p>
        </p:txBody>
      </p:sp>
      <p:pic>
        <p:nvPicPr>
          <p:cNvPr id="2" name="Imagen 1">
            <a:extLst>
              <a:ext uri="{FF2B5EF4-FFF2-40B4-BE49-F238E27FC236}">
                <a16:creationId xmlns:a16="http://schemas.microsoft.com/office/drawing/2014/main" xmlns="" id="{78FC9272-B2FF-4219-AFCF-393F0A8BDEFF}"/>
              </a:ext>
            </a:extLst>
          </p:cNvPr>
          <p:cNvPicPr>
            <a:picLocks noChangeAspect="1"/>
          </p:cNvPicPr>
          <p:nvPr/>
        </p:nvPicPr>
        <p:blipFill>
          <a:blip r:embed="rId3"/>
          <a:stretch>
            <a:fillRect/>
          </a:stretch>
        </p:blipFill>
        <p:spPr>
          <a:xfrm>
            <a:off x="33839" y="1684194"/>
            <a:ext cx="9041152" cy="4157832"/>
          </a:xfrm>
          <a:prstGeom prst="rect">
            <a:avLst/>
          </a:prstGeom>
        </p:spPr>
      </p:pic>
    </p:spTree>
    <p:extLst>
      <p:ext uri="{BB962C8B-B14F-4D97-AF65-F5344CB8AC3E}">
        <p14:creationId xmlns:p14="http://schemas.microsoft.com/office/powerpoint/2010/main" val="2686549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Usando Secuencias</a:t>
            </a:r>
          </a:p>
        </p:txBody>
      </p:sp>
      <p:sp>
        <p:nvSpPr>
          <p:cNvPr id="6" name="Marcador de contenido 1">
            <a:extLst>
              <a:ext uri="{FF2B5EF4-FFF2-40B4-BE49-F238E27FC236}">
                <a16:creationId xmlns:a16="http://schemas.microsoft.com/office/drawing/2014/main" xmlns="" id="{DD78A9CE-60AE-48DC-A608-46F99E761936}"/>
              </a:ext>
            </a:extLst>
          </p:cNvPr>
          <p:cNvSpPr txBox="1">
            <a:spLocks/>
          </p:cNvSpPr>
          <p:nvPr/>
        </p:nvSpPr>
        <p:spPr>
          <a:xfrm>
            <a:off x="611560" y="135130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6275CF72-0549-4352-ABE3-085F3E4FD3B0}"/>
              </a:ext>
            </a:extLst>
          </p:cNvPr>
          <p:cNvSpPr txBox="1">
            <a:spLocks noChangeArrowheads="1"/>
          </p:cNvSpPr>
          <p:nvPr/>
        </p:nvSpPr>
        <p:spPr bwMode="auto">
          <a:xfrm>
            <a:off x="1302873" y="3398362"/>
            <a:ext cx="345638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a:t>
            </a:r>
            <a:r>
              <a:rPr kumimoji="0" lang="en-US" sz="1600" b="1" i="0" u="none" strike="noStrike" kern="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seq_dept_deptid.CURRVAL</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FROM dual;</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55C642B6-C9D5-4110-A643-5A2A63610621}"/>
              </a:ext>
            </a:extLst>
          </p:cNvPr>
          <p:cNvSpPr txBox="1">
            <a:spLocks noChangeArrowheads="1"/>
          </p:cNvSpPr>
          <p:nvPr/>
        </p:nvSpPr>
        <p:spPr bwMode="auto">
          <a:xfrm>
            <a:off x="1317572" y="1656936"/>
            <a:ext cx="684076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INSERT INTO departments(</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location_id)</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VALUES (</a:t>
            </a:r>
            <a:r>
              <a:rPr kumimoji="0" lang="en-US" sz="1600" b="1" i="0" u="none" strike="noStrike" kern="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seq_dept_deptid.NEXTVAL</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'Support', 2500);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xmlns="" id="{2B1F54F2-2951-4EC1-8F40-A54892B8B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6508" y="2550836"/>
            <a:ext cx="4125139" cy="444564"/>
          </a:xfrm>
          <a:prstGeom prst="rect">
            <a:avLst/>
          </a:prstGeom>
        </p:spPr>
      </p:pic>
      <p:pic>
        <p:nvPicPr>
          <p:cNvPr id="11" name="Imagen 10">
            <a:extLst>
              <a:ext uri="{FF2B5EF4-FFF2-40B4-BE49-F238E27FC236}">
                <a16:creationId xmlns:a16="http://schemas.microsoft.com/office/drawing/2014/main" xmlns="" id="{7552A577-7D69-4D4F-AF01-9453195390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9930" y="4286974"/>
            <a:ext cx="882269" cy="534333"/>
          </a:xfrm>
          <a:prstGeom prst="rect">
            <a:avLst/>
          </a:prstGeom>
        </p:spPr>
      </p:pic>
      <p:pic>
        <p:nvPicPr>
          <p:cNvPr id="12" name="Imagen 11">
            <a:extLst>
              <a:ext uri="{FF2B5EF4-FFF2-40B4-BE49-F238E27FC236}">
                <a16:creationId xmlns:a16="http://schemas.microsoft.com/office/drawing/2014/main" xmlns="" id="{0D6B2BBE-934A-4E97-B7A0-65D7EF0D55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0512" y="4286974"/>
            <a:ext cx="882269" cy="583854"/>
          </a:xfrm>
          <a:prstGeom prst="rect">
            <a:avLst/>
          </a:prstGeom>
        </p:spPr>
      </p:pic>
      <p:sp>
        <p:nvSpPr>
          <p:cNvPr id="13" name="Text Box 5">
            <a:extLst>
              <a:ext uri="{FF2B5EF4-FFF2-40B4-BE49-F238E27FC236}">
                <a16:creationId xmlns:a16="http://schemas.microsoft.com/office/drawing/2014/main" xmlns="" id="{70A33D43-42B9-45A7-822A-D2A97BA93197}"/>
              </a:ext>
            </a:extLst>
          </p:cNvPr>
          <p:cNvSpPr txBox="1">
            <a:spLocks noChangeArrowheads="1"/>
          </p:cNvSpPr>
          <p:nvPr/>
        </p:nvSpPr>
        <p:spPr bwMode="auto">
          <a:xfrm>
            <a:off x="5004048" y="3398362"/>
            <a:ext cx="345638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a:t>
            </a:r>
            <a:r>
              <a:rPr kumimoji="0" lang="en-US" sz="1600" b="1" i="0" u="none" strike="noStrike" kern="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seq_dept_deptid.NEXTVAL</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FROM dual;</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 Box 5">
            <a:extLst>
              <a:ext uri="{FF2B5EF4-FFF2-40B4-BE49-F238E27FC236}">
                <a16:creationId xmlns:a16="http://schemas.microsoft.com/office/drawing/2014/main" xmlns="" id="{4FE8173F-9D3B-47F3-9102-2C98C642BD15}"/>
              </a:ext>
            </a:extLst>
          </p:cNvPr>
          <p:cNvSpPr txBox="1">
            <a:spLocks noChangeArrowheads="1"/>
          </p:cNvSpPr>
          <p:nvPr/>
        </p:nvSpPr>
        <p:spPr bwMode="auto">
          <a:xfrm>
            <a:off x="1259632" y="5135687"/>
            <a:ext cx="727280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INSERT INTO departments(</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department_name</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location_id)</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VALUES (</a:t>
            </a:r>
            <a:r>
              <a:rPr kumimoji="0" lang="en-US" sz="1600" b="1" i="0" u="none" strike="noStrike" kern="0" cap="none" spc="0" normalizeH="0" baseline="0" noProof="0" dirty="0" err="1">
                <a:ln>
                  <a:noFill/>
                </a:ln>
                <a:solidFill>
                  <a:srgbClr val="C00000"/>
                </a:solidFill>
                <a:effectLst/>
                <a:uLnTx/>
                <a:uFillTx/>
                <a:latin typeface="Calibri" panose="020F0502020204030204" pitchFamily="34" charset="0"/>
                <a:cs typeface="Calibri" panose="020F0502020204030204" pitchFamily="34" charset="0"/>
              </a:rPr>
              <a:t>seq_dept_deptid.NEXTVAL</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'Support Construction', 2500);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7" name="Imagen 16">
            <a:extLst>
              <a:ext uri="{FF2B5EF4-FFF2-40B4-BE49-F238E27FC236}">
                <a16:creationId xmlns:a16="http://schemas.microsoft.com/office/drawing/2014/main" xmlns="" id="{1EDB192F-45E1-403B-AA47-D3800ECBAC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13824" y="6021288"/>
            <a:ext cx="4469299" cy="504056"/>
          </a:xfrm>
          <a:prstGeom prst="rect">
            <a:avLst/>
          </a:prstGeom>
        </p:spPr>
      </p:pic>
    </p:spTree>
    <p:extLst>
      <p:ext uri="{BB962C8B-B14F-4D97-AF65-F5344CB8AC3E}">
        <p14:creationId xmlns:p14="http://schemas.microsoft.com/office/powerpoint/2010/main" val="3958174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Usando Secuencias</a:t>
            </a:r>
          </a:p>
        </p:txBody>
      </p:sp>
      <p:sp>
        <p:nvSpPr>
          <p:cNvPr id="6" name="Marcador de contenido 1">
            <a:extLst>
              <a:ext uri="{FF2B5EF4-FFF2-40B4-BE49-F238E27FC236}">
                <a16:creationId xmlns:a16="http://schemas.microsoft.com/office/drawing/2014/main" xmlns="" id="{DD78A9CE-60AE-48DC-A608-46F99E761936}"/>
              </a:ext>
            </a:extLst>
          </p:cNvPr>
          <p:cNvSpPr txBox="1">
            <a:spLocks/>
          </p:cNvSpPr>
          <p:nvPr/>
        </p:nvSpPr>
        <p:spPr>
          <a:xfrm>
            <a:off x="611560" y="135130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55C642B6-C9D5-4110-A643-5A2A63610621}"/>
              </a:ext>
            </a:extLst>
          </p:cNvPr>
          <p:cNvSpPr txBox="1">
            <a:spLocks noChangeArrowheads="1"/>
          </p:cNvSpPr>
          <p:nvPr/>
        </p:nvSpPr>
        <p:spPr bwMode="auto">
          <a:xfrm>
            <a:off x="1227927" y="1674865"/>
            <a:ext cx="728658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SEQUENCE SEQ_NUEVOS_DEPTOS START WITH 1000 INCREMENT BY -1 MAXVALUE 1000;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 Box 5">
            <a:extLst>
              <a:ext uri="{FF2B5EF4-FFF2-40B4-BE49-F238E27FC236}">
                <a16:creationId xmlns:a16="http://schemas.microsoft.com/office/drawing/2014/main" xmlns="" id="{4FE8173F-9D3B-47F3-9102-2C98C642BD15}"/>
              </a:ext>
            </a:extLst>
          </p:cNvPr>
          <p:cNvSpPr txBox="1">
            <a:spLocks noChangeArrowheads="1"/>
          </p:cNvSpPr>
          <p:nvPr/>
        </p:nvSpPr>
        <p:spPr bwMode="auto">
          <a:xfrm>
            <a:off x="1169987" y="2733145"/>
            <a:ext cx="7344524"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TABLE NUEVOS_DEPTOS AS</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SELECT SEQ_NUEVOS_DEPTOS .NEXTVAL </a:t>
            </a:r>
            <a:r>
              <a:rPr lang="en-US" sz="1600" b="1" dirty="0" err="1">
                <a:solidFill>
                  <a:prstClr val="black"/>
                </a:solidFill>
                <a:latin typeface="Calibri" panose="020F0502020204030204" pitchFamily="34" charset="0"/>
                <a:cs typeface="Calibri" panose="020F0502020204030204" pitchFamily="34" charset="0"/>
              </a:rPr>
              <a:t>id_depto</a:t>
            </a:r>
            <a:r>
              <a:rPr lang="en-US" sz="1600" b="1" dirty="0">
                <a:solidFill>
                  <a:prstClr val="black"/>
                </a:solidFill>
                <a:latin typeface="Calibri" panose="020F0502020204030204" pitchFamily="34" charset="0"/>
                <a:cs typeface="Calibri" panose="020F0502020204030204" pitchFamily="34" charset="0"/>
              </a:rPr>
              <a:t>, </a:t>
            </a:r>
            <a:r>
              <a:rPr lang="en-US" sz="1600" b="1" dirty="0" err="1">
                <a:solidFill>
                  <a:prstClr val="black"/>
                </a:solidFill>
                <a:latin typeface="Calibri" panose="020F0502020204030204" pitchFamily="34" charset="0"/>
                <a:cs typeface="Calibri" panose="020F0502020204030204" pitchFamily="34" charset="0"/>
              </a:rPr>
              <a:t>department_name</a:t>
            </a:r>
            <a:r>
              <a:rPr lang="en-US" sz="1600" b="1" dirty="0">
                <a:solidFill>
                  <a:prstClr val="black"/>
                </a:solidFill>
                <a:latin typeface="Calibri" panose="020F0502020204030204" pitchFamily="34" charset="0"/>
                <a:cs typeface="Calibri" panose="020F0502020204030204" pitchFamily="34" charset="0"/>
              </a:rPr>
              <a:t>, </a:t>
            </a:r>
            <a:r>
              <a:rPr lang="en-US" sz="1600" b="1" dirty="0" err="1">
                <a:solidFill>
                  <a:prstClr val="black"/>
                </a:solidFill>
                <a:latin typeface="Calibri" panose="020F0502020204030204" pitchFamily="34" charset="0"/>
                <a:cs typeface="Calibri" panose="020F0502020204030204" pitchFamily="34" charset="0"/>
              </a:rPr>
              <a:t>location_id</a:t>
            </a:r>
            <a:endParaRPr lang="en-US" sz="1600" b="1" dirty="0">
              <a:solidFill>
                <a:prstClr val="black"/>
              </a:solidFill>
              <a:latin typeface="Calibri" panose="020F0502020204030204" pitchFamily="34" charset="0"/>
              <a:cs typeface="Calibri" panose="020F0502020204030204" pitchFamily="34" charset="0"/>
            </a:endParaRPr>
          </a:p>
          <a:p>
            <a:pPr lvl="0" eaLnBrk="1" hangingPunct="1">
              <a:buClrTx/>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departments</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ORDER BY </a:t>
            </a:r>
            <a:r>
              <a:rPr lang="en-US" sz="1600" b="1" dirty="0" err="1">
                <a:solidFill>
                  <a:prstClr val="black"/>
                </a:solidFill>
                <a:latin typeface="Calibri" panose="020F0502020204030204" pitchFamily="34" charset="0"/>
                <a:cs typeface="Calibri" panose="020F0502020204030204" pitchFamily="34" charset="0"/>
              </a:rPr>
              <a:t>department_name</a:t>
            </a:r>
            <a:r>
              <a:rPr lang="en-US" sz="1600" b="1" dirty="0">
                <a:solidFill>
                  <a:prstClr val="black"/>
                </a:solidFill>
                <a:latin typeface="Calibri" panose="020F0502020204030204" pitchFamily="34" charset="0"/>
                <a:cs typeface="Calibri" panose="020F0502020204030204" pitchFamily="34" charset="0"/>
              </a:rPr>
              <a:t>;</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4" name="Imagen 3" descr="Captura de pantalla de un celular&#10;&#10;Descripción generada automáticamente">
            <a:extLst>
              <a:ext uri="{FF2B5EF4-FFF2-40B4-BE49-F238E27FC236}">
                <a16:creationId xmlns:a16="http://schemas.microsoft.com/office/drawing/2014/main" xmlns="" id="{FD9E1C0F-6163-4449-8133-FFAA2E5710EA}"/>
              </a:ext>
            </a:extLst>
          </p:cNvPr>
          <p:cNvPicPr>
            <a:picLocks noChangeAspect="1"/>
          </p:cNvPicPr>
          <p:nvPr/>
        </p:nvPicPr>
        <p:blipFill>
          <a:blip r:embed="rId3"/>
          <a:stretch>
            <a:fillRect/>
          </a:stretch>
        </p:blipFill>
        <p:spPr>
          <a:xfrm>
            <a:off x="1317571" y="4506180"/>
            <a:ext cx="7180969" cy="1056601"/>
          </a:xfrm>
          <a:prstGeom prst="rect">
            <a:avLst/>
          </a:prstGeom>
        </p:spPr>
      </p:pic>
    </p:spTree>
    <p:extLst>
      <p:ext uri="{BB962C8B-B14F-4D97-AF65-F5344CB8AC3E}">
        <p14:creationId xmlns:p14="http://schemas.microsoft.com/office/powerpoint/2010/main" val="3591277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Usando Secuencias</a:t>
            </a:r>
          </a:p>
        </p:txBody>
      </p:sp>
      <p:sp>
        <p:nvSpPr>
          <p:cNvPr id="6" name="Marcador de contenido 1">
            <a:extLst>
              <a:ext uri="{FF2B5EF4-FFF2-40B4-BE49-F238E27FC236}">
                <a16:creationId xmlns:a16="http://schemas.microsoft.com/office/drawing/2014/main" xmlns="" id="{DD78A9CE-60AE-48DC-A608-46F99E761936}"/>
              </a:ext>
            </a:extLst>
          </p:cNvPr>
          <p:cNvSpPr txBox="1">
            <a:spLocks/>
          </p:cNvSpPr>
          <p:nvPr/>
        </p:nvSpPr>
        <p:spPr>
          <a:xfrm>
            <a:off x="611560" y="1351309"/>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8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0" marR="0" lvl="0" indent="0" algn="l" defTabSz="342900" rtl="0" eaLnBrk="1" fontAlgn="auto" latinLnBrk="0" hangingPunct="1">
              <a:lnSpc>
                <a:spcPct val="100000"/>
              </a:lnSpc>
              <a:spcBef>
                <a:spcPct val="20000"/>
              </a:spcBef>
              <a:spcAft>
                <a:spcPts val="0"/>
              </a:spcAft>
              <a:buClrTx/>
              <a:buSzTx/>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55C642B6-C9D5-4110-A643-5A2A63610621}"/>
              </a:ext>
            </a:extLst>
          </p:cNvPr>
          <p:cNvSpPr txBox="1">
            <a:spLocks noChangeArrowheads="1"/>
          </p:cNvSpPr>
          <p:nvPr/>
        </p:nvSpPr>
        <p:spPr bwMode="auto">
          <a:xfrm>
            <a:off x="564537" y="1674865"/>
            <a:ext cx="5577026"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SEQUENCE SEQ_NUEVOS_DEPTOS START WITH 1000 INCREMENT BY -1 MAXVALUE 1000;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 Box 5">
            <a:extLst>
              <a:ext uri="{FF2B5EF4-FFF2-40B4-BE49-F238E27FC236}">
                <a16:creationId xmlns:a16="http://schemas.microsoft.com/office/drawing/2014/main" xmlns="" id="{4FE8173F-9D3B-47F3-9102-2C98C642BD15}"/>
              </a:ext>
            </a:extLst>
          </p:cNvPr>
          <p:cNvSpPr txBox="1">
            <a:spLocks noChangeArrowheads="1"/>
          </p:cNvSpPr>
          <p:nvPr/>
        </p:nvSpPr>
        <p:spPr bwMode="auto">
          <a:xfrm>
            <a:off x="578315" y="4974317"/>
            <a:ext cx="557702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CREATE TABLE NUEVOS_DEPTOS AS</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SELECT SEQ_NUEVOS_DEPTOS.NEXTVAL </a:t>
            </a:r>
            <a:r>
              <a:rPr lang="en-US" sz="1600" b="1" dirty="0" err="1">
                <a:solidFill>
                  <a:prstClr val="black"/>
                </a:solidFill>
                <a:latin typeface="Calibri" panose="020F0502020204030204" pitchFamily="34" charset="0"/>
                <a:cs typeface="Calibri" panose="020F0502020204030204" pitchFamily="34" charset="0"/>
              </a:rPr>
              <a:t>id_depto</a:t>
            </a:r>
            <a:r>
              <a:rPr lang="en-US" sz="1600" b="1" dirty="0">
                <a:solidFill>
                  <a:prstClr val="black"/>
                </a:solidFill>
                <a:latin typeface="Calibri" panose="020F0502020204030204" pitchFamily="34" charset="0"/>
                <a:cs typeface="Calibri" panose="020F0502020204030204" pitchFamily="34" charset="0"/>
              </a:rPr>
              <a:t>, </a:t>
            </a:r>
            <a:r>
              <a:rPr lang="en-US" sz="1600" b="1" dirty="0" err="1">
                <a:solidFill>
                  <a:prstClr val="black"/>
                </a:solidFill>
                <a:latin typeface="Calibri" panose="020F0502020204030204" pitchFamily="34" charset="0"/>
                <a:cs typeface="Calibri" panose="020F0502020204030204" pitchFamily="34" charset="0"/>
              </a:rPr>
              <a:t>department_name</a:t>
            </a:r>
            <a:r>
              <a:rPr lang="en-US" sz="1600" b="1" dirty="0">
                <a:solidFill>
                  <a:prstClr val="black"/>
                </a:solidFill>
                <a:latin typeface="Calibri" panose="020F0502020204030204" pitchFamily="34" charset="0"/>
                <a:cs typeface="Calibri" panose="020F0502020204030204" pitchFamily="34" charset="0"/>
              </a:rPr>
              <a:t>, </a:t>
            </a:r>
            <a:r>
              <a:rPr lang="en-US" sz="1600" b="1" dirty="0" err="1">
                <a:solidFill>
                  <a:prstClr val="black"/>
                </a:solidFill>
                <a:latin typeface="Calibri" panose="020F0502020204030204" pitchFamily="34" charset="0"/>
                <a:cs typeface="Calibri" panose="020F0502020204030204" pitchFamily="34" charset="0"/>
              </a:rPr>
              <a:t>location_id</a:t>
            </a:r>
            <a:endParaRPr lang="en-US" sz="1600" b="1" dirty="0">
              <a:solidFill>
                <a:prstClr val="black"/>
              </a:solidFill>
              <a:latin typeface="Calibri" panose="020F0502020204030204" pitchFamily="34" charset="0"/>
              <a:cs typeface="Calibri" panose="020F0502020204030204" pitchFamily="34" charset="0"/>
            </a:endParaRP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FROM NUEVOS_DEPTOS_PASO;</a:t>
            </a:r>
          </a:p>
          <a:p>
            <a:pPr lvl="0" eaLnBrk="1" hangingPunct="1">
              <a:buClrTx/>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85418B83-3A8F-4814-A30E-3DBCC3F054BE}"/>
              </a:ext>
            </a:extLst>
          </p:cNvPr>
          <p:cNvSpPr txBox="1">
            <a:spLocks noChangeArrowheads="1"/>
          </p:cNvSpPr>
          <p:nvPr/>
        </p:nvSpPr>
        <p:spPr bwMode="auto">
          <a:xfrm>
            <a:off x="551420" y="2921408"/>
            <a:ext cx="557702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TABLE NUEVOS_DEPTOS_PASO AS</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SELECT </a:t>
            </a:r>
            <a:r>
              <a:rPr lang="en-US" sz="1600" b="1" dirty="0" err="1">
                <a:solidFill>
                  <a:prstClr val="black"/>
                </a:solidFill>
                <a:latin typeface="Calibri" panose="020F0502020204030204" pitchFamily="34" charset="0"/>
                <a:cs typeface="Calibri" panose="020F0502020204030204" pitchFamily="34" charset="0"/>
              </a:rPr>
              <a:t>department_name</a:t>
            </a:r>
            <a:r>
              <a:rPr lang="en-US" sz="1600" b="1" dirty="0">
                <a:solidFill>
                  <a:prstClr val="black"/>
                </a:solidFill>
                <a:latin typeface="Calibri" panose="020F0502020204030204" pitchFamily="34" charset="0"/>
                <a:cs typeface="Calibri" panose="020F0502020204030204" pitchFamily="34" charset="0"/>
              </a:rPr>
              <a:t>, </a:t>
            </a:r>
            <a:r>
              <a:rPr lang="en-US" sz="1600" b="1" dirty="0" err="1">
                <a:solidFill>
                  <a:prstClr val="black"/>
                </a:solidFill>
                <a:latin typeface="Calibri" panose="020F0502020204030204" pitchFamily="34" charset="0"/>
                <a:cs typeface="Calibri" panose="020F0502020204030204" pitchFamily="34" charset="0"/>
              </a:rPr>
              <a:t>location_id</a:t>
            </a:r>
            <a:endParaRPr lang="en-US" sz="1600" b="1" dirty="0">
              <a:solidFill>
                <a:prstClr val="black"/>
              </a:solidFill>
              <a:latin typeface="Calibri" panose="020F0502020204030204" pitchFamily="34" charset="0"/>
              <a:cs typeface="Calibri" panose="020F0502020204030204" pitchFamily="34" charset="0"/>
            </a:endParaRPr>
          </a:p>
          <a:p>
            <a:pPr lvl="0" eaLnBrk="1" hangingPunct="1">
              <a:buClrTx/>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departments</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ORDER BY </a:t>
            </a:r>
            <a:r>
              <a:rPr lang="en-US" sz="1600" b="1" dirty="0" err="1">
                <a:solidFill>
                  <a:prstClr val="black"/>
                </a:solidFill>
                <a:latin typeface="Calibri" panose="020F0502020204030204" pitchFamily="34" charset="0"/>
                <a:cs typeface="Calibri" panose="020F0502020204030204" pitchFamily="34" charset="0"/>
              </a:rPr>
              <a:t>department_name</a:t>
            </a:r>
            <a:r>
              <a:rPr lang="en-US" sz="1600" b="1" dirty="0">
                <a:solidFill>
                  <a:prstClr val="black"/>
                </a:solidFill>
                <a:latin typeface="Calibri" panose="020F0502020204030204" pitchFamily="34" charset="0"/>
                <a:cs typeface="Calibri" panose="020F0502020204030204" pitchFamily="34" charset="0"/>
              </a:rPr>
              <a:t>;</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 name="Imagen 1">
            <a:extLst>
              <a:ext uri="{FF2B5EF4-FFF2-40B4-BE49-F238E27FC236}">
                <a16:creationId xmlns:a16="http://schemas.microsoft.com/office/drawing/2014/main" xmlns="" id="{356A7489-2380-4135-A164-44C17CFCA806}"/>
              </a:ext>
            </a:extLst>
          </p:cNvPr>
          <p:cNvPicPr>
            <a:picLocks noChangeAspect="1"/>
          </p:cNvPicPr>
          <p:nvPr/>
        </p:nvPicPr>
        <p:blipFill>
          <a:blip r:embed="rId3"/>
          <a:stretch>
            <a:fillRect/>
          </a:stretch>
        </p:blipFill>
        <p:spPr>
          <a:xfrm>
            <a:off x="6189762" y="4639338"/>
            <a:ext cx="2954237" cy="2168612"/>
          </a:xfrm>
          <a:prstGeom prst="rect">
            <a:avLst/>
          </a:prstGeom>
        </p:spPr>
      </p:pic>
      <p:sp>
        <p:nvSpPr>
          <p:cNvPr id="10" name="Text Box 8">
            <a:extLst>
              <a:ext uri="{FF2B5EF4-FFF2-40B4-BE49-F238E27FC236}">
                <a16:creationId xmlns:a16="http://schemas.microsoft.com/office/drawing/2014/main" xmlns="" id="{3D665580-EB1D-448B-9DFB-88F0C4C27429}"/>
              </a:ext>
            </a:extLst>
          </p:cNvPr>
          <p:cNvSpPr txBox="1">
            <a:spLocks noChangeArrowheads="1"/>
          </p:cNvSpPr>
          <p:nvPr/>
        </p:nvSpPr>
        <p:spPr bwMode="auto">
          <a:xfrm>
            <a:off x="237445" y="1862152"/>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1" name="Text Box 8">
            <a:extLst>
              <a:ext uri="{FF2B5EF4-FFF2-40B4-BE49-F238E27FC236}">
                <a16:creationId xmlns:a16="http://schemas.microsoft.com/office/drawing/2014/main" xmlns="" id="{9B6BD049-3E42-42BB-883C-33775DF35A15}"/>
              </a:ext>
            </a:extLst>
          </p:cNvPr>
          <p:cNvSpPr txBox="1">
            <a:spLocks noChangeArrowheads="1"/>
          </p:cNvSpPr>
          <p:nvPr/>
        </p:nvSpPr>
        <p:spPr bwMode="auto">
          <a:xfrm>
            <a:off x="237445" y="3260636"/>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
        <p:nvSpPr>
          <p:cNvPr id="12" name="Text Box 8">
            <a:extLst>
              <a:ext uri="{FF2B5EF4-FFF2-40B4-BE49-F238E27FC236}">
                <a16:creationId xmlns:a16="http://schemas.microsoft.com/office/drawing/2014/main" xmlns="" id="{74ED68FE-F8AD-4395-807C-C44C3009074D}"/>
              </a:ext>
            </a:extLst>
          </p:cNvPr>
          <p:cNvSpPr txBox="1">
            <a:spLocks noChangeArrowheads="1"/>
          </p:cNvSpPr>
          <p:nvPr/>
        </p:nvSpPr>
        <p:spPr bwMode="auto">
          <a:xfrm>
            <a:off x="237442" y="5358368"/>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3</a:t>
            </a:r>
            <a:endParaRPr lang="es-ES" sz="2400" b="1" dirty="0">
              <a:solidFill>
                <a:srgbClr val="C00000"/>
              </a:solidFill>
              <a:latin typeface="Calibri" panose="020F0502020204030204" pitchFamily="34" charset="0"/>
              <a:cs typeface="Calibri" panose="020F0502020204030204" pitchFamily="34" charset="0"/>
            </a:endParaRPr>
          </a:p>
        </p:txBody>
      </p:sp>
      <p:pic>
        <p:nvPicPr>
          <p:cNvPr id="8" name="Imagen 7">
            <a:extLst>
              <a:ext uri="{FF2B5EF4-FFF2-40B4-BE49-F238E27FC236}">
                <a16:creationId xmlns:a16="http://schemas.microsoft.com/office/drawing/2014/main" xmlns="" id="{ED2F546D-384E-455F-B795-2A26BEA396D9}"/>
              </a:ext>
            </a:extLst>
          </p:cNvPr>
          <p:cNvPicPr>
            <a:picLocks noChangeAspect="1"/>
          </p:cNvPicPr>
          <p:nvPr/>
        </p:nvPicPr>
        <p:blipFill>
          <a:blip r:embed="rId4"/>
          <a:stretch>
            <a:fillRect/>
          </a:stretch>
        </p:blipFill>
        <p:spPr>
          <a:xfrm>
            <a:off x="6371425" y="2690475"/>
            <a:ext cx="2238094" cy="1792372"/>
          </a:xfrm>
          <a:prstGeom prst="rect">
            <a:avLst/>
          </a:prstGeom>
        </p:spPr>
      </p:pic>
    </p:spTree>
    <p:extLst>
      <p:ext uri="{BB962C8B-B14F-4D97-AF65-F5344CB8AC3E}">
        <p14:creationId xmlns:p14="http://schemas.microsoft.com/office/powerpoint/2010/main" val="4115705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Secuencias versus Columnas Auto-Incrementables</a:t>
            </a:r>
          </a:p>
        </p:txBody>
      </p:sp>
      <p:pic>
        <p:nvPicPr>
          <p:cNvPr id="8" name="Imagen 7">
            <a:extLst>
              <a:ext uri="{FF2B5EF4-FFF2-40B4-BE49-F238E27FC236}">
                <a16:creationId xmlns:a16="http://schemas.microsoft.com/office/drawing/2014/main" xmlns="" id="{E51C12A0-2A50-4454-A07F-049A00182DFC}"/>
              </a:ext>
            </a:extLst>
          </p:cNvPr>
          <p:cNvPicPr>
            <a:picLocks noChangeAspect="1"/>
          </p:cNvPicPr>
          <p:nvPr/>
        </p:nvPicPr>
        <p:blipFill>
          <a:blip r:embed="rId3"/>
          <a:stretch>
            <a:fillRect/>
          </a:stretch>
        </p:blipFill>
        <p:spPr>
          <a:xfrm>
            <a:off x="286140" y="1630303"/>
            <a:ext cx="8571719" cy="4529721"/>
          </a:xfrm>
          <a:prstGeom prst="rect">
            <a:avLst/>
          </a:prstGeom>
        </p:spPr>
      </p:pic>
    </p:spTree>
    <p:extLst>
      <p:ext uri="{BB962C8B-B14F-4D97-AF65-F5344CB8AC3E}">
        <p14:creationId xmlns:p14="http://schemas.microsoft.com/office/powerpoint/2010/main" val="3115127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685691" cy="813000"/>
          </a:xfrm>
        </p:spPr>
        <p:txBody>
          <a:bodyPr/>
          <a:lstStyle/>
          <a:p>
            <a:pPr lvl="0" defTabSz="457200">
              <a:defRPr/>
            </a:pPr>
            <a:r>
              <a:rPr lang="es-CL" sz="2800" b="1" dirty="0">
                <a:solidFill>
                  <a:prstClr val="white"/>
                </a:solidFill>
                <a:latin typeface="Calibri"/>
              </a:rPr>
              <a:t>Secuencias versus Columnas Auto-Incrementables</a:t>
            </a:r>
          </a:p>
        </p:txBody>
      </p:sp>
      <p:sp>
        <p:nvSpPr>
          <p:cNvPr id="7" name="Marcador de contenido 1">
            <a:extLst>
              <a:ext uri="{FF2B5EF4-FFF2-40B4-BE49-F238E27FC236}">
                <a16:creationId xmlns:a16="http://schemas.microsoft.com/office/drawing/2014/main" xmlns="" id="{12B60034-69F4-4B6D-8A17-C936BE28360D}"/>
              </a:ext>
            </a:extLst>
          </p:cNvPr>
          <p:cNvSpPr txBox="1">
            <a:spLocks/>
          </p:cNvSpPr>
          <p:nvPr/>
        </p:nvSpPr>
        <p:spPr>
          <a:xfrm>
            <a:off x="590872" y="136020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 secuencia:</a:t>
            </a: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257175" marR="0" lvl="0" indent="-257175" algn="l" defTabSz="3429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lvl="0">
              <a:buClrTx/>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 columna </a:t>
            </a:r>
            <a:r>
              <a:rPr lang="es-MX" dirty="0">
                <a:solidFill>
                  <a:srgbClr val="000000"/>
                </a:solidFill>
                <a:cs typeface="Arial"/>
              </a:rPr>
              <a:t>IDENTITY</a:t>
            </a: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 :</a:t>
            </a:r>
          </a:p>
          <a:p>
            <a:pPr marL="0" marR="0" lvl="0" indent="0" algn="l" defTabSz="3429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102057F6-13F1-48D9-A8BB-CDEA114B16AD}"/>
              </a:ext>
            </a:extLst>
          </p:cNvPr>
          <p:cNvSpPr txBox="1">
            <a:spLocks noChangeArrowheads="1"/>
          </p:cNvSpPr>
          <p:nvPr/>
        </p:nvSpPr>
        <p:spPr bwMode="auto">
          <a:xfrm>
            <a:off x="967024" y="1767126"/>
            <a:ext cx="740888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CREATE SEQUENCE SEQ_INCREMENTO</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MINVALUE 1 </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MAXVALUE 9999999999999999999999999999</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INCREMENT BY 1 START WITH 1 CACHE 20 NOCYCLE;</a:t>
            </a:r>
          </a:p>
          <a:p>
            <a:pPr lvl="0" eaLnBrk="1" hangingPunct="1">
              <a:buClrTx/>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7878DFB2-DB6F-45CA-AB9A-DB39D3C83CDA}"/>
              </a:ext>
            </a:extLst>
          </p:cNvPr>
          <p:cNvSpPr txBox="1">
            <a:spLocks noChangeArrowheads="1"/>
          </p:cNvSpPr>
          <p:nvPr/>
        </p:nvSpPr>
        <p:spPr bwMode="auto">
          <a:xfrm>
            <a:off x="967024" y="4320550"/>
            <a:ext cx="7427168"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CREATE TABLE  TEST_TABLA_INCREMENTAL</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(ID NUMBER(10) GENERATED  ALWAYS AS IDENTITY MINVALUE 1 </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MAXVALUE 9999999999999999999999999999</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INCREMENT BY 1 START WITH 1 CACHE 20 NOCYCLE  NOT NULL ENABLE,</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NAME VARCHAR2(15),</a:t>
            </a:r>
          </a:p>
          <a:p>
            <a:pPr lvl="0" eaLnBrk="1" hangingPunct="1">
              <a:buClrTx/>
              <a:defRPr/>
            </a:pPr>
            <a:r>
              <a:rPr lang="en-US" sz="1600" b="1" dirty="0">
                <a:solidFill>
                  <a:prstClr val="black"/>
                </a:solidFill>
                <a:latin typeface="Calibri" panose="020F0502020204030204" pitchFamily="34" charset="0"/>
                <a:cs typeface="Calibri" panose="020F0502020204030204" pitchFamily="34" charset="0"/>
              </a:rPr>
              <a:t>CONSTRAINT PK_TST_INCREMENTAL PRIMARY KEY(id));</a:t>
            </a:r>
          </a:p>
          <a:p>
            <a:pPr lvl="0" eaLnBrk="1" hangingPunct="1">
              <a:buClrTx/>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5115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469329" cy="813000"/>
          </a:xfrm>
        </p:spPr>
        <p:txBody>
          <a:bodyPr/>
          <a:lstStyle/>
          <a:p>
            <a:pPr lvl="0" defTabSz="457200">
              <a:defRPr/>
            </a:pPr>
            <a:r>
              <a:rPr lang="es-CL" sz="2800" b="1" dirty="0">
                <a:solidFill>
                  <a:prstClr val="white"/>
                </a:solidFill>
                <a:latin typeface="Calibri"/>
              </a:rPr>
              <a:t>Modificando valores de las Secuencias</a:t>
            </a:r>
          </a:p>
        </p:txBody>
      </p:sp>
      <p:pic>
        <p:nvPicPr>
          <p:cNvPr id="4" name="Imagen 3">
            <a:extLst>
              <a:ext uri="{FF2B5EF4-FFF2-40B4-BE49-F238E27FC236}">
                <a16:creationId xmlns:a16="http://schemas.microsoft.com/office/drawing/2014/main" xmlns="" id="{44D6E9B3-4A14-4324-A80A-49D61855B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3877802"/>
            <a:ext cx="6696744" cy="2287502"/>
          </a:xfrm>
          <a:prstGeom prst="rect">
            <a:avLst/>
          </a:prstGeom>
        </p:spPr>
      </p:pic>
      <p:sp>
        <p:nvSpPr>
          <p:cNvPr id="5" name="Rectángulo redondeado 4">
            <a:extLst>
              <a:ext uri="{FF2B5EF4-FFF2-40B4-BE49-F238E27FC236}">
                <a16:creationId xmlns:a16="http://schemas.microsoft.com/office/drawing/2014/main" xmlns="" id="{7084FC48-73F2-477D-98D9-141D1279A630}"/>
              </a:ext>
            </a:extLst>
          </p:cNvPr>
          <p:cNvSpPr/>
          <p:nvPr/>
        </p:nvSpPr>
        <p:spPr>
          <a:xfrm>
            <a:off x="131748" y="1573546"/>
            <a:ext cx="2124000" cy="2160000"/>
          </a:xfrm>
          <a:prstGeom prst="roundRect">
            <a:avLst/>
          </a:prstGeom>
          <a:solidFill>
            <a:srgbClr val="EC700A"/>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rIns="0" rtlCol="0" anchor="ctr"/>
          <a:lstStyle/>
          <a:p>
            <a:pPr marL="0" marR="0" lvl="0" indent="0" algn="ctr" defTabSz="342900" eaLnBrk="1" fontAlgn="auto" latinLnBrk="0" hangingPunct="1">
              <a:lnSpc>
                <a:spcPct val="100000"/>
              </a:lnSpc>
              <a:spcBef>
                <a:spcPts val="0"/>
              </a:spcBef>
              <a:spcAft>
                <a:spcPts val="0"/>
              </a:spcAft>
              <a:buClrTx/>
              <a:buSzTx/>
              <a:buFontTx/>
              <a:buNone/>
              <a:tabLst/>
              <a:defRPr/>
            </a:pPr>
            <a:r>
              <a:rPr kumimoji="0" lang="es-CL" sz="1800" b="1" i="0" u="none" strike="noStrike" kern="0" cap="none" spc="0" normalizeH="0" baseline="0" noProof="0" dirty="0">
                <a:ln>
                  <a:noFill/>
                </a:ln>
                <a:solidFill>
                  <a:prstClr val="white"/>
                </a:solidFill>
                <a:effectLst/>
                <a:uLnTx/>
                <a:uFillTx/>
                <a:latin typeface="Calibri"/>
                <a:ea typeface="+mn-ea"/>
                <a:cs typeface="Arial" pitchFamily="34" charset="0"/>
              </a:rPr>
              <a:t>Debe ser el dueño o tener el privilegio ALTER SEQUENCE o DROP ANY SEQUENCE de la secuencia</a:t>
            </a:r>
            <a:endParaRPr kumimoji="0" lang="es-CL" sz="1800" b="0" i="0" u="none" strike="noStrike" kern="0" cap="none" spc="0" normalizeH="0" baseline="0" noProof="0" dirty="0">
              <a:ln>
                <a:noFill/>
              </a:ln>
              <a:solidFill>
                <a:prstClr val="white"/>
              </a:solidFill>
              <a:effectLst/>
              <a:uLnTx/>
              <a:uFillTx/>
              <a:latin typeface="Calibri"/>
              <a:ea typeface="+mn-ea"/>
              <a:cs typeface="Arial" panose="020B0604020202020204" pitchFamily="34" charset="0"/>
            </a:endParaRPr>
          </a:p>
        </p:txBody>
      </p:sp>
      <p:sp>
        <p:nvSpPr>
          <p:cNvPr id="7" name="Rectángulo redondeado 4">
            <a:extLst>
              <a:ext uri="{FF2B5EF4-FFF2-40B4-BE49-F238E27FC236}">
                <a16:creationId xmlns:a16="http://schemas.microsoft.com/office/drawing/2014/main" xmlns="" id="{766F589A-FD3E-4214-BDDD-3D9BD0094CDB}"/>
              </a:ext>
            </a:extLst>
          </p:cNvPr>
          <p:cNvSpPr/>
          <p:nvPr/>
        </p:nvSpPr>
        <p:spPr>
          <a:xfrm>
            <a:off x="2411760" y="1573546"/>
            <a:ext cx="2124000" cy="216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800" b="1" i="0" u="none" strike="noStrike" kern="0" cap="none" spc="0" normalizeH="0" baseline="0" noProof="0" dirty="0">
                <a:ln>
                  <a:noFill/>
                </a:ln>
                <a:solidFill>
                  <a:srgbClr val="FFFFFF"/>
                </a:solidFill>
                <a:effectLst/>
                <a:uLnTx/>
                <a:uFillTx/>
                <a:latin typeface="Calibri"/>
                <a:ea typeface="+mn-ea"/>
                <a:cs typeface="Arial" panose="020B0604020202020204" pitchFamily="34" charset="0"/>
              </a:rPr>
              <a:t> </a:t>
            </a:r>
            <a:r>
              <a:rPr kumimoji="0" lang="es-CL" sz="1800" b="1" i="0" u="none" strike="noStrike" kern="0" cap="none" spc="0" normalizeH="0" baseline="0" noProof="0" dirty="0">
                <a:ln>
                  <a:noFill/>
                </a:ln>
                <a:solidFill>
                  <a:prstClr val="white"/>
                </a:solidFill>
                <a:effectLst/>
                <a:uLnTx/>
                <a:uFillTx/>
                <a:latin typeface="Calibri"/>
                <a:ea typeface="+mn-ea"/>
                <a:cs typeface="Arial" pitchFamily="34" charset="0"/>
              </a:rPr>
              <a:t>Solo los números futuros de la secuencia se ven afectados</a:t>
            </a:r>
            <a:endParaRPr kumimoji="0" lang="es-CL" sz="1800" b="1" i="0" u="none" strike="noStrike" kern="0" cap="none" spc="0" normalizeH="0" baseline="0" noProof="0" dirty="0">
              <a:ln>
                <a:noFill/>
              </a:ln>
              <a:solidFill>
                <a:srgbClr val="FFFFFF"/>
              </a:solidFill>
              <a:effectLst/>
              <a:uLnTx/>
              <a:uFillTx/>
              <a:latin typeface="Calibri"/>
              <a:ea typeface="+mn-ea"/>
              <a:cs typeface="Arial" panose="020B0604020202020204" pitchFamily="34" charset="0"/>
            </a:endParaRPr>
          </a:p>
        </p:txBody>
      </p:sp>
      <p:sp>
        <p:nvSpPr>
          <p:cNvPr id="8" name="Rectángulo redondeado 4">
            <a:extLst>
              <a:ext uri="{FF2B5EF4-FFF2-40B4-BE49-F238E27FC236}">
                <a16:creationId xmlns:a16="http://schemas.microsoft.com/office/drawing/2014/main" xmlns="" id="{1824F426-34C1-4B4F-8ADB-C1A680F6E723}"/>
              </a:ext>
            </a:extLst>
          </p:cNvPr>
          <p:cNvSpPr/>
          <p:nvPr/>
        </p:nvSpPr>
        <p:spPr>
          <a:xfrm>
            <a:off x="4646536" y="1573546"/>
            <a:ext cx="2124000" cy="2160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800" b="1" i="0" u="none" strike="noStrike" kern="0" cap="none" spc="0" normalizeH="0" baseline="0" noProof="0" dirty="0">
                <a:ln>
                  <a:noFill/>
                </a:ln>
                <a:solidFill>
                  <a:srgbClr val="FFFFFF"/>
                </a:solidFill>
                <a:effectLst/>
                <a:uLnTx/>
                <a:uFillTx/>
                <a:latin typeface="Calibri"/>
                <a:ea typeface="+mn-ea"/>
                <a:cs typeface="Arial" panose="020B0604020202020204" pitchFamily="34" charset="0"/>
              </a:rPr>
              <a:t>Se debe eliminar y volver a crear la secuencia si se desea reiniciar en un valor diferente</a:t>
            </a:r>
            <a:endParaRPr kumimoji="0" lang="es-CL" sz="1800" b="1" i="0" u="none" strike="noStrike" kern="0" cap="none" spc="0" normalizeH="0" baseline="0" noProof="0" dirty="0">
              <a:ln>
                <a:noFill/>
              </a:ln>
              <a:solidFill>
                <a:prstClr val="white"/>
              </a:solidFill>
              <a:effectLst/>
              <a:uLnTx/>
              <a:uFillTx/>
              <a:latin typeface="Calibri"/>
              <a:ea typeface="+mn-ea"/>
              <a:cs typeface="Arial" pitchFamily="34" charset="0"/>
            </a:endParaRPr>
          </a:p>
        </p:txBody>
      </p:sp>
      <p:sp>
        <p:nvSpPr>
          <p:cNvPr id="9" name="Rectángulo redondeado 4">
            <a:extLst>
              <a:ext uri="{FF2B5EF4-FFF2-40B4-BE49-F238E27FC236}">
                <a16:creationId xmlns:a16="http://schemas.microsoft.com/office/drawing/2014/main" xmlns="" id="{1DC15C98-B617-43F9-A1D5-3756E2875F56}"/>
              </a:ext>
            </a:extLst>
          </p:cNvPr>
          <p:cNvSpPr/>
          <p:nvPr/>
        </p:nvSpPr>
        <p:spPr>
          <a:xfrm>
            <a:off x="6896442" y="1573546"/>
            <a:ext cx="2124000" cy="2160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CL" sz="1800" b="1" i="0" u="none" strike="noStrike" kern="0" cap="none" spc="0" normalizeH="0" baseline="0" noProof="0" dirty="0">
                <a:ln>
                  <a:noFill/>
                </a:ln>
                <a:solidFill>
                  <a:srgbClr val="FFFFFF"/>
                </a:solidFill>
                <a:effectLst/>
                <a:uLnTx/>
                <a:uFillTx/>
                <a:latin typeface="Calibri"/>
                <a:ea typeface="+mn-ea"/>
                <a:cs typeface="Arial" panose="020B0604020202020204" pitchFamily="34" charset="0"/>
              </a:rPr>
              <a:t>Al modificar una secuencia, Oracle efectúa algunas validaciones</a:t>
            </a:r>
          </a:p>
        </p:txBody>
      </p:sp>
    </p:spTree>
    <p:extLst>
      <p:ext uri="{BB962C8B-B14F-4D97-AF65-F5344CB8AC3E}">
        <p14:creationId xmlns:p14="http://schemas.microsoft.com/office/powerpoint/2010/main" val="3798463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26671" y="212725"/>
            <a:ext cx="4469329" cy="813000"/>
          </a:xfrm>
        </p:spPr>
        <p:txBody>
          <a:bodyPr/>
          <a:lstStyle/>
          <a:p>
            <a:pPr lvl="0" defTabSz="457200">
              <a:defRPr/>
            </a:pPr>
            <a:r>
              <a:rPr lang="es-CL" sz="2800" b="1" dirty="0">
                <a:solidFill>
                  <a:prstClr val="white"/>
                </a:solidFill>
                <a:latin typeface="Calibri"/>
              </a:rPr>
              <a:t>Modificando valores de las Secuencias</a:t>
            </a:r>
          </a:p>
        </p:txBody>
      </p:sp>
      <p:sp>
        <p:nvSpPr>
          <p:cNvPr id="6" name="Marcador de contenido 1">
            <a:extLst>
              <a:ext uri="{FF2B5EF4-FFF2-40B4-BE49-F238E27FC236}">
                <a16:creationId xmlns:a16="http://schemas.microsoft.com/office/drawing/2014/main" xmlns="" id="{3C5BAA5C-CB1C-46BD-99ED-728A9E346103}"/>
              </a:ext>
            </a:extLst>
          </p:cNvPr>
          <p:cNvSpPr txBox="1">
            <a:spLocks/>
          </p:cNvSpPr>
          <p:nvPr/>
        </p:nvSpPr>
        <p:spPr>
          <a:xfrm>
            <a:off x="611560" y="135681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a:t>
            </a: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A42FF246-C20D-4D65-97E9-5175FDFECB93}"/>
              </a:ext>
            </a:extLst>
          </p:cNvPr>
          <p:cNvSpPr txBox="1">
            <a:spLocks noChangeArrowheads="1"/>
          </p:cNvSpPr>
          <p:nvPr/>
        </p:nvSpPr>
        <p:spPr bwMode="auto">
          <a:xfrm>
            <a:off x="1259632" y="1700808"/>
            <a:ext cx="6048672"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ALTER SEQUENCE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seq_dept_deptid</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INCREMENT BY 5</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MAXVALUE 999999999</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NOCACHE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NOCYCLE;</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1" name="Text Box 5">
            <a:extLst>
              <a:ext uri="{FF2B5EF4-FFF2-40B4-BE49-F238E27FC236}">
                <a16:creationId xmlns:a16="http://schemas.microsoft.com/office/drawing/2014/main" xmlns="" id="{DF68B0CC-8B31-4753-AE35-3D725FE9813E}"/>
              </a:ext>
            </a:extLst>
          </p:cNvPr>
          <p:cNvSpPr txBox="1">
            <a:spLocks noChangeArrowheads="1"/>
          </p:cNvSpPr>
          <p:nvPr/>
        </p:nvSpPr>
        <p:spPr bwMode="auto">
          <a:xfrm>
            <a:off x="1259632" y="3789040"/>
            <a:ext cx="60486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DROP SEQUENCE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seq_dept_deptid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2" name="Text Box 5">
            <a:extLst>
              <a:ext uri="{FF2B5EF4-FFF2-40B4-BE49-F238E27FC236}">
                <a16:creationId xmlns:a16="http://schemas.microsoft.com/office/drawing/2014/main" xmlns="" id="{44CC5E88-8D05-4BBE-8B9A-19898DDD9E25}"/>
              </a:ext>
            </a:extLst>
          </p:cNvPr>
          <p:cNvSpPr txBox="1">
            <a:spLocks noChangeArrowheads="1"/>
          </p:cNvSpPr>
          <p:nvPr/>
        </p:nvSpPr>
        <p:spPr bwMode="auto">
          <a:xfrm>
            <a:off x="1259632" y="4565446"/>
            <a:ext cx="6048672"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SEQUENCE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seq_dept_deptid</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INCREMENT BY 5</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START WITH 5</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MAXVALUE 999999999</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NOCACHE</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NOCYCLE;</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6105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817646"/>
            <a:ext cx="6499771" cy="1499419"/>
          </a:xfrm>
        </p:spPr>
        <p:txBody>
          <a:bodyPr/>
          <a:lstStyle/>
          <a:p>
            <a:r>
              <a:rPr lang="es-ES_tradnl" sz="4800" b="1" dirty="0"/>
              <a:t>Creación y Uso de Sinónimos</a:t>
            </a:r>
          </a:p>
        </p:txBody>
      </p:sp>
      <p:sp>
        <p:nvSpPr>
          <p:cNvPr id="3" name="CuadroTexto 1">
            <a:extLst>
              <a:ext uri="{FF2B5EF4-FFF2-40B4-BE49-F238E27FC236}">
                <a16:creationId xmlns:a16="http://schemas.microsoft.com/office/drawing/2014/main" xmlns="" id="{AE9000D1-408F-4E5D-A4A3-ABF94D7B5FE8}"/>
              </a:ext>
            </a:extLst>
          </p:cNvPr>
          <p:cNvSpPr txBox="1"/>
          <p:nvPr/>
        </p:nvSpPr>
        <p:spPr>
          <a:xfrm>
            <a:off x="1418724" y="6012094"/>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 creación de sinónimos se realiza simulando ser el Administrador de Base de Datos</a:t>
            </a:r>
            <a:endParaRPr lang="es-CL" sz="1200" b="1" dirty="0">
              <a:solidFill>
                <a:schemeClr val="bg1"/>
              </a:solidFill>
            </a:endParaRPr>
          </a:p>
        </p:txBody>
      </p:sp>
    </p:spTree>
    <p:extLst>
      <p:ext uri="{BB962C8B-B14F-4D97-AF65-F5344CB8AC3E}">
        <p14:creationId xmlns:p14="http://schemas.microsoft.com/office/powerpoint/2010/main" val="3726567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Objeto Sinónimo</a:t>
            </a:r>
          </a:p>
        </p:txBody>
      </p:sp>
      <p:pic>
        <p:nvPicPr>
          <p:cNvPr id="4" name="Imagen 3">
            <a:extLst>
              <a:ext uri="{FF2B5EF4-FFF2-40B4-BE49-F238E27FC236}">
                <a16:creationId xmlns:a16="http://schemas.microsoft.com/office/drawing/2014/main" xmlns="" id="{0347C0E3-C567-437D-86F9-6A001ACAA3E5}"/>
              </a:ext>
            </a:extLst>
          </p:cNvPr>
          <p:cNvPicPr>
            <a:picLocks noChangeAspect="1"/>
          </p:cNvPicPr>
          <p:nvPr/>
        </p:nvPicPr>
        <p:blipFill>
          <a:blip r:embed="rId3"/>
          <a:stretch>
            <a:fillRect/>
          </a:stretch>
        </p:blipFill>
        <p:spPr>
          <a:xfrm>
            <a:off x="88251" y="1214005"/>
            <a:ext cx="8980186" cy="5090601"/>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Objeto Sinónimo</a:t>
            </a:r>
          </a:p>
        </p:txBody>
      </p:sp>
      <p:graphicFrame>
        <p:nvGraphicFramePr>
          <p:cNvPr id="12" name="Tabla 11">
            <a:extLst>
              <a:ext uri="{FF2B5EF4-FFF2-40B4-BE49-F238E27FC236}">
                <a16:creationId xmlns:a16="http://schemas.microsoft.com/office/drawing/2014/main" xmlns="" id="{0F1143B7-4FCD-4BFE-B6DF-593A58ED149A}"/>
              </a:ext>
            </a:extLst>
          </p:cNvPr>
          <p:cNvGraphicFramePr>
            <a:graphicFrameLocks noGrp="1"/>
          </p:cNvGraphicFramePr>
          <p:nvPr>
            <p:extLst>
              <p:ext uri="{D42A27DB-BD31-4B8C-83A1-F6EECF244321}">
                <p14:modId xmlns:p14="http://schemas.microsoft.com/office/powerpoint/2010/main" val="677390475"/>
              </p:ext>
            </p:extLst>
          </p:nvPr>
        </p:nvGraphicFramePr>
        <p:xfrm>
          <a:off x="155716" y="3013990"/>
          <a:ext cx="4169827" cy="1463040"/>
        </p:xfrm>
        <a:graphic>
          <a:graphicData uri="http://schemas.openxmlformats.org/drawingml/2006/table">
            <a:tbl>
              <a:tblPr firstRow="1" bandRow="1">
                <a:effectLst>
                  <a:outerShdw blurRad="50800" dist="38100" algn="l" rotWithShape="0">
                    <a:prstClr val="black">
                      <a:alpha val="40000"/>
                    </a:prstClr>
                  </a:outerShdw>
                </a:effectLst>
              </a:tblPr>
              <a:tblGrid>
                <a:gridCol w="4169827">
                  <a:extLst>
                    <a:ext uri="{9D8B030D-6E8A-4147-A177-3AD203B41FA5}">
                      <a16:colId xmlns:a16="http://schemas.microsoft.com/office/drawing/2014/main" xmlns="" val="20000"/>
                    </a:ext>
                  </a:extLst>
                </a:gridCol>
              </a:tblGrid>
              <a:tr h="1463040">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algn="ctr"/>
                      <a:r>
                        <a:rPr lang="es-CL" sz="1600" b="1" dirty="0">
                          <a:latin typeface="Calibri" panose="020F0502020204030204" pitchFamily="34" charset="0"/>
                          <a:cs typeface="Calibri" panose="020F0502020204030204" pitchFamily="34" charset="0"/>
                        </a:rPr>
                        <a:t>Pueden ser usados por cualquier usuario de la base de datos (sinónimo público) o sólo por un usuario (sinónimo privado). Previamente, el usuario debe tener privilegio para usar el objeto referenciado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993300"/>
                    </a:solidFill>
                  </a:tcPr>
                </a:tc>
                <a:extLst>
                  <a:ext uri="{0D108BD9-81ED-4DB2-BD59-A6C34878D82A}">
                    <a16:rowId xmlns:a16="http://schemas.microsoft.com/office/drawing/2014/main" xmlns="" val="10000"/>
                  </a:ext>
                </a:extLst>
              </a:tr>
            </a:tbl>
          </a:graphicData>
        </a:graphic>
      </p:graphicFrame>
      <p:graphicFrame>
        <p:nvGraphicFramePr>
          <p:cNvPr id="13" name="Tabla 12">
            <a:extLst>
              <a:ext uri="{FF2B5EF4-FFF2-40B4-BE49-F238E27FC236}">
                <a16:creationId xmlns:a16="http://schemas.microsoft.com/office/drawing/2014/main" xmlns="" id="{4940171D-7068-4107-8D78-A48D57BF8C84}"/>
              </a:ext>
            </a:extLst>
          </p:cNvPr>
          <p:cNvGraphicFramePr>
            <a:graphicFrameLocks noGrp="1"/>
          </p:cNvGraphicFramePr>
          <p:nvPr>
            <p:extLst>
              <p:ext uri="{D42A27DB-BD31-4B8C-83A1-F6EECF244321}">
                <p14:modId xmlns:p14="http://schemas.microsoft.com/office/powerpoint/2010/main" val="9611560"/>
              </p:ext>
            </p:extLst>
          </p:nvPr>
        </p:nvGraphicFramePr>
        <p:xfrm>
          <a:off x="4770931" y="1376185"/>
          <a:ext cx="4169829" cy="1463040"/>
        </p:xfrm>
        <a:graphic>
          <a:graphicData uri="http://schemas.openxmlformats.org/drawingml/2006/table">
            <a:tbl>
              <a:tblPr firstRow="1" bandRow="1">
                <a:effectLst>
                  <a:outerShdw blurRad="50800" dist="38100" algn="l" rotWithShape="0">
                    <a:prstClr val="black">
                      <a:alpha val="40000"/>
                    </a:prstClr>
                  </a:outerShdw>
                </a:effectLst>
              </a:tblPr>
              <a:tblGrid>
                <a:gridCol w="4169829">
                  <a:extLst>
                    <a:ext uri="{9D8B030D-6E8A-4147-A177-3AD203B41FA5}">
                      <a16:colId xmlns:a16="http://schemas.microsoft.com/office/drawing/2014/main" xmlns="" val="20000"/>
                    </a:ext>
                  </a:extLst>
                </a:gridCol>
              </a:tblGrid>
              <a:tr h="1463040">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algn="ctr">
                        <a:defRPr/>
                      </a:pPr>
                      <a:r>
                        <a:rPr lang="es-CL" sz="1600" b="1" dirty="0">
                          <a:solidFill>
                            <a:srgbClr val="FFFFFF"/>
                          </a:solidFill>
                          <a:latin typeface="Calibri" panose="020F0502020204030204" pitchFamily="34" charset="0"/>
                          <a:cs typeface="Calibri" panose="020F0502020204030204" pitchFamily="34" charset="0"/>
                        </a:rPr>
                        <a:t>Proporciona independencia de los datos, objetos y de la ubicación en donde se encuentren. Esto permite también controlar el acceso a los objetos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a16="http://schemas.microsoft.com/office/drawing/2014/main" xmlns="" val="10000"/>
                  </a:ext>
                </a:extLst>
              </a:tr>
            </a:tbl>
          </a:graphicData>
        </a:graphic>
      </p:graphicFrame>
      <p:graphicFrame>
        <p:nvGraphicFramePr>
          <p:cNvPr id="14" name="Tabla 13">
            <a:extLst>
              <a:ext uri="{FF2B5EF4-FFF2-40B4-BE49-F238E27FC236}">
                <a16:creationId xmlns:a16="http://schemas.microsoft.com/office/drawing/2014/main" xmlns="" id="{23F6AF83-E02F-4720-860B-FF60E81B8A1D}"/>
              </a:ext>
            </a:extLst>
          </p:cNvPr>
          <p:cNvGraphicFramePr>
            <a:graphicFrameLocks noGrp="1"/>
          </p:cNvGraphicFramePr>
          <p:nvPr>
            <p:extLst>
              <p:ext uri="{D42A27DB-BD31-4B8C-83A1-F6EECF244321}">
                <p14:modId xmlns:p14="http://schemas.microsoft.com/office/powerpoint/2010/main" val="4109449883"/>
              </p:ext>
            </p:extLst>
          </p:nvPr>
        </p:nvGraphicFramePr>
        <p:xfrm>
          <a:off x="155716" y="4688553"/>
          <a:ext cx="4169829" cy="1463040"/>
        </p:xfrm>
        <a:graphic>
          <a:graphicData uri="http://schemas.openxmlformats.org/drawingml/2006/table">
            <a:tbl>
              <a:tblPr firstRow="1" bandRow="1">
                <a:effectLst>
                  <a:outerShdw blurRad="50800" dist="38100" algn="l" rotWithShape="0">
                    <a:prstClr val="black">
                      <a:alpha val="40000"/>
                    </a:prstClr>
                  </a:outerShdw>
                </a:effectLst>
              </a:tblPr>
              <a:tblGrid>
                <a:gridCol w="4169829">
                  <a:extLst>
                    <a:ext uri="{9D8B030D-6E8A-4147-A177-3AD203B41FA5}">
                      <a16:colId xmlns:a16="http://schemas.microsoft.com/office/drawing/2014/main" xmlns="" val="20000"/>
                    </a:ext>
                  </a:extLst>
                </a:gridCol>
              </a:tblGrid>
              <a:tr h="1463040">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algn="ctr"/>
                      <a:r>
                        <a:rPr lang="es-CL" sz="1600" b="1" dirty="0">
                          <a:solidFill>
                            <a:srgbClr val="FFFFFF"/>
                          </a:solidFill>
                          <a:latin typeface="Calibri" panose="020F0502020204030204" pitchFamily="34" charset="0"/>
                          <a:cs typeface="Calibri" panose="020F0502020204030204" pitchFamily="34" charset="0"/>
                        </a:rPr>
                        <a:t>Pueden ser usado en sentencias DML y DDL, creando una dependencia con el objeto al que referencia</a:t>
                      </a:r>
                      <a:endParaRPr lang="es-CL" sz="16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86A33F"/>
                    </a:solidFill>
                  </a:tcPr>
                </a:tc>
                <a:extLst>
                  <a:ext uri="{0D108BD9-81ED-4DB2-BD59-A6C34878D82A}">
                    <a16:rowId xmlns:a16="http://schemas.microsoft.com/office/drawing/2014/main" xmlns="" val="10000"/>
                  </a:ext>
                </a:extLst>
              </a:tr>
            </a:tbl>
          </a:graphicData>
        </a:graphic>
      </p:graphicFrame>
      <p:graphicFrame>
        <p:nvGraphicFramePr>
          <p:cNvPr id="15" name="Tabla 14">
            <a:extLst>
              <a:ext uri="{FF2B5EF4-FFF2-40B4-BE49-F238E27FC236}">
                <a16:creationId xmlns:a16="http://schemas.microsoft.com/office/drawing/2014/main" xmlns="" id="{8D9E95D3-C5A0-4681-A386-DD3C4F81BA27}"/>
              </a:ext>
            </a:extLst>
          </p:cNvPr>
          <p:cNvGraphicFramePr>
            <a:graphicFrameLocks noGrp="1"/>
          </p:cNvGraphicFramePr>
          <p:nvPr>
            <p:extLst>
              <p:ext uri="{D42A27DB-BD31-4B8C-83A1-F6EECF244321}">
                <p14:modId xmlns:p14="http://schemas.microsoft.com/office/powerpoint/2010/main" val="1378283304"/>
              </p:ext>
            </p:extLst>
          </p:nvPr>
        </p:nvGraphicFramePr>
        <p:xfrm>
          <a:off x="155716" y="1376185"/>
          <a:ext cx="4169829" cy="1463040"/>
        </p:xfrm>
        <a:graphic>
          <a:graphicData uri="http://schemas.openxmlformats.org/drawingml/2006/table">
            <a:tbl>
              <a:tblPr firstRow="1" bandRow="1">
                <a:effectLst>
                  <a:outerShdw blurRad="50800" dist="38100" algn="l" rotWithShape="0">
                    <a:prstClr val="black">
                      <a:alpha val="40000"/>
                    </a:prstClr>
                  </a:outerShdw>
                </a:effectLst>
              </a:tblPr>
              <a:tblGrid>
                <a:gridCol w="4169829">
                  <a:extLst>
                    <a:ext uri="{9D8B030D-6E8A-4147-A177-3AD203B41FA5}">
                      <a16:colId xmlns:a16="http://schemas.microsoft.com/office/drawing/2014/main" xmlns="" val="20000"/>
                    </a:ext>
                  </a:extLst>
                </a:gridCol>
              </a:tblGrid>
              <a:tr h="1463040">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s-CL" sz="1600" b="1" dirty="0">
                          <a:latin typeface="Calibri" panose="020F0502020204030204" pitchFamily="34" charset="0"/>
                          <a:cs typeface="Calibri" panose="020F0502020204030204" pitchFamily="34" charset="0"/>
                        </a:rPr>
                        <a:t>Es un nombre alternativo que simplifica el acceso a objetos creados en la base de datos También puede tener el mismo nombre del objeto</a:t>
                      </a:r>
                      <a:endParaRPr lang="es-CL" sz="16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17365F"/>
                    </a:solidFill>
                  </a:tcPr>
                </a:tc>
                <a:extLst>
                  <a:ext uri="{0D108BD9-81ED-4DB2-BD59-A6C34878D82A}">
                    <a16:rowId xmlns:a16="http://schemas.microsoft.com/office/drawing/2014/main" xmlns="" val="10000"/>
                  </a:ext>
                </a:extLst>
              </a:tr>
            </a:tbl>
          </a:graphicData>
        </a:graphic>
      </p:graphicFrame>
      <p:graphicFrame>
        <p:nvGraphicFramePr>
          <p:cNvPr id="16" name="Tabla 15">
            <a:extLst>
              <a:ext uri="{FF2B5EF4-FFF2-40B4-BE49-F238E27FC236}">
                <a16:creationId xmlns:a16="http://schemas.microsoft.com/office/drawing/2014/main" xmlns="" id="{88768208-BE42-432B-A5A4-4DB30EB16078}"/>
              </a:ext>
            </a:extLst>
          </p:cNvPr>
          <p:cNvGraphicFramePr>
            <a:graphicFrameLocks noGrp="1"/>
          </p:cNvGraphicFramePr>
          <p:nvPr>
            <p:extLst>
              <p:ext uri="{D42A27DB-BD31-4B8C-83A1-F6EECF244321}">
                <p14:modId xmlns:p14="http://schemas.microsoft.com/office/powerpoint/2010/main" val="36616532"/>
              </p:ext>
            </p:extLst>
          </p:nvPr>
        </p:nvGraphicFramePr>
        <p:xfrm>
          <a:off x="4770933" y="3013990"/>
          <a:ext cx="4169827" cy="1444661"/>
        </p:xfrm>
        <a:graphic>
          <a:graphicData uri="http://schemas.openxmlformats.org/drawingml/2006/table">
            <a:tbl>
              <a:tblPr firstRow="1" bandRow="1">
                <a:effectLst>
                  <a:outerShdw blurRad="50800" dist="38100" algn="l" rotWithShape="0">
                    <a:prstClr val="black">
                      <a:alpha val="40000"/>
                    </a:prstClr>
                  </a:outerShdw>
                </a:effectLst>
              </a:tblPr>
              <a:tblGrid>
                <a:gridCol w="4169827">
                  <a:extLst>
                    <a:ext uri="{9D8B030D-6E8A-4147-A177-3AD203B41FA5}">
                      <a16:colId xmlns:a16="http://schemas.microsoft.com/office/drawing/2014/main" xmlns="" val="20000"/>
                    </a:ext>
                  </a:extLst>
                </a:gridCol>
              </a:tblGrid>
              <a:tr h="1444661">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algn="ctr">
                        <a:defRPr/>
                      </a:pPr>
                      <a:r>
                        <a:rPr lang="es-CL" sz="1600" b="1" dirty="0">
                          <a:solidFill>
                            <a:srgbClr val="FFFFFF"/>
                          </a:solidFill>
                          <a:latin typeface="Calibri" panose="020F0502020204030204" pitchFamily="34" charset="0"/>
                          <a:cs typeface="Calibri" panose="020F0502020204030204" pitchFamily="34" charset="0"/>
                        </a:rPr>
                        <a:t>La aplicación no requiere ser modificada si el sinónimo referencia a objeto diferente en algún momento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B9443F"/>
                    </a:solidFill>
                  </a:tcPr>
                </a:tc>
                <a:extLst>
                  <a:ext uri="{0D108BD9-81ED-4DB2-BD59-A6C34878D82A}">
                    <a16:rowId xmlns:a16="http://schemas.microsoft.com/office/drawing/2014/main" xmlns="" val="10000"/>
                  </a:ext>
                </a:extLst>
              </a:tr>
            </a:tbl>
          </a:graphicData>
        </a:graphic>
      </p:graphicFrame>
      <p:graphicFrame>
        <p:nvGraphicFramePr>
          <p:cNvPr id="17" name="Tabla 16">
            <a:extLst>
              <a:ext uri="{FF2B5EF4-FFF2-40B4-BE49-F238E27FC236}">
                <a16:creationId xmlns:a16="http://schemas.microsoft.com/office/drawing/2014/main" xmlns="" id="{CC1B57E6-01C4-4AEF-A8BB-70A2DF3FEC2D}"/>
              </a:ext>
            </a:extLst>
          </p:cNvPr>
          <p:cNvGraphicFramePr>
            <a:graphicFrameLocks noGrp="1"/>
          </p:cNvGraphicFramePr>
          <p:nvPr>
            <p:extLst>
              <p:ext uri="{D42A27DB-BD31-4B8C-83A1-F6EECF244321}">
                <p14:modId xmlns:p14="http://schemas.microsoft.com/office/powerpoint/2010/main" val="542486493"/>
              </p:ext>
            </p:extLst>
          </p:nvPr>
        </p:nvGraphicFramePr>
        <p:xfrm>
          <a:off x="4792963" y="4688553"/>
          <a:ext cx="4169827" cy="1463040"/>
        </p:xfrm>
        <a:graphic>
          <a:graphicData uri="http://schemas.openxmlformats.org/drawingml/2006/table">
            <a:tbl>
              <a:tblPr firstRow="1" bandRow="1">
                <a:effectLst>
                  <a:outerShdw blurRad="50800" dist="38100" algn="l" rotWithShape="0">
                    <a:prstClr val="black">
                      <a:alpha val="40000"/>
                    </a:prstClr>
                  </a:outerShdw>
                </a:effectLst>
              </a:tblPr>
              <a:tblGrid>
                <a:gridCol w="4169827">
                  <a:extLst>
                    <a:ext uri="{9D8B030D-6E8A-4147-A177-3AD203B41FA5}">
                      <a16:colId xmlns:a16="http://schemas.microsoft.com/office/drawing/2014/main" xmlns="" val="20000"/>
                    </a:ext>
                  </a:extLst>
                </a:gridCol>
              </a:tblGrid>
              <a:tr h="1463040">
                <a:tc>
                  <a:txBody>
                    <a:bodyPr/>
                    <a:lstStyle>
                      <a:lvl1pPr marL="0" algn="l" defTabSz="457200" rtl="0" eaLnBrk="1" latinLnBrk="0" hangingPunct="1">
                        <a:defRPr sz="1800" b="1" kern="1200">
                          <a:solidFill>
                            <a:schemeClr val="lt1"/>
                          </a:solidFill>
                          <a:latin typeface="Calibri"/>
                        </a:defRPr>
                      </a:lvl1pPr>
                      <a:lvl2pPr marL="457200" algn="l" defTabSz="457200" rtl="0" eaLnBrk="1" latinLnBrk="0" hangingPunct="1">
                        <a:defRPr sz="1800" b="1" kern="1200">
                          <a:solidFill>
                            <a:schemeClr val="lt1"/>
                          </a:solidFill>
                          <a:latin typeface="Calibri"/>
                        </a:defRPr>
                      </a:lvl2pPr>
                      <a:lvl3pPr marL="914400" algn="l" defTabSz="457200" rtl="0" eaLnBrk="1" latinLnBrk="0" hangingPunct="1">
                        <a:defRPr sz="1800" b="1" kern="1200">
                          <a:solidFill>
                            <a:schemeClr val="lt1"/>
                          </a:solidFill>
                          <a:latin typeface="Calibri"/>
                        </a:defRPr>
                      </a:lvl3pPr>
                      <a:lvl4pPr marL="1371600" algn="l" defTabSz="457200" rtl="0" eaLnBrk="1" latinLnBrk="0" hangingPunct="1">
                        <a:defRPr sz="1800" b="1" kern="1200">
                          <a:solidFill>
                            <a:schemeClr val="lt1"/>
                          </a:solidFill>
                          <a:latin typeface="Calibri"/>
                        </a:defRPr>
                      </a:lvl4pPr>
                      <a:lvl5pPr marL="1828800" algn="l" defTabSz="457200" rtl="0" eaLnBrk="1" latinLnBrk="0" hangingPunct="1">
                        <a:defRPr sz="1800" b="1" kern="1200">
                          <a:solidFill>
                            <a:schemeClr val="lt1"/>
                          </a:solidFill>
                          <a:latin typeface="Calibri"/>
                        </a:defRPr>
                      </a:lvl5pPr>
                      <a:lvl6pPr marL="2286000" algn="l" defTabSz="457200" rtl="0" eaLnBrk="1" latinLnBrk="0" hangingPunct="1">
                        <a:defRPr sz="1800" b="1" kern="1200">
                          <a:solidFill>
                            <a:schemeClr val="lt1"/>
                          </a:solidFill>
                          <a:latin typeface="Calibri"/>
                        </a:defRPr>
                      </a:lvl6pPr>
                      <a:lvl7pPr marL="2743200" algn="l" defTabSz="457200" rtl="0" eaLnBrk="1" latinLnBrk="0" hangingPunct="1">
                        <a:defRPr sz="1800" b="1" kern="1200">
                          <a:solidFill>
                            <a:schemeClr val="lt1"/>
                          </a:solidFill>
                          <a:latin typeface="Calibri"/>
                        </a:defRPr>
                      </a:lvl7pPr>
                      <a:lvl8pPr marL="3200400" algn="l" defTabSz="457200" rtl="0" eaLnBrk="1" latinLnBrk="0" hangingPunct="1">
                        <a:defRPr sz="1800" b="1" kern="1200">
                          <a:solidFill>
                            <a:schemeClr val="lt1"/>
                          </a:solidFill>
                          <a:latin typeface="Calibri"/>
                        </a:defRPr>
                      </a:lvl8pPr>
                      <a:lvl9pPr marL="3657600" algn="l" defTabSz="457200" rtl="0" eaLnBrk="1" latinLnBrk="0" hangingPunct="1">
                        <a:defRPr sz="1800" b="1" kern="1200">
                          <a:solidFill>
                            <a:schemeClr val="lt1"/>
                          </a:solidFill>
                          <a:latin typeface="Calibri"/>
                        </a:defRPr>
                      </a:lvl9pPr>
                    </a:lstStyle>
                    <a:p>
                      <a:pPr marL="0" marR="0" indent="0" algn="ctr" defTabSz="342900" rtl="0" eaLnBrk="1" fontAlgn="auto" latinLnBrk="0" hangingPunct="1">
                        <a:lnSpc>
                          <a:spcPct val="100000"/>
                        </a:lnSpc>
                        <a:spcBef>
                          <a:spcPts val="0"/>
                        </a:spcBef>
                        <a:spcAft>
                          <a:spcPts val="0"/>
                        </a:spcAft>
                        <a:buClrTx/>
                        <a:buSzTx/>
                        <a:buFontTx/>
                        <a:buNone/>
                        <a:tabLst/>
                        <a:defRPr/>
                      </a:pPr>
                      <a:r>
                        <a:rPr lang="es-CL" sz="1600" b="1" dirty="0">
                          <a:latin typeface="Calibri" panose="020F0502020204030204" pitchFamily="34" charset="0"/>
                          <a:cs typeface="Calibri" panose="020F0502020204030204" pitchFamily="34" charset="0"/>
                        </a:rPr>
                        <a:t>Cualquier usuario que no sea SYS o SYSTEM debe tener los privilegios necesarios para crearlos o usarlos</a:t>
                      </a:r>
                      <a:endParaRPr lang="es-CL" sz="1600" b="1" dirty="0">
                        <a:solidFill>
                          <a:schemeClr val="bg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006666"/>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857360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y Usando Sinónimos</a:t>
            </a:r>
          </a:p>
        </p:txBody>
      </p:sp>
      <p:sp>
        <p:nvSpPr>
          <p:cNvPr id="6" name="Marcador de contenido 1">
            <a:extLst>
              <a:ext uri="{FF2B5EF4-FFF2-40B4-BE49-F238E27FC236}">
                <a16:creationId xmlns:a16="http://schemas.microsoft.com/office/drawing/2014/main" xmlns="" id="{C1A0E3F6-8499-434A-A4EC-A97632AA3D35}"/>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Sintaxis: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 conectado como HR:</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BA4994C0-2092-4E4D-8339-5F4EEA39C105}"/>
              </a:ext>
            </a:extLst>
          </p:cNvPr>
          <p:cNvSpPr txBox="1">
            <a:spLocks noChangeArrowheads="1"/>
          </p:cNvSpPr>
          <p:nvPr/>
        </p:nvSpPr>
        <p:spPr bwMode="auto">
          <a:xfrm>
            <a:off x="1280180" y="1612758"/>
            <a:ext cx="64601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[OR REPLACE] [PUBLIC] SYNONYM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esquema1.</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nombre_sinónimo</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FOR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esquema2.</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objeto_referenciado</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a:t>
            </a:r>
            <a:r>
              <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dblink</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a:t>
            </a:r>
            <a:endParaRPr kumimoji="0" lang="en-US" sz="1600" b="1" i="1"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B866421F-D85F-424C-B526-CD11FC00C72B}"/>
              </a:ext>
            </a:extLst>
          </p:cNvPr>
          <p:cNvSpPr txBox="1">
            <a:spLocks noChangeArrowheads="1"/>
          </p:cNvSpPr>
          <p:nvPr/>
        </p:nvSpPr>
        <p:spPr bwMode="auto">
          <a:xfrm>
            <a:off x="1619672" y="3165404"/>
            <a:ext cx="60486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CREATE SYNONYM syn_deptos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FOR departments;</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9" name="Text Box 5">
            <a:extLst>
              <a:ext uri="{FF2B5EF4-FFF2-40B4-BE49-F238E27FC236}">
                <a16:creationId xmlns:a16="http://schemas.microsoft.com/office/drawing/2014/main" xmlns="" id="{F1723277-BE5E-4872-A8B9-D182ED9AD628}"/>
              </a:ext>
            </a:extLst>
          </p:cNvPr>
          <p:cNvSpPr txBox="1">
            <a:spLocks noChangeArrowheads="1"/>
          </p:cNvSpPr>
          <p:nvPr/>
        </p:nvSpPr>
        <p:spPr bwMode="auto">
          <a:xfrm>
            <a:off x="1619672" y="4173516"/>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syn_deptos</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WHERE location_id=1800;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0" name="Imagen 9">
            <a:extLst>
              <a:ext uri="{FF2B5EF4-FFF2-40B4-BE49-F238E27FC236}">
                <a16:creationId xmlns:a16="http://schemas.microsoft.com/office/drawing/2014/main" xmlns="" id="{4AD05D25-7AD9-41A7-ADEC-9DB0163A7F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9752" y="5333443"/>
            <a:ext cx="4219048" cy="419048"/>
          </a:xfrm>
          <a:prstGeom prst="rect">
            <a:avLst/>
          </a:prstGeom>
        </p:spPr>
      </p:pic>
      <p:sp>
        <p:nvSpPr>
          <p:cNvPr id="11" name="Text Box 8">
            <a:extLst>
              <a:ext uri="{FF2B5EF4-FFF2-40B4-BE49-F238E27FC236}">
                <a16:creationId xmlns:a16="http://schemas.microsoft.com/office/drawing/2014/main" xmlns="" id="{5A89E536-2D79-4EA3-86C6-C231693F9D17}"/>
              </a:ext>
            </a:extLst>
          </p:cNvPr>
          <p:cNvSpPr txBox="1">
            <a:spLocks noChangeArrowheads="1"/>
          </p:cNvSpPr>
          <p:nvPr/>
        </p:nvSpPr>
        <p:spPr bwMode="auto">
          <a:xfrm>
            <a:off x="1277349" y="3314431"/>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2" name="Text Box 8">
            <a:extLst>
              <a:ext uri="{FF2B5EF4-FFF2-40B4-BE49-F238E27FC236}">
                <a16:creationId xmlns:a16="http://schemas.microsoft.com/office/drawing/2014/main" xmlns="" id="{2B64938F-EFD5-4E6F-AD55-986BDCEA6F58}"/>
              </a:ext>
            </a:extLst>
          </p:cNvPr>
          <p:cNvSpPr txBox="1">
            <a:spLocks noChangeArrowheads="1"/>
          </p:cNvSpPr>
          <p:nvPr/>
        </p:nvSpPr>
        <p:spPr bwMode="auto">
          <a:xfrm>
            <a:off x="1277349" y="4431931"/>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3161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y Usando Sinónimos</a:t>
            </a:r>
          </a:p>
        </p:txBody>
      </p:sp>
      <p:sp>
        <p:nvSpPr>
          <p:cNvPr id="6" name="Marcador de contenido 1">
            <a:extLst>
              <a:ext uri="{FF2B5EF4-FFF2-40B4-BE49-F238E27FC236}">
                <a16:creationId xmlns:a16="http://schemas.microsoft.com/office/drawing/2014/main" xmlns="" id="{FDE1FE5F-9F92-44C3-A13F-1E9CDAE33FA8}"/>
              </a:ext>
            </a:extLst>
          </p:cNvPr>
          <p:cNvSpPr txBox="1">
            <a:spLocks/>
          </p:cNvSpPr>
          <p:nvPr/>
        </p:nvSpPr>
        <p:spPr>
          <a:xfrm>
            <a:off x="611560" y="1412776"/>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panose="020F0502020204030204" pitchFamily="34" charset="0"/>
                <a:ea typeface="Arial Unicode MS" pitchFamily="34" charset="-128"/>
                <a:cs typeface="Calibri" panose="020F0502020204030204" pitchFamily="34" charset="0"/>
              </a:rPr>
              <a:t>Ejemplo conectado como SYSTEM:</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panose="020F0502020204030204" pitchFamily="34" charset="0"/>
              <a:cs typeface="Calibri" panose="020F0502020204030204" pitchFamily="34" charset="0"/>
            </a:endParaRPr>
          </a:p>
        </p:txBody>
      </p:sp>
      <p:sp>
        <p:nvSpPr>
          <p:cNvPr id="7" name="Text Box 5">
            <a:extLst>
              <a:ext uri="{FF2B5EF4-FFF2-40B4-BE49-F238E27FC236}">
                <a16:creationId xmlns:a16="http://schemas.microsoft.com/office/drawing/2014/main" xmlns="" id="{E3C67467-9A6D-477E-B5A3-6754CE6C86ED}"/>
              </a:ext>
            </a:extLst>
          </p:cNvPr>
          <p:cNvSpPr txBox="1">
            <a:spLocks noChangeArrowheads="1"/>
          </p:cNvSpPr>
          <p:nvPr/>
        </p:nvSpPr>
        <p:spPr bwMode="auto">
          <a:xfrm>
            <a:off x="1259632" y="1759676"/>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hr.departments</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location_id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=1800;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Text Box 5">
            <a:extLst>
              <a:ext uri="{FF2B5EF4-FFF2-40B4-BE49-F238E27FC236}">
                <a16:creationId xmlns:a16="http://schemas.microsoft.com/office/drawing/2014/main" xmlns="" id="{27252AD2-43FC-4519-80F6-1977DFF4C804}"/>
              </a:ext>
            </a:extLst>
          </p:cNvPr>
          <p:cNvSpPr txBox="1">
            <a:spLocks noChangeArrowheads="1"/>
          </p:cNvSpPr>
          <p:nvPr/>
        </p:nvSpPr>
        <p:spPr bwMode="auto">
          <a:xfrm>
            <a:off x="1259632" y="3556974"/>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SELECT *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FROM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syn_deptos</a:t>
            </a:r>
            <a:endPar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WHERE </a:t>
            </a:r>
            <a:r>
              <a:rPr kumimoji="0" lang="en-US" sz="1600" b="1" i="0" u="none" strike="noStrike" kern="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location_id</a:t>
            </a:r>
            <a:r>
              <a:rPr kumimoji="0" lang="en-US" sz="1600" b="1"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=1800;</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12" name="Imagen 11">
            <a:extLst>
              <a:ext uri="{FF2B5EF4-FFF2-40B4-BE49-F238E27FC236}">
                <a16:creationId xmlns:a16="http://schemas.microsoft.com/office/drawing/2014/main" xmlns="" id="{990BA522-F5C7-4D43-8297-86072BFD9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2946056"/>
            <a:ext cx="4219048" cy="419048"/>
          </a:xfrm>
          <a:prstGeom prst="rect">
            <a:avLst/>
          </a:prstGeom>
        </p:spPr>
      </p:pic>
      <p:pic>
        <p:nvPicPr>
          <p:cNvPr id="13" name="Imagen 12">
            <a:extLst>
              <a:ext uri="{FF2B5EF4-FFF2-40B4-BE49-F238E27FC236}">
                <a16:creationId xmlns:a16="http://schemas.microsoft.com/office/drawing/2014/main" xmlns="" id="{A88D0475-9EC0-4D58-9DF6-60C057E7C8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1799" y="4709102"/>
            <a:ext cx="2694155" cy="936104"/>
          </a:xfrm>
          <a:prstGeom prst="rect">
            <a:avLst/>
          </a:prstGeom>
        </p:spPr>
      </p:pic>
      <p:sp>
        <p:nvSpPr>
          <p:cNvPr id="14" name="Text Box 8">
            <a:extLst>
              <a:ext uri="{FF2B5EF4-FFF2-40B4-BE49-F238E27FC236}">
                <a16:creationId xmlns:a16="http://schemas.microsoft.com/office/drawing/2014/main" xmlns="" id="{AA80B2B2-0B58-43A4-8717-CF95AED4379D}"/>
              </a:ext>
            </a:extLst>
          </p:cNvPr>
          <p:cNvSpPr txBox="1">
            <a:spLocks noChangeArrowheads="1"/>
          </p:cNvSpPr>
          <p:nvPr/>
        </p:nvSpPr>
        <p:spPr bwMode="auto">
          <a:xfrm>
            <a:off x="917309" y="2044806"/>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1</a:t>
            </a:r>
            <a:endParaRPr lang="es-ES" sz="2400" b="1" dirty="0">
              <a:solidFill>
                <a:srgbClr val="C00000"/>
              </a:solidFill>
              <a:latin typeface="Calibri" panose="020F0502020204030204" pitchFamily="34" charset="0"/>
              <a:cs typeface="Calibri" panose="020F0502020204030204" pitchFamily="34" charset="0"/>
            </a:endParaRPr>
          </a:p>
        </p:txBody>
      </p:sp>
      <p:sp>
        <p:nvSpPr>
          <p:cNvPr id="15" name="Text Box 8">
            <a:extLst>
              <a:ext uri="{FF2B5EF4-FFF2-40B4-BE49-F238E27FC236}">
                <a16:creationId xmlns:a16="http://schemas.microsoft.com/office/drawing/2014/main" xmlns="" id="{E438A00D-33B4-41BA-95C1-A3674683716C}"/>
              </a:ext>
            </a:extLst>
          </p:cNvPr>
          <p:cNvSpPr txBox="1">
            <a:spLocks noChangeArrowheads="1"/>
          </p:cNvSpPr>
          <p:nvPr/>
        </p:nvSpPr>
        <p:spPr bwMode="auto">
          <a:xfrm>
            <a:off x="917309" y="3810378"/>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panose="020F0502020204030204" pitchFamily="34" charset="0"/>
                <a:cs typeface="Calibri" panose="020F0502020204030204" pitchFamily="34" charset="0"/>
              </a:rPr>
              <a:t>2</a:t>
            </a:r>
            <a:endParaRPr lang="es-ES" sz="2400"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8711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y Usando Sinónimos</a:t>
            </a:r>
          </a:p>
        </p:txBody>
      </p:sp>
      <p:sp>
        <p:nvSpPr>
          <p:cNvPr id="10" name="Marcador de contenido 1">
            <a:extLst>
              <a:ext uri="{FF2B5EF4-FFF2-40B4-BE49-F238E27FC236}">
                <a16:creationId xmlns:a16="http://schemas.microsoft.com/office/drawing/2014/main" xmlns="" id="{C7CC9B61-00AD-4D28-BA04-65C311A63BDE}"/>
              </a:ext>
            </a:extLst>
          </p:cNvPr>
          <p:cNvSpPr txBox="1">
            <a:spLocks/>
          </p:cNvSpPr>
          <p:nvPr/>
        </p:nvSpPr>
        <p:spPr>
          <a:xfrm>
            <a:off x="611560" y="1149001"/>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 </a:t>
            </a: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SYS: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HR:</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1" name="Text Box 5">
            <a:extLst>
              <a:ext uri="{FF2B5EF4-FFF2-40B4-BE49-F238E27FC236}">
                <a16:creationId xmlns:a16="http://schemas.microsoft.com/office/drawing/2014/main" xmlns="" id="{C54314E2-9107-43D8-88FC-6D1C5491E77B}"/>
              </a:ext>
            </a:extLst>
          </p:cNvPr>
          <p:cNvSpPr txBox="1">
            <a:spLocks noChangeArrowheads="1"/>
          </p:cNvSpPr>
          <p:nvPr/>
        </p:nvSpPr>
        <p:spPr bwMode="auto">
          <a:xfrm>
            <a:off x="1341914" y="1751682"/>
            <a:ext cx="60486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GRANT SELECT ON </a:t>
            </a:r>
            <a:r>
              <a:rPr kumimoji="0" lang="en-US" sz="1600" b="1" i="0" u="none" strike="noStrike" kern="0" cap="none" spc="0" normalizeH="0" baseline="0" noProof="0" dirty="0" err="1">
                <a:ln>
                  <a:noFill/>
                </a:ln>
                <a:solidFill>
                  <a:prstClr val="black"/>
                </a:solidFill>
                <a:effectLst/>
                <a:uLnTx/>
                <a:uFillTx/>
                <a:latin typeface="Calibri"/>
                <a:cs typeface="Arial" charset="0"/>
              </a:rPr>
              <a:t>dba_tables</a:t>
            </a:r>
            <a:r>
              <a:rPr kumimoji="0" lang="en-US" sz="1600" b="1" i="0" u="none" strike="noStrike" kern="0" cap="none" spc="0" normalizeH="0" baseline="0" noProof="0" dirty="0">
                <a:ln>
                  <a:noFill/>
                </a:ln>
                <a:solidFill>
                  <a:prstClr val="black"/>
                </a:solidFill>
                <a:effectLst/>
                <a:uLnTx/>
                <a:uFillTx/>
                <a:latin typeface="Calibri"/>
                <a:cs typeface="Arial" charset="0"/>
              </a:rPr>
              <a:t> TO </a:t>
            </a:r>
            <a:r>
              <a:rPr kumimoji="0" lang="en-US" sz="1600" b="1" i="0" u="none" strike="noStrike" kern="0" cap="none" spc="0" normalizeH="0" baseline="0" noProof="0" dirty="0" err="1">
                <a:ln>
                  <a:noFill/>
                </a:ln>
                <a:solidFill>
                  <a:prstClr val="black"/>
                </a:solidFill>
                <a:effectLst/>
                <a:uLnTx/>
                <a:uFillTx/>
                <a:latin typeface="Calibri"/>
                <a:cs typeface="Arial" charset="0"/>
              </a:rPr>
              <a:t>hr</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6" name="Text Box 5">
            <a:extLst>
              <a:ext uri="{FF2B5EF4-FFF2-40B4-BE49-F238E27FC236}">
                <a16:creationId xmlns:a16="http://schemas.microsoft.com/office/drawing/2014/main" xmlns="" id="{648A59A2-2874-4BF8-A579-0C72FCFDBE53}"/>
              </a:ext>
            </a:extLst>
          </p:cNvPr>
          <p:cNvSpPr txBox="1">
            <a:spLocks noChangeArrowheads="1"/>
          </p:cNvSpPr>
          <p:nvPr/>
        </p:nvSpPr>
        <p:spPr bwMode="auto">
          <a:xfrm>
            <a:off x="1341913" y="3872255"/>
            <a:ext cx="3546609"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SELECT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FROM </a:t>
            </a:r>
            <a:r>
              <a:rPr kumimoji="0" lang="en-US" sz="1600" b="1" i="0" u="none" strike="noStrike" kern="0" cap="none" spc="0" normalizeH="0" baseline="0" noProof="0" dirty="0" err="1">
                <a:ln>
                  <a:noFill/>
                </a:ln>
                <a:solidFill>
                  <a:prstClr val="black"/>
                </a:solidFill>
                <a:effectLst/>
                <a:uLnTx/>
                <a:uFillTx/>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ORDER BY </a:t>
            </a:r>
            <a:r>
              <a:rPr kumimoji="0" lang="en-US" sz="1600" b="1" i="0" u="none" strike="noStrike" kern="0" cap="none" spc="0" normalizeH="0" baseline="0" noProof="0" dirty="0" err="1">
                <a:ln>
                  <a:noFill/>
                </a:ln>
                <a:solidFill>
                  <a:prstClr val="black"/>
                </a:solidFill>
                <a:effectLst/>
                <a:uLnTx/>
                <a:uFillTx/>
                <a:latin typeface="Calibri"/>
                <a:cs typeface="Arial" charset="0"/>
              </a:rPr>
              <a:t>table_name</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7" name="Text Box 5">
            <a:extLst>
              <a:ext uri="{FF2B5EF4-FFF2-40B4-BE49-F238E27FC236}">
                <a16:creationId xmlns:a16="http://schemas.microsoft.com/office/drawing/2014/main" xmlns="" id="{4D525ACC-C688-41D4-834E-9FA5AFAA6BC7}"/>
              </a:ext>
            </a:extLst>
          </p:cNvPr>
          <p:cNvSpPr txBox="1">
            <a:spLocks noChangeArrowheads="1"/>
          </p:cNvSpPr>
          <p:nvPr/>
        </p:nvSpPr>
        <p:spPr bwMode="auto">
          <a:xfrm>
            <a:off x="1341914" y="2452018"/>
            <a:ext cx="60486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CREATE OR REPLACE PUBLIC SYNONYM </a:t>
            </a:r>
            <a:r>
              <a:rPr kumimoji="0" lang="en-US" sz="1600" b="1" i="0" u="none" strike="noStrike" kern="0" cap="none" spc="0" normalizeH="0" baseline="0" noProof="0" dirty="0" err="1">
                <a:ln>
                  <a:noFill/>
                </a:ln>
                <a:solidFill>
                  <a:prstClr val="black"/>
                </a:solidFill>
                <a:effectLst/>
                <a:uLnTx/>
                <a:uFillTx/>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FOR </a:t>
            </a:r>
            <a:r>
              <a:rPr kumimoji="0" lang="en-US" sz="1600" b="1" i="0" u="none" strike="noStrike" kern="0" cap="none" spc="0" normalizeH="0" baseline="0" noProof="0" dirty="0" err="1">
                <a:ln>
                  <a:noFill/>
                </a:ln>
                <a:solidFill>
                  <a:prstClr val="black"/>
                </a:solidFill>
                <a:effectLst/>
                <a:uLnTx/>
                <a:uFillTx/>
                <a:latin typeface="Calibri"/>
                <a:cs typeface="Arial" charset="0"/>
              </a:rPr>
              <a:t>dba_tables</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pic>
        <p:nvPicPr>
          <p:cNvPr id="18" name="Imagen 17">
            <a:extLst>
              <a:ext uri="{FF2B5EF4-FFF2-40B4-BE49-F238E27FC236}">
                <a16:creationId xmlns:a16="http://schemas.microsoft.com/office/drawing/2014/main" xmlns="" id="{DB574864-3B49-426A-B5FE-DD0012BA86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5490" y="3862548"/>
            <a:ext cx="4178532" cy="2107047"/>
          </a:xfrm>
          <a:prstGeom prst="rect">
            <a:avLst/>
          </a:prstGeom>
        </p:spPr>
      </p:pic>
      <p:sp>
        <p:nvSpPr>
          <p:cNvPr id="19" name="Text Box 8">
            <a:extLst>
              <a:ext uri="{FF2B5EF4-FFF2-40B4-BE49-F238E27FC236}">
                <a16:creationId xmlns:a16="http://schemas.microsoft.com/office/drawing/2014/main" xmlns="" id="{F9D90EAB-7493-4075-9ECF-6CDAE5EF22E7}"/>
              </a:ext>
            </a:extLst>
          </p:cNvPr>
          <p:cNvSpPr txBox="1">
            <a:spLocks noChangeArrowheads="1"/>
          </p:cNvSpPr>
          <p:nvPr/>
        </p:nvSpPr>
        <p:spPr bwMode="auto">
          <a:xfrm>
            <a:off x="917309" y="1832401"/>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1</a:t>
            </a:r>
            <a:endParaRPr lang="es-ES" sz="2400" b="1" dirty="0">
              <a:solidFill>
                <a:srgbClr val="C00000"/>
              </a:solidFill>
              <a:latin typeface="Calibri"/>
            </a:endParaRPr>
          </a:p>
        </p:txBody>
      </p:sp>
      <p:sp>
        <p:nvSpPr>
          <p:cNvPr id="20" name="Text Box 8">
            <a:extLst>
              <a:ext uri="{FF2B5EF4-FFF2-40B4-BE49-F238E27FC236}">
                <a16:creationId xmlns:a16="http://schemas.microsoft.com/office/drawing/2014/main" xmlns="" id="{2A28054A-DFAF-4C36-93B8-F16B57D7B929}"/>
              </a:ext>
            </a:extLst>
          </p:cNvPr>
          <p:cNvSpPr txBox="1">
            <a:spLocks noChangeArrowheads="1"/>
          </p:cNvSpPr>
          <p:nvPr/>
        </p:nvSpPr>
        <p:spPr bwMode="auto">
          <a:xfrm>
            <a:off x="917309" y="2647494"/>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2</a:t>
            </a:r>
            <a:endParaRPr lang="es-ES" sz="2400" b="1" dirty="0">
              <a:solidFill>
                <a:srgbClr val="C00000"/>
              </a:solidFill>
              <a:latin typeface="Calibri"/>
            </a:endParaRPr>
          </a:p>
        </p:txBody>
      </p:sp>
      <p:sp>
        <p:nvSpPr>
          <p:cNvPr id="21" name="Text Box 8">
            <a:extLst>
              <a:ext uri="{FF2B5EF4-FFF2-40B4-BE49-F238E27FC236}">
                <a16:creationId xmlns:a16="http://schemas.microsoft.com/office/drawing/2014/main" xmlns="" id="{F720AD9F-B3C9-4FAB-895F-B42EB666AF67}"/>
              </a:ext>
            </a:extLst>
          </p:cNvPr>
          <p:cNvSpPr txBox="1">
            <a:spLocks noChangeArrowheads="1"/>
          </p:cNvSpPr>
          <p:nvPr/>
        </p:nvSpPr>
        <p:spPr bwMode="auto">
          <a:xfrm>
            <a:off x="899592" y="3983752"/>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3</a:t>
            </a:r>
            <a:endParaRPr lang="es-ES" sz="2400" b="1" dirty="0">
              <a:solidFill>
                <a:srgbClr val="C00000"/>
              </a:solidFill>
              <a:latin typeface="Calibri"/>
            </a:endParaRPr>
          </a:p>
        </p:txBody>
      </p:sp>
    </p:spTree>
    <p:extLst>
      <p:ext uri="{BB962C8B-B14F-4D97-AF65-F5344CB8AC3E}">
        <p14:creationId xmlns:p14="http://schemas.microsoft.com/office/powerpoint/2010/main" val="1829240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y Usando Sinónimos</a:t>
            </a:r>
          </a:p>
        </p:txBody>
      </p:sp>
      <p:sp>
        <p:nvSpPr>
          <p:cNvPr id="6" name="Marcador de contenido 1">
            <a:extLst>
              <a:ext uri="{FF2B5EF4-FFF2-40B4-BE49-F238E27FC236}">
                <a16:creationId xmlns:a16="http://schemas.microsoft.com/office/drawing/2014/main" xmlns="" id="{0777F292-189B-4F67-866C-F64B9F330577}"/>
              </a:ext>
            </a:extLst>
          </p:cNvPr>
          <p:cNvSpPr txBox="1">
            <a:spLocks/>
          </p:cNvSpPr>
          <p:nvPr/>
        </p:nvSpPr>
        <p:spPr>
          <a:xfrm>
            <a:off x="611560" y="1340768"/>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 </a:t>
            </a: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SYS: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HR:</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7" name="Text Box 5">
            <a:extLst>
              <a:ext uri="{FF2B5EF4-FFF2-40B4-BE49-F238E27FC236}">
                <a16:creationId xmlns:a16="http://schemas.microsoft.com/office/drawing/2014/main" xmlns="" id="{57D20F0E-141F-4D0C-BF16-44812E70F3E2}"/>
              </a:ext>
            </a:extLst>
          </p:cNvPr>
          <p:cNvSpPr txBox="1">
            <a:spLocks noChangeArrowheads="1"/>
          </p:cNvSpPr>
          <p:nvPr/>
        </p:nvSpPr>
        <p:spPr bwMode="auto">
          <a:xfrm>
            <a:off x="1341914" y="3440282"/>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SELECT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FROM </a:t>
            </a:r>
            <a:r>
              <a:rPr kumimoji="0" lang="en-US" sz="1600" b="1" i="0" u="none" strike="noStrike" kern="0" cap="none" spc="0" normalizeH="0" baseline="0" noProof="0" dirty="0" err="1">
                <a:ln>
                  <a:noFill/>
                </a:ln>
                <a:solidFill>
                  <a:prstClr val="black"/>
                </a:solidFill>
                <a:effectLst/>
                <a:uLnTx/>
                <a:uFillTx/>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ORDER BY </a:t>
            </a:r>
            <a:r>
              <a:rPr kumimoji="0" lang="en-US" sz="1600" b="1" i="0" u="none" strike="noStrike" kern="0" cap="none" spc="0" normalizeH="0" baseline="0" noProof="0" dirty="0" err="1">
                <a:ln>
                  <a:noFill/>
                </a:ln>
                <a:solidFill>
                  <a:prstClr val="black"/>
                </a:solidFill>
                <a:effectLst/>
                <a:uLnTx/>
                <a:uFillTx/>
                <a:latin typeface="Calibri"/>
                <a:cs typeface="Arial" charset="0"/>
              </a:rPr>
              <a:t>table_name</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8" name="Text Box 5">
            <a:extLst>
              <a:ext uri="{FF2B5EF4-FFF2-40B4-BE49-F238E27FC236}">
                <a16:creationId xmlns:a16="http://schemas.microsoft.com/office/drawing/2014/main" xmlns="" id="{3FA02C7F-2C9C-475F-99ED-0C8D4623E5A0}"/>
              </a:ext>
            </a:extLst>
          </p:cNvPr>
          <p:cNvSpPr txBox="1">
            <a:spLocks noChangeArrowheads="1"/>
          </p:cNvSpPr>
          <p:nvPr/>
        </p:nvSpPr>
        <p:spPr bwMode="auto">
          <a:xfrm>
            <a:off x="1341914" y="1944163"/>
            <a:ext cx="60486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CREATE OR REPLACE PUBLIC SYNONYM </a:t>
            </a:r>
            <a:r>
              <a:rPr kumimoji="0" lang="en-US" sz="1600" b="1" i="0" u="none" strike="noStrike" kern="0" cap="none" spc="0" normalizeH="0" baseline="0" noProof="0" dirty="0" err="1">
                <a:ln>
                  <a:noFill/>
                </a:ln>
                <a:solidFill>
                  <a:prstClr val="black"/>
                </a:solidFill>
                <a:effectLst/>
                <a:uLnTx/>
                <a:uFillTx/>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FOR </a:t>
            </a:r>
            <a:r>
              <a:rPr kumimoji="0" lang="en-US" sz="1600" b="1" i="0" u="none" strike="noStrike" kern="0" cap="none" spc="0" normalizeH="0" baseline="0" noProof="0" dirty="0" err="1">
                <a:ln>
                  <a:noFill/>
                </a:ln>
                <a:solidFill>
                  <a:prstClr val="black"/>
                </a:solidFill>
                <a:effectLst/>
                <a:uLnTx/>
                <a:uFillTx/>
                <a:latin typeface="Calibri"/>
                <a:cs typeface="Arial" charset="0"/>
              </a:rPr>
              <a:t>user_tables</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pic>
        <p:nvPicPr>
          <p:cNvPr id="9" name="Imagen 8">
            <a:extLst>
              <a:ext uri="{FF2B5EF4-FFF2-40B4-BE49-F238E27FC236}">
                <a16:creationId xmlns:a16="http://schemas.microsoft.com/office/drawing/2014/main" xmlns="" id="{E7634E65-0542-4B27-AB5B-7FEDA3A29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7824" y="4567649"/>
            <a:ext cx="2352381" cy="1571429"/>
          </a:xfrm>
          <a:prstGeom prst="rect">
            <a:avLst/>
          </a:prstGeom>
        </p:spPr>
      </p:pic>
      <p:sp>
        <p:nvSpPr>
          <p:cNvPr id="10" name="Text Box 8">
            <a:extLst>
              <a:ext uri="{FF2B5EF4-FFF2-40B4-BE49-F238E27FC236}">
                <a16:creationId xmlns:a16="http://schemas.microsoft.com/office/drawing/2014/main" xmlns="" id="{20C22072-9E08-47BC-8DAD-89504B190255}"/>
              </a:ext>
            </a:extLst>
          </p:cNvPr>
          <p:cNvSpPr txBox="1">
            <a:spLocks noChangeArrowheads="1"/>
          </p:cNvSpPr>
          <p:nvPr/>
        </p:nvSpPr>
        <p:spPr bwMode="auto">
          <a:xfrm>
            <a:off x="917309" y="2024168"/>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1</a:t>
            </a:r>
            <a:endParaRPr lang="es-ES" sz="2400" b="1" dirty="0">
              <a:solidFill>
                <a:srgbClr val="C00000"/>
              </a:solidFill>
              <a:latin typeface="Calibri"/>
            </a:endParaRPr>
          </a:p>
        </p:txBody>
      </p:sp>
      <p:sp>
        <p:nvSpPr>
          <p:cNvPr id="11" name="Text Box 8">
            <a:extLst>
              <a:ext uri="{FF2B5EF4-FFF2-40B4-BE49-F238E27FC236}">
                <a16:creationId xmlns:a16="http://schemas.microsoft.com/office/drawing/2014/main" xmlns="" id="{8B1A448C-8227-48C7-970A-0D638DA253C2}"/>
              </a:ext>
            </a:extLst>
          </p:cNvPr>
          <p:cNvSpPr txBox="1">
            <a:spLocks noChangeArrowheads="1"/>
          </p:cNvSpPr>
          <p:nvPr/>
        </p:nvSpPr>
        <p:spPr bwMode="auto">
          <a:xfrm>
            <a:off x="917309" y="3671373"/>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2</a:t>
            </a:r>
            <a:endParaRPr lang="es-ES" sz="2400" b="1" dirty="0">
              <a:solidFill>
                <a:srgbClr val="C00000"/>
              </a:solidFill>
              <a:latin typeface="Calibri"/>
            </a:endParaRPr>
          </a:p>
        </p:txBody>
      </p:sp>
    </p:spTree>
    <p:extLst>
      <p:ext uri="{BB962C8B-B14F-4D97-AF65-F5344CB8AC3E}">
        <p14:creationId xmlns:p14="http://schemas.microsoft.com/office/powerpoint/2010/main" val="2237418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y Usando Sinónimos</a:t>
            </a:r>
          </a:p>
        </p:txBody>
      </p:sp>
      <p:sp>
        <p:nvSpPr>
          <p:cNvPr id="12" name="Marcador de contenido 1">
            <a:extLst>
              <a:ext uri="{FF2B5EF4-FFF2-40B4-BE49-F238E27FC236}">
                <a16:creationId xmlns:a16="http://schemas.microsoft.com/office/drawing/2014/main" xmlns="" id="{21654164-F525-4435-909D-991E8BFB4D6C}"/>
              </a:ext>
            </a:extLst>
          </p:cNvPr>
          <p:cNvSpPr txBox="1">
            <a:spLocks/>
          </p:cNvSpPr>
          <p:nvPr/>
        </p:nvSpPr>
        <p:spPr>
          <a:xfrm>
            <a:off x="611560" y="1268760"/>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Ejemplo:</a:t>
            </a: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SYS:</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4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Conectado como HR:</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3" name="Text Box 5">
            <a:extLst>
              <a:ext uri="{FF2B5EF4-FFF2-40B4-BE49-F238E27FC236}">
                <a16:creationId xmlns:a16="http://schemas.microsoft.com/office/drawing/2014/main" xmlns="" id="{15265EA2-50E9-422F-BA00-FB218CD60176}"/>
              </a:ext>
            </a:extLst>
          </p:cNvPr>
          <p:cNvSpPr txBox="1">
            <a:spLocks noChangeArrowheads="1"/>
          </p:cNvSpPr>
          <p:nvPr/>
        </p:nvSpPr>
        <p:spPr bwMode="auto">
          <a:xfrm>
            <a:off x="1341914" y="3292392"/>
            <a:ext cx="604867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SELECT *</a:t>
            </a: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FROM </a:t>
            </a:r>
            <a:r>
              <a:rPr kumimoji="0" lang="en-US" sz="1600" b="1" i="0" u="none" strike="noStrike" kern="0" cap="none" spc="0" normalizeH="0" baseline="0" noProof="0" dirty="0" err="1">
                <a:ln>
                  <a:noFill/>
                </a:ln>
                <a:solidFill>
                  <a:prstClr val="black"/>
                </a:solidFill>
                <a:effectLst/>
                <a:uLnTx/>
                <a:uFillTx/>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ORDER BY </a:t>
            </a:r>
            <a:r>
              <a:rPr kumimoji="0" lang="en-US" sz="1600" b="1" i="0" u="none" strike="noStrike" kern="0" cap="none" spc="0" normalizeH="0" baseline="0" noProof="0" dirty="0" err="1">
                <a:ln>
                  <a:noFill/>
                </a:ln>
                <a:solidFill>
                  <a:prstClr val="black"/>
                </a:solidFill>
                <a:effectLst/>
                <a:uLnTx/>
                <a:uFillTx/>
                <a:latin typeface="Calibri"/>
                <a:cs typeface="Arial" charset="0"/>
              </a:rPr>
              <a:t>table_name</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4" name="Text Box 5">
            <a:extLst>
              <a:ext uri="{FF2B5EF4-FFF2-40B4-BE49-F238E27FC236}">
                <a16:creationId xmlns:a16="http://schemas.microsoft.com/office/drawing/2014/main" xmlns="" id="{C894503F-7F3F-4A2A-8CB5-5DF5F9A8D29A}"/>
              </a:ext>
            </a:extLst>
          </p:cNvPr>
          <p:cNvSpPr txBox="1">
            <a:spLocks noChangeArrowheads="1"/>
          </p:cNvSpPr>
          <p:nvPr/>
        </p:nvSpPr>
        <p:spPr bwMode="auto">
          <a:xfrm>
            <a:off x="1341914" y="1861881"/>
            <a:ext cx="6048672"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CREATE OR REPLACE SYNONYM </a:t>
            </a:r>
            <a:r>
              <a:rPr kumimoji="0" lang="en-US" sz="1600" b="1" i="0" u="none" strike="noStrike" kern="0" cap="none" spc="0" normalizeH="0" baseline="0" noProof="0" dirty="0" err="1">
                <a:ln>
                  <a:noFill/>
                </a:ln>
                <a:solidFill>
                  <a:prstClr val="black"/>
                </a:solidFill>
                <a:effectLst/>
                <a:uLnTx/>
                <a:uFillTx/>
                <a:latin typeface="Calibri"/>
                <a:cs typeface="Arial" charset="0"/>
              </a:rPr>
              <a:t>hr.syn_tablas_bd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FOR </a:t>
            </a:r>
            <a:r>
              <a:rPr kumimoji="0" lang="en-US" sz="1600" b="1" i="0" u="none" strike="noStrike" kern="0" cap="none" spc="0" normalizeH="0" baseline="0" noProof="0" dirty="0" err="1">
                <a:ln>
                  <a:noFill/>
                </a:ln>
                <a:solidFill>
                  <a:prstClr val="black"/>
                </a:solidFill>
                <a:effectLst/>
                <a:uLnTx/>
                <a:uFillTx/>
                <a:latin typeface="Calibri"/>
                <a:cs typeface="Arial" charset="0"/>
              </a:rPr>
              <a:t>dba_tables</a:t>
            </a:r>
            <a:r>
              <a:rPr kumimoji="0" lang="en-US" sz="1600" b="1" i="0" u="none" strike="noStrike" kern="0" cap="none" spc="0" normalizeH="0" baseline="0" noProof="0" dirty="0">
                <a:ln>
                  <a:noFill/>
                </a:ln>
                <a:solidFill>
                  <a:prstClr val="black"/>
                </a:solidFill>
                <a:effectLst/>
                <a:uLnTx/>
                <a:uFillTx/>
                <a:latin typeface="Calibri"/>
                <a:cs typeface="Arial" charset="0"/>
              </a:rPr>
              <a:t>;</a:t>
            </a: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pic>
        <p:nvPicPr>
          <p:cNvPr id="15" name="Imagen 14">
            <a:extLst>
              <a:ext uri="{FF2B5EF4-FFF2-40B4-BE49-F238E27FC236}">
                <a16:creationId xmlns:a16="http://schemas.microsoft.com/office/drawing/2014/main" xmlns="" id="{ACCC0017-DF79-4557-8B47-46BC36791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776" y="4421070"/>
            <a:ext cx="3694816" cy="1863131"/>
          </a:xfrm>
          <a:prstGeom prst="rect">
            <a:avLst/>
          </a:prstGeom>
        </p:spPr>
      </p:pic>
      <p:sp>
        <p:nvSpPr>
          <p:cNvPr id="16" name="Text Box 8">
            <a:extLst>
              <a:ext uri="{FF2B5EF4-FFF2-40B4-BE49-F238E27FC236}">
                <a16:creationId xmlns:a16="http://schemas.microsoft.com/office/drawing/2014/main" xmlns="" id="{493ACAF8-0D1F-4C45-A061-969F54270B1E}"/>
              </a:ext>
            </a:extLst>
          </p:cNvPr>
          <p:cNvSpPr txBox="1">
            <a:spLocks noChangeArrowheads="1"/>
          </p:cNvSpPr>
          <p:nvPr/>
        </p:nvSpPr>
        <p:spPr bwMode="auto">
          <a:xfrm>
            <a:off x="917309" y="1952160"/>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1</a:t>
            </a:r>
            <a:endParaRPr lang="es-ES" sz="2400" b="1" dirty="0">
              <a:solidFill>
                <a:srgbClr val="C00000"/>
              </a:solidFill>
              <a:latin typeface="Calibri"/>
            </a:endParaRPr>
          </a:p>
        </p:txBody>
      </p:sp>
      <p:sp>
        <p:nvSpPr>
          <p:cNvPr id="17" name="Text Box 8">
            <a:extLst>
              <a:ext uri="{FF2B5EF4-FFF2-40B4-BE49-F238E27FC236}">
                <a16:creationId xmlns:a16="http://schemas.microsoft.com/office/drawing/2014/main" xmlns="" id="{9A190592-32E2-41D6-A5FB-A80F5A9054EE}"/>
              </a:ext>
            </a:extLst>
          </p:cNvPr>
          <p:cNvSpPr txBox="1">
            <a:spLocks noChangeArrowheads="1"/>
          </p:cNvSpPr>
          <p:nvPr/>
        </p:nvSpPr>
        <p:spPr bwMode="auto">
          <a:xfrm>
            <a:off x="917309" y="3599365"/>
            <a:ext cx="340157" cy="461665"/>
          </a:xfrm>
          <a:prstGeom prst="rect">
            <a:avLst/>
          </a:prstGeom>
          <a:noFill/>
          <a:ln w="9525">
            <a:noFill/>
            <a:miter lim="800000"/>
            <a:headEnd/>
            <a:tailEnd/>
          </a:ln>
        </p:spPr>
        <p:txBody>
          <a:bodyPr wrap="none">
            <a:spAutoFit/>
          </a:bodyPr>
          <a:lstStyle/>
          <a:p>
            <a:r>
              <a:rPr lang="es-CL" sz="2400" b="1" dirty="0">
                <a:solidFill>
                  <a:srgbClr val="C00000"/>
                </a:solidFill>
                <a:latin typeface="Calibri"/>
              </a:rPr>
              <a:t>2</a:t>
            </a:r>
            <a:endParaRPr lang="es-ES" sz="2400" b="1" dirty="0">
              <a:solidFill>
                <a:srgbClr val="C00000"/>
              </a:solidFill>
              <a:latin typeface="Calibri"/>
            </a:endParaRPr>
          </a:p>
        </p:txBody>
      </p:sp>
    </p:spTree>
    <p:extLst>
      <p:ext uri="{BB962C8B-B14F-4D97-AF65-F5344CB8AC3E}">
        <p14:creationId xmlns:p14="http://schemas.microsoft.com/office/powerpoint/2010/main" val="589378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2">
            <a:extLst>
              <a:ext uri="{FF2B5EF4-FFF2-40B4-BE49-F238E27FC236}">
                <a16:creationId xmlns:a16="http://schemas.microsoft.com/office/drawing/2014/main" xmlns="" id="{700174DB-B143-4555-9D25-6075310D39FB}"/>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Eliminando Sinónimos</a:t>
            </a:r>
          </a:p>
        </p:txBody>
      </p:sp>
      <p:sp>
        <p:nvSpPr>
          <p:cNvPr id="10" name="Marcador de contenido 1">
            <a:extLst>
              <a:ext uri="{FF2B5EF4-FFF2-40B4-BE49-F238E27FC236}">
                <a16:creationId xmlns:a16="http://schemas.microsoft.com/office/drawing/2014/main" xmlns="" id="{3593755A-9A72-4ACF-8DDE-DE1471BEA92C}"/>
              </a:ext>
            </a:extLst>
          </p:cNvPr>
          <p:cNvSpPr txBox="1">
            <a:spLocks/>
          </p:cNvSpPr>
          <p:nvPr/>
        </p:nvSpPr>
        <p:spPr>
          <a:xfrm>
            <a:off x="611560" y="1391855"/>
            <a:ext cx="8229600" cy="4525963"/>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1pPr>
            <a:lvl2pPr marL="557213" indent="-214313"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2pPr>
            <a:lvl3pPr marL="8572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3pPr>
            <a:lvl4pPr marL="12001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4pPr>
            <a:lvl5pPr marL="1543050" indent="-171450" algn="l" defTabSz="342900" rtl="0" eaLnBrk="1" latinLnBrk="0" hangingPunct="1">
              <a:spcBef>
                <a:spcPct val="20000"/>
              </a:spcBef>
              <a:buFont typeface="Arial"/>
              <a:buChar char="»"/>
              <a:defRPr sz="2000" b="0" kern="1200">
                <a:solidFill>
                  <a:schemeClr val="tx1">
                    <a:lumMod val="75000"/>
                    <a:lumOff val="25000"/>
                  </a:schemeClr>
                </a:solidFill>
                <a:effectLst/>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Sintaxis:</a:t>
            </a: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a:t>
            </a: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r>
              <a:rPr lang="es-CL" dirty="0">
                <a:solidFill>
                  <a:sysClr val="windowText" lastClr="000000">
                    <a:lumMod val="75000"/>
                    <a:lumOff val="25000"/>
                  </a:sysClr>
                </a:solidFill>
                <a:latin typeface="Calibri"/>
                <a:ea typeface="Arial Unicode MS" pitchFamily="34" charset="-128"/>
                <a:cs typeface="Times New Roman" pitchFamily="18" charset="0"/>
              </a:rPr>
              <a:t>Ejemplo:</a:t>
            </a: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609600" marR="0" lvl="0" indent="-609600" algn="just" defTabSz="342900" rtl="0" eaLnBrk="1" fontAlgn="auto" latinLnBrk="0" hangingPunct="1">
              <a:lnSpc>
                <a:spcPct val="80000"/>
              </a:lnSpc>
              <a:spcBef>
                <a:spcPct val="20000"/>
              </a:spcBef>
              <a:spcAft>
                <a:spcPts val="0"/>
              </a:spcAft>
              <a:buClrTx/>
              <a:buSzTx/>
              <a:buFont typeface="Arial"/>
              <a:buChar char="•"/>
              <a:tabLst/>
              <a:defRPr/>
            </a:pPr>
            <a:endParaRPr kumimoji="0" lang="es-CL" sz="14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endParaRPr>
          </a:p>
          <a:p>
            <a:pPr marL="0" marR="0" lvl="0" indent="0" algn="just" defTabSz="342900" rtl="0" eaLnBrk="1" fontAlgn="auto" latinLnBrk="0" hangingPunct="1">
              <a:lnSpc>
                <a:spcPct val="80000"/>
              </a:lnSpc>
              <a:spcBef>
                <a:spcPct val="20000"/>
              </a:spcBef>
              <a:spcAft>
                <a:spcPts val="0"/>
              </a:spcAft>
              <a:buClrTx/>
              <a:buSzTx/>
              <a:buFont typeface="Arial"/>
              <a:buNone/>
              <a:tabLst/>
              <a:defRPr/>
            </a:pPr>
            <a:r>
              <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Arial Unicode MS" pitchFamily="34" charset="-128"/>
                <a:cs typeface="Times New Roman" pitchFamily="18" charset="0"/>
              </a:rPr>
              <a:t>		</a:t>
            </a:r>
            <a:endParaRPr kumimoji="0" lang="es-CL" sz="2000" b="0" i="0" u="none" strike="noStrike" kern="1200" cap="none" spc="0" normalizeH="0" baseline="0" noProof="0" dirty="0">
              <a:ln>
                <a:noFill/>
              </a:ln>
              <a:solidFill>
                <a:sysClr val="windowText" lastClr="000000">
                  <a:lumMod val="75000"/>
                  <a:lumOff val="25000"/>
                </a:sysClr>
              </a:solidFill>
              <a:effectLst/>
              <a:uLnTx/>
              <a:uFillTx/>
              <a:latin typeface="Calibri"/>
              <a:ea typeface="+mn-ea"/>
              <a:cs typeface="+mn-cs"/>
            </a:endParaRPr>
          </a:p>
        </p:txBody>
      </p:sp>
      <p:sp>
        <p:nvSpPr>
          <p:cNvPr id="11" name="Text Box 5">
            <a:extLst>
              <a:ext uri="{FF2B5EF4-FFF2-40B4-BE49-F238E27FC236}">
                <a16:creationId xmlns:a16="http://schemas.microsoft.com/office/drawing/2014/main" xmlns="" id="{DC6D417D-920B-49AD-A464-CA1F618527F4}"/>
              </a:ext>
            </a:extLst>
          </p:cNvPr>
          <p:cNvSpPr txBox="1">
            <a:spLocks noChangeArrowheads="1"/>
          </p:cNvSpPr>
          <p:nvPr/>
        </p:nvSpPr>
        <p:spPr bwMode="auto">
          <a:xfrm>
            <a:off x="1341914" y="2976031"/>
            <a:ext cx="60486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algn="l" eaLnBrk="1" fontAlgn="auto" hangingPunct="1">
              <a:spcBef>
                <a:spcPts val="0"/>
              </a:spcBef>
              <a:spcAft>
                <a:spcPts val="0"/>
              </a:spcAft>
              <a:defRPr/>
            </a:pPr>
            <a:r>
              <a:rPr kumimoji="0" lang="en-US" sz="1600" b="1" i="0" u="none" strike="noStrike" kern="0" cap="none" spc="0" normalizeH="0" baseline="0" noProof="0" dirty="0">
                <a:ln>
                  <a:noFill/>
                </a:ln>
                <a:solidFill>
                  <a:prstClr val="black"/>
                </a:solidFill>
                <a:effectLst/>
                <a:uLnTx/>
                <a:uFillTx/>
                <a:latin typeface="Calibri"/>
                <a:cs typeface="Arial" charset="0"/>
              </a:rPr>
              <a:t>DROP SYNONYM </a:t>
            </a:r>
            <a:r>
              <a:rPr lang="en-US" sz="1600" b="1" kern="0" dirty="0">
                <a:solidFill>
                  <a:prstClr val="black"/>
                </a:solidFill>
                <a:latin typeface="Calibri"/>
                <a:cs typeface="Arial" charset="0"/>
              </a:rPr>
              <a:t>hr. syn_deptos;</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2" name="Text Box 5">
            <a:extLst>
              <a:ext uri="{FF2B5EF4-FFF2-40B4-BE49-F238E27FC236}">
                <a16:creationId xmlns:a16="http://schemas.microsoft.com/office/drawing/2014/main" xmlns="" id="{625E230B-4538-48BA-A592-184E655EC457}"/>
              </a:ext>
            </a:extLst>
          </p:cNvPr>
          <p:cNvSpPr txBox="1">
            <a:spLocks noChangeArrowheads="1"/>
          </p:cNvSpPr>
          <p:nvPr/>
        </p:nvSpPr>
        <p:spPr bwMode="auto">
          <a:xfrm>
            <a:off x="1331640" y="1679887"/>
            <a:ext cx="60486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Calibri"/>
                <a:cs typeface="Arial" charset="0"/>
              </a:rPr>
              <a:t>DROP [PUBLIC] SYNONYM [</a:t>
            </a:r>
            <a:r>
              <a:rPr kumimoji="0" lang="en-US" sz="1600" b="1" i="1" u="none" strike="noStrike" kern="0" cap="none" spc="0" normalizeH="0" baseline="0" noProof="0" dirty="0" err="1">
                <a:ln>
                  <a:noFill/>
                </a:ln>
                <a:solidFill>
                  <a:prstClr val="black"/>
                </a:solidFill>
                <a:effectLst/>
                <a:uLnTx/>
                <a:uFillTx/>
                <a:latin typeface="Calibri"/>
                <a:cs typeface="Arial" charset="0"/>
              </a:rPr>
              <a:t>esquema</a:t>
            </a:r>
            <a:r>
              <a:rPr kumimoji="0" lang="en-US" sz="1600" b="1" i="0" u="none" strike="noStrike" kern="0" cap="none" spc="0" normalizeH="0" baseline="0" noProof="0" dirty="0">
                <a:ln>
                  <a:noFill/>
                </a:ln>
                <a:solidFill>
                  <a:prstClr val="black"/>
                </a:solidFill>
                <a:effectLst/>
                <a:uLnTx/>
                <a:uFillTx/>
                <a:latin typeface="Calibri"/>
                <a:cs typeface="Arial" charset="0"/>
              </a:rPr>
              <a:t>.] </a:t>
            </a:r>
            <a:r>
              <a:rPr kumimoji="0" lang="en-US" sz="1600" b="1" i="1" u="none" strike="noStrike" kern="0" cap="none" spc="0" normalizeH="0" baseline="0" noProof="0" dirty="0">
                <a:ln>
                  <a:noFill/>
                </a:ln>
                <a:solidFill>
                  <a:prstClr val="black"/>
                </a:solidFill>
                <a:effectLst/>
                <a:uLnTx/>
                <a:uFillTx/>
                <a:latin typeface="Calibri"/>
                <a:cs typeface="Arial" charset="0"/>
              </a:rPr>
              <a:t>nombre_sinónimo;</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
        <p:nvSpPr>
          <p:cNvPr id="13" name="Text Box 5">
            <a:extLst>
              <a:ext uri="{FF2B5EF4-FFF2-40B4-BE49-F238E27FC236}">
                <a16:creationId xmlns:a16="http://schemas.microsoft.com/office/drawing/2014/main" xmlns="" id="{0463411D-951C-4038-A82B-76F8DE6392E1}"/>
              </a:ext>
            </a:extLst>
          </p:cNvPr>
          <p:cNvSpPr txBox="1">
            <a:spLocks noChangeArrowheads="1"/>
          </p:cNvSpPr>
          <p:nvPr/>
        </p:nvSpPr>
        <p:spPr bwMode="auto">
          <a:xfrm>
            <a:off x="1351889" y="3739159"/>
            <a:ext cx="6048672" cy="584775"/>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charset="0"/>
            </a:endParaRPr>
          </a:p>
          <a:p>
            <a:pPr algn="l" eaLnBrk="1" fontAlgn="auto" hangingPunct="1">
              <a:spcBef>
                <a:spcPts val="0"/>
              </a:spcBef>
              <a:spcAft>
                <a:spcPts val="0"/>
              </a:spcAft>
              <a:defRPr/>
            </a:pPr>
            <a:r>
              <a:rPr kumimoji="0" lang="en-US" sz="1600" b="1" i="0" u="none" strike="noStrike" kern="0" cap="none" spc="0" normalizeH="0" baseline="0" noProof="0" dirty="0">
                <a:ln>
                  <a:noFill/>
                </a:ln>
                <a:solidFill>
                  <a:prstClr val="black"/>
                </a:solidFill>
                <a:effectLst/>
                <a:uLnTx/>
                <a:uFillTx/>
                <a:latin typeface="Calibri"/>
                <a:cs typeface="Arial" charset="0"/>
              </a:rPr>
              <a:t>DROP  PUBLIC SYNONYM </a:t>
            </a:r>
            <a:r>
              <a:rPr lang="en-US" sz="1600" b="1" kern="0" dirty="0">
                <a:solidFill>
                  <a:prstClr val="black"/>
                </a:solidFill>
                <a:latin typeface="Calibri"/>
                <a:cs typeface="Arial" charset="0"/>
              </a:rPr>
              <a:t>syn_tablas_bd;</a:t>
            </a:r>
            <a:endParaRPr kumimoji="0" lang="en-US" sz="1600" b="1" i="0" u="none" strike="noStrike" kern="0" cap="none" spc="0" normalizeH="0" baseline="0" noProof="0" dirty="0">
              <a:ln>
                <a:noFill/>
              </a:ln>
              <a:solidFill>
                <a:prstClr val="black"/>
              </a:solidFill>
              <a:effectLst/>
              <a:uLnTx/>
              <a:uFillTx/>
              <a:latin typeface="Calibri"/>
              <a:cs typeface="Arial" charset="0"/>
            </a:endParaRPr>
          </a:p>
          <a:p>
            <a:pPr marL="0" marR="0" lvl="0" indent="0" algn="l" defTabSz="914400" eaLnBrk="1" fontAlgn="auto" latinLnBrk="0" hangingPunct="1">
              <a:lnSpc>
                <a:spcPct val="100000"/>
              </a:lnSpc>
              <a:spcBef>
                <a:spcPts val="0"/>
              </a:spcBef>
              <a:spcAft>
                <a:spcPts val="0"/>
              </a:spcAft>
              <a:buClrTx/>
              <a:buSzTx/>
              <a:buFontTx/>
              <a:buNone/>
              <a:tabLst/>
              <a:defRPr/>
            </a:pPr>
            <a:endParaRPr kumimoji="0" lang="es-MX" sz="800" b="0" i="0" u="none" strike="noStrike" kern="0" cap="none" spc="0" normalizeH="0" baseline="0" noProof="0" dirty="0">
              <a:ln>
                <a:noFill/>
              </a:ln>
              <a:solidFill>
                <a:prstClr val="black"/>
              </a:solidFill>
              <a:effectLst/>
              <a:uLnTx/>
              <a:uFillTx/>
              <a:latin typeface="Calibri"/>
              <a:cs typeface="Arial" panose="020B0604020202020204" pitchFamily="34" charset="0"/>
            </a:endParaRPr>
          </a:p>
        </p:txBody>
      </p:sp>
    </p:spTree>
    <p:extLst>
      <p:ext uri="{BB962C8B-B14F-4D97-AF65-F5344CB8AC3E}">
        <p14:creationId xmlns:p14="http://schemas.microsoft.com/office/powerpoint/2010/main" val="3858924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39</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8" name="Marcador de texto 8">
            <a:extLst>
              <a:ext uri="{FF2B5EF4-FFF2-40B4-BE49-F238E27FC236}">
                <a16:creationId xmlns:a16="http://schemas.microsoft.com/office/drawing/2014/main" xmlns="" id="{5BFE3FDE-DBDC-4FD8-90A3-F88D52EA17A1}"/>
              </a:ext>
            </a:extLst>
          </p:cNvPr>
          <p:cNvSpPr>
            <a:spLocks noGrp="1"/>
          </p:cNvSpPr>
          <p:nvPr>
            <p:ph type="body" sz="quarter" idx="11"/>
          </p:nvPr>
        </p:nvSpPr>
        <p:spPr>
          <a:xfrm>
            <a:off x="577972" y="1671361"/>
            <a:ext cx="8023225" cy="3964022"/>
          </a:xfrm>
        </p:spPr>
        <p:txBody>
          <a:bodyPr/>
          <a:lstStyle/>
          <a:p>
            <a:pPr marL="393700" indent="-342900" algn="just">
              <a:buFont typeface="Arial" panose="020B0604020202020204" pitchFamily="34" charset="0"/>
              <a:buChar char="•"/>
            </a:pPr>
            <a:r>
              <a:rPr lang="es-MX" sz="2200" dirty="0"/>
              <a:t>Se describieron las características de las Vistas.</a:t>
            </a:r>
          </a:p>
          <a:p>
            <a:pPr marL="393700" indent="-342900" algn="just">
              <a:buFont typeface="Arial" panose="020B0604020202020204" pitchFamily="34" charset="0"/>
              <a:buChar char="•"/>
            </a:pPr>
            <a:r>
              <a:rPr lang="es-MX" sz="2200" dirty="0"/>
              <a:t>Se explicó cómo crear una Vista.</a:t>
            </a:r>
          </a:p>
          <a:p>
            <a:pPr marL="393700" indent="-342900" algn="just">
              <a:buFont typeface="Arial" panose="020B0604020202020204" pitchFamily="34" charset="0"/>
              <a:buChar char="•"/>
            </a:pPr>
            <a:r>
              <a:rPr lang="es-MX" sz="2200" dirty="0"/>
              <a:t>Se explicó cómo poder efectuar sentencias DML usando una Vista. </a:t>
            </a:r>
          </a:p>
          <a:p>
            <a:pPr marL="393700" indent="-342900" algn="just">
              <a:buFont typeface="Arial" panose="020B0604020202020204" pitchFamily="34" charset="0"/>
              <a:buChar char="•"/>
            </a:pPr>
            <a:r>
              <a:rPr lang="es-MX" sz="2200" dirty="0"/>
              <a:t>Se describieron las características de las Secuencias.</a:t>
            </a:r>
          </a:p>
          <a:p>
            <a:pPr marL="393700" indent="-342900" algn="just">
              <a:buFont typeface="Arial" panose="020B0604020202020204" pitchFamily="34" charset="0"/>
              <a:buChar char="•"/>
            </a:pPr>
            <a:r>
              <a:rPr lang="es-MX" sz="2200" dirty="0"/>
              <a:t>Se explicó cómo crear y utilizar una Secuencia en sentencias DML.</a:t>
            </a:r>
          </a:p>
          <a:p>
            <a:pPr marL="393700" indent="-342900" algn="just">
              <a:buFont typeface="Arial" panose="020B0604020202020204" pitchFamily="34" charset="0"/>
              <a:buChar char="•"/>
            </a:pPr>
            <a:r>
              <a:rPr lang="es-MX" sz="2200" dirty="0"/>
              <a:t>Se explicaron las diferencias entre una Secuencia y una columna Auto-Incrementable.</a:t>
            </a:r>
          </a:p>
          <a:p>
            <a:pPr marL="393700" indent="-342900" algn="just">
              <a:buFont typeface="Arial" panose="020B0604020202020204" pitchFamily="34" charset="0"/>
              <a:buChar char="•"/>
            </a:pPr>
            <a:r>
              <a:rPr lang="es-MX" sz="2200" dirty="0"/>
              <a:t>Se describieron las características de un Sinónimo.</a:t>
            </a:r>
          </a:p>
          <a:p>
            <a:pPr marL="393700" indent="-342900" algn="just">
              <a:buFont typeface="Arial" panose="020B0604020202020204" pitchFamily="34" charset="0"/>
              <a:buChar char="•"/>
            </a:pPr>
            <a:r>
              <a:rPr lang="es-MX" sz="2200" dirty="0"/>
              <a:t>Se explicó cómo crear y usar sinónimos Públicos y Privados en sentencias SQL</a:t>
            </a:r>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4362</TotalTime>
  <Words>6351</Words>
  <Application>Microsoft Office PowerPoint</Application>
  <PresentationFormat>Presentación en pantalla (4:3)</PresentationFormat>
  <Paragraphs>645</Paragraphs>
  <Slides>39</Slides>
  <Notes>37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39</vt:i4>
      </vt:variant>
    </vt:vector>
  </HeadingPairs>
  <TitlesOfParts>
    <vt:vector size="50" baseType="lpstr">
      <vt:lpstr>Roboto Condensed</vt:lpstr>
      <vt:lpstr>Calibri</vt:lpstr>
      <vt:lpstr>Roboto Mono</vt:lpstr>
      <vt:lpstr>Times New Roman</vt:lpstr>
      <vt:lpstr>Franklin Gothic</vt:lpstr>
      <vt:lpstr>Bebas Neue</vt:lpstr>
      <vt:lpstr>Arial Unicode MS</vt:lpstr>
      <vt:lpstr>Roboto</vt:lpstr>
      <vt:lpstr>Arial</vt:lpstr>
      <vt:lpstr>ＭＳ Ｐゴシック</vt:lpstr>
      <vt:lpstr>Tema de Office</vt:lpstr>
      <vt:lpstr>Creando Vistas,  Secuencias y  Sinónimos</vt:lpstr>
      <vt:lpstr>Experiencia de Aprendizaje y Competencia Asociada</vt:lpstr>
      <vt:lpstr>Objetivos de la Clase</vt:lpstr>
      <vt:lpstr>Creación y Uso de  Vistas</vt:lpstr>
      <vt:lpstr>Objeto Vista</vt:lpstr>
      <vt:lpstr>Ventajas de usar Vistas</vt:lpstr>
      <vt:lpstr>Vistas Simples y Complejas</vt:lpstr>
      <vt:lpstr>Creando una Vista</vt:lpstr>
      <vt:lpstr>Creando una Vista Simple</vt:lpstr>
      <vt:lpstr>Creando una Vista Simple</vt:lpstr>
      <vt:lpstr>Creando una Vista Compleja</vt:lpstr>
      <vt:lpstr>Operaciones DML sobre una Vista</vt:lpstr>
      <vt:lpstr>Uso de la Cláusula WITH CHECK OPTION</vt:lpstr>
      <vt:lpstr>Uso de la Cláusula WITH CHECK OPTION</vt:lpstr>
      <vt:lpstr>Uso de la Cláusula WITH READ ONLY </vt:lpstr>
      <vt:lpstr>Modificando una Vista</vt:lpstr>
      <vt:lpstr>Eliminando una Vista</vt:lpstr>
      <vt:lpstr>Creación y Uso de Secuencias</vt:lpstr>
      <vt:lpstr>Objeto Secuencia</vt:lpstr>
      <vt:lpstr>Creando Secuencias</vt:lpstr>
      <vt:lpstr>Usando Secuencias</vt:lpstr>
      <vt:lpstr>Usando Secuencias</vt:lpstr>
      <vt:lpstr>Usando Secuencias</vt:lpstr>
      <vt:lpstr>Usando Secuencias</vt:lpstr>
      <vt:lpstr>Usando Secuencias</vt:lpstr>
      <vt:lpstr>Secuencias versus Columnas Auto-Incrementables</vt:lpstr>
      <vt:lpstr>Secuencias versus Columnas Auto-Incrementables</vt:lpstr>
      <vt:lpstr>Modificando valores de las Secuencias</vt:lpstr>
      <vt:lpstr>Modificando valores de las Secuencias</vt:lpstr>
      <vt:lpstr>Creación y Uso de Sinónimos</vt:lpstr>
      <vt:lpstr>Objeto Sinónimo</vt:lpstr>
      <vt:lpstr>Objeto Sinónimo</vt:lpstr>
      <vt:lpstr>Creando y Usando Sinónimos</vt:lpstr>
      <vt:lpstr>Creando y Usando Sinónimos</vt:lpstr>
      <vt:lpstr>Creando y Usando Sinónimos</vt:lpstr>
      <vt:lpstr>Creando y Usando Sinónimos</vt:lpstr>
      <vt:lpstr>Creando y Usando Sinónimos</vt:lpstr>
      <vt:lpstr>Eliminando Sinónimos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527</cp:revision>
  <dcterms:modified xsi:type="dcterms:W3CDTF">2020-06-24T16:23:26Z</dcterms:modified>
</cp:coreProperties>
</file>